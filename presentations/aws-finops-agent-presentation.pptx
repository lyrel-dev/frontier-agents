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source data, explanation and action separate</a:t>
            </a:r>
          </a:p>
          <a:p>
            <a:r>
              <a:t>Time: 0:00–1:00; budget 1:00.</a:t>
            </a:r>
          </a:p>
          <a:p/>
          <a:p>
            <a:r>
              <a:t>The entire service remains preview. The presentation follows the data from its source to a reviewable result and then to a separately controlled publication. Cost Explorer supplies billing data; Cost Optimization Hub and Compute Optimizer supply optimization recommendations. A recommendation, forecast and actual saving are different kinds of information and must remain visibly distinct.</a:t>
            </a:r>
          </a:p>
          <a:p/>
          <a:p>
            <a:r>
              <a:t>OFFICIAL SOURCES</a:t>
            </a:r>
          </a:p>
          <a:p>
            <a:r>
              <a:t>What is AWS FinOps Agent</a:t>
            </a:r>
          </a:p>
          <a:p>
            <a:r>
              <a:t>https://docs.aws.amazon.com/finops-agent/latest/userguide/what-is.html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functional map follows the source of truth</a:t>
            </a:r>
          </a:p>
          <a:p>
            <a:r>
              <a:t>Time: 1:00–3:00; budget 2:00.</a:t>
            </a:r>
          </a:p>
          <a:p/>
          <a:p>
            <a:r>
              <a:t>This map separates functions by what they operate on and return. An anomaly event comes from a detector; the agent investigates it. A rightsizing candidate comes from an optimization source; the agent can summarize it. Report generation changes representation, not the underlying numbers. Publication is an external write whose result should be checked in the destination.</a:t>
            </a:r>
          </a:p>
          <a:p/>
          <a:p>
            <a:r>
              <a:t>OFFICIAL SOURCES</a:t>
            </a:r>
          </a:p>
          <a:p>
            <a:r>
              <a:t>Cost inquiry</a:t>
            </a:r>
          </a:p>
          <a:p>
            <a:r>
              <a:t>https://docs.aws.amazon.com/finops-agent/latest/userguide/cost-inquiry.html</a:t>
            </a:r>
          </a:p>
          <a:p>
            <a:r>
              <a:t>Cost anomaly detection and investigation</a:t>
            </a:r>
          </a:p>
          <a:p>
            <a:r>
              <a:t>https://docs.aws.amazon.com/finops-agent/latest/userguide/cost-anomaly-detection.html</a:t>
            </a:r>
          </a:p>
          <a:p>
            <a:r>
              <a:t>Optimization recommendations</a:t>
            </a:r>
          </a:p>
          <a:p>
            <a:r>
              <a:t>https://docs.aws.amazon.com/finops-agent/latest/userguide/optimization-recommendations.html</a:t>
            </a:r>
          </a:p>
          <a:p>
            <a:r>
              <a:t>Custom cost reporting</a:t>
            </a:r>
          </a:p>
          <a:p>
            <a:r>
              <a:t>https://docs.aws.amazon.com/finops-agent/latest/userguide/custom-cost-reporting.html</a:t>
            </a:r>
          </a:p>
          <a:p>
            <a:r>
              <a:t>Task management</a:t>
            </a:r>
          </a:p>
          <a:p>
            <a:r>
              <a:t>https://docs.aws.amazon.com/finops-agent/latest/userguide/task-management.html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cost comparison starts with a query contract</a:t>
            </a:r>
          </a:p>
          <a:p>
            <a:r>
              <a:t>Time: 3:00–5:30; budget 2:30.</a:t>
            </a:r>
          </a:p>
          <a:p/>
          <a:p>
            <a:r>
              <a:t>Use this contract before requesting an explanation. An increase may result from a different query rather than a change in the workload. This is why a chart or executive summary is not the first artifact to inspect. Reconcile the overall total and one material contributor against the same source settings, then investigate the remaining difference.</a:t>
            </a:r>
          </a:p>
          <a:p/>
          <a:p>
            <a:r>
              <a:t>OFFICIAL SOURCES</a:t>
            </a:r>
          </a:p>
          <a:p>
            <a:r>
              <a:t>Cost inquiry</a:t>
            </a:r>
          </a:p>
          <a:p>
            <a:r>
              <a:t>https://docs.aws.amazon.com/finops-agent/latest/userguide/cost-inquiry.html</a:t>
            </a:r>
          </a:p>
          <a:p>
            <a:r>
              <a:t>Action-specific guardrails and accuracy limits</a:t>
            </a:r>
          </a:p>
          <a:p>
            <a:r>
              <a:t>https://docs.aws.amazon.com/finops-agent/latest/userguide/agent-guardrail-control.html</a:t>
            </a:r>
          </a:p>
          <a:p>
            <a:r>
              <a:t>Context files and memory</a:t>
            </a:r>
          </a:p>
          <a:p>
            <a:r>
              <a:t>https://docs.aws.amazon.com/finops-agent/latest/userguide/context-files-and-memory.html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200 becomes 244</a:t>
            </a:r>
          </a:p>
          <a:p>
            <a:r>
              <a:t>Time: 5:30–8:00; budget 2:30.</a:t>
            </a:r>
          </a:p>
          <a:p/>
          <a:p>
            <a:r>
              <a:t>Compute the totals explicitly. Under the quantity-first convention, the quantity contribution is 200 additional units times the old rate, or 20. The rate contribution is the new quantity times the rate increase, or 24. The contributions total 44. Other conventions can allocate the interaction term differently. The numbers establish the decomposition, not whether a deployment or discount change caused it. A total-only fixture could not establish this split.</a:t>
            </a:r>
          </a:p>
          <a:p/>
          <a:p>
            <a:r>
              <a:t>OFFICIAL SOURCES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Anomaly detection is not causal proof</a:t>
            </a:r>
          </a:p>
          <a:p>
            <a:r>
              <a:t>Time: 8:00–10:30; budget 2:30.</a:t>
            </a:r>
          </a:p>
          <a:p/>
          <a:p>
            <a:r>
              <a:t>Keep the anomaly amount separate from the broader period comparison. If a deployment occurs near the increase, test whether the increase preceded it or affected resources outside its scope. If the required source is unavailable, report the gap. The agent's investigative explanation is a starting point for the owner, not a definitive billing-causality verdict.</a:t>
            </a:r>
          </a:p>
          <a:p/>
          <a:p>
            <a:r>
              <a:t>OFFICIAL SOURCES</a:t>
            </a:r>
          </a:p>
          <a:p>
            <a:r>
              <a:t>Cost anomaly detection and investigation</a:t>
            </a:r>
          </a:p>
          <a:p>
            <a:r>
              <a:t>https://docs.aws.amazon.com/finops-agent/latest/userguide/cost-anomaly-detection.html</a:t>
            </a:r>
          </a:p>
          <a:p>
            <a:r>
              <a:t>Event-triggered anomaly investigation</a:t>
            </a:r>
          </a:p>
          <a:p>
            <a:r>
              <a:t>https://docs.aws.amazon.com/finops-agent/latest/userguide/automated-anomaly-response.html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with different meanings</a:t>
            </a:r>
          </a:p>
          <a:p>
            <a:r>
              <a:t>Time: 10:30–12:30; budget 2:00.</a:t>
            </a:r>
          </a:p>
          <a:p/>
          <a:p>
            <a:r>
              <a:t>Realized savings is a proposed measurement the team performs after an approved change, not a field inferred from a recommendation. A forecast is not a budget authorization. For commitments, coverage and utilization answer different questions: eligible usage covered versus purchased commitment used. A purchase decision needs explicit demand and term assumptions, not simply a desire to increase one percentage.</a:t>
            </a:r>
          </a:p>
          <a:p/>
          <a:p>
            <a:r>
              <a:t>OFFICIAL SOURCES</a:t>
            </a:r>
          </a:p>
          <a:p>
            <a:r>
              <a:t>Cost inquiry</a:t>
            </a:r>
          </a:p>
          <a:p>
            <a:r>
              <a:t>https://docs.aws.amazon.com/finops-agent/latest/userguide/cost-inquiry.html</a:t>
            </a:r>
          </a:p>
          <a:p>
            <a:r>
              <a:t>Optimization recommendations</a:t>
            </a:r>
          </a:p>
          <a:p>
            <a:r>
              <a:t>https://docs.aws.amazon.com/finops-agent/latest/userguide/optimization-recommendations.html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recommendations need owner review</a:t>
            </a:r>
          </a:p>
          <a:p>
            <a:r>
              <a:t>Time: 12:30–15:00; budget 2:30.</a:t>
            </a:r>
          </a:p>
          <a:p/>
          <a:p>
            <a:r>
              <a:t>Open the underlying recommendation before drafting work. Ask the workload owner whether the observed period included peak load and relevant redundancy constraints. Reject unsupported candidates rather than creating a large unowned backlog. The agent does not resize resources or buy commitments through the documented publishing actions. The subsequent engineering change should have its own authorization and regression plan.</a:t>
            </a:r>
          </a:p>
          <a:p/>
          <a:p>
            <a:r>
              <a:t>OFFICIAL SOURCES</a:t>
            </a:r>
          </a:p>
          <a:p>
            <a:r>
              <a:t>Optimization recommendations</a:t>
            </a:r>
          </a:p>
          <a:p>
            <a:r>
              <a:t>https://docs.aws.amazon.com/finops-agent/latest/userguide/optimization-recommendations.html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and memory do not change billing records</a:t>
            </a:r>
          </a:p>
          <a:p>
            <a:r>
              <a:t>Time: 15:00–17:00; budget 2:00.</a:t>
            </a:r>
          </a:p>
          <a:p/>
          <a:p>
            <a:r>
              <a:t>Use a mapping example with a known account and an unknown account. The unknown one must remain visible and its cost must remain in the total. Context files are visible to users with access to the agent; they should not carry sensitive personal information. A correction can affect later interpretation, but it does not rewrite the underlying billing data or establish a model-training mechanism.</a:t>
            </a:r>
          </a:p>
          <a:p/>
          <a:p>
            <a:r>
              <a:t>OFFICIAL SOURCES</a:t>
            </a:r>
          </a:p>
          <a:p>
            <a:r>
              <a:t>Context files and memory</a:t>
            </a:r>
          </a:p>
          <a:p>
            <a:r>
              <a:t>https://docs.aws.amazon.com/finops-agent/latest/userguide/context-files-and-memory.html</a:t>
            </a:r>
          </a:p>
          <a:p>
            <a:r>
              <a:t>Data protection and deletion lifecycle</a:t>
            </a:r>
          </a:p>
          <a:p>
            <a:r>
              <a:t>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task is one run; an automation creates runs</a:t>
            </a:r>
          </a:p>
          <a:p>
            <a:r>
              <a:t>Time: 17:00–19:00; budget 2:00.</a:t>
            </a:r>
          </a:p>
          <a:p/>
          <a:p>
            <a:r>
              <a:t>Test the analysis as an on-demand task before making it recurring. For event automation, confirm the existing monitor, matching conditions and required EventBridge permissions. A task can fail because of missing source access or an expired publishing credential. The operational owner must inspect those failures; a schedule is not a guarantee that the intended report arrived or was complete.</a:t>
            </a:r>
          </a:p>
          <a:p/>
          <a:p>
            <a:r>
              <a:t>OFFICIAL SOURCES</a:t>
            </a:r>
          </a:p>
          <a:p>
            <a:r>
              <a:t>Task management</a:t>
            </a:r>
          </a:p>
          <a:p>
            <a:r>
              <a:t>https://docs.aws.amazon.com/finops-agent/latest/userguide/task-management.html</a:t>
            </a:r>
          </a:p>
          <a:p>
            <a:r>
              <a:t>Event-triggered anomaly investigation</a:t>
            </a:r>
          </a:p>
          <a:p>
            <a:r>
              <a:t>https://docs.aws.amazon.com/finops-agent/latest/userguide/automated-anomaly-response.html</a:t>
            </a:r>
          </a:p>
          <a:p>
            <a:r>
              <a:t>Web application and feedback</a:t>
            </a:r>
          </a:p>
          <a:p>
            <a:r>
              <a:t>https://docs.aws.amazon.com/finops-agent/latest/userguide/how-do-i-interact-with-the-agent.html</a:t>
            </a:r>
          </a:p>
          <a:p>
            <a:r>
              <a:t>Data protection and deletion lifecycle</a:t>
            </a:r>
          </a:p>
          <a:p>
            <a:r>
              <a:t>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Publishing controls are action-specific</a:t>
            </a:r>
          </a:p>
          <a:p>
            <a:r>
              <a:t>Time: 19:00–21:30; budget 2:30.</a:t>
            </a:r>
          </a:p>
          <a:p/>
          <a:p>
            <a:r>
              <a:t>The account-level OAuth integration and the per-agent project or channel connection are both required. A Jira owner in a context file does not make the integration an assignee editor. Slack does not accept commands or respond to mentions through this preview connection. Review destination audience before enabling unattended publication; waiting for Jira approval does not hold back a separate Slack post.</a:t>
            </a:r>
          </a:p>
          <a:p/>
          <a:p>
            <a:r>
              <a:t>OFFICIAL SOURCES</a:t>
            </a:r>
          </a:p>
          <a:p>
            <a:r>
              <a:t>Action-specific guardrails and accuracy limits</a:t>
            </a:r>
          </a:p>
          <a:p>
            <a:r>
              <a:t>https://docs.aws.amazon.com/finops-agent/latest/userguide/agent-guardrail-control.html</a:t>
            </a:r>
          </a:p>
          <a:p>
            <a:r>
              <a:t>Jira connection and supported actions</a:t>
            </a:r>
          </a:p>
          <a:p>
            <a:r>
              <a:t>https://docs.aws.amazon.com/finops-agent/latest/userguide/jira-integration.html</a:t>
            </a:r>
          </a:p>
          <a:p>
            <a:r>
              <a:t>One-way Slack publishing</a:t>
            </a:r>
          </a:p>
          <a:p>
            <a:r>
              <a:t>https://docs.aws.amazon.com/finops-agent/latest/userguide/slack-integration.html</a:t>
            </a:r>
          </a:p>
          <a:p>
            <a:r>
              <a:t>Task management</a:t>
            </a:r>
          </a:p>
          <a:p>
            <a:r>
              <a:t>https://docs.aws.amazon.com/finops-agent/latest/userguide/task-management.html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reconcile before explaining</a:t>
            </a:r>
          </a:p>
          <a:p>
            <a:r>
              <a:t>Time: 21:30–26:30; budget 5:00.</a:t>
            </a:r>
          </a:p>
          <a:p/>
          <a:p>
            <a:r>
              <a:t>Follow the five one-minute steps. The fixture is deliberately small so the audience can verify the calculation rather than trust a generated summary. State clearly that it is not a live billing query. Then show how a report should carry query scope, remaining residual and causal uncertainty. A deployment-cause conclusion requires evidence beyond the fixture.</a:t>
            </a:r>
          </a:p>
          <a:p/>
          <a:p>
            <a:r>
              <a:t>1 min — Show the comparison contract and clearly labeled synthetic input table.</a:t>
            </a:r>
          </a:p>
          <a:p>
            <a:r>
              <a:t>1 min — Recalculate baseline/current totals and the absolute and percentage delta.</a:t>
            </a:r>
          </a:p>
          <a:p>
            <a:r>
              <a:t>1 min — Compute a quantity/rate decomposition and state its convention.</a:t>
            </a:r>
          </a:p>
          <a:p>
            <a:r>
              <a:t>1 min — Contrast the arithmetic with the additional evidence needed for a deployment-cause claim.</a:t>
            </a:r>
          </a:p>
          <a:p>
            <a:r>
              <a:t>1 min — Inspect a prepared report for scope, residual and uncertainty labels.</a:t>
            </a:r>
          </a:p>
          <a:p>
            <a:r>
              <a:t>Fallback: Use the supplied arithmetic fixture. It demonstrates reconciliation only; it is not AWS billing data, service pricing or a live agent result.</a:t>
            </a:r>
          </a:p>
          <a:p/>
          <a:p>
            <a:r>
              <a:t>OFFICIAL SOURCES</a:t>
            </a:r>
          </a:p>
          <a:p>
            <a:r>
              <a:t>Cost inquiry</a:t>
            </a:r>
          </a:p>
          <a:p>
            <a:r>
              <a:t>https://docs.aws.amazon.com/finops-agent/latest/userguide/cost-inquiry.html</a:t>
            </a:r>
          </a:p>
          <a:p>
            <a:r>
              <a:t>Cost anomaly detection and investigation</a:t>
            </a:r>
          </a:p>
          <a:p>
            <a:r>
              <a:t>https://docs.aws.amazon.com/finops-agent/latest/userguide/cost-anomaly-detection.html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recommendation to reviewable work</a:t>
            </a:r>
          </a:p>
          <a:p>
            <a:r>
              <a:t>Time: 26:30–29:30; budget 3:00.</a:t>
            </a:r>
          </a:p>
          <a:p/>
          <a:p>
            <a:r>
              <a:t>Inspect one prepared recommendation and one overlapping alternative. Review the draft issue and identify fields that the integration cannot set. Show the approval boundary using a prepared example unless an authorized test project is actually connected. End with the measurement required after engineering independently approves and deploys the change.</a:t>
            </a:r>
          </a:p>
          <a:p/>
          <a:p>
            <a:r>
              <a:t>1 min — Inspect a prepared recommendation and identify one overlapping alternative.</a:t>
            </a:r>
          </a:p>
          <a:p>
            <a:r>
              <a:t>1 min — Review a draft issue, project defaults and the interactive approval boundary.</a:t>
            </a:r>
          </a:p>
          <a:p>
            <a:r>
              <a:t>1 min — Contrast estimated savings with the future measurement required after an independently approved deployment.</a:t>
            </a:r>
          </a:p>
          <a:p>
            <a:r>
              <a:t>Fallback: Use a prepared recommendation and draft issue; do not create a real ticket unless the connected project and operator authorization are explicitly available.</a:t>
            </a:r>
          </a:p>
          <a:p/>
          <a:p>
            <a:r>
              <a:t>OFFICIAL SOURCES</a:t>
            </a:r>
          </a:p>
          <a:p>
            <a:r>
              <a:t>Optimization recommendations</a:t>
            </a:r>
          </a:p>
          <a:p>
            <a:r>
              <a:t>https://docs.aws.amazon.com/finops-agent/latest/userguide/optimization-recommendations.html</a:t>
            </a:r>
          </a:p>
          <a:p>
            <a:r>
              <a:t>Jira connection and supported actions</a:t>
            </a:r>
          </a:p>
          <a:p>
            <a:r>
              <a:t>https://docs.aws.amazon.com/finops-agent/latest/userguide/jira-integration.html</a:t>
            </a:r>
          </a:p>
          <a:p>
            <a:r>
              <a:t>Action-specific guardrails and accuracy limits</a:t>
            </a:r>
          </a:p>
          <a:p>
            <a:r>
              <a:t>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Acceptance requires a traceable numerical result</a:t>
            </a:r>
          </a:p>
          <a:p>
            <a:r>
              <a:t>Time: 29:30–31:30; budget 2:00.</a:t>
            </a:r>
          </a:p>
          <a:p/>
          <a:p>
            <a:r>
              <a:t>Close by asking which operational decision the report enables. If it cannot identify the cost scope, the evidence for a driver or the owner of a proposed change, more generated prose will not help. The complete reference contains configuration and lifecycle instructions. No savings, accuracy or productivity outcome has been measured for this documentation, and questions are outside the timed session.</a:t>
            </a:r>
          </a:p>
          <a:p/>
          <a:p>
            <a:r>
              <a:t>OFFICIAL SOURCES</a:t>
            </a:r>
          </a:p>
          <a:p>
            <a:r>
              <a:t>Action-specific guardrails and accuracy limits</a:t>
            </a:r>
          </a:p>
          <a:p>
            <a:r>
              <a:t>https://docs.aws.amazon.com/finops-agent/latest/userguide/agent-guardrail-control.html</a:t>
            </a:r>
          </a:p>
          <a:p>
            <a:r>
              <a:t>Optimization recommendations</a:t>
            </a:r>
          </a:p>
          <a:p>
            <a:r>
              <a:t>https://docs.aws.amazon.com/finops-agent/latest/userguide/optimization-recommendations.html</a:t>
            </a:r>
          </a:p>
          <a:p>
            <a:r>
              <a:t>Jira connection and supported actions</a:t>
            </a:r>
          </a:p>
          <a:p>
            <a:r>
              <a:t>https://docs.aws.amazon.com/finops-agent/latest/userguide/jira-integration.html</a:t>
            </a:r>
          </a:p>
          <a:p>
            <a:r>
              <a:t>One-way Slack publishing</a:t>
            </a:r>
          </a:p>
          <a:p>
            <a:r>
              <a:t>https://docs.aws.amazon.com/finops-agent/latest/userguide/slack-integration.html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Keep source data, explanation and action separate</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The service retrieves and interprets cost information; it does not make every explanation or recommendation an established fact.</a:t>
            </a:r>
          </a:p>
        </p:txBody>
      </p:sp>
      <p:sp>
        <p:nvSpPr>
          <p:cNvPr id="7" name="Rectangle 6"/>
          <p:cNvSpPr/>
          <p:nvPr/>
        </p:nvSpPr>
        <p:spPr>
          <a:xfrm>
            <a:off x="457200" y="2514600"/>
            <a:ext cx="3639312"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514600"/>
            <a:ext cx="3639312"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3310128"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01</a:t>
            </a:r>
          </a:p>
        </p:txBody>
      </p:sp>
      <p:sp>
        <p:nvSpPr>
          <p:cNvPr id="10" name="TextBox 9"/>
          <p:cNvSpPr txBox="1"/>
          <p:nvPr/>
        </p:nvSpPr>
        <p:spPr>
          <a:xfrm>
            <a:off x="621792" y="3154679"/>
            <a:ext cx="3310128"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Source data</a:t>
            </a:r>
          </a:p>
        </p:txBody>
      </p:sp>
      <p:sp>
        <p:nvSpPr>
          <p:cNvPr id="11" name="TextBox 10"/>
          <p:cNvSpPr txBox="1"/>
          <p:nvPr/>
        </p:nvSpPr>
        <p:spPr>
          <a:xfrm>
            <a:off x="621792" y="3858768"/>
            <a:ext cx="3310128"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Billing and optimization service responses</a:t>
            </a:r>
          </a:p>
        </p:txBody>
      </p:sp>
      <p:sp>
        <p:nvSpPr>
          <p:cNvPr id="12" name="Rectangle 11"/>
          <p:cNvSpPr/>
          <p:nvPr/>
        </p:nvSpPr>
        <p:spPr>
          <a:xfrm>
            <a:off x="4261104" y="2514600"/>
            <a:ext cx="3639312"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61104" y="2514600"/>
            <a:ext cx="3639312"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2715768"/>
            <a:ext cx="3310128"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02</a:t>
            </a:r>
          </a:p>
        </p:txBody>
      </p:sp>
      <p:sp>
        <p:nvSpPr>
          <p:cNvPr id="15" name="TextBox 14"/>
          <p:cNvSpPr txBox="1"/>
          <p:nvPr/>
        </p:nvSpPr>
        <p:spPr>
          <a:xfrm>
            <a:off x="4425696" y="3154679"/>
            <a:ext cx="3310128"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Analysis</a:t>
            </a:r>
          </a:p>
        </p:txBody>
      </p:sp>
      <p:sp>
        <p:nvSpPr>
          <p:cNvPr id="16" name="TextBox 15"/>
          <p:cNvSpPr txBox="1"/>
          <p:nvPr/>
        </p:nvSpPr>
        <p:spPr>
          <a:xfrm>
            <a:off x="4425696" y="3858768"/>
            <a:ext cx="3310128"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Scoped explanation, report or recommendation summary</a:t>
            </a:r>
          </a:p>
        </p:txBody>
      </p:sp>
      <p:sp>
        <p:nvSpPr>
          <p:cNvPr id="17" name="Rectangle 16"/>
          <p:cNvSpPr/>
          <p:nvPr/>
        </p:nvSpPr>
        <p:spPr>
          <a:xfrm>
            <a:off x="8065008" y="2514600"/>
            <a:ext cx="3639312"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514600"/>
            <a:ext cx="3639312"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715768"/>
            <a:ext cx="3310128"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03</a:t>
            </a:r>
          </a:p>
        </p:txBody>
      </p:sp>
      <p:sp>
        <p:nvSpPr>
          <p:cNvPr id="20" name="TextBox 19"/>
          <p:cNvSpPr txBox="1"/>
          <p:nvPr/>
        </p:nvSpPr>
        <p:spPr>
          <a:xfrm>
            <a:off x="8229600" y="3154679"/>
            <a:ext cx="3310128"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External effect</a:t>
            </a:r>
          </a:p>
        </p:txBody>
      </p:sp>
      <p:sp>
        <p:nvSpPr>
          <p:cNvPr id="21" name="TextBox 20"/>
          <p:cNvSpPr txBox="1"/>
          <p:nvPr/>
        </p:nvSpPr>
        <p:spPr>
          <a:xfrm>
            <a:off x="8229600" y="3858768"/>
            <a:ext cx="3310128"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Jira issue/comment or Slack publication</a:t>
            </a:r>
          </a:p>
        </p:txBody>
      </p:sp>
      <p:sp>
        <p:nvSpPr>
          <p:cNvPr id="22" name="Rectangle 21"/>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0:00–1:00   |   1:00 allocation</a:t>
            </a:r>
          </a:p>
        </p:txBody>
      </p:sp>
      <p:sp>
        <p:nvSpPr>
          <p:cNvPr id="24" name="TextBox 23"/>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01 / 13</a:t>
            </a:r>
          </a:p>
        </p:txBody>
      </p:sp>
      <p:sp>
        <p:nvSpPr>
          <p:cNvPr id="25" name="TextBox 24"/>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overview, guardrails · full URLs in notes and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The functional map follows the source of truth</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Do not turn categories of recommendations into invented agent optimization engines.</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Area</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Operations</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Authoritative source or object</a:t>
            </a:r>
          </a:p>
        </p:txBody>
      </p:sp>
      <p:sp>
        <p:nvSpPr>
          <p:cNvPr id="13" name="Rectangle 12"/>
          <p:cNvSpPr/>
          <p:nvPr/>
        </p:nvSpPr>
        <p:spPr>
          <a:xfrm>
            <a:off x="457200" y="2834639"/>
            <a:ext cx="301752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490118"/>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Billing inquiry</a:t>
            </a:r>
          </a:p>
        </p:txBody>
      </p:sp>
      <p:sp>
        <p:nvSpPr>
          <p:cNvPr id="15" name="Rectangle 14"/>
          <p:cNvSpPr/>
          <p:nvPr/>
        </p:nvSpPr>
        <p:spPr>
          <a:xfrm>
            <a:off x="3474720" y="2834639"/>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Historical spend; forecast; commitments</a:t>
            </a:r>
          </a:p>
        </p:txBody>
      </p:sp>
      <p:sp>
        <p:nvSpPr>
          <p:cNvPr id="17" name="Rectangle 16"/>
          <p:cNvSpPr/>
          <p:nvPr/>
        </p:nvSpPr>
        <p:spPr>
          <a:xfrm>
            <a:off x="7589520" y="2834639"/>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Cost Explorer and permitted billing tools</a:t>
            </a:r>
          </a:p>
        </p:txBody>
      </p:sp>
      <p:sp>
        <p:nvSpPr>
          <p:cNvPr id="19" name="Rectangle 18"/>
          <p:cNvSpPr/>
          <p:nvPr/>
        </p:nvSpPr>
        <p:spPr>
          <a:xfrm>
            <a:off x="457200" y="3480206"/>
            <a:ext cx="301752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599078"/>
            <a:ext cx="2761487" cy="490118"/>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Investigation</a:t>
            </a:r>
          </a:p>
        </p:txBody>
      </p:sp>
      <p:sp>
        <p:nvSpPr>
          <p:cNvPr id="21" name="Rectangle 20"/>
          <p:cNvSpPr/>
          <p:nvPr/>
        </p:nvSpPr>
        <p:spPr>
          <a:xfrm>
            <a:off x="3474720" y="3480206"/>
            <a:ext cx="411480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599078"/>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Compare periods; analyze anomaly</a:t>
            </a:r>
          </a:p>
        </p:txBody>
      </p:sp>
      <p:sp>
        <p:nvSpPr>
          <p:cNvPr id="23" name="Rectangle 22"/>
          <p:cNvSpPr/>
          <p:nvPr/>
        </p:nvSpPr>
        <p:spPr>
          <a:xfrm>
            <a:off x="7589520" y="3480206"/>
            <a:ext cx="411480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599078"/>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Scoped source data and detector event</a:t>
            </a:r>
          </a:p>
        </p:txBody>
      </p:sp>
      <p:sp>
        <p:nvSpPr>
          <p:cNvPr id="25" name="Rectangle 24"/>
          <p:cNvSpPr/>
          <p:nvPr/>
        </p:nvSpPr>
        <p:spPr>
          <a:xfrm>
            <a:off x="457200" y="4125772"/>
            <a:ext cx="301752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244644"/>
            <a:ext cx="2761487" cy="490118"/>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Recommendation access</a:t>
            </a:r>
          </a:p>
        </p:txBody>
      </p:sp>
      <p:sp>
        <p:nvSpPr>
          <p:cNvPr id="27" name="Rectangle 26"/>
          <p:cNvSpPr/>
          <p:nvPr/>
        </p:nvSpPr>
        <p:spPr>
          <a:xfrm>
            <a:off x="3474720" y="4125772"/>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244644"/>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Filter and contextualize candidates</a:t>
            </a:r>
          </a:p>
        </p:txBody>
      </p:sp>
      <p:sp>
        <p:nvSpPr>
          <p:cNvPr id="29" name="Rectangle 28"/>
          <p:cNvSpPr/>
          <p:nvPr/>
        </p:nvSpPr>
        <p:spPr>
          <a:xfrm>
            <a:off x="7589520" y="4125772"/>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244644"/>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Cost Optimization Hub / Compute Optimizer</a:t>
            </a:r>
          </a:p>
        </p:txBody>
      </p:sp>
      <p:sp>
        <p:nvSpPr>
          <p:cNvPr id="31" name="Rectangle 30"/>
          <p:cNvSpPr/>
          <p:nvPr/>
        </p:nvSpPr>
        <p:spPr>
          <a:xfrm>
            <a:off x="457200" y="4771339"/>
            <a:ext cx="301752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4890211"/>
            <a:ext cx="2761487" cy="490118"/>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Delivery</a:t>
            </a:r>
          </a:p>
        </p:txBody>
      </p:sp>
      <p:sp>
        <p:nvSpPr>
          <p:cNvPr id="33" name="Rectangle 32"/>
          <p:cNvSpPr/>
          <p:nvPr/>
        </p:nvSpPr>
        <p:spPr>
          <a:xfrm>
            <a:off x="3474720" y="4771339"/>
            <a:ext cx="411480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4890211"/>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Generate artifact; execute task</a:t>
            </a:r>
          </a:p>
        </p:txBody>
      </p:sp>
      <p:sp>
        <p:nvSpPr>
          <p:cNvPr id="35" name="Rectangle 34"/>
          <p:cNvSpPr/>
          <p:nvPr/>
        </p:nvSpPr>
        <p:spPr>
          <a:xfrm>
            <a:off x="7589520" y="4771339"/>
            <a:ext cx="4114800" cy="645566"/>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4890211"/>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Task activities and generated artifact</a:t>
            </a:r>
          </a:p>
        </p:txBody>
      </p:sp>
      <p:sp>
        <p:nvSpPr>
          <p:cNvPr id="37" name="Rectangle 36"/>
          <p:cNvSpPr/>
          <p:nvPr/>
        </p:nvSpPr>
        <p:spPr>
          <a:xfrm>
            <a:off x="457200" y="5416905"/>
            <a:ext cx="301752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5216" y="5535777"/>
            <a:ext cx="2761487" cy="490118"/>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Publishing</a:t>
            </a:r>
          </a:p>
        </p:txBody>
      </p:sp>
      <p:sp>
        <p:nvSpPr>
          <p:cNvPr id="39" name="Rectangle 38"/>
          <p:cNvSpPr/>
          <p:nvPr/>
        </p:nvSpPr>
        <p:spPr>
          <a:xfrm>
            <a:off x="3474720" y="5416905"/>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02736" y="5535777"/>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Create/comment in Jira; post to Slack</a:t>
            </a:r>
          </a:p>
        </p:txBody>
      </p:sp>
      <p:sp>
        <p:nvSpPr>
          <p:cNvPr id="41" name="Rectangle 40"/>
          <p:cNvSpPr/>
          <p:nvPr/>
        </p:nvSpPr>
        <p:spPr>
          <a:xfrm>
            <a:off x="7589520" y="5416905"/>
            <a:ext cx="4114800" cy="645566"/>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7536" y="5535777"/>
            <a:ext cx="3858768" cy="490118"/>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Actual issue, comment or channel message</a:t>
            </a:r>
          </a:p>
        </p:txBody>
      </p:sp>
      <p:sp>
        <p:nvSpPr>
          <p:cNvPr id="43" name="Rectangle 42"/>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1:00–3:00   |   2:00 allocation</a:t>
            </a:r>
          </a:p>
        </p:txBody>
      </p:sp>
      <p:sp>
        <p:nvSpPr>
          <p:cNvPr id="45" name="TextBox 44"/>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02 / 13</a:t>
            </a:r>
          </a:p>
        </p:txBody>
      </p:sp>
      <p:sp>
        <p:nvSpPr>
          <p:cNvPr id="46" name="TextBox 45"/>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inquiry, anomaly, optimization, reports, tasks, guardrails · full URLs in notes and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A cost comparison starts with a query contract</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Reconciliation is impossible until the scopes match.</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Specify</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Failure if omitted</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Check</a:t>
            </a:r>
          </a:p>
        </p:txBody>
      </p:sp>
      <p:sp>
        <p:nvSpPr>
          <p:cNvPr id="13" name="Rectangle 12"/>
          <p:cNvSpPr/>
          <p:nvPr/>
        </p:nvSpPr>
        <p:spPr>
          <a:xfrm>
            <a:off x="457200" y="2834639"/>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Accounts and filters</a:t>
            </a:r>
          </a:p>
        </p:txBody>
      </p:sp>
      <p:sp>
        <p:nvSpPr>
          <p:cNvPr id="15" name="Rectangle 14"/>
          <p:cNvSpPr/>
          <p:nvPr/>
        </p:nvSpPr>
        <p:spPr>
          <a:xfrm>
            <a:off x="34747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 different population of spend</a:t>
            </a:r>
          </a:p>
        </p:txBody>
      </p:sp>
      <p:sp>
        <p:nvSpPr>
          <p:cNvPr id="17" name="Rectangle 16"/>
          <p:cNvSpPr/>
          <p:nvPr/>
        </p:nvSpPr>
        <p:spPr>
          <a:xfrm>
            <a:off x="75895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Match the source-console selection</a:t>
            </a:r>
          </a:p>
        </p:txBody>
      </p:sp>
      <p:sp>
        <p:nvSpPr>
          <p:cNvPr id="19" name="Rectangle 18"/>
          <p:cNvSpPr/>
          <p:nvPr/>
        </p:nvSpPr>
        <p:spPr>
          <a:xfrm>
            <a:off x="457200" y="3641598"/>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760470"/>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Periods and granularity</a:t>
            </a:r>
          </a:p>
        </p:txBody>
      </p:sp>
      <p:sp>
        <p:nvSpPr>
          <p:cNvPr id="21" name="Rectangle 20"/>
          <p:cNvSpPr/>
          <p:nvPr/>
        </p:nvSpPr>
        <p:spPr>
          <a:xfrm>
            <a:off x="34747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Unequal intervals or mixed cutoffs</a:t>
            </a:r>
          </a:p>
        </p:txBody>
      </p:sp>
      <p:sp>
        <p:nvSpPr>
          <p:cNvPr id="23" name="Rectangle 22"/>
          <p:cNvSpPr/>
          <p:nvPr/>
        </p:nvSpPr>
        <p:spPr>
          <a:xfrm>
            <a:off x="75895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Identify start/end and incomplete periods</a:t>
            </a:r>
          </a:p>
        </p:txBody>
      </p:sp>
      <p:sp>
        <p:nvSpPr>
          <p:cNvPr id="25" name="Rectangle 24"/>
          <p:cNvSpPr/>
          <p:nvPr/>
        </p:nvSpPr>
        <p:spPr>
          <a:xfrm>
            <a:off x="457200" y="4448556"/>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567428"/>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Cost metric and currency</a:t>
            </a:r>
          </a:p>
        </p:txBody>
      </p:sp>
      <p:sp>
        <p:nvSpPr>
          <p:cNvPr id="27" name="Rectangle 26"/>
          <p:cNvSpPr/>
          <p:nvPr/>
        </p:nvSpPr>
        <p:spPr>
          <a:xfrm>
            <a:off x="34747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Different bases compared as equal</a:t>
            </a:r>
          </a:p>
        </p:txBody>
      </p:sp>
      <p:sp>
        <p:nvSpPr>
          <p:cNvPr id="29" name="Rectangle 28"/>
          <p:cNvSpPr/>
          <p:nvPr/>
        </p:nvSpPr>
        <p:spPr>
          <a:xfrm>
            <a:off x="75895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Retain the exact metric and units</a:t>
            </a:r>
          </a:p>
        </p:txBody>
      </p:sp>
      <p:sp>
        <p:nvSpPr>
          <p:cNvPr id="31" name="Rectangle 30"/>
          <p:cNvSpPr/>
          <p:nvPr/>
        </p:nvSpPr>
        <p:spPr>
          <a:xfrm>
            <a:off x="457200" y="5255514"/>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374386"/>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Dimensions and owner mapping</a:t>
            </a:r>
          </a:p>
        </p:txBody>
      </p:sp>
      <p:sp>
        <p:nvSpPr>
          <p:cNvPr id="33" name="Rectangle 32"/>
          <p:cNvSpPr/>
          <p:nvPr/>
        </p:nvSpPr>
        <p:spPr>
          <a:xfrm>
            <a:off x="34747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Unallocated spend silently disappears</a:t>
            </a:r>
          </a:p>
        </p:txBody>
      </p:sp>
      <p:sp>
        <p:nvSpPr>
          <p:cNvPr id="35" name="Rectangle 34"/>
          <p:cNvSpPr/>
          <p:nvPr/>
        </p:nvSpPr>
        <p:spPr>
          <a:xfrm>
            <a:off x="75895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Include unknown/unallocated groups</a:t>
            </a:r>
          </a:p>
        </p:txBody>
      </p:sp>
      <p:sp>
        <p:nvSpPr>
          <p:cNvPr id="37" name="Rectangle 36"/>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3:00–5:30   |   2:30 allocation</a:t>
            </a:r>
          </a:p>
        </p:txBody>
      </p:sp>
      <p:sp>
        <p:nvSpPr>
          <p:cNvPr id="39" name="TextBox 38"/>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03 / 13</a:t>
            </a:r>
          </a:p>
        </p:txBody>
      </p:sp>
      <p:sp>
        <p:nvSpPr>
          <p:cNvPr id="40" name="TextBox 39"/>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inquiry, guardrails, context · full URLs in notes and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Worked example: 200 becomes 244</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Synthetic teaching data: the 44 increase can be reconciled without claiming why it occurred.</a:t>
            </a:r>
          </a:p>
        </p:txBody>
      </p:sp>
      <p:sp>
        <p:nvSpPr>
          <p:cNvPr id="7" name="Rectangle 6"/>
          <p:cNvSpPr/>
          <p:nvPr/>
        </p:nvSpPr>
        <p:spPr>
          <a:xfrm>
            <a:off x="457200" y="2331720"/>
            <a:ext cx="21031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18470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Component</a:t>
            </a:r>
          </a:p>
        </p:txBody>
      </p:sp>
      <p:sp>
        <p:nvSpPr>
          <p:cNvPr id="9" name="Rectangle 8"/>
          <p:cNvSpPr/>
          <p:nvPr/>
        </p:nvSpPr>
        <p:spPr>
          <a:xfrm>
            <a:off x="2560320" y="2331720"/>
            <a:ext cx="3054096"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88336" y="2441448"/>
            <a:ext cx="2798063"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Baseline</a:t>
            </a:r>
          </a:p>
        </p:txBody>
      </p:sp>
      <p:sp>
        <p:nvSpPr>
          <p:cNvPr id="11" name="Rectangle 10"/>
          <p:cNvSpPr/>
          <p:nvPr/>
        </p:nvSpPr>
        <p:spPr>
          <a:xfrm>
            <a:off x="5614416" y="2331720"/>
            <a:ext cx="3044952"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42431" y="2441448"/>
            <a:ext cx="2788920"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Current</a:t>
            </a:r>
          </a:p>
        </p:txBody>
      </p:sp>
      <p:sp>
        <p:nvSpPr>
          <p:cNvPr id="13" name="Rectangle 12"/>
          <p:cNvSpPr/>
          <p:nvPr/>
        </p:nvSpPr>
        <p:spPr>
          <a:xfrm>
            <a:off x="8659367" y="2331720"/>
            <a:ext cx="3044952"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87384" y="2441448"/>
            <a:ext cx="2788920"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Delta</a:t>
            </a:r>
          </a:p>
        </p:txBody>
      </p:sp>
      <p:sp>
        <p:nvSpPr>
          <p:cNvPr id="15" name="Rectangle 14"/>
          <p:cNvSpPr/>
          <p:nvPr/>
        </p:nvSpPr>
        <p:spPr>
          <a:xfrm>
            <a:off x="457200" y="2834639"/>
            <a:ext cx="2103120"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 y="2953511"/>
            <a:ext cx="1847087" cy="77419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Compute</a:t>
            </a:r>
          </a:p>
        </p:txBody>
      </p:sp>
      <p:sp>
        <p:nvSpPr>
          <p:cNvPr id="17" name="Rectangle 16"/>
          <p:cNvSpPr/>
          <p:nvPr/>
        </p:nvSpPr>
        <p:spPr>
          <a:xfrm>
            <a:off x="2560320" y="2834639"/>
            <a:ext cx="3054096"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88336" y="2953511"/>
            <a:ext cx="2798063"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1,000 × 0.10 = 100</a:t>
            </a:r>
          </a:p>
        </p:txBody>
      </p:sp>
      <p:sp>
        <p:nvSpPr>
          <p:cNvPr id="19" name="Rectangle 18"/>
          <p:cNvSpPr/>
          <p:nvPr/>
        </p:nvSpPr>
        <p:spPr>
          <a:xfrm>
            <a:off x="5614416" y="2834639"/>
            <a:ext cx="3044952"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42431" y="295351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1,200 × 0.12 = 144</a:t>
            </a:r>
          </a:p>
        </p:txBody>
      </p:sp>
      <p:sp>
        <p:nvSpPr>
          <p:cNvPr id="21" name="Rectangle 20"/>
          <p:cNvSpPr/>
          <p:nvPr/>
        </p:nvSpPr>
        <p:spPr>
          <a:xfrm>
            <a:off x="8659367" y="2834639"/>
            <a:ext cx="3044952"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87384" y="295351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+44</a:t>
            </a:r>
          </a:p>
        </p:txBody>
      </p:sp>
      <p:sp>
        <p:nvSpPr>
          <p:cNvPr id="23" name="Rectangle 22"/>
          <p:cNvSpPr/>
          <p:nvPr/>
        </p:nvSpPr>
        <p:spPr>
          <a:xfrm>
            <a:off x="457200" y="3764279"/>
            <a:ext cx="2103120" cy="92964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3883151"/>
            <a:ext cx="1847087" cy="77419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Storage</a:t>
            </a:r>
          </a:p>
        </p:txBody>
      </p:sp>
      <p:sp>
        <p:nvSpPr>
          <p:cNvPr id="25" name="Rectangle 24"/>
          <p:cNvSpPr/>
          <p:nvPr/>
        </p:nvSpPr>
        <p:spPr>
          <a:xfrm>
            <a:off x="2560320" y="3764279"/>
            <a:ext cx="3054096" cy="92964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88336" y="3883151"/>
            <a:ext cx="2798063"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5,000 × 0.02 = 100</a:t>
            </a:r>
          </a:p>
        </p:txBody>
      </p:sp>
      <p:sp>
        <p:nvSpPr>
          <p:cNvPr id="27" name="Rectangle 26"/>
          <p:cNvSpPr/>
          <p:nvPr/>
        </p:nvSpPr>
        <p:spPr>
          <a:xfrm>
            <a:off x="5614416" y="3764279"/>
            <a:ext cx="3044952" cy="92964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42431" y="388315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5,000 × 0.02 = 100</a:t>
            </a:r>
          </a:p>
        </p:txBody>
      </p:sp>
      <p:sp>
        <p:nvSpPr>
          <p:cNvPr id="29" name="Rectangle 28"/>
          <p:cNvSpPr/>
          <p:nvPr/>
        </p:nvSpPr>
        <p:spPr>
          <a:xfrm>
            <a:off x="8659367" y="3764279"/>
            <a:ext cx="3044952" cy="92964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87384" y="388315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0</a:t>
            </a:r>
          </a:p>
        </p:txBody>
      </p:sp>
      <p:sp>
        <p:nvSpPr>
          <p:cNvPr id="31" name="Rectangle 30"/>
          <p:cNvSpPr/>
          <p:nvPr/>
        </p:nvSpPr>
        <p:spPr>
          <a:xfrm>
            <a:off x="457200" y="4693920"/>
            <a:ext cx="2103120"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4812791"/>
            <a:ext cx="1847087" cy="77419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Total</a:t>
            </a:r>
          </a:p>
        </p:txBody>
      </p:sp>
      <p:sp>
        <p:nvSpPr>
          <p:cNvPr id="33" name="Rectangle 32"/>
          <p:cNvSpPr/>
          <p:nvPr/>
        </p:nvSpPr>
        <p:spPr>
          <a:xfrm>
            <a:off x="2560320" y="4693920"/>
            <a:ext cx="3054096"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88336" y="4812791"/>
            <a:ext cx="2798063"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200</a:t>
            </a:r>
          </a:p>
        </p:txBody>
      </p:sp>
      <p:sp>
        <p:nvSpPr>
          <p:cNvPr id="35" name="Rectangle 34"/>
          <p:cNvSpPr/>
          <p:nvPr/>
        </p:nvSpPr>
        <p:spPr>
          <a:xfrm>
            <a:off x="5614416" y="4693920"/>
            <a:ext cx="3044952"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42431" y="481279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244</a:t>
            </a:r>
          </a:p>
        </p:txBody>
      </p:sp>
      <p:sp>
        <p:nvSpPr>
          <p:cNvPr id="37" name="Rectangle 36"/>
          <p:cNvSpPr/>
          <p:nvPr/>
        </p:nvSpPr>
        <p:spPr>
          <a:xfrm>
            <a:off x="8659367" y="4693920"/>
            <a:ext cx="3044952" cy="92964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87384" y="4812791"/>
            <a:ext cx="2788920" cy="77419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+44 / +22%</a:t>
            </a:r>
          </a:p>
        </p:txBody>
      </p:sp>
      <p:sp>
        <p:nvSpPr>
          <p:cNvPr id="39" name="Rectangle 38"/>
          <p:cNvSpPr/>
          <p:nvPr/>
        </p:nvSpPr>
        <p:spPr>
          <a:xfrm>
            <a:off x="457200" y="5715000"/>
            <a:ext cx="11247120" cy="429768"/>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5797296"/>
            <a:ext cx="10972800" cy="274320"/>
          </a:xfrm>
          <a:prstGeom prst="rect">
            <a:avLst/>
          </a:prstGeom>
          <a:noFill/>
        </p:spPr>
        <p:txBody>
          <a:bodyPr wrap="square" lIns="0" rIns="0" tIns="0" bIns="0">
            <a:spAutoFit/>
          </a:bodyPr>
          <a:lstStyle/>
          <a:p>
            <a:pPr>
              <a:lnSpc>
                <a:spcPct val="108000"/>
              </a:lnSpc>
              <a:spcAft>
                <a:spcPts val="400"/>
              </a:spcAft>
              <a:defRPr sz="1200" b="1">
                <a:solidFill>
                  <a:srgbClr val="FFFFFF"/>
                </a:solidFill>
                <a:latin typeface="Arial"/>
              </a:defRPr>
            </a:pPr>
            <a:r>
              <a:t>Invented quantities and rates. Not AWS pricing, billing records or a measured agent result.</a:t>
            </a:r>
          </a:p>
        </p:txBody>
      </p:sp>
      <p:sp>
        <p:nvSpPr>
          <p:cNvPr id="41" name="Rectangle 40"/>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5:30–8:00   |   2:30 allocation</a:t>
            </a:r>
          </a:p>
        </p:txBody>
      </p:sp>
      <p:sp>
        <p:nvSpPr>
          <p:cNvPr id="43" name="TextBox 42"/>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04 / 13</a:t>
            </a:r>
          </a:p>
        </p:txBody>
      </p:sp>
      <p:sp>
        <p:nvSpPr>
          <p:cNvPr id="44" name="TextBox 43"/>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Synthetic illustration — not measured service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Anomaly detection is not causal proof</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Trace the suspected cause to the affected resource and changed usage.</a:t>
            </a:r>
          </a:p>
        </p:txBody>
      </p:sp>
      <p:sp>
        <p:nvSpPr>
          <p:cNvPr id="7" name="Rectangle 6"/>
          <p:cNvSpPr/>
          <p:nvPr/>
        </p:nvSpPr>
        <p:spPr>
          <a:xfrm>
            <a:off x="457200"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01</a:t>
            </a:r>
          </a:p>
        </p:txBody>
      </p:sp>
      <p:sp>
        <p:nvSpPr>
          <p:cNvPr id="10" name="TextBox 9"/>
          <p:cNvSpPr txBox="1"/>
          <p:nvPr/>
        </p:nvSpPr>
        <p:spPr>
          <a:xfrm>
            <a:off x="621792"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Detector event</a:t>
            </a:r>
          </a:p>
        </p:txBody>
      </p:sp>
      <p:sp>
        <p:nvSpPr>
          <p:cNvPr id="11" name="TextBox 10"/>
          <p:cNvSpPr txBox="1"/>
          <p:nvPr/>
        </p:nvSpPr>
        <p:spPr>
          <a:xfrm>
            <a:off x="621792"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Anomaly ID, monitor and affected interval</a:t>
            </a:r>
          </a:p>
        </p:txBody>
      </p:sp>
      <p:sp>
        <p:nvSpPr>
          <p:cNvPr id="12" name="Rectangle 11"/>
          <p:cNvSpPr/>
          <p:nvPr/>
        </p:nvSpPr>
        <p:spPr>
          <a:xfrm>
            <a:off x="3310128"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02</a:t>
            </a:r>
          </a:p>
        </p:txBody>
      </p:sp>
      <p:sp>
        <p:nvSpPr>
          <p:cNvPr id="15" name="TextBox 14"/>
          <p:cNvSpPr txBox="1"/>
          <p:nvPr/>
        </p:nvSpPr>
        <p:spPr>
          <a:xfrm>
            <a:off x="3474720"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Cost contributors</a:t>
            </a:r>
          </a:p>
        </p:txBody>
      </p:sp>
      <p:sp>
        <p:nvSpPr>
          <p:cNvPr id="16" name="TextBox 15"/>
          <p:cNvSpPr txBox="1"/>
          <p:nvPr/>
        </p:nvSpPr>
        <p:spPr>
          <a:xfrm>
            <a:off x="3474720"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Returned account/service/region dimensions</a:t>
            </a:r>
          </a:p>
        </p:txBody>
      </p:sp>
      <p:sp>
        <p:nvSpPr>
          <p:cNvPr id="17" name="Rectangle 16"/>
          <p:cNvSpPr/>
          <p:nvPr/>
        </p:nvSpPr>
        <p:spPr>
          <a:xfrm>
            <a:off x="6163056"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03</a:t>
            </a:r>
          </a:p>
        </p:txBody>
      </p:sp>
      <p:sp>
        <p:nvSpPr>
          <p:cNvPr id="20" name="TextBox 19"/>
          <p:cNvSpPr txBox="1"/>
          <p:nvPr/>
        </p:nvSpPr>
        <p:spPr>
          <a:xfrm>
            <a:off x="6327648"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Candidate change</a:t>
            </a:r>
          </a:p>
        </p:txBody>
      </p:sp>
      <p:sp>
        <p:nvSpPr>
          <p:cNvPr id="21" name="TextBox 20"/>
          <p:cNvSpPr txBox="1"/>
          <p:nvPr/>
        </p:nvSpPr>
        <p:spPr>
          <a:xfrm>
            <a:off x="6327648"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CloudTrail or deployment event, if accessible</a:t>
            </a:r>
          </a:p>
        </p:txBody>
      </p:sp>
      <p:sp>
        <p:nvSpPr>
          <p:cNvPr id="22" name="Rectangle 21"/>
          <p:cNvSpPr/>
          <p:nvPr/>
        </p:nvSpPr>
        <p:spPr>
          <a:xfrm>
            <a:off x="9015984"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15984"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0576"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04</a:t>
            </a:r>
          </a:p>
        </p:txBody>
      </p:sp>
      <p:sp>
        <p:nvSpPr>
          <p:cNvPr id="25" name="TextBox 24"/>
          <p:cNvSpPr txBox="1"/>
          <p:nvPr/>
        </p:nvSpPr>
        <p:spPr>
          <a:xfrm>
            <a:off x="9180576"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Causal check</a:t>
            </a:r>
          </a:p>
        </p:txBody>
      </p:sp>
      <p:sp>
        <p:nvSpPr>
          <p:cNvPr id="26" name="TextBox 25"/>
          <p:cNvSpPr txBox="1"/>
          <p:nvPr/>
        </p:nvSpPr>
        <p:spPr>
          <a:xfrm>
            <a:off x="9180576"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Did this event change this resource's measured usage?</a:t>
            </a:r>
          </a:p>
        </p:txBody>
      </p:sp>
      <p:sp>
        <p:nvSpPr>
          <p:cNvPr id="27" name="Rectangle 26"/>
          <p:cNvSpPr/>
          <p:nvPr/>
        </p:nvSpPr>
        <p:spPr>
          <a:xfrm>
            <a:off x="457200" y="5715000"/>
            <a:ext cx="11247120" cy="429768"/>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797296"/>
            <a:ext cx="10972800" cy="274320"/>
          </a:xfrm>
          <a:prstGeom prst="rect">
            <a:avLst/>
          </a:prstGeom>
          <a:noFill/>
        </p:spPr>
        <p:txBody>
          <a:bodyPr wrap="square" lIns="0" rIns="0" tIns="0" bIns="0">
            <a:spAutoFit/>
          </a:bodyPr>
          <a:lstStyle/>
          <a:p>
            <a:pPr>
              <a:lnSpc>
                <a:spcPct val="108000"/>
              </a:lnSpc>
              <a:spcAft>
                <a:spcPts val="400"/>
              </a:spcAft>
              <a:defRPr sz="1200" b="1">
                <a:solidFill>
                  <a:srgbClr val="FFFFFF"/>
                </a:solidFill>
                <a:latin typeface="Arial"/>
              </a:defRPr>
            </a:pPr>
            <a:r>
              <a:t>A correlated event is a hypothesis. Missing CloudTrail evidence is not proof that no change occurred.</a:t>
            </a:r>
          </a:p>
        </p:txBody>
      </p:sp>
      <p:sp>
        <p:nvSpPr>
          <p:cNvPr id="29" name="Rectangle 28"/>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8:00–10:30   |   2:30 allocation</a:t>
            </a:r>
          </a:p>
        </p:txBody>
      </p:sp>
      <p:sp>
        <p:nvSpPr>
          <p:cNvPr id="31" name="TextBox 30"/>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05 / 13</a:t>
            </a:r>
          </a:p>
        </p:txBody>
      </p:sp>
      <p:sp>
        <p:nvSpPr>
          <p:cNvPr id="32" name="TextBox 31"/>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anomaly, events, guardrails · full URLs in notes and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Four numbers with different meanings</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Measured cost, forecast and recommendation estimates have different meanings.</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Number</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Meaning</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Decision boundary</a:t>
            </a:r>
          </a:p>
        </p:txBody>
      </p:sp>
      <p:sp>
        <p:nvSpPr>
          <p:cNvPr id="13" name="Rectangle 12"/>
          <p:cNvSpPr/>
          <p:nvPr/>
        </p:nvSpPr>
        <p:spPr>
          <a:xfrm>
            <a:off x="457200" y="2834639"/>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Actual cost</a:t>
            </a:r>
          </a:p>
        </p:txBody>
      </p:sp>
      <p:sp>
        <p:nvSpPr>
          <p:cNvPr id="15" name="Rectangle 14"/>
          <p:cNvSpPr/>
          <p:nvPr/>
        </p:nvSpPr>
        <p:spPr>
          <a:xfrm>
            <a:off x="34747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Source billing observation under a defined scope</a:t>
            </a:r>
          </a:p>
        </p:txBody>
      </p:sp>
      <p:sp>
        <p:nvSpPr>
          <p:cNvPr id="17" name="Rectangle 16"/>
          <p:cNvSpPr/>
          <p:nvPr/>
        </p:nvSpPr>
        <p:spPr>
          <a:xfrm>
            <a:off x="75895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Reconcile the metric and cutoff</a:t>
            </a:r>
          </a:p>
        </p:txBody>
      </p:sp>
      <p:sp>
        <p:nvSpPr>
          <p:cNvPr id="19" name="Rectangle 18"/>
          <p:cNvSpPr/>
          <p:nvPr/>
        </p:nvSpPr>
        <p:spPr>
          <a:xfrm>
            <a:off x="457200" y="3641598"/>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760470"/>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Forecast</a:t>
            </a:r>
          </a:p>
        </p:txBody>
      </p:sp>
      <p:sp>
        <p:nvSpPr>
          <p:cNvPr id="21" name="Rectangle 20"/>
          <p:cNvSpPr/>
          <p:nvPr/>
        </p:nvSpPr>
        <p:spPr>
          <a:xfrm>
            <a:off x="34747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Source model's estimate for a future interval</a:t>
            </a:r>
          </a:p>
        </p:txBody>
      </p:sp>
      <p:sp>
        <p:nvSpPr>
          <p:cNvPr id="23" name="Rectangle 22"/>
          <p:cNvSpPr/>
          <p:nvPr/>
        </p:nvSpPr>
        <p:spPr>
          <a:xfrm>
            <a:off x="75895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Retain horizon and available uncertainty</a:t>
            </a:r>
          </a:p>
        </p:txBody>
      </p:sp>
      <p:sp>
        <p:nvSpPr>
          <p:cNvPr id="25" name="Rectangle 24"/>
          <p:cNvSpPr/>
          <p:nvPr/>
        </p:nvSpPr>
        <p:spPr>
          <a:xfrm>
            <a:off x="457200" y="4448556"/>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567428"/>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Estimated savings</a:t>
            </a:r>
          </a:p>
        </p:txBody>
      </p:sp>
      <p:sp>
        <p:nvSpPr>
          <p:cNvPr id="27" name="Rectangle 26"/>
          <p:cNvSpPr/>
          <p:nvPr/>
        </p:nvSpPr>
        <p:spPr>
          <a:xfrm>
            <a:off x="34747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Source recommendation under assumptions</a:t>
            </a:r>
          </a:p>
        </p:txBody>
      </p:sp>
      <p:sp>
        <p:nvSpPr>
          <p:cNvPr id="29" name="Rectangle 28"/>
          <p:cNvSpPr/>
          <p:nvPr/>
        </p:nvSpPr>
        <p:spPr>
          <a:xfrm>
            <a:off x="75895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Validate feasibility; avoid overlapping alternatives</a:t>
            </a:r>
          </a:p>
        </p:txBody>
      </p:sp>
      <p:sp>
        <p:nvSpPr>
          <p:cNvPr id="31" name="Rectangle 30"/>
          <p:cNvSpPr/>
          <p:nvPr/>
        </p:nvSpPr>
        <p:spPr>
          <a:xfrm>
            <a:off x="457200" y="5255514"/>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374386"/>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Realized savings</a:t>
            </a:r>
          </a:p>
        </p:txBody>
      </p:sp>
      <p:sp>
        <p:nvSpPr>
          <p:cNvPr id="33" name="Rectangle 32"/>
          <p:cNvSpPr/>
          <p:nvPr/>
        </p:nvSpPr>
        <p:spPr>
          <a:xfrm>
            <a:off x="34747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Post-change measurement with matched scope</a:t>
            </a:r>
          </a:p>
        </p:txBody>
      </p:sp>
      <p:sp>
        <p:nvSpPr>
          <p:cNvPr id="35" name="Rectangle 34"/>
          <p:cNvSpPr/>
          <p:nvPr/>
        </p:nvSpPr>
        <p:spPr>
          <a:xfrm>
            <a:off x="75895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Control for demand and workload changes</a:t>
            </a:r>
          </a:p>
        </p:txBody>
      </p:sp>
      <p:sp>
        <p:nvSpPr>
          <p:cNvPr id="37" name="Rectangle 36"/>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10:30–12:30   |   2:00 allocation</a:t>
            </a:r>
          </a:p>
        </p:txBody>
      </p:sp>
      <p:sp>
        <p:nvSpPr>
          <p:cNvPr id="39" name="TextBox 38"/>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06 / 13</a:t>
            </a:r>
          </a:p>
        </p:txBody>
      </p:sp>
      <p:sp>
        <p:nvSpPr>
          <p:cNvPr id="40" name="TextBox 39"/>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inquiry, optimization, guardrails · full URLs in notes and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Source recommendations need owner review</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The agent contextualizes source-service recommendations; engineering owns implementation and measurement.</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Inspect</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Why it matters</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Do not assume</a:t>
            </a:r>
          </a:p>
        </p:txBody>
      </p:sp>
      <p:sp>
        <p:nvSpPr>
          <p:cNvPr id="13" name="Rectangle 12"/>
          <p:cNvSpPr/>
          <p:nvPr/>
        </p:nvSpPr>
        <p:spPr>
          <a:xfrm>
            <a:off x="457200" y="2834639"/>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Source record and date</a:t>
            </a:r>
          </a:p>
        </p:txBody>
      </p:sp>
      <p:sp>
        <p:nvSpPr>
          <p:cNvPr id="15" name="Rectangle 14"/>
          <p:cNvSpPr/>
          <p:nvPr/>
        </p:nvSpPr>
        <p:spPr>
          <a:xfrm>
            <a:off x="34747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Recommendations depend on observed workload</a:t>
            </a:r>
          </a:p>
        </p:txBody>
      </p:sp>
      <p:sp>
        <p:nvSpPr>
          <p:cNvPr id="17" name="Rectangle 16"/>
          <p:cNvSpPr/>
          <p:nvPr/>
        </p:nvSpPr>
        <p:spPr>
          <a:xfrm>
            <a:off x="75895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The newest chat answer means new source analysis</a:t>
            </a:r>
          </a:p>
        </p:txBody>
      </p:sp>
      <p:sp>
        <p:nvSpPr>
          <p:cNvPr id="19" name="Rectangle 18"/>
          <p:cNvSpPr/>
          <p:nvPr/>
        </p:nvSpPr>
        <p:spPr>
          <a:xfrm>
            <a:off x="457200" y="3641598"/>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760470"/>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Proposed change</a:t>
            </a:r>
          </a:p>
        </p:txBody>
      </p:sp>
      <p:sp>
        <p:nvSpPr>
          <p:cNvPr id="21" name="Rectangle 20"/>
          <p:cNvSpPr/>
          <p:nvPr/>
        </p:nvSpPr>
        <p:spPr>
          <a:xfrm>
            <a:off x="34747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Shows the actual change being proposed</a:t>
            </a:r>
          </a:p>
        </p:txBody>
      </p:sp>
      <p:sp>
        <p:nvSpPr>
          <p:cNvPr id="23" name="Rectangle 22"/>
          <p:cNvSpPr/>
          <p:nvPr/>
        </p:nvSpPr>
        <p:spPr>
          <a:xfrm>
            <a:off x="75895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 generic 'save money' summary is implementable</a:t>
            </a:r>
          </a:p>
        </p:txBody>
      </p:sp>
      <p:sp>
        <p:nvSpPr>
          <p:cNvPr id="25" name="Rectangle 24"/>
          <p:cNvSpPr/>
          <p:nvPr/>
        </p:nvSpPr>
        <p:spPr>
          <a:xfrm>
            <a:off x="457200" y="4448556"/>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567428"/>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Overlapping alternatives</a:t>
            </a:r>
          </a:p>
        </p:txBody>
      </p:sp>
      <p:sp>
        <p:nvSpPr>
          <p:cNvPr id="27" name="Rectangle 26"/>
          <p:cNvSpPr/>
          <p:nvPr/>
        </p:nvSpPr>
        <p:spPr>
          <a:xfrm>
            <a:off x="34747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Prevents double-counted estimates</a:t>
            </a:r>
          </a:p>
        </p:txBody>
      </p:sp>
      <p:sp>
        <p:nvSpPr>
          <p:cNvPr id="29" name="Rectangle 28"/>
          <p:cNvSpPr/>
          <p:nvPr/>
        </p:nvSpPr>
        <p:spPr>
          <a:xfrm>
            <a:off x="75895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Every listed estimate can be added</a:t>
            </a:r>
          </a:p>
        </p:txBody>
      </p:sp>
      <p:sp>
        <p:nvSpPr>
          <p:cNvPr id="31" name="Rectangle 30"/>
          <p:cNvSpPr/>
          <p:nvPr/>
        </p:nvSpPr>
        <p:spPr>
          <a:xfrm>
            <a:off x="457200" y="5255514"/>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374386"/>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Workload constraints</a:t>
            </a:r>
          </a:p>
        </p:txBody>
      </p:sp>
      <p:sp>
        <p:nvSpPr>
          <p:cNvPr id="33" name="Rectangle 32"/>
          <p:cNvSpPr/>
          <p:nvPr/>
        </p:nvSpPr>
        <p:spPr>
          <a:xfrm>
            <a:off x="34747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Establishes feasibility for this workload</a:t>
            </a:r>
          </a:p>
        </p:txBody>
      </p:sp>
      <p:sp>
        <p:nvSpPr>
          <p:cNvPr id="35" name="Rectangle 34"/>
          <p:cNvSpPr/>
          <p:nvPr/>
        </p:nvSpPr>
        <p:spPr>
          <a:xfrm>
            <a:off x="75895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Low utilization guarantees safe downsizing</a:t>
            </a:r>
          </a:p>
        </p:txBody>
      </p:sp>
      <p:sp>
        <p:nvSpPr>
          <p:cNvPr id="37" name="Rectangle 36"/>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12:30–15:00   |   2:30 allocation</a:t>
            </a:r>
          </a:p>
        </p:txBody>
      </p:sp>
      <p:sp>
        <p:nvSpPr>
          <p:cNvPr id="39" name="TextBox 38"/>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07 / 13</a:t>
            </a:r>
          </a:p>
        </p:txBody>
      </p:sp>
      <p:sp>
        <p:nvSpPr>
          <p:cNvPr id="40" name="TextBox 39"/>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optimization, guardrails · full URLs in notes and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Context and memory do not change billing records</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Owner mappings and reporting preferences must not silently alter measured totals.</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Mechanism</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Who changes it</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Lifecycle</a:t>
            </a:r>
          </a:p>
        </p:txBody>
      </p:sp>
      <p:sp>
        <p:nvSpPr>
          <p:cNvPr id="13" name="Rectangle 12"/>
          <p:cNvSpPr/>
          <p:nvPr/>
        </p:nvSpPr>
        <p:spPr>
          <a:xfrm>
            <a:off x="457200" y="2834639"/>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Context file</a:t>
            </a:r>
          </a:p>
        </p:txBody>
      </p:sp>
      <p:sp>
        <p:nvSpPr>
          <p:cNvPr id="15" name="Rectangle 14"/>
          <p:cNvSpPr/>
          <p:nvPr/>
        </p:nvSpPr>
        <p:spPr>
          <a:xfrm>
            <a:off x="34747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User through Context files</a:t>
            </a:r>
          </a:p>
        </p:txBody>
      </p:sp>
      <p:sp>
        <p:nvSpPr>
          <p:cNvPr id="17" name="Rectangle 16"/>
          <p:cNvSpPr/>
          <p:nvPr/>
        </p:nvSpPr>
        <p:spPr>
          <a:xfrm>
            <a:off x="75895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Read-only to agent; soft-delete/restore</a:t>
            </a:r>
          </a:p>
        </p:txBody>
      </p:sp>
      <p:sp>
        <p:nvSpPr>
          <p:cNvPr id="19" name="Rectangle 18"/>
          <p:cNvSpPr/>
          <p:nvPr/>
        </p:nvSpPr>
        <p:spPr>
          <a:xfrm>
            <a:off x="457200" y="3641598"/>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760470"/>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Memory</a:t>
            </a:r>
          </a:p>
        </p:txBody>
      </p:sp>
      <p:sp>
        <p:nvSpPr>
          <p:cNvPr id="21" name="Rectangle 20"/>
          <p:cNvSpPr/>
          <p:nvPr/>
        </p:nvSpPr>
        <p:spPr>
          <a:xfrm>
            <a:off x="34747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Remember/update/forget through Chat</a:t>
            </a:r>
          </a:p>
        </p:txBody>
      </p:sp>
      <p:sp>
        <p:nvSpPr>
          <p:cNvPr id="23" name="Rectangle 22"/>
          <p:cNvSpPr/>
          <p:nvPr/>
        </p:nvSpPr>
        <p:spPr>
          <a:xfrm>
            <a:off x="75895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Persists preferences and corrections per agent</a:t>
            </a:r>
          </a:p>
        </p:txBody>
      </p:sp>
      <p:sp>
        <p:nvSpPr>
          <p:cNvPr id="25" name="Rectangle 24"/>
          <p:cNvSpPr/>
          <p:nvPr/>
        </p:nvSpPr>
        <p:spPr>
          <a:xfrm>
            <a:off x="457200" y="4448556"/>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567428"/>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Conversation summary</a:t>
            </a:r>
          </a:p>
        </p:txBody>
      </p:sp>
      <p:sp>
        <p:nvSpPr>
          <p:cNvPr id="27" name="Rectangle 26"/>
          <p:cNvSpPr/>
          <p:nvPr/>
        </p:nvSpPr>
        <p:spPr>
          <a:xfrm>
            <a:off x="34747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Automatic context-window management</a:t>
            </a:r>
          </a:p>
        </p:txBody>
      </p:sp>
      <p:sp>
        <p:nvSpPr>
          <p:cNvPr id="29" name="Rectangle 28"/>
          <p:cNvSpPr/>
          <p:nvPr/>
        </p:nvSpPr>
        <p:spPr>
          <a:xfrm>
            <a:off x="75895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Not the same as durable cross-session memory</a:t>
            </a:r>
          </a:p>
        </p:txBody>
      </p:sp>
      <p:sp>
        <p:nvSpPr>
          <p:cNvPr id="31" name="Rectangle 30"/>
          <p:cNvSpPr/>
          <p:nvPr/>
        </p:nvSpPr>
        <p:spPr>
          <a:xfrm>
            <a:off x="457200" y="5255514"/>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374386"/>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Task/conversation record</a:t>
            </a:r>
          </a:p>
        </p:txBody>
      </p:sp>
      <p:sp>
        <p:nvSpPr>
          <p:cNvPr id="33" name="Rectangle 32"/>
          <p:cNvSpPr/>
          <p:nvPr/>
        </p:nvSpPr>
        <p:spPr>
          <a:xfrm>
            <a:off x="34747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Service record of execution</a:t>
            </a:r>
          </a:p>
        </p:txBody>
      </p:sp>
      <p:sp>
        <p:nvSpPr>
          <p:cNvPr id="35" name="Rectangle 34"/>
          <p:cNvSpPr/>
          <p:nvPr/>
        </p:nvSpPr>
        <p:spPr>
          <a:xfrm>
            <a:off x="75895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 individual deletion during documented preview</a:t>
            </a:r>
          </a:p>
        </p:txBody>
      </p:sp>
      <p:sp>
        <p:nvSpPr>
          <p:cNvPr id="37" name="Rectangle 36"/>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15:00–17:00   |   2:00 allocation</a:t>
            </a:r>
          </a:p>
        </p:txBody>
      </p:sp>
      <p:sp>
        <p:nvSpPr>
          <p:cNvPr id="39" name="TextBox 38"/>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08 / 13</a:t>
            </a:r>
          </a:p>
        </p:txBody>
      </p:sp>
      <p:sp>
        <p:nvSpPr>
          <p:cNvPr id="40" name="TextBox 39"/>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context, data · full URLs in notes and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A task is one run; an automation creates runs</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Cancelling current work and stopping future work are separate operations.</a:t>
            </a:r>
          </a:p>
        </p:txBody>
      </p:sp>
      <p:sp>
        <p:nvSpPr>
          <p:cNvPr id="7" name="Rectangle 6"/>
          <p:cNvSpPr/>
          <p:nvPr/>
        </p:nvSpPr>
        <p:spPr>
          <a:xfrm>
            <a:off x="457200"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01</a:t>
            </a:r>
          </a:p>
        </p:txBody>
      </p:sp>
      <p:sp>
        <p:nvSpPr>
          <p:cNvPr id="10" name="TextBox 9"/>
          <p:cNvSpPr txBox="1"/>
          <p:nvPr/>
        </p:nvSpPr>
        <p:spPr>
          <a:xfrm>
            <a:off x="621792"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Definition</a:t>
            </a:r>
          </a:p>
        </p:txBody>
      </p:sp>
      <p:sp>
        <p:nvSpPr>
          <p:cNvPr id="11" name="TextBox 10"/>
          <p:cNvSpPr txBox="1"/>
          <p:nvPr/>
        </p:nvSpPr>
        <p:spPr>
          <a:xfrm>
            <a:off x="621792"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Instructions and allowed destinations</a:t>
            </a:r>
          </a:p>
        </p:txBody>
      </p:sp>
      <p:sp>
        <p:nvSpPr>
          <p:cNvPr id="12" name="Rectangle 11"/>
          <p:cNvSpPr/>
          <p:nvPr/>
        </p:nvSpPr>
        <p:spPr>
          <a:xfrm>
            <a:off x="3310128"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02</a:t>
            </a:r>
          </a:p>
        </p:txBody>
      </p:sp>
      <p:sp>
        <p:nvSpPr>
          <p:cNvPr id="15" name="TextBox 14"/>
          <p:cNvSpPr txBox="1"/>
          <p:nvPr/>
        </p:nvSpPr>
        <p:spPr>
          <a:xfrm>
            <a:off x="3474720"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Trigger</a:t>
            </a:r>
          </a:p>
        </p:txBody>
      </p:sp>
      <p:sp>
        <p:nvSpPr>
          <p:cNvPr id="16" name="TextBox 15"/>
          <p:cNvSpPr txBox="1"/>
          <p:nvPr/>
        </p:nvSpPr>
        <p:spPr>
          <a:xfrm>
            <a:off x="3474720"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Schedule or supported cost-anomaly event</a:t>
            </a:r>
          </a:p>
        </p:txBody>
      </p:sp>
      <p:sp>
        <p:nvSpPr>
          <p:cNvPr id="17" name="Rectangle 16"/>
          <p:cNvSpPr/>
          <p:nvPr/>
        </p:nvSpPr>
        <p:spPr>
          <a:xfrm>
            <a:off x="6163056"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03</a:t>
            </a:r>
          </a:p>
        </p:txBody>
      </p:sp>
      <p:sp>
        <p:nvSpPr>
          <p:cNvPr id="20" name="TextBox 19"/>
          <p:cNvSpPr txBox="1"/>
          <p:nvPr/>
        </p:nvSpPr>
        <p:spPr>
          <a:xfrm>
            <a:off x="6327648"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Task</a:t>
            </a:r>
          </a:p>
        </p:txBody>
      </p:sp>
      <p:sp>
        <p:nvSpPr>
          <p:cNvPr id="21" name="TextBox 20"/>
          <p:cNvSpPr txBox="1"/>
          <p:nvPr/>
        </p:nvSpPr>
        <p:spPr>
          <a:xfrm>
            <a:off x="6327648"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Activity, state, approvals and artifacts</a:t>
            </a:r>
          </a:p>
        </p:txBody>
      </p:sp>
      <p:sp>
        <p:nvSpPr>
          <p:cNvPr id="22" name="Rectangle 21"/>
          <p:cNvSpPr/>
          <p:nvPr/>
        </p:nvSpPr>
        <p:spPr>
          <a:xfrm>
            <a:off x="9015984" y="2514600"/>
            <a:ext cx="2688336" cy="2697480"/>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15984" y="2514600"/>
            <a:ext cx="2688336" cy="64008"/>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0576" y="2715768"/>
            <a:ext cx="2359152" cy="274320"/>
          </a:xfrm>
          <a:prstGeom prst="rect">
            <a:avLst/>
          </a:prstGeom>
          <a:noFill/>
        </p:spPr>
        <p:txBody>
          <a:bodyPr wrap="square" lIns="0" rIns="0" tIns="0" bIns="0">
            <a:spAutoFit/>
          </a:bodyPr>
          <a:lstStyle/>
          <a:p>
            <a:pPr>
              <a:lnSpc>
                <a:spcPct val="108000"/>
              </a:lnSpc>
              <a:spcAft>
                <a:spcPts val="400"/>
              </a:spcAft>
              <a:defRPr sz="1200" b="1">
                <a:solidFill>
                  <a:srgbClr val="006D76"/>
                </a:solidFill>
                <a:latin typeface="Arial"/>
              </a:defRPr>
            </a:pPr>
            <a:r>
              <a:t>04</a:t>
            </a:r>
          </a:p>
        </p:txBody>
      </p:sp>
      <p:sp>
        <p:nvSpPr>
          <p:cNvPr id="25" name="TextBox 24"/>
          <p:cNvSpPr txBox="1"/>
          <p:nvPr/>
        </p:nvSpPr>
        <p:spPr>
          <a:xfrm>
            <a:off x="9180576" y="3154679"/>
            <a:ext cx="2359152" cy="640080"/>
          </a:xfrm>
          <a:prstGeom prst="rect">
            <a:avLst/>
          </a:prstGeom>
          <a:noFill/>
        </p:spPr>
        <p:txBody>
          <a:bodyPr wrap="square" lIns="0" rIns="0" tIns="0" bIns="0">
            <a:spAutoFit/>
          </a:bodyPr>
          <a:lstStyle/>
          <a:p>
            <a:pPr>
              <a:lnSpc>
                <a:spcPct val="108000"/>
              </a:lnSpc>
              <a:spcAft>
                <a:spcPts val="400"/>
              </a:spcAft>
              <a:defRPr sz="2100" b="1">
                <a:solidFill>
                  <a:srgbClr val="182B40"/>
                </a:solidFill>
                <a:latin typeface="Arial"/>
              </a:defRPr>
            </a:pPr>
            <a:r>
              <a:t>Result</a:t>
            </a:r>
          </a:p>
        </p:txBody>
      </p:sp>
      <p:sp>
        <p:nvSpPr>
          <p:cNvPr id="26" name="TextBox 25"/>
          <p:cNvSpPr txBox="1"/>
          <p:nvPr/>
        </p:nvSpPr>
        <p:spPr>
          <a:xfrm>
            <a:off x="9180576" y="3858768"/>
            <a:ext cx="2359152" cy="1024128"/>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Reviewed report or external delivery</a:t>
            </a:r>
          </a:p>
        </p:txBody>
      </p:sp>
      <p:sp>
        <p:nvSpPr>
          <p:cNvPr id="27" name="Rectangle 26"/>
          <p:cNvSpPr/>
          <p:nvPr/>
        </p:nvSpPr>
        <p:spPr>
          <a:xfrm>
            <a:off x="457200" y="5715000"/>
            <a:ext cx="11247120" cy="429768"/>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797296"/>
            <a:ext cx="10972800" cy="274320"/>
          </a:xfrm>
          <a:prstGeom prst="rect">
            <a:avLst/>
          </a:prstGeom>
          <a:noFill/>
        </p:spPr>
        <p:txBody>
          <a:bodyPr wrap="square" lIns="0" rIns="0" tIns="0" bIns="0">
            <a:spAutoFit/>
          </a:bodyPr>
          <a:lstStyle/>
          <a:p>
            <a:pPr>
              <a:lnSpc>
                <a:spcPct val="108000"/>
              </a:lnSpc>
              <a:spcAft>
                <a:spcPts val="400"/>
              </a:spcAft>
              <a:defRPr sz="1200" b="1">
                <a:solidFill>
                  <a:srgbClr val="FFFFFF"/>
                </a:solidFill>
                <a:latin typeface="Arial"/>
              </a:defRPr>
            </a:pPr>
            <a:r>
              <a:t>Disable the automation for future runs; cancel an already-running task separately.</a:t>
            </a:r>
          </a:p>
        </p:txBody>
      </p:sp>
      <p:sp>
        <p:nvSpPr>
          <p:cNvPr id="29" name="Rectangle 28"/>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17:00–19:00   |   2:00 allocation</a:t>
            </a:r>
          </a:p>
        </p:txBody>
      </p:sp>
      <p:sp>
        <p:nvSpPr>
          <p:cNvPr id="31" name="TextBox 30"/>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09 / 13</a:t>
            </a:r>
          </a:p>
        </p:txBody>
      </p:sp>
      <p:sp>
        <p:nvSpPr>
          <p:cNvPr id="32" name="TextBox 31"/>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tasks, events, webapp, data · full URLs in notes and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Publishing controls are action-specific</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Do not describe all writes as requiring approval.</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Action</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Chat / on-demand task</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Scheduled / event task</a:t>
            </a:r>
          </a:p>
        </p:txBody>
      </p:sp>
      <p:sp>
        <p:nvSpPr>
          <p:cNvPr id="13" name="Rectangle 12"/>
          <p:cNvSpPr/>
          <p:nvPr/>
        </p:nvSpPr>
        <p:spPr>
          <a:xfrm>
            <a:off x="457200" y="2834639"/>
            <a:ext cx="301752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54178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Create Jira issue</a:t>
            </a:r>
          </a:p>
        </p:txBody>
      </p:sp>
      <p:sp>
        <p:nvSpPr>
          <p:cNvPr id="15" name="Rectangle 14"/>
          <p:cNvSpPr/>
          <p:nvPr/>
        </p:nvSpPr>
        <p:spPr>
          <a:xfrm>
            <a:off x="3474720" y="2834639"/>
            <a:ext cx="411480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Approval required</a:t>
            </a:r>
          </a:p>
        </p:txBody>
      </p:sp>
      <p:sp>
        <p:nvSpPr>
          <p:cNvPr id="17" name="Rectangle 16"/>
          <p:cNvSpPr/>
          <p:nvPr/>
        </p:nvSpPr>
        <p:spPr>
          <a:xfrm>
            <a:off x="7589520" y="2834639"/>
            <a:ext cx="411480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Pre-authorized at setup</a:t>
            </a:r>
          </a:p>
        </p:txBody>
      </p:sp>
      <p:sp>
        <p:nvSpPr>
          <p:cNvPr id="19" name="Rectangle 18"/>
          <p:cNvSpPr/>
          <p:nvPr/>
        </p:nvSpPr>
        <p:spPr>
          <a:xfrm>
            <a:off x="457200" y="3531870"/>
            <a:ext cx="301752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650741"/>
            <a:ext cx="2761487" cy="54178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Add Jira comment</a:t>
            </a:r>
          </a:p>
        </p:txBody>
      </p:sp>
      <p:sp>
        <p:nvSpPr>
          <p:cNvPr id="21" name="Rectangle 20"/>
          <p:cNvSpPr/>
          <p:nvPr/>
        </p:nvSpPr>
        <p:spPr>
          <a:xfrm>
            <a:off x="3474720" y="3531870"/>
            <a:ext cx="411480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65074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Approval required</a:t>
            </a:r>
          </a:p>
        </p:txBody>
      </p:sp>
      <p:sp>
        <p:nvSpPr>
          <p:cNvPr id="23" name="Rectangle 22"/>
          <p:cNvSpPr/>
          <p:nvPr/>
        </p:nvSpPr>
        <p:spPr>
          <a:xfrm>
            <a:off x="7589520" y="3531870"/>
            <a:ext cx="411480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65074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Pre-authorized at setup</a:t>
            </a:r>
          </a:p>
        </p:txBody>
      </p:sp>
      <p:sp>
        <p:nvSpPr>
          <p:cNvPr id="25" name="Rectangle 24"/>
          <p:cNvSpPr/>
          <p:nvPr/>
        </p:nvSpPr>
        <p:spPr>
          <a:xfrm>
            <a:off x="457200" y="4229100"/>
            <a:ext cx="301752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347972"/>
            <a:ext cx="2761487" cy="54178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Post to Slack</a:t>
            </a:r>
          </a:p>
        </p:txBody>
      </p:sp>
      <p:sp>
        <p:nvSpPr>
          <p:cNvPr id="27" name="Rectangle 26"/>
          <p:cNvSpPr/>
          <p:nvPr/>
        </p:nvSpPr>
        <p:spPr>
          <a:xfrm>
            <a:off x="3474720" y="4229100"/>
            <a:ext cx="411480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347972"/>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 per-message approval</a:t>
            </a:r>
          </a:p>
        </p:txBody>
      </p:sp>
      <p:sp>
        <p:nvSpPr>
          <p:cNvPr id="29" name="Rectangle 28"/>
          <p:cNvSpPr/>
          <p:nvPr/>
        </p:nvSpPr>
        <p:spPr>
          <a:xfrm>
            <a:off x="7589520" y="4229100"/>
            <a:ext cx="4114800" cy="697230"/>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347972"/>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 per-message approval</a:t>
            </a:r>
          </a:p>
        </p:txBody>
      </p:sp>
      <p:sp>
        <p:nvSpPr>
          <p:cNvPr id="31" name="Rectangle 30"/>
          <p:cNvSpPr/>
          <p:nvPr/>
        </p:nvSpPr>
        <p:spPr>
          <a:xfrm>
            <a:off x="457200" y="4926329"/>
            <a:ext cx="301752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045201"/>
            <a:ext cx="2761487" cy="541781"/>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Resize / buy commitments</a:t>
            </a:r>
          </a:p>
        </p:txBody>
      </p:sp>
      <p:sp>
        <p:nvSpPr>
          <p:cNvPr id="33" name="Rectangle 32"/>
          <p:cNvSpPr/>
          <p:nvPr/>
        </p:nvSpPr>
        <p:spPr>
          <a:xfrm>
            <a:off x="3474720" y="4926329"/>
            <a:ext cx="411480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04520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Not a documented publishing action</a:t>
            </a:r>
          </a:p>
        </p:txBody>
      </p:sp>
      <p:sp>
        <p:nvSpPr>
          <p:cNvPr id="35" name="Rectangle 34"/>
          <p:cNvSpPr/>
          <p:nvPr/>
        </p:nvSpPr>
        <p:spPr>
          <a:xfrm>
            <a:off x="7589520" y="4926329"/>
            <a:ext cx="4114800" cy="697230"/>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045201"/>
            <a:ext cx="3858768" cy="541781"/>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Not made available by automation</a:t>
            </a:r>
          </a:p>
        </p:txBody>
      </p:sp>
      <p:sp>
        <p:nvSpPr>
          <p:cNvPr id="37" name="Rectangle 36"/>
          <p:cNvSpPr/>
          <p:nvPr/>
        </p:nvSpPr>
        <p:spPr>
          <a:xfrm>
            <a:off x="457200" y="5715000"/>
            <a:ext cx="11247120" cy="429768"/>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5797296"/>
            <a:ext cx="10972800" cy="274320"/>
          </a:xfrm>
          <a:prstGeom prst="rect">
            <a:avLst/>
          </a:prstGeom>
          <a:noFill/>
        </p:spPr>
        <p:txBody>
          <a:bodyPr wrap="square" lIns="0" rIns="0" tIns="0" bIns="0">
            <a:spAutoFit/>
          </a:bodyPr>
          <a:lstStyle/>
          <a:p>
            <a:pPr>
              <a:lnSpc>
                <a:spcPct val="108000"/>
              </a:lnSpc>
              <a:spcAft>
                <a:spcPts val="400"/>
              </a:spcAft>
              <a:defRPr sz="1200" b="1">
                <a:solidFill>
                  <a:srgbClr val="FFFFFF"/>
                </a:solidFill>
                <a:latin typeface="Arial"/>
              </a:defRPr>
            </a:pPr>
            <a:r>
              <a:t>Jira cannot set assignee/priority/status here. Slack is posting-only during preview.</a:t>
            </a:r>
          </a:p>
        </p:txBody>
      </p:sp>
      <p:sp>
        <p:nvSpPr>
          <p:cNvPr id="39" name="Rectangle 38"/>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19:00–21:30   |   2:30 allocation</a:t>
            </a:r>
          </a:p>
        </p:txBody>
      </p:sp>
      <p:sp>
        <p:nvSpPr>
          <p:cNvPr id="41" name="TextBox 40"/>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10 / 13</a:t>
            </a:r>
          </a:p>
        </p:txBody>
      </p:sp>
      <p:sp>
        <p:nvSpPr>
          <p:cNvPr id="42" name="TextBox 41"/>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guardrails, jira, slack, tasks · full URLs in notes and report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Demonstration: reconcile before explaining</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Use the synthetic fixture for arithmetic and prepared source evidence for interpretation.</a:t>
            </a:r>
          </a:p>
        </p:txBody>
      </p:sp>
      <p:sp>
        <p:nvSpPr>
          <p:cNvPr id="7" name="Rectangle 6"/>
          <p:cNvSpPr/>
          <p:nvPr/>
        </p:nvSpPr>
        <p:spPr>
          <a:xfrm>
            <a:off x="457200" y="2331720"/>
            <a:ext cx="11247120" cy="530352"/>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441448"/>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9" name="TextBox 8"/>
          <p:cNvSpPr txBox="1"/>
          <p:nvPr/>
        </p:nvSpPr>
        <p:spPr>
          <a:xfrm>
            <a:off x="1508760" y="2423160"/>
            <a:ext cx="9966960" cy="457200"/>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Show the comparison contract and clearly labeled synthetic input table.</a:t>
            </a:r>
          </a:p>
        </p:txBody>
      </p:sp>
      <p:sp>
        <p:nvSpPr>
          <p:cNvPr id="10" name="Rectangle 9"/>
          <p:cNvSpPr/>
          <p:nvPr/>
        </p:nvSpPr>
        <p:spPr>
          <a:xfrm>
            <a:off x="457200" y="2898648"/>
            <a:ext cx="11247120" cy="530352"/>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008376"/>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12" name="TextBox 11"/>
          <p:cNvSpPr txBox="1"/>
          <p:nvPr/>
        </p:nvSpPr>
        <p:spPr>
          <a:xfrm>
            <a:off x="1508760" y="2990088"/>
            <a:ext cx="9966960" cy="457200"/>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Recalculate baseline/current totals and the absolute and percentage delta.</a:t>
            </a:r>
          </a:p>
        </p:txBody>
      </p:sp>
      <p:sp>
        <p:nvSpPr>
          <p:cNvPr id="13" name="Rectangle 12"/>
          <p:cNvSpPr/>
          <p:nvPr/>
        </p:nvSpPr>
        <p:spPr>
          <a:xfrm>
            <a:off x="457200" y="3465576"/>
            <a:ext cx="11247120" cy="530352"/>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575304"/>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15" name="TextBox 14"/>
          <p:cNvSpPr txBox="1"/>
          <p:nvPr/>
        </p:nvSpPr>
        <p:spPr>
          <a:xfrm>
            <a:off x="1508760" y="3557016"/>
            <a:ext cx="9966960" cy="457200"/>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Compute a quantity/rate decomposition and state its convention.</a:t>
            </a:r>
          </a:p>
        </p:txBody>
      </p:sp>
      <p:sp>
        <p:nvSpPr>
          <p:cNvPr id="16" name="Rectangle 15"/>
          <p:cNvSpPr/>
          <p:nvPr/>
        </p:nvSpPr>
        <p:spPr>
          <a:xfrm>
            <a:off x="457200" y="4032504"/>
            <a:ext cx="11247120" cy="530352"/>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142232"/>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18" name="TextBox 17"/>
          <p:cNvSpPr txBox="1"/>
          <p:nvPr/>
        </p:nvSpPr>
        <p:spPr>
          <a:xfrm>
            <a:off x="1508760" y="4123944"/>
            <a:ext cx="9966960" cy="457200"/>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Contrast the arithmetic with the additional evidence needed for a deployment-cause claim.</a:t>
            </a:r>
          </a:p>
        </p:txBody>
      </p:sp>
      <p:sp>
        <p:nvSpPr>
          <p:cNvPr id="19" name="Rectangle 18"/>
          <p:cNvSpPr/>
          <p:nvPr/>
        </p:nvSpPr>
        <p:spPr>
          <a:xfrm>
            <a:off x="457200" y="4599431"/>
            <a:ext cx="11247120" cy="530352"/>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709159"/>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21" name="TextBox 20"/>
          <p:cNvSpPr txBox="1"/>
          <p:nvPr/>
        </p:nvSpPr>
        <p:spPr>
          <a:xfrm>
            <a:off x="1508760" y="4690871"/>
            <a:ext cx="9966960" cy="457200"/>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Inspect a prepared report for scope, residual and uncertainty labels.</a:t>
            </a:r>
          </a:p>
        </p:txBody>
      </p:sp>
      <p:sp>
        <p:nvSpPr>
          <p:cNvPr id="22" name="Rectangle 21"/>
          <p:cNvSpPr/>
          <p:nvPr/>
        </p:nvSpPr>
        <p:spPr>
          <a:xfrm>
            <a:off x="457200" y="5358384"/>
            <a:ext cx="11247120" cy="749808"/>
          </a:xfrm>
          <a:prstGeom prst="rect">
            <a:avLst/>
          </a:prstGeom>
          <a:solidFill>
            <a:srgbClr val="FCF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468112"/>
            <a:ext cx="10881360" cy="201168"/>
          </a:xfrm>
          <a:prstGeom prst="rect">
            <a:avLst/>
          </a:prstGeom>
          <a:noFill/>
        </p:spPr>
        <p:txBody>
          <a:bodyPr wrap="square" lIns="0" rIns="0" tIns="0" bIns="0">
            <a:spAutoFit/>
          </a:bodyPr>
          <a:lstStyle/>
          <a:p>
            <a:pPr>
              <a:lnSpc>
                <a:spcPct val="108000"/>
              </a:lnSpc>
              <a:spcAft>
                <a:spcPts val="400"/>
              </a:spcAft>
              <a:defRPr sz="1000" b="1">
                <a:solidFill>
                  <a:srgbClr val="84541B"/>
                </a:solidFill>
                <a:latin typeface="Arial"/>
              </a:defRPr>
            </a:pPr>
            <a:r>
              <a:t>PREPARED-EVIDENCE FALLBACK</a:t>
            </a:r>
          </a:p>
        </p:txBody>
      </p:sp>
      <p:sp>
        <p:nvSpPr>
          <p:cNvPr id="24" name="TextBox 23"/>
          <p:cNvSpPr txBox="1"/>
          <p:nvPr/>
        </p:nvSpPr>
        <p:spPr>
          <a:xfrm>
            <a:off x="621792" y="5715000"/>
            <a:ext cx="10881360" cy="338328"/>
          </a:xfrm>
          <a:prstGeom prst="rect">
            <a:avLst/>
          </a:prstGeom>
          <a:noFill/>
        </p:spPr>
        <p:txBody>
          <a:bodyPr wrap="square" lIns="0" rIns="0" tIns="0" bIns="0">
            <a:spAutoFit/>
          </a:bodyPr>
          <a:lstStyle/>
          <a:p>
            <a:pPr>
              <a:lnSpc>
                <a:spcPct val="108000"/>
              </a:lnSpc>
              <a:spcAft>
                <a:spcPts val="400"/>
              </a:spcAft>
              <a:defRPr sz="1300" b="0">
                <a:solidFill>
                  <a:srgbClr val="182B40"/>
                </a:solidFill>
                <a:latin typeface="Arial"/>
              </a:defRPr>
            </a:pPr>
            <a:r>
              <a:t>Use the supplied arithmetic fixture. It demonstrates reconciliation only; it is not AWS billing data, service pricing or a live agent result.</a:t>
            </a:r>
          </a:p>
        </p:txBody>
      </p:sp>
      <p:sp>
        <p:nvSpPr>
          <p:cNvPr id="25" name="Rectangle 24"/>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21:30–26:30   |   5:00 allocation</a:t>
            </a:r>
          </a:p>
        </p:txBody>
      </p:sp>
      <p:sp>
        <p:nvSpPr>
          <p:cNvPr id="27" name="TextBox 26"/>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11 / 13</a:t>
            </a:r>
          </a:p>
        </p:txBody>
      </p:sp>
      <p:sp>
        <p:nvSpPr>
          <p:cNvPr id="28" name="TextBox 27"/>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inquiry, anomaly, guardrails · full URLs in notes and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Demonstration: recommendation to reviewable work</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A ticket is a proposed change, not achieved savings.</a:t>
            </a:r>
          </a:p>
        </p:txBody>
      </p:sp>
      <p:sp>
        <p:nvSpPr>
          <p:cNvPr id="7" name="Rectangle 6"/>
          <p:cNvSpPr/>
          <p:nvPr/>
        </p:nvSpPr>
        <p:spPr>
          <a:xfrm>
            <a:off x="457200" y="2331720"/>
            <a:ext cx="11247120" cy="908304"/>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441448"/>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9" name="TextBox 8"/>
          <p:cNvSpPr txBox="1"/>
          <p:nvPr/>
        </p:nvSpPr>
        <p:spPr>
          <a:xfrm>
            <a:off x="1508760" y="2423160"/>
            <a:ext cx="9966960" cy="835152"/>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Inspect a prepared recommendation and identify one overlapping alternative.</a:t>
            </a:r>
          </a:p>
        </p:txBody>
      </p:sp>
      <p:sp>
        <p:nvSpPr>
          <p:cNvPr id="10" name="Rectangle 9"/>
          <p:cNvSpPr/>
          <p:nvPr/>
        </p:nvSpPr>
        <p:spPr>
          <a:xfrm>
            <a:off x="457200" y="3276599"/>
            <a:ext cx="11247120" cy="908304"/>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386328"/>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12" name="TextBox 11"/>
          <p:cNvSpPr txBox="1"/>
          <p:nvPr/>
        </p:nvSpPr>
        <p:spPr>
          <a:xfrm>
            <a:off x="1508760" y="3368040"/>
            <a:ext cx="9966960" cy="835152"/>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Review a draft issue, project defaults and the interactive approval boundary.</a:t>
            </a:r>
          </a:p>
        </p:txBody>
      </p:sp>
      <p:sp>
        <p:nvSpPr>
          <p:cNvPr id="13" name="Rectangle 12"/>
          <p:cNvSpPr/>
          <p:nvPr/>
        </p:nvSpPr>
        <p:spPr>
          <a:xfrm>
            <a:off x="457200" y="4221480"/>
            <a:ext cx="11247120" cy="908304"/>
          </a:xfrm>
          <a:prstGeom prst="rect">
            <a:avLst/>
          </a:prstGeom>
          <a:solidFill>
            <a:srgbClr val="ED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331208"/>
            <a:ext cx="731520" cy="320040"/>
          </a:xfrm>
          <a:prstGeom prst="rect">
            <a:avLst/>
          </a:prstGeom>
          <a:noFill/>
        </p:spPr>
        <p:txBody>
          <a:bodyPr wrap="square" lIns="0" rIns="0" tIns="0" bIns="0">
            <a:spAutoFit/>
          </a:bodyPr>
          <a:lstStyle/>
          <a:p>
            <a:pPr>
              <a:lnSpc>
                <a:spcPct val="108000"/>
              </a:lnSpc>
              <a:spcAft>
                <a:spcPts val="400"/>
              </a:spcAft>
              <a:defRPr sz="1700" b="1">
                <a:solidFill>
                  <a:srgbClr val="006D76"/>
                </a:solidFill>
                <a:latin typeface="Arial"/>
              </a:defRPr>
            </a:pPr>
            <a:r>
              <a:t>1 min</a:t>
            </a:r>
          </a:p>
        </p:txBody>
      </p:sp>
      <p:sp>
        <p:nvSpPr>
          <p:cNvPr id="15" name="TextBox 14"/>
          <p:cNvSpPr txBox="1"/>
          <p:nvPr/>
        </p:nvSpPr>
        <p:spPr>
          <a:xfrm>
            <a:off x="1508760" y="4312920"/>
            <a:ext cx="9966960" cy="835152"/>
          </a:xfrm>
          <a:prstGeom prst="rect">
            <a:avLst/>
          </a:prstGeom>
          <a:noFill/>
        </p:spPr>
        <p:txBody>
          <a:bodyPr wrap="square" lIns="0" rIns="0" tIns="0" bIns="0">
            <a:spAutoFit/>
          </a:bodyPr>
          <a:lstStyle/>
          <a:p>
            <a:pPr>
              <a:lnSpc>
                <a:spcPct val="108000"/>
              </a:lnSpc>
              <a:spcAft>
                <a:spcPts val="400"/>
              </a:spcAft>
              <a:defRPr sz="1800" b="0">
                <a:solidFill>
                  <a:srgbClr val="182B40"/>
                </a:solidFill>
                <a:latin typeface="Arial"/>
              </a:defRPr>
            </a:pPr>
            <a:r>
              <a:t>Contrast estimated savings with the future measurement required after an independently approved deployment.</a:t>
            </a:r>
          </a:p>
        </p:txBody>
      </p:sp>
      <p:sp>
        <p:nvSpPr>
          <p:cNvPr id="16" name="Rectangle 15"/>
          <p:cNvSpPr/>
          <p:nvPr/>
        </p:nvSpPr>
        <p:spPr>
          <a:xfrm>
            <a:off x="457200" y="5358384"/>
            <a:ext cx="11247120" cy="749808"/>
          </a:xfrm>
          <a:prstGeom prst="rect">
            <a:avLst/>
          </a:prstGeom>
          <a:solidFill>
            <a:srgbClr val="FCF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5468112"/>
            <a:ext cx="10881360" cy="201168"/>
          </a:xfrm>
          <a:prstGeom prst="rect">
            <a:avLst/>
          </a:prstGeom>
          <a:noFill/>
        </p:spPr>
        <p:txBody>
          <a:bodyPr wrap="square" lIns="0" rIns="0" tIns="0" bIns="0">
            <a:spAutoFit/>
          </a:bodyPr>
          <a:lstStyle/>
          <a:p>
            <a:pPr>
              <a:lnSpc>
                <a:spcPct val="108000"/>
              </a:lnSpc>
              <a:spcAft>
                <a:spcPts val="400"/>
              </a:spcAft>
              <a:defRPr sz="1000" b="1">
                <a:solidFill>
                  <a:srgbClr val="84541B"/>
                </a:solidFill>
                <a:latin typeface="Arial"/>
              </a:defRPr>
            </a:pPr>
            <a:r>
              <a:t>PREPARED-EVIDENCE FALLBACK</a:t>
            </a:r>
          </a:p>
        </p:txBody>
      </p:sp>
      <p:sp>
        <p:nvSpPr>
          <p:cNvPr id="18" name="TextBox 17"/>
          <p:cNvSpPr txBox="1"/>
          <p:nvPr/>
        </p:nvSpPr>
        <p:spPr>
          <a:xfrm>
            <a:off x="621792" y="5715000"/>
            <a:ext cx="10881360" cy="338328"/>
          </a:xfrm>
          <a:prstGeom prst="rect">
            <a:avLst/>
          </a:prstGeom>
          <a:noFill/>
        </p:spPr>
        <p:txBody>
          <a:bodyPr wrap="square" lIns="0" rIns="0" tIns="0" bIns="0">
            <a:spAutoFit/>
          </a:bodyPr>
          <a:lstStyle/>
          <a:p>
            <a:pPr>
              <a:lnSpc>
                <a:spcPct val="108000"/>
              </a:lnSpc>
              <a:spcAft>
                <a:spcPts val="400"/>
              </a:spcAft>
              <a:defRPr sz="1300" b="0">
                <a:solidFill>
                  <a:srgbClr val="182B40"/>
                </a:solidFill>
                <a:latin typeface="Arial"/>
              </a:defRPr>
            </a:pPr>
            <a:r>
              <a:t>Use a prepared recommendation and draft issue; do not create a real ticket unless the connected project and operator authorization are explicitly available.</a:t>
            </a:r>
          </a:p>
        </p:txBody>
      </p:sp>
      <p:sp>
        <p:nvSpPr>
          <p:cNvPr id="19" name="Rectangle 18"/>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26:30–29:30   |   3:00 allocation</a:t>
            </a:r>
          </a:p>
        </p:txBody>
      </p:sp>
      <p:sp>
        <p:nvSpPr>
          <p:cNvPr id="21" name="TextBox 20"/>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12 / 13</a:t>
            </a:r>
          </a:p>
        </p:txBody>
      </p:sp>
      <p:sp>
        <p:nvSpPr>
          <p:cNvPr id="22" name="TextBox 21"/>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optimization, jira, guardrails · full URLs in notes and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6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789920" cy="228600"/>
          </a:xfrm>
          <a:prstGeom prst="rect">
            <a:avLst/>
          </a:prstGeom>
          <a:noFill/>
        </p:spPr>
        <p:txBody>
          <a:bodyPr wrap="square" lIns="0" rIns="0" tIns="0" bIns="0">
            <a:spAutoFit/>
          </a:bodyPr>
          <a:lstStyle/>
          <a:p>
            <a:pPr>
              <a:lnSpc>
                <a:spcPct val="108000"/>
              </a:lnSpc>
              <a:spcAft>
                <a:spcPts val="400"/>
              </a:spcAft>
              <a:defRPr sz="1000" b="1">
                <a:solidFill>
                  <a:srgbClr val="006D76"/>
                </a:solidFill>
                <a:latin typeface="Arial"/>
              </a:defRPr>
            </a:pPr>
            <a:r>
              <a:t>AWS FINOPS AGENT  /  ENGINEERING REFERENCE</a:t>
            </a:r>
          </a:p>
        </p:txBody>
      </p:sp>
      <p:sp>
        <p:nvSpPr>
          <p:cNvPr id="5" name="TextBox 4"/>
          <p:cNvSpPr txBox="1"/>
          <p:nvPr/>
        </p:nvSpPr>
        <p:spPr>
          <a:xfrm>
            <a:off x="457200" y="713232"/>
            <a:ext cx="11201400" cy="914400"/>
          </a:xfrm>
          <a:prstGeom prst="rect">
            <a:avLst/>
          </a:prstGeom>
          <a:noFill/>
        </p:spPr>
        <p:txBody>
          <a:bodyPr wrap="square" lIns="0" rIns="0" tIns="0" bIns="0">
            <a:spAutoFit/>
          </a:bodyPr>
          <a:lstStyle/>
          <a:p>
            <a:pPr>
              <a:lnSpc>
                <a:spcPct val="108000"/>
              </a:lnSpc>
              <a:spcAft>
                <a:spcPts val="400"/>
              </a:spcAft>
              <a:defRPr sz="2900" b="1">
                <a:solidFill>
                  <a:srgbClr val="182B40"/>
                </a:solidFill>
                <a:latin typeface="Arial"/>
              </a:defRPr>
            </a:pPr>
            <a:r>
              <a:t>Acceptance requires a traceable numerical result</a:t>
            </a:r>
          </a:p>
        </p:txBody>
      </p:sp>
      <p:sp>
        <p:nvSpPr>
          <p:cNvPr id="6" name="TextBox 5"/>
          <p:cNvSpPr txBox="1"/>
          <p:nvPr/>
        </p:nvSpPr>
        <p:spPr>
          <a:xfrm>
            <a:off x="457200" y="1773936"/>
            <a:ext cx="11109960" cy="475488"/>
          </a:xfrm>
          <a:prstGeom prst="rect">
            <a:avLst/>
          </a:prstGeom>
          <a:noFill/>
        </p:spPr>
        <p:txBody>
          <a:bodyPr wrap="square" lIns="0" rIns="0" tIns="0" bIns="0">
            <a:spAutoFit/>
          </a:bodyPr>
          <a:lstStyle/>
          <a:p>
            <a:pPr>
              <a:lnSpc>
                <a:spcPct val="108000"/>
              </a:lnSpc>
              <a:spcAft>
                <a:spcPts val="400"/>
              </a:spcAft>
              <a:defRPr sz="1700" b="0">
                <a:solidFill>
                  <a:srgbClr val="006D76"/>
                </a:solidFill>
                <a:latin typeface="Arial"/>
              </a:defRPr>
            </a:pPr>
            <a:r>
              <a:t>A useful cost report makes both the arithmetic and the remaining uncertainty inspectable.</a:t>
            </a:r>
          </a:p>
        </p:txBody>
      </p:sp>
      <p:sp>
        <p:nvSpPr>
          <p:cNvPr id="7" name="Rectangle 6"/>
          <p:cNvSpPr/>
          <p:nvPr/>
        </p:nvSpPr>
        <p:spPr>
          <a:xfrm>
            <a:off x="457200" y="2331720"/>
            <a:ext cx="301752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441448"/>
            <a:ext cx="2761487"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Required evidence</a:t>
            </a:r>
          </a:p>
        </p:txBody>
      </p:sp>
      <p:sp>
        <p:nvSpPr>
          <p:cNvPr id="9" name="Rectangle 8"/>
          <p:cNvSpPr/>
          <p:nvPr/>
        </p:nvSpPr>
        <p:spPr>
          <a:xfrm>
            <a:off x="34747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Owner decision</a:t>
            </a:r>
          </a:p>
        </p:txBody>
      </p:sp>
      <p:sp>
        <p:nvSpPr>
          <p:cNvPr id="11" name="Rectangle 10"/>
          <p:cNvSpPr/>
          <p:nvPr/>
        </p:nvSpPr>
        <p:spPr>
          <a:xfrm>
            <a:off x="7589520" y="2331720"/>
            <a:ext cx="4114800" cy="502920"/>
          </a:xfrm>
          <a:prstGeom prst="rect">
            <a:avLst/>
          </a:prstGeom>
          <a:solidFill>
            <a:srgbClr val="11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7536" y="2441448"/>
            <a:ext cx="3858768" cy="356616"/>
          </a:xfrm>
          <a:prstGeom prst="rect">
            <a:avLst/>
          </a:prstGeom>
          <a:noFill/>
        </p:spPr>
        <p:txBody>
          <a:bodyPr wrap="square" lIns="0" rIns="0" tIns="0" bIns="0">
            <a:spAutoFit/>
          </a:bodyPr>
          <a:lstStyle/>
          <a:p>
            <a:pPr>
              <a:lnSpc>
                <a:spcPct val="108000"/>
              </a:lnSpc>
              <a:spcAft>
                <a:spcPts val="400"/>
              </a:spcAft>
              <a:defRPr sz="1500" b="1">
                <a:solidFill>
                  <a:srgbClr val="FFFFFF"/>
                </a:solidFill>
                <a:latin typeface="Arial"/>
              </a:defRPr>
            </a:pPr>
            <a:r>
              <a:t>Stop condition</a:t>
            </a:r>
          </a:p>
        </p:txBody>
      </p:sp>
      <p:sp>
        <p:nvSpPr>
          <p:cNvPr id="13" name="Rectangle 12"/>
          <p:cNvSpPr/>
          <p:nvPr/>
        </p:nvSpPr>
        <p:spPr>
          <a:xfrm>
            <a:off x="457200" y="2834639"/>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2953511"/>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Matched source-query scope</a:t>
            </a:r>
          </a:p>
        </p:txBody>
      </p:sp>
      <p:sp>
        <p:nvSpPr>
          <p:cNvPr id="15" name="Rectangle 14"/>
          <p:cNvSpPr/>
          <p:nvPr/>
        </p:nvSpPr>
        <p:spPr>
          <a:xfrm>
            <a:off x="34747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Are the totals comparable?</a:t>
            </a:r>
          </a:p>
        </p:txBody>
      </p:sp>
      <p:sp>
        <p:nvSpPr>
          <p:cNvPr id="17" name="Rectangle 16"/>
          <p:cNvSpPr/>
          <p:nvPr/>
        </p:nvSpPr>
        <p:spPr>
          <a:xfrm>
            <a:off x="7589520" y="2834639"/>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2953511"/>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Unknown metric or incomplete period</a:t>
            </a:r>
          </a:p>
        </p:txBody>
      </p:sp>
      <p:sp>
        <p:nvSpPr>
          <p:cNvPr id="19" name="Rectangle 18"/>
          <p:cNvSpPr/>
          <p:nvPr/>
        </p:nvSpPr>
        <p:spPr>
          <a:xfrm>
            <a:off x="457200" y="3641598"/>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760470"/>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Contributors plus residual</a:t>
            </a:r>
          </a:p>
        </p:txBody>
      </p:sp>
      <p:sp>
        <p:nvSpPr>
          <p:cNvPr id="21" name="Rectangle 20"/>
          <p:cNvSpPr/>
          <p:nvPr/>
        </p:nvSpPr>
        <p:spPr>
          <a:xfrm>
            <a:off x="34747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What is explained versus hypothesized?</a:t>
            </a:r>
          </a:p>
        </p:txBody>
      </p:sp>
      <p:sp>
        <p:nvSpPr>
          <p:cNvPr id="23" name="Rectangle 22"/>
          <p:cNvSpPr/>
          <p:nvPr/>
        </p:nvSpPr>
        <p:spPr>
          <a:xfrm>
            <a:off x="7589520" y="3641598"/>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3760470"/>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Usage/rate claims without data</a:t>
            </a:r>
          </a:p>
        </p:txBody>
      </p:sp>
      <p:sp>
        <p:nvSpPr>
          <p:cNvPr id="25" name="Rectangle 24"/>
          <p:cNvSpPr/>
          <p:nvPr/>
        </p:nvSpPr>
        <p:spPr>
          <a:xfrm>
            <a:off x="457200" y="4448556"/>
            <a:ext cx="301752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4567428"/>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Recommendation ID and assumptions</a:t>
            </a:r>
          </a:p>
        </p:txBody>
      </p:sp>
      <p:sp>
        <p:nvSpPr>
          <p:cNvPr id="27" name="Rectangle 26"/>
          <p:cNvSpPr/>
          <p:nvPr/>
        </p:nvSpPr>
        <p:spPr>
          <a:xfrm>
            <a:off x="34747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Is the change feasible?</a:t>
            </a:r>
          </a:p>
        </p:txBody>
      </p:sp>
      <p:sp>
        <p:nvSpPr>
          <p:cNvPr id="29" name="Rectangle 28"/>
          <p:cNvSpPr/>
          <p:nvPr/>
        </p:nvSpPr>
        <p:spPr>
          <a:xfrm>
            <a:off x="7589520" y="4448556"/>
            <a:ext cx="4114800" cy="806958"/>
          </a:xfrm>
          <a:prstGeom prst="rect">
            <a:avLst/>
          </a:prstGeom>
          <a:solidFill>
            <a:srgbClr val="EDF3F5"/>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7536" y="4567428"/>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Overlapping or stale estimates</a:t>
            </a:r>
          </a:p>
        </p:txBody>
      </p:sp>
      <p:sp>
        <p:nvSpPr>
          <p:cNvPr id="31" name="Rectangle 30"/>
          <p:cNvSpPr/>
          <p:nvPr/>
        </p:nvSpPr>
        <p:spPr>
          <a:xfrm>
            <a:off x="457200" y="5255514"/>
            <a:ext cx="301752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374386"/>
            <a:ext cx="2761487" cy="651510"/>
          </a:xfrm>
          <a:prstGeom prst="rect">
            <a:avLst/>
          </a:prstGeom>
          <a:noFill/>
        </p:spPr>
        <p:txBody>
          <a:bodyPr wrap="square" lIns="0" rIns="0" tIns="0" bIns="0">
            <a:spAutoFit/>
          </a:bodyPr>
          <a:lstStyle/>
          <a:p>
            <a:pPr>
              <a:lnSpc>
                <a:spcPct val="108000"/>
              </a:lnSpc>
              <a:spcAft>
                <a:spcPts val="400"/>
              </a:spcAft>
              <a:defRPr sz="1700" b="1">
                <a:solidFill>
                  <a:srgbClr val="182B40"/>
                </a:solidFill>
                <a:latin typeface="Arial"/>
              </a:defRPr>
            </a:pPr>
            <a:r>
              <a:t>Actual destination record</a:t>
            </a:r>
          </a:p>
        </p:txBody>
      </p:sp>
      <p:sp>
        <p:nvSpPr>
          <p:cNvPr id="33" name="Rectangle 32"/>
          <p:cNvSpPr/>
          <p:nvPr/>
        </p:nvSpPr>
        <p:spPr>
          <a:xfrm>
            <a:off x="34747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27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Was the intended result published?</a:t>
            </a:r>
          </a:p>
        </p:txBody>
      </p:sp>
      <p:sp>
        <p:nvSpPr>
          <p:cNvPr id="35" name="Rectangle 34"/>
          <p:cNvSpPr/>
          <p:nvPr/>
        </p:nvSpPr>
        <p:spPr>
          <a:xfrm>
            <a:off x="7589520" y="5255514"/>
            <a:ext cx="4114800" cy="806958"/>
          </a:xfrm>
          <a:prstGeom prst="rect">
            <a:avLst/>
          </a:prstGeom>
          <a:solidFill>
            <a:srgbClr val="FFFFFF"/>
          </a:solidFill>
          <a:ln w="8890">
            <a:solidFill>
              <a:srgbClr val="D4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7536" y="5374386"/>
            <a:ext cx="3858768" cy="651510"/>
          </a:xfrm>
          <a:prstGeom prst="rect">
            <a:avLst/>
          </a:prstGeom>
          <a:noFill/>
        </p:spPr>
        <p:txBody>
          <a:bodyPr wrap="square" lIns="0" rIns="0" tIns="0" bIns="0">
            <a:spAutoFit/>
          </a:bodyPr>
          <a:lstStyle/>
          <a:p>
            <a:pPr>
              <a:lnSpc>
                <a:spcPct val="108000"/>
              </a:lnSpc>
              <a:spcAft>
                <a:spcPts val="400"/>
              </a:spcAft>
              <a:defRPr sz="1700" b="0">
                <a:solidFill>
                  <a:srgbClr val="182B40"/>
                </a:solidFill>
                <a:latin typeface="Arial"/>
              </a:defRPr>
            </a:pPr>
            <a:r>
              <a:t>Unapproved audience or failed delivery</a:t>
            </a:r>
          </a:p>
        </p:txBody>
      </p:sp>
      <p:sp>
        <p:nvSpPr>
          <p:cNvPr id="37" name="Rectangle 36"/>
          <p:cNvSpPr/>
          <p:nvPr/>
        </p:nvSpPr>
        <p:spPr>
          <a:xfrm>
            <a:off x="457200" y="6355080"/>
            <a:ext cx="11247120" cy="10972"/>
          </a:xfrm>
          <a:prstGeom prst="rect">
            <a:avLst/>
          </a:prstGeom>
          <a:solidFill>
            <a:srgbClr val="D4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492240"/>
            <a:ext cx="457200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29:30–31:30   |   2:00 allocation</a:t>
            </a:r>
          </a:p>
        </p:txBody>
      </p:sp>
      <p:sp>
        <p:nvSpPr>
          <p:cNvPr id="39" name="TextBox 38"/>
          <p:cNvSpPr txBox="1"/>
          <p:nvPr/>
        </p:nvSpPr>
        <p:spPr>
          <a:xfrm>
            <a:off x="10835640" y="6492240"/>
            <a:ext cx="868680" cy="201168"/>
          </a:xfrm>
          <a:prstGeom prst="rect">
            <a:avLst/>
          </a:prstGeom>
          <a:noFill/>
        </p:spPr>
        <p:txBody>
          <a:bodyPr wrap="square" lIns="0" rIns="0" tIns="0" bIns="0">
            <a:spAutoFit/>
          </a:bodyPr>
          <a:lstStyle/>
          <a:p>
            <a:pPr>
              <a:lnSpc>
                <a:spcPct val="108000"/>
              </a:lnSpc>
              <a:spcAft>
                <a:spcPts val="400"/>
              </a:spcAft>
              <a:defRPr sz="1000" b="0">
                <a:solidFill>
                  <a:srgbClr val="536477"/>
                </a:solidFill>
                <a:latin typeface="Arial"/>
              </a:defRPr>
            </a:pPr>
            <a:r>
              <a:t>13 / 13</a:t>
            </a:r>
          </a:p>
        </p:txBody>
      </p:sp>
      <p:sp>
        <p:nvSpPr>
          <p:cNvPr id="40" name="TextBox 39"/>
          <p:cNvSpPr txBox="1"/>
          <p:nvPr/>
        </p:nvSpPr>
        <p:spPr>
          <a:xfrm>
            <a:off x="4800600" y="6492240"/>
            <a:ext cx="5852160" cy="201168"/>
          </a:xfrm>
          <a:prstGeom prst="rect">
            <a:avLst/>
          </a:prstGeom>
          <a:noFill/>
        </p:spPr>
        <p:txBody>
          <a:bodyPr wrap="square" lIns="0" rIns="0" tIns="0" bIns="0">
            <a:spAutoFit/>
          </a:bodyPr>
          <a:lstStyle/>
          <a:p>
            <a:pPr>
              <a:lnSpc>
                <a:spcPct val="108000"/>
              </a:lnSpc>
              <a:spcAft>
                <a:spcPts val="400"/>
              </a:spcAft>
              <a:defRPr sz="900" b="0">
                <a:solidFill>
                  <a:srgbClr val="536477"/>
                </a:solidFill>
                <a:latin typeface="Arial"/>
              </a:defRPr>
            </a:pPr>
            <a:r>
              <a:t>Sources: guardrails, optimization, jira, slack · full URLs in notes and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FinOps Agent — engineering presentation</dc:title>
  <dc:subject>Cost-data access, investigation, recommendation retrieval and reporting</dc:subject>
  <dc:creator>Engineering documentation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