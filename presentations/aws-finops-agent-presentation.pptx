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The entire FinOps Agent service remains preview. This presentation focuses on the daily engineering value: cost explanation, anomaly investigation, recommendation triage and reporting. It does not grant infrastructure or purchasing authority. The illustrative storage-cost demo uses synthetic numbers to teach reconciliation; it is not an account result or a measured saving.</a:t>
            </a:r>
          </a:p>
          <a:p/>
          <a:p>
            <a:r>
              <a:t>Official evidence:</a:t>
            </a:r>
          </a:p>
          <a:p>
            <a:r>
              <a:t>F02 — What is AWS FinOps Agent?: https://docs.aws.amazon.com/finops-agent/latest/userguide/what-is.html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00:45–02:00; allocated 01:15.</a:t>
            </a:r>
          </a:p>
          <a:p/>
          <a:p>
            <a:r>
              <a:t>Use two complete 14-day periods and the same account, Region and cost basis. The 41 percent figure is an illustrative calculation used in the demo, not a real anomaly from the user’s account. Determine which service or usage type moved before proposing a cause. CloudTrail correlation can inform a hypothesis when access is configured, but time proximity alone does not establish causality.</a:t>
            </a:r>
          </a:p>
          <a:p/>
          <a:p>
            <a:r>
              <a:t>Official evidence:</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02:00–03:30; allocated 01:30.</a:t>
            </a:r>
          </a:p>
          <a:p/>
          <a:p>
            <a:r>
              <a:t>The capability map is an analytical workflow: understand spend, investigate anomalies, retrieve optimization opportunities, produce reports, run tasks and route results. All are within the preview service. Recommendation output comes from connected cost-management sources and must not be presented as a second independent optimizer or a completed change. The native collaboration writes are explicit and limited.</a:t>
            </a:r>
          </a:p>
          <a:p/>
          <a:p>
            <a:r>
              <a:t>Official evidence:</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a:p>
            <a:r>
              <a:t>F10 — Custom cost reporting: https://docs.aws.amazon.com/finops-agent/latest/userguide/custom-cost-reporting.html</a:t>
            </a:r>
          </a:p>
          <a:p>
            <a:r>
              <a:t>F11 — Task management: https://docs.aws.amazon.com/finops-agent/latest/userguide/task-management.html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03:30–05:00; allocated 01:30.</a:t>
            </a:r>
          </a:p>
          <a:p/>
          <a:p>
            <a:r>
              <a:t>Create the agent and operator access paths and activate the cost services needed for the pilot. Cost Explorer supplies cost and usage views; anomaly and optimizer services provide their own evidence. CloudTrail access can add change context. If a source is not permitted, the corresponding analytical depth is unavailable. The account-to-owner mapping is interpretive context, not a permission policy.</a:t>
            </a:r>
          </a:p>
          <a:p/>
          <a:p>
            <a:r>
              <a:t>Official evidence:</a:t>
            </a:r>
          </a:p>
          <a:p>
            <a:r>
              <a:t>F03 — Create an agent: https://docs.aws.amazon.com/finops-agent/latest/userguide/creating-an-agent.html</a:t>
            </a:r>
          </a:p>
          <a:p>
            <a:r>
              <a:t>F04 — IAM setup guide: https://docs.aws.amazon.com/finops-agent/latest/userguide/setting-up.html</a:t>
            </a:r>
          </a:p>
          <a:p>
            <a:r>
              <a:t>F06 — Cost inquiry: https://docs.aws.amazon.com/finops-agent/latest/userguide/cost-inquiry.html</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05:00–06:30; allocated 01:30.</a:t>
            </a:r>
          </a:p>
          <a:p/>
          <a:p>
            <a:r>
              <a:t>A cost narrative is only reproducible when the time range, grouping, filters and cost basis are explicit. Choose complete periods for the demonstration to avoid treating a partial day as a trend. Reconcile at least one material total in the source view before sharing a report. Do not use an account-specific answer outside its documented scope.</a:t>
            </a:r>
          </a:p>
          <a:p/>
          <a:p>
            <a:r>
              <a:t>Official evidence:</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06:30–07:45; allocated 01:15.</a:t>
            </a:r>
          </a:p>
          <a:p/>
          <a:p>
            <a:r>
              <a:t>This capability helps the team understand expected spend and current commitment usage. Make the analysis period and assumptions visible. A recommendation may reflect a source service’s model and eligibility rules, and it still requires review against business constraints. Keep purchasing decisions with the authorized finance or platform owner. No commitment purchase is demonstrated here.</a:t>
            </a:r>
          </a:p>
          <a:p/>
          <a:p>
            <a:r>
              <a:t>Official evidence:</a:t>
            </a:r>
          </a:p>
          <a:p>
            <a:r>
              <a:t>F06 — Cost inquiry: https://docs.aws.amazon.com/finops-agent/latest/userguide/cost-inquiry.html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07:45–09:15; allocated 01:30.</a:t>
            </a:r>
          </a:p>
          <a:p/>
          <a:p>
            <a:r>
              <a:t>An anomaly investigation should answer what moved and how much before answering why. Higher usage, higher rates and mixed effects lead to different actions. When CloudTrail is available, compare candidate events with the service and cost timeline. A nearby change can be relevant without being the cause. Capture what additional evidence would distinguish the leading hypotheses.</a:t>
            </a:r>
          </a:p>
          <a:p/>
          <a:p>
            <a:r>
              <a:t>Official evidence:</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09:15–16:15; allocated 07:00.</a:t>
            </a:r>
          </a:p>
          <a:p/>
          <a:p>
            <a:r>
              <a:t>The bundled synthetic fixture has fourteen baseline rows at $100 each, totaling $1,400, and fourteen comparison rows at $141 each, totaling $1,974. The difference is $574, or 41%. It deliberately contains no account, usage-type, quantity or rate breakdown, so it supports arithmetic reconciliation only—not driver attribution or a causal conclusion. These figures are invented for instruction. For an authorized real analysis, use matching date windows, filters and cost basis, then obtain the additional breakdown and event evidence. Any real Jira write still requires the configured approval.</a:t>
            </a:r>
          </a:p>
          <a:p/>
          <a:p>
            <a:r>
              <a:t>Official evidence:</a:t>
            </a:r>
          </a:p>
          <a:p>
            <a:r>
              <a:t>F06 — Cost inquiry: https://docs.aws.amazon.com/finops-agent/latest/userguide/cost-inquiry.html</a:t>
            </a:r>
          </a:p>
          <a:p>
            <a:r>
              <a:t>F07 — Cost anomaly investigation: https://docs.aws.amazon.com/finops-agent/latest/userguide/cost-anomaly-detection.html</a:t>
            </a:r>
          </a:p>
          <a:p>
            <a:r>
              <a:t>F13 — Jira integration: https://docs.aws.amazon.com/finops-agent/latest/userguide/jira-integration.html</a:t>
            </a:r>
          </a:p>
          <a:p/>
          <a:p>
            <a:r>
              <a:t>Preflight: Use sanitized authorized cost access or the bundled synthetic fixture. Any real Jira write needs the configured confirmation.</a:t>
            </a:r>
          </a:p>
          <a:p/>
          <a:p>
            <a:r>
              <a:t>Prompt: Reconcile synthetic totals of $1,400 and $1,974 (41% higher). This fixture cannot establish drivers. For authorized real data, match periods and cost basis before testing usage, rate and change hypotheses. Do not modify infrastructure.</a:t>
            </a:r>
          </a:p>
          <a:p/>
          <a:p>
            <a:r>
              <a:t>Runbook:</a:t>
            </a:r>
          </a:p>
          <a:p>
            <a:r>
              <a:t>01:00 — Set the query contract: Fix complete periods, account scope, service grouping and basis.</a:t>
            </a:r>
          </a:p>
          <a:p>
            <a:r>
              <a:t>01:30 — Reconcile the totals: Reconcile the fixture totals; require source breakdowns for any driver claim.</a:t>
            </a:r>
          </a:p>
          <a:p>
            <a:r>
              <a:t>01:30 — Separate effects: Inspect usage and rate evidence instead of inferring from spend alone.</a:t>
            </a:r>
          </a:p>
          <a:p>
            <a:r>
              <a:t>01:30 — Challenge causality: Compare a candidate change with evidence and alternative explanations.</a:t>
            </a:r>
          </a:p>
          <a:p>
            <a:r>
              <a:t>01:30 — Create the handoff: Draft an owned follow-up and inspect the Jira confirmation boundary.</a:t>
            </a:r>
          </a:p>
          <a:p/>
          <a:p>
            <a:r>
              <a:t>Success: A reproducible explanation and a bounded next step; no infrastructure mutation or claimed realized savings.</a:t>
            </a:r>
          </a:p>
          <a:p/>
          <a:p>
            <a:r>
              <a:t>Fallback: The included fixture is sufficient to teach the method offline; it must remain visibly labeled synthetic.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16:15–17:45; allocated 01:30.</a:t>
            </a:r>
          </a:p>
          <a:p/>
          <a:p>
            <a:r>
              <a:t>The agent makes optimizer results easier to triage. Select reversible opportunities that fit the team’s operational constraints rather than sorting only by the largest estimate. Check utilization evidence, performance requirements and existing commitments. The generated ticket is the start of an engineering process. Measure results after an approved change using a comparable period, and do not double-count overlapping recommendations.</a:t>
            </a:r>
          </a:p>
          <a:p/>
          <a:p>
            <a:r>
              <a:t>Official evidence:</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17:45–19:00; allocated 01:15.</a:t>
            </a:r>
          </a:p>
          <a:p/>
          <a:p>
            <a:r>
              <a:t>An engineering report should emphasize owned resources and next actions; a leadership report may emphasize the overall trend and decisions required. The native report formats support those audiences, but visual polish does not verify the arithmetic. Reconcile key totals before distributing the artifact and make assumptions visible. Reports generated by the service are distinct from this documentation package.</a:t>
            </a:r>
          </a:p>
          <a:p/>
          <a:p>
            <a:r>
              <a:t>Official evidence:</a:t>
            </a:r>
          </a:p>
          <a:p>
            <a:r>
              <a:t>F10 — Custom cost reporting: https://docs.aws.amazon.com/finops-agent/latest/userguide/custom-cost-reporting.html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19:00–20:15; allocated 01:15.</a:t>
            </a:r>
          </a:p>
          <a:p/>
          <a:p>
            <a:r>
              <a:t>A task is useful when the team needs an inspectable execution record rather than a one-off chat answer. Begin with a report whose source totals have already been reconciled. Give the schedule an owner and a review cadence. A recurring task can continue producing misleading output if its context or source access changes, so inspect failures and data drift.</a:t>
            </a:r>
          </a:p>
          <a:p/>
          <a:p>
            <a:r>
              <a:t>Official evidence:</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20:15–21:45; allocated 01:30.</a:t>
            </a:r>
          </a:p>
          <a:p/>
          <a:p>
            <a:r>
              <a:t>The event-driven workflow builds on Cost Anomaly Detection and an EventBridge rule. The prompt describes the response; the actual monitor and event configuration determine when it runs. Review the generated automation and its destination. Scheduled and event-based Jira actions can be pre-authorized at setup, so enablement is itself an approval decision rather than an expectation of a confirmation prompt for every run.</a:t>
            </a:r>
          </a:p>
          <a:p/>
          <a:p>
            <a:r>
              <a:t>Official evidence:</a:t>
            </a:r>
          </a:p>
          <a:p>
            <a:r>
              <a:t>F08 — Automated anomaly response: https://docs.aws.amazon.com/finops-agent/latest/userguide/automated-anomaly-response.html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21:45–23:00; allocated 01:15.</a:t>
            </a:r>
          </a:p>
          <a:p/>
          <a:p>
            <a:r>
              <a:t>Upload a reviewed account-to-team mapping and the reporting conventions the organization actually uses. Context files are read-only from the agent’s perspective; update the source through the supported management path. Memory can retain preferences, but stale or incorrect preferences need correction. Do not upload secrets or assume an owner field in a context file can change a Jira assignee automatically.</a:t>
            </a:r>
          </a:p>
          <a:p/>
          <a:p>
            <a:r>
              <a:t>Official evidence:</a:t>
            </a:r>
          </a:p>
          <a:p>
            <a:r>
              <a:t>F12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23:00–24:30; allocated 01:30.</a:t>
            </a:r>
          </a:p>
          <a:p/>
          <a:p>
            <a:r>
              <a:t>The supported external writes are constrained. Jira issue and comment actions started in chat or on-demand require confirmation; the same actions can be pre-authorized in scheduled or event-based automations. Slack posting does not require a per-message approval prompt. The Slack integration is outbound rather than a channel command bot. Jira support is not general workflow administration and does not allow arbitrary assignee or status updates.</a:t>
            </a:r>
          </a:p>
          <a:p/>
          <a:p>
            <a:r>
              <a:t>Official evidence:</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24:30–25:45; allocated 01:15.</a:t>
            </a:r>
          </a:p>
          <a:p/>
          <a:p>
            <a:r>
              <a:t>The preview stores agent data in us-east-1 and can use inference within the originating US geography. Storage location and inference location are different questions. An organization must also approve the content sent to Jira or Slack. Keep role and integration scope narrow and account for underlying service/API consumption. This is a readiness recommendation, not legal or financial advice.</a:t>
            </a:r>
          </a:p>
          <a:p/>
          <a:p>
            <a:r>
              <a:t>Official evidence:</a:t>
            </a:r>
          </a:p>
          <a:p>
            <a:r>
              <a:t>F03 — Create an agent: https://docs.aws.amazon.com/finops-agent/latest/userguide/creating-an-agent.html</a:t>
            </a:r>
          </a:p>
          <a:p>
            <a:r>
              <a:t>F04 — IAM setup guide: https://docs.aws.amazon.com/finops-agent/latest/userguide/setting-up.html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25:45–27:00; allocated 01:15.</a:t>
            </a:r>
          </a:p>
          <a:p/>
          <a:p>
            <a:r>
              <a:t>Begin with one account group and a known owner. Reconcile an analysis before automating it, investigate a representative anomaly, and send one approved recommendation through the team’s normal change process. Measure reviewer effort, accepted explanations, duplicate or noisy tickets and any independently observed post-change result. The presentation contains all 13 capability entries through the crosswalk below. Questions follow the timed close.</a:t>
            </a:r>
          </a:p>
          <a:p/>
          <a:p>
            <a:r>
              <a:t>Official evidence:</a:t>
            </a:r>
          </a:p>
          <a:p>
            <a:r>
              <a:t>F06 — Cost inquiry: https://docs.aws.amazon.com/finops-agent/latest/userguide/cost-inquiry.html</a:t>
            </a:r>
          </a:p>
          <a:p>
            <a:r>
              <a:t>F09 — Optimization recommendations: https://docs.aws.amazon.com/finops-agent/latest/userguide/optimization-recommendations.html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S06 — Cost inquiry: https://docs.aws.amazon.com/finops-agent/latest/userguide/cost-inquiry.html</a:t>
            </a:r>
          </a:p>
          <a:p>
            <a:r>
              <a:t>S03 — Create an agent: https://docs.aws.amazon.com/finops-agent/latest/userguide/creating-an-agent.html</a:t>
            </a:r>
          </a:p>
          <a:p>
            <a:r>
              <a:t>S04 — IAM setup guide: https://docs.aws.amazon.com/finops-agent/latest/userguide/setting-up.html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S06 — Cost inquiry: https://docs.aws.amazon.com/finops-agent/latest/userguide/cost-inquiry.html</a:t>
            </a:r>
          </a:p>
          <a:p>
            <a:r>
              <a:t>S04 — IAM setup guide: https://docs.aws.amazon.com/finops-agent/latest/userguide/setting-up.html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S07 — Cost anomaly investigation: https://docs.aws.amazon.com/finops-agent/latest/userguide/cost-anomaly-detection.html</a:t>
            </a:r>
          </a:p>
          <a:p>
            <a:r>
              <a:t>S15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S09 — Optimization recommendations: https://docs.aws.amazon.com/finops-agent/latest/userguide/optimization-recommendations.html</a:t>
            </a:r>
          </a:p>
          <a:p>
            <a:r>
              <a:t>S15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S10 — Custom cost reporting: https://docs.aws.amazon.com/finops-agent/latest/userguide/custom-cost-reporting.html</a:t>
            </a:r>
          </a:p>
          <a:p>
            <a:r>
              <a:t>S12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S11 — Task management: https://docs.aws.amazon.com/finops-agent/latest/userguide/task-management.html</a:t>
            </a:r>
          </a:p>
          <a:p>
            <a:r>
              <a:t>S10 — Custom cost reporting: https://docs.aws.amazon.com/finops-agent/latest/userguide/custom-cost-reporting.html</a:t>
            </a:r>
          </a:p>
          <a:p>
            <a:r>
              <a:t>S15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S08 — Automated anomaly response: https://docs.aws.amazon.com/finops-agent/latest/userguide/automated-anomaly-response.html</a:t>
            </a:r>
          </a:p>
          <a:p>
            <a:r>
              <a:t>S04 — IAM setup guide: https://docs.aws.amazon.com/finops-agent/latest/userguide/setting-up.html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S12 — Context files and memory: https://docs.aws.amazon.com/finops-agent/latest/userguide/context-files-and-memory.html</a:t>
            </a:r>
          </a:p>
          <a:p>
            <a:r>
              <a:t>S17 — Quotas: https://docs.aws.amazon.com/finops-agent/latest/userguide/quotas.html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S12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S13 — Jira integration: https://docs.aws.amazon.com/finops-agent/latest/userguide/jira-integration.html</a:t>
            </a:r>
          </a:p>
          <a:p>
            <a:r>
              <a:t>S15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S14 — Slack integration: https://docs.aws.amazon.com/finops-agent/latest/userguide/slack-integration.html</a:t>
            </a:r>
          </a:p>
          <a:p>
            <a:r>
              <a:t>S15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S09 — Optimization recommendations: https://docs.aws.amazon.com/finops-agent/latest/userguide/optimization-recommendations.html</a:t>
            </a:r>
          </a:p>
          <a:p>
            <a:r>
              <a:t>S13 — Jira integration: https://docs.aws.amazon.com/finops-agent/latest/userguide/jira-integration.html</a:t>
            </a:r>
          </a:p>
          <a:p>
            <a:r>
              <a:t>S15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This appendix is outside the timed session. All source URLs are listed below and in the relevant slide notes. No live workflow or measured benefit is claimed.</a:t>
            </a:r>
          </a:p>
          <a:p/>
          <a:p>
            <a:r>
              <a:t>Official evidence:</a:t>
            </a:r>
          </a:p>
          <a:p>
            <a:r>
              <a:t>F02 — What is AWS FinOps Agent?: https://docs.aws.amazon.com/finops-agent/latest/userguide/what-is.html</a:t>
            </a:r>
          </a:p>
          <a:p>
            <a:r>
              <a:t>F03 — Create an agent: https://docs.aws.amazon.com/finops-agent/latest/userguide/creating-an-agent.html</a:t>
            </a:r>
          </a:p>
          <a:p>
            <a:r>
              <a:t>F04 — IAM setup guide: https://docs.aws.amazon.com/finops-agent/latest/userguide/setting-up.html</a:t>
            </a:r>
          </a:p>
          <a:p>
            <a:r>
              <a:t>F06 — Cost inquiry: https://docs.aws.amazon.com/finops-agent/latest/userguide/cost-inquiry.html</a:t>
            </a:r>
          </a:p>
          <a:p>
            <a:r>
              <a:t>F07 — Cost anomaly investigation: https://docs.aws.amazon.com/finops-agent/latest/userguide/cost-anomaly-detection.html</a:t>
            </a:r>
          </a:p>
          <a:p>
            <a:r>
              <a:t>F08 — Automated anomaly response: https://docs.aws.amazon.com/finops-agent/latest/userguide/automated-anomaly-response.html</a:t>
            </a:r>
          </a:p>
          <a:p>
            <a:r>
              <a:t>F09 — Optimization recommendations: https://docs.aws.amazon.com/finops-agent/latest/userguide/optimization-recommendations.html</a:t>
            </a:r>
          </a:p>
          <a:p>
            <a:r>
              <a:t>F10 — Custom cost reporting: https://docs.aws.amazon.com/finops-agent/latest/userguide/custom-cost-reporting.html</a:t>
            </a:r>
          </a:p>
          <a:p>
            <a:r>
              <a:t>F11 — Task management: https://docs.aws.amazon.com/finops-agent/latest/userguide/task-management.html</a:t>
            </a:r>
          </a:p>
          <a:p>
            <a:r>
              <a:t>F12 — Context files and memory: https://docs.aws.amazon.com/finops-agent/latest/userguide/context-files-and-memory.html</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docs.aws.amazon.com/finops-agent/latest/userguide/what-is.html" TargetMode="External"/><Relationship Id="rId4" Type="http://schemas.openxmlformats.org/officeDocument/2006/relationships/hyperlink" Target="https://docs.aws.amazon.com/finops-agent/latest/userguide/creating-an-agent.html" TargetMode="External"/><Relationship Id="rId5" Type="http://schemas.openxmlformats.org/officeDocument/2006/relationships/hyperlink" Target="https://docs.aws.amazon.com/finops-agent/latest/userguide/setting-up.html" TargetMode="External"/><Relationship Id="rId6" Type="http://schemas.openxmlformats.org/officeDocument/2006/relationships/hyperlink" Target="https://docs.aws.amazon.com/finops-agent/latest/userguide/cost-inquiry.html" TargetMode="External"/><Relationship Id="rId7" Type="http://schemas.openxmlformats.org/officeDocument/2006/relationships/hyperlink" Target="https://docs.aws.amazon.com/finops-agent/latest/userguide/cost-anomaly-detection.html" TargetMode="External"/><Relationship Id="rId8" Type="http://schemas.openxmlformats.org/officeDocument/2006/relationships/hyperlink" Target="https://docs.aws.amazon.com/finops-agent/latest/userguide/automated-anomaly-response.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FinOps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Cost queries and recommendation follow-up require source reconciliation and ownership.</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F02, F15, F16</a:t>
            </a:r>
          </a:p>
        </p:txBody>
      </p:sp>
      <p:sp>
        <p:nvSpPr>
          <p:cNvPr id="10" name="Rounded Rectangle 9"/>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Question → reconcile → investigate → prioritize → hand off</a:t>
            </a:r>
          </a:p>
        </p:txBody>
      </p:sp>
      <p:sp>
        <p:nvSpPr>
          <p:cNvPr id="12" name="Rounded Rectangle 11"/>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27 min</a:t>
            </a:r>
          </a:p>
        </p:txBody>
      </p:sp>
      <p:sp>
        <p:nvSpPr>
          <p:cNvPr id="14" name="TextBox 13"/>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a:t>
            </a:r>
          </a:p>
        </p:txBody>
      </p:sp>
      <p:sp>
        <p:nvSpPr>
          <p:cNvPr id="15" name="Rounded Rectangle 14"/>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7 min</a:t>
            </a:r>
          </a:p>
        </p:txBody>
      </p:sp>
      <p:sp>
        <p:nvSpPr>
          <p:cNvPr id="17" name="TextBox 16"/>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anomaly walkthrough</a:t>
            </a:r>
          </a:p>
        </p:txBody>
      </p:sp>
      <p:sp>
        <p:nvSpPr>
          <p:cNvPr id="18" name="Rounded Rectangle 17"/>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Preview</a:t>
            </a:r>
          </a:p>
        </p:txBody>
      </p:sp>
      <p:sp>
        <p:nvSpPr>
          <p:cNvPr id="20" name="TextBox 19"/>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entire service</a:t>
            </a:r>
          </a:p>
        </p:txBody>
      </p:sp>
      <p:sp>
        <p:nvSpPr>
          <p:cNvPr id="21" name="TextBox 20"/>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The entire service is preview. Review the documented US storage and inference boundary before supplying organizational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explain a 41% storage-cost increase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useful answer separates observed movement, likely drivers and unresolved uncertainty.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00:45–02:00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F06, F07, F09</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INPUT</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Accounts, complete periods, cost basis and dimensions.</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VERIFY</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Reconcile</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Repeat the material total in the source cost view.</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ANALYZE</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Investigate</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Separate usage, rates and correlated change evidence.</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TEAM</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Hand off</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Assign a bounded action and post-change measurement.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FinOps capability groups and output types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service helps analyze and route work; it does not apply resource changes.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02:00–03:30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F06, F07, F09, F10, F11, F15</a:t>
            </a:r>
          </a:p>
        </p:txBody>
      </p:sp>
      <p:sp>
        <p:nvSpPr>
          <p:cNvPr id="10" name="Rounded Rectangle 9"/>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ANALYSIS</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Cost inquiry</a:t>
            </a:r>
          </a:p>
        </p:txBody>
      </p:sp>
      <p:sp>
        <p:nvSpPr>
          <p:cNvPr id="13" name="TextBox 12"/>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Breakdowns, comparisons, forecasts and commitment views.</a:t>
            </a:r>
          </a:p>
        </p:txBody>
      </p:sp>
      <p:sp>
        <p:nvSpPr>
          <p:cNvPr id="14" name="Rounded Rectangle 13"/>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INVESTIGATION</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Anomaly investigation</a:t>
            </a:r>
          </a:p>
        </p:txBody>
      </p:sp>
      <p:sp>
        <p:nvSpPr>
          <p:cNvPr id="17" name="TextBox 16"/>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Rank cost drivers; inspect usage versus rates.</a:t>
            </a:r>
          </a:p>
        </p:txBody>
      </p:sp>
      <p:sp>
        <p:nvSpPr>
          <p:cNvPr id="18" name="Rounded Rectangle 17"/>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PRIORITIZATION</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Optimization triage</a:t>
            </a:r>
          </a:p>
        </p:txBody>
      </p:sp>
      <p:sp>
        <p:nvSpPr>
          <p:cNvPr id="21" name="TextBox 20"/>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Filter existing recommendation sources.</a:t>
            </a:r>
          </a:p>
        </p:txBody>
      </p:sp>
      <p:sp>
        <p:nvSpPr>
          <p:cNvPr id="22" name="Rounded Rectangle 21"/>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COMMUNICATION</a:t>
            </a:r>
          </a:p>
        </p:txBody>
      </p:sp>
      <p:sp>
        <p:nvSpPr>
          <p:cNvPr id="24" name="TextBox 23"/>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Reports</a:t>
            </a:r>
          </a:p>
        </p:txBody>
      </p:sp>
      <p:sp>
        <p:nvSpPr>
          <p:cNvPr id="25" name="TextBox 24"/>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HTML, PDF and editable PowerPoint artifacts.</a:t>
            </a:r>
          </a:p>
        </p:txBody>
      </p:sp>
      <p:sp>
        <p:nvSpPr>
          <p:cNvPr id="26" name="Rounded Rectangle 25"/>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CONFIGURED</a:t>
            </a:r>
          </a:p>
        </p:txBody>
      </p:sp>
      <p:sp>
        <p:nvSpPr>
          <p:cNvPr id="28" name="TextBox 27"/>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Tasks / automations</a:t>
            </a:r>
          </a:p>
        </p:txBody>
      </p:sp>
      <p:sp>
        <p:nvSpPr>
          <p:cNvPr id="29" name="TextBox 28"/>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On-demand, scheduled and anomaly-event work.</a:t>
            </a:r>
          </a:p>
        </p:txBody>
      </p:sp>
      <p:sp>
        <p:nvSpPr>
          <p:cNvPr id="30" name="Rounded Rectangle 29"/>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HANDOFF</a:t>
            </a:r>
          </a:p>
        </p:txBody>
      </p:sp>
      <p:sp>
        <p:nvSpPr>
          <p:cNvPr id="32" name="TextBox 31"/>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Jira / Slack</a:t>
            </a:r>
          </a:p>
        </p:txBody>
      </p:sp>
      <p:sp>
        <p:nvSpPr>
          <p:cNvPr id="33" name="TextBox 32"/>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Configured issues, comments and outbound updates.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SETUP</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Data permissions determine analytical depth</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Context adds business meaning; it does not grant access to missing sources.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03:30–05:00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F03, F04, F06, F07</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Source or context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Contribution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Setup consequence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Cost Explorer</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Spend, usage, trends and commitment views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Enable and scope the required API access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Anomaly Detection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Detected anomalies and monitors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Configure monitors for event-driven use</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Optimization sources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Existing resource recommendations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Enable the relevant services and permissions</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CloudTrail / business context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Change evidence / team ownership</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Optional access and reviewed context files</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Record comparable cost-query definitions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reconcile one material total using identical source filters.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05:00–06:30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F06</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Explicit start/end periods and accounts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Service, Region, tag dimensions and cost basis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Retrieve accessible cost and usage data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Compare periods and produce relevant breakdowns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numerical explanation with its query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Follow-up questions grounded in the same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Forecasts and commitments inform a decision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a forecast is not a guaranteed bill, and a recommendation is not a purchase.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06:30–07:45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F06, F09</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Accessible forecast and commitment data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named period and relevant usage assumptions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Summarize forecasts, coverage and utilization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Retrieve supported purchase or commitment recommendations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Planning information with assumptions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Candidates for finance and engineering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Separate observed cost changes from causal hypotheses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label correlated changes as hypotheses until the causal mechanism is verified.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07:45–09:15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F07</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detected anomaly and the affected cost slice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Optional CloudTrail event access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Rank contributors and separate rate/usage movement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Search for operational activity correlated with the change</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evidence-backed explanation and uncertainty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candidate engineering follow-up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 reconcile the storage-cost anomaly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Work from a labeled synthetic fixture, then demonstrate the source-reconciliation method.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07:00 allocated  |  09:15–16:15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F06, F07, F13</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Reconcile synthetic totals of $1,400 and $1,974 (41% higher). This fixture cannot establish drivers. For authorized real data, match periods and cost basis before testing usage, rate and change hypotheses. Do not modify infrastructure.</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sanitized authorized cost access or the bundled synthetic fixture. Any real Jira write needs the configured confirmation.</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 reproducible explanation and a bounded next step; no infrastructure mutation or claimed realized savings.</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The included fixture is sufficient to teach the method offline; it must remain visibly labeled synthetic.</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01:00</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Set the query contract</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Fix complete periods, account scope, service grouping and basis.</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Reconcile the totals</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Reconcile the fixture totals; require source breakdowns for any driver claim.</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Separate effects</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Inspect usage and rate evidence instead of inferring from spend alone.</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Challenge causality</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Compare a candidate change with evidence and alternative explanations.</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Create the handoff</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Draft an owned follow-up and inspect the Jira confirmation boundary.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Prioritize existing optimization recommendations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50" b="0">
                <a:solidFill>
                  <a:srgbClr val="55657A"/>
                </a:solidFill>
                <a:latin typeface="Arial"/>
              </a:defRPr>
            </a:pPr>
            <a:r>
              <a:t>Acceptance: estimated monthly savings are not realized savings; the team executes changes separately.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16:15–17:45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F09</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Cost Optimization Hub and Compute Optimizer results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Owned resources, risk constraints and savings thresholds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Retrieve and filter candidate opportunities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Present resource, proposed configuration, effort and estimated savings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short, justified engineering backlog</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handoff with an implementation and measurement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Generate reports for a specific audience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every headline number retains its period, filters and cost basis.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17:45–19:00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F10</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reporting question, audience and format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Relevant data scope and optional example template</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Assemble cost summaries, comparisons and visual artifacts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Revise the report through follow-up requests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HTML, PDF or editable PowerPoint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report artifact ready for human review and distribution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Tasks make work and history inspectable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Acceptance: inspect the first runs and disable a cadence that produces noise or stale information.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19:00–20:15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F11</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on-demand request or recurring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bounded analysis/report prompt and destination</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and run tracked work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Retain task history, results and integration outcomes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repeatable operational review</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Evidence of what ran and where the output went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Anomaly-event automation needs an explicit trigger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50" b="0">
                <a:solidFill>
                  <a:srgbClr val="55657A"/>
                </a:solidFill>
                <a:latin typeface="Arial"/>
              </a:defRPr>
            </a:pPr>
            <a:r>
              <a:t>Acceptance: this documented trigger is not a general automation engine for every cost threshold.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20:15–21:45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F08, F11</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Cost Anomaly Detection monitor and matching condition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Configured EventBridge permissions and delivery destination</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an event-based automation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the stored investigation prompt when a matching event arrives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investigation task for the event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configured report, Slack message or Jira handoff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Context files and memory make reporting team-specific</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Business context is interpretive guidance—not access control or an authoritative ledger.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21:45–23:00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F12</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TEAM-SUPPLIED</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Context files</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Account ownership, cost categories, report templates and recurring instructions.</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PERSISTENT CONTEXT</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Memory</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Preferences carried into future questions, reports and tasks.</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550" b="1">
                <a:solidFill>
                  <a:srgbClr val="FFFFFF"/>
                </a:solidFill>
                <a:latin typeface="Arial"/>
              </a:defRPr>
            </a:pPr>
            <a:r>
              <a:t>Recommended practice: name a context owner and review date; reconcile labels with the current organization.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Collaboration approval depends on action and trigger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 not assume every outbound write prompts for confirmation.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23:00–24:30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F13, F14, F15</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Action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Chat / on-demand</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Scheduled / event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Read cost data</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confirmation; scoped source access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Same permission boundary</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Jira issue / comment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Confirm details before execution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Pre-authorized in automation setup</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Slack post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per-message confirmation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per-message confirmation</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Change infrastructure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Not a supported action path here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Use the team’s separate delivery process</a:t>
                      </a:r>
                    </a:p>
                  </a:txBody>
                  <a:tcPr marL="128016" marR="128016" marT="82296" marB="54864">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Preview governance is part of the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Approve storage, inference and destination boundaries before uploading organizational context.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24:30–25:45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F03, F04, F15, F16</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REGION</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Data boundary</a:t>
            </a:r>
          </a:p>
        </p:txBody>
      </p:sp>
      <p:sp>
        <p:nvSpPr>
          <p:cNvPr id="13" name="TextBox 12"/>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us-east-1 storage; US-geography inference during preview.</a:t>
            </a:r>
          </a:p>
        </p:txBody>
      </p:sp>
      <p:sp>
        <p:nvSpPr>
          <p:cNvPr id="14" name="Rounded Rectangle 13"/>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PERMISSIONS</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Identity</a:t>
            </a:r>
          </a:p>
        </p:txBody>
      </p:sp>
      <p:sp>
        <p:nvSpPr>
          <p:cNvPr id="17" name="TextBox 16"/>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Separate agent/operator access with only required sources.</a:t>
            </a:r>
          </a:p>
        </p:txBody>
      </p:sp>
      <p:sp>
        <p:nvSpPr>
          <p:cNvPr id="18" name="Rounded Rectangle 17"/>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SHARING</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Destinations</a:t>
            </a:r>
          </a:p>
        </p:txBody>
      </p:sp>
      <p:sp>
        <p:nvSpPr>
          <p:cNvPr id="21" name="TextBox 20"/>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Approved projects and channels; understand pre-authorization.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Verify cost totals and implemented follow-up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Record implemented engineering actions and verify resulting costs.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25:45–27:00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F06, F09, F11</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1</a:t>
            </a:r>
          </a:p>
        </p:txBody>
      </p:sp>
      <p:sp>
        <p:nvSpPr>
          <p:cNvPr id="12" name="TextBox 11"/>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Approve preview/data scope and reconcile a baseline.</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Weeks 2–3</a:t>
            </a:r>
          </a:p>
        </p:txBody>
      </p:sp>
      <p:sp>
        <p:nvSpPr>
          <p:cNvPr id="15" name="TextBox 14"/>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Investigate one anomaly and route one low-risk opportunity.</a:t>
            </a:r>
          </a:p>
        </p:txBody>
      </p:sp>
      <p:sp>
        <p:nvSpPr>
          <p:cNvPr id="16" name="Rounded Rectangle 15"/>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4</a:t>
            </a:r>
          </a:p>
        </p:txBody>
      </p:sp>
      <p:sp>
        <p:nvSpPr>
          <p:cNvPr id="18" name="TextBox 17"/>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 evidence, cost and owner feedback; automate only useful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700" b="1">
                <a:solidFill>
                  <a:srgbClr val="182B43"/>
                </a:solidFill>
                <a:latin typeface="Arial"/>
              </a:defRPr>
            </a:pPr>
            <a:r>
              <a:t>C01 · Explain cost changes by service, account, Region, or tag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cost inquiry; permitted AWS sources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Ask for cost breakdowns, comparisons, and trends using the supported dimensions available through the agent’s data sources.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Create the agent and operator roles, enable relevant cost services, and establish the account scope you intend to analyze.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Reproducible cost query, dimensioned totals, filters, and data-source cross-check.</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Reproduce one material total in the source console with matching dates and filters before using the explanation.</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Results depend on source access and the chosen time range, granularity, filters, and cost basis. An inaccessible data source cannot be inferred from a fluent answer.</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S06, S03, S04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C02 · Inspect forecasts and commitment coverage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analysis; underlying billing APIs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Cost inquiry includes forecasts and Savings Plans or Reserved Instance coverage, utilization, and recommendation questions.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Grant the relevant billing-data permissions and identify the accounts, period, and workload assumptions.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Forecast/coverage figures with stated source, time horizon, and commitment assumptions.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forecast assumptions, coverage definitions, and workload stability; do not purchase based only on the generated summary.</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forecast is not a budget guarantee or a purchase instruction. Commitment decisions need independent workload and financial review.</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S06, S04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C03 · Investigate a cost anomaly with operational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investigation; optional CloudTrail access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Analyze cost drivers and distinguish likely usage or rate changes; CloudTrail access can add evidence about relevant operational events.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the anomaly or precise account/service/time window and grant only the additional read access needed.</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Anomaly investigation separating observed variance, supporting drivers, and uncertainty.</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Validate the leading explanation against usage metrics, the deployment record, and the same billing interval.</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Correlation is investigative, not proof of causation. Missing audit access or mismatched timestamps can limit the explanation.</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S07, S15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C04 · Prioritize existing optimization recommendations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retrieval and contextualization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Retrieve and filter recommendations from Cost Optimization Hub and Compute Optimizer by useful engineering criteria such as service, account, effort, or estimated savings.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Enable and authorize the relevant recommendation sources; provide workload ownership and operational constraints.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Ranked optimization recommendations with resource IDs and operational constraints.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utilization, reliability constraints, overlapping savings estimates, and the recommendation’s source date.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agent summarizes those systems’ recommendations; it is not a separate optimizer and does not implement resource changes.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S09, S15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C05 · Generate a report for engineering or leadership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artifact generation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Create cost reports with charts and narrative in HTML, PDF, or editable PowerPoint format, then request revisions.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Define the audience, period, cost basis, dimensions, and output format. Provide a template only in a supported context format.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Dated cost report recording query definition, charts, narrative, and unverified assumptions.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Reconcile totals, chart labels, periods, and ownership; distinguish estimated savings from realized savings.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Generated charts and interpretation need review. Output formats do not imply that PDF or PowerPoint files are accepted as context uploads.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S10, S12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C06 · Turn a request into a tracked on-demand task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task queue and history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Explicitly requested on-demand tasks appear in the task queue alongside scheduled and event-driven work, with execution history.</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Specify that the request should become a task and define the expected output and connected destination.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Tracked on-demand task with owner, input scope, result, and completion status.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task creation and output, and inspect the history for failed tools, missing data, and external actions.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 ordinary chat question does not automatically become a tracked task. External actions have their own approval rules.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C07 · Schedule recurring cost reports and reviews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scheduled automations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Create recurring tasks in natural language and manage their configuration, status, and recorded runs through Automations.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Agree on a report owner, cadence, recipient scope, and stop conditions before enabling the automation.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Scheduled task definition, run history, output report, and reviewer.</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the stored schedule and first output, then disable or revise jobs that produce noise or outdated context.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Scheduled external actions can be pre-authorized. Recurrence does not establish that a report’s recipients or data remain appropriate over time.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S11, S10, S15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C08 · Trigger a workflow from a cost-anomaly event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event automation; AWS prerequisites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 event-based automation can investigate a matching Cost Anomaly Detection event and produce configured outputs or handoffs.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Configure a cost-anomaly monitor, suitable trigger conditions, and approved output destinations; scope the automation role.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Event-trigger definition, source anomaly reference, investigation record, and notification log.</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Validate event matching, duplicate handling, output visibility, and the automation’s disabled state before broader rollout.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During preview the supported event type is cost anomaly, not arbitrary deployment or custom events. Existing monitors and EventBridge permissions are required.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S04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C09 · Supply account ownership and reporting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context-file workspace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Upload account-to-team mappings, cost categories, instructions, and report-format guidance using the documented text-based file types.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reviewed TXT, CSV, JSON, Markdown, HTML, or YAML files; prefer team identifiers over personal details.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Versioned ownership/cost-allocation context and an exception list for unmapped resources.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mappings against the authoritative inventory and review who can access the agent before uploading.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Files are visible to everyone with agent access and should not contain sensitive or personal information. PDF and PPTX are not accepted context-file types.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S12, S17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C10 · Correct recurring preferences through memory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conversational memory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Tell the agent to remember, update, or forget preferences and corrections that affect later work.</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Keep authoritative ownership and policy in maintained sources and review remembered preferences after organizational changes.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Stored reporting preferences with corrections and a check for current applicability.</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Ask a fresh scoped question to confirm the correction took effect without overwriting the authoritative context source.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Memory is distinct from uploaded files; the agent cannot modify or delete context files through conversation. Long conversations can be summarized.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C11 · Create Jira Cloud issues and follow-up comments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Jira Cloud integration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Create Jira issues, add comments to agent-created issues, and read supported issue fields through a connected project.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 Jira Cloud and the intended project to the agent, then review project defaults, permissions, and issue visibility.</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Linked Jira work item with recommendation evidence, assignee, and follow-up status.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the approval behavior for the chosen path and inspect the actual issue assignment and contents in Jira.</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Jira Server/Data Center is not supported. The agent does not set assignee, priority, or status; ownership relies on Jira defaults or rules. Interactive/on-demand writes require approval; automated writes are pre-authorized.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S13, S15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C12 · Post cost updates to a connected Slack channel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outbound Slack integration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Post analysis or reporting updates to an authorized connected Slack channel.</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Install and connect the app, join the destination channel as required, and verify the account/workspace and per-agent channel configuration.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Approved Slack message with cost context, scope, and source-report link.</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the destination and audience first; inspect task history and the delivered message afterward.</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integration is one-way: it does not read channel conversations or accept mentions as commands. Posting does not require per-message approval.</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S14, S15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650" b="1">
                <a:solidFill>
                  <a:srgbClr val="182B43"/>
                </a:solidFill>
                <a:latin typeface="Arial"/>
              </a:defRPr>
            </a:pPr>
            <a:r>
              <a:t>C13 · Turn a recommendation into a controlled engineering change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Preview · us-east-1 · team-owned follow-through · Suggested process around documented analysis and Jira handoff</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550" b="0">
                <a:solidFill>
                  <a:srgbClr val="182B43"/>
                </a:solidFill>
                <a:latin typeface="Arial"/>
              </a:defRPr>
            </a:pPr>
            <a:r>
              <a:t>A practical engineering workflow is to turn a reviewed recommendation into a normal change ticket, validate the change, and compare later costs.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Choose one low-risk opportunity with an owner, baseline, operational acceptance tests, approval, and a recovery plan.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Change ticket with proposed action, approvals, deployment evidence, and comparable post-change cost.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Compare matched periods and workload levels after the independently approved change; account for regressions and implementation cost.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agent is not documented as autonomously resizing resources, deleting assets, or buying commitments. Implementation and rollback remain team responsibilities.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S09, S13, S15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3"/>
              </a:rPr>
              <a:t>F02  What is AWS FinOps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4"/>
              </a:rPr>
              <a:t>F03  Create an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5"/>
              </a:rPr>
              <a:t>F04  IAM setup guide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6"/>
              </a:rPr>
              <a:t>F06  Cost inquiry</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7"/>
              </a:rPr>
              <a:t>F07  Cost anomaly investigation</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8"/>
              </a:rPr>
              <a:t>F08  Automated anomaly response</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FinOps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