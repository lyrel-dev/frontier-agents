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configuration, not a claim about undisclosed internals. No live AWS test or measured improvement. Retained context does not establish customer-controlled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D-M01 — Recall recurring alarm causes</a:t>
            </a:r>
          </a:p>
          <a:p/>
          <a:p>
            <a:r>
              <a:t>**Surface:** Agent Space / Operator Web App</a:t>
            </a:r>
          </a:p>
          <a:p/>
          <a:p>
            <a:r>
              <a:t>**Availability:** Documented managed memory</a:t>
            </a:r>
          </a:p>
          <a:p/>
          <a:p>
            <a:r>
              <a:t>**Activation:** Monitor memory enabled by default; verify store and entry state</a:t>
            </a:r>
          </a:p>
          <a:p/>
          <a:p>
            <a:r>
              <a:t>### Documented mechanism</a:t>
            </a:r>
          </a:p>
          <a:p/>
          <a:p>
            <a:r>
              <a:t>The learning agent summarizes earlier investigations into monitor-specific memory. At a new session, store descriptions are exposed first; relevant entries are fetched selectively rather than injecting every incident. Memory versions retain change history.</a:t>
            </a:r>
          </a:p>
          <a:p/>
          <a:p>
            <a:r>
              <a:t>### Enable and configure</a:t>
            </a:r>
          </a:p>
          <a:p/>
          <a:p>
            <a:r>
              <a:t>An Agent Space with investigation history and connected evidence sources.</a:t>
            </a:r>
          </a:p>
          <a:p/>
          <a:p>
            <a:r>
              <a:t>1. Open Knowledge → Memories. Inspect the monitors store and its Active setting.</a:t>
            </a:r>
          </a:p>
          <a:p/>
          <a:p>
            <a:r>
              <a:t>2. Open a monitor entry and review its evidence and versions. Use the store or entry toggle to allow or exclude recall.</a:t>
            </a:r>
          </a:p>
          <a:p/>
          <a:p>
            <a:r>
              <a:t>3. Open Agents → Managed agents → Learning to inspect available history. Custom-agent attachment is a separate step; see D-M03.</a:t>
            </a:r>
          </a:p>
          <a:p/>
          <a:p>
            <a:r>
              <a:t>### Scope and persistence</a:t>
            </a:r>
          </a:p>
          <a:p/>
          <a:p>
            <a:r>
              <a:t>Current guidance: daily monitor-memory refresh when investigations exist in the preceding two weeks; a monitor memory without updates for two weeks can be removed. Full stores evict the oldest item.</a:t>
            </a:r>
          </a:p>
          <a:p/>
          <a:p>
            <a:r>
              <a:t>### Independent checks — proposed</a:t>
            </a:r>
          </a:p>
          <a:p/>
          <a:p>
            <a:r>
              <a:t>- In a non-production Agent Space, select a resolved incident whose cause was independently confirmed.</a:t>
            </a:r>
          </a:p>
          <a:p/>
          <a:p>
            <a:r>
              <a:t>- Record its alarm identity, evidence links and memory version. Start a separate investigation using new evidence, not a duplicate event.</a:t>
            </a:r>
          </a:p>
          <a:p/>
          <a:p>
            <a:r>
              <a:t>- Compare the agent’s cited past context with current logs. A matching conclusion alone is not proof that memory was read.</a:t>
            </a:r>
          </a:p>
          <a:p/>
          <a:p>
            <a:r>
              <a:t>### Record to retain — proposed</a:t>
            </a:r>
          </a:p>
          <a:p/>
          <a:p>
            <a:r>
              <a:t>Investigation IDs, memory/store identifier, version and timestamp, retrieved evidence, reviewer decision.</a:t>
            </a:r>
          </a:p>
          <a:p/>
          <a:p>
            <a:r>
              <a:t>### Stop, correct or remove</a:t>
            </a:r>
          </a:p>
          <a:p/>
          <a:p>
            <a:r>
              <a:t>Use memory/store toggles to stop recall. Chat can request a correction or deletion. Managed refresh may later regenerate relevant content.</a:t>
            </a:r>
          </a:p>
          <a:p/>
          <a:p>
            <a:r>
              <a:t>### Limits and fallback</a:t>
            </a:r>
          </a:p>
          <a:p/>
          <a:p>
            <a:r>
              <a:t>A previous cause is a hypothesis, not a finding about the current incident. The guide does not describe model-weight training.</a:t>
            </a:r>
          </a:p>
          <a:p/>
          <a:p>
            <a:r>
              <a:t>When no memory is present, inspect recent learning activity and store activation; use the approved incident record explicitly and label the manual context.</a:t>
            </a:r>
          </a:p>
          <a:p/>
          <a:p>
            <a:r>
              <a:t>### Illustrative task — not executed</a:t>
            </a:r>
          </a:p>
          <a:p/>
          <a:p>
            <a:r>
              <a:t>Illustrative: “For this staging alarm, compare current evidence with relevant prior causes. Cite what was recalled and list disconfirming signals. Do not change resources.”</a:t>
            </a:r>
          </a:p>
          <a:p/>
          <a:p>
            <a:r>
              <a:t>### Official guidance</a:t>
            </a:r>
          </a:p>
          <a:p/>
          <a:p>
            <a:r>
              <a:t>[DM: DevOps Agent Memories](https://docs.aws.amazon.com/devopsagent/latest/userguide/about-aws-devops-agent-devops-agent-memories.html)</a:t>
            </a:r>
          </a:p>
          <a:p/>
          <a:p>
            <a:r>
              <a:t>[DG: Managed agents](https://docs.aws.amazon.com/devopsagent/latest/userguide/working-with-devops-agent-managed-agents.html)</a:t>
            </a:r>
          </a:p>
          <a:p/>
          <a:p>
            <a:r>
              <a:t>[DN: DevOps Agent dated product changes](https://docs.aws.amazon.com/devopsagent/latest/userguide/whats-new.html)</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D-M02 — Refresh environment and tool-use knowledge</a:t>
            </a:r>
          </a:p>
          <a:p/>
          <a:p>
            <a:r>
              <a:t>**Surface:** Agent Space knowledge / topology</a:t>
            </a:r>
          </a:p>
          <a:p/>
          <a:p>
            <a:r>
              <a:t>**Availability:** Documented; learned-skills migration in progress</a:t>
            </a:r>
          </a:p>
          <a:p/>
          <a:p>
            <a:r>
              <a:t>**Activation:** Automatic refresh; manual regeneration available</a:t>
            </a:r>
          </a:p>
          <a:p/>
          <a:p>
            <a:r>
              <a:t>### Documented mechanism</a:t>
            </a:r>
          </a:p>
          <a:p/>
          <a:p>
            <a:r>
              <a:t>Environment, repository, pipeline and tool-use knowledge is maintained as managed memory. Older learned-skill entries move to Memories on their next refresh; no manual conversion is required.</a:t>
            </a:r>
          </a:p>
          <a:p/>
          <a:p>
            <a:r>
              <a:t>### Enable and configure</a:t>
            </a:r>
          </a:p>
          <a:p/>
          <a:p>
            <a:r>
              <a:t>Connected resources and integrations; recent completed investigations for activity-based refresh.</a:t>
            </a:r>
          </a:p>
          <a:p/>
          <a:p>
            <a:r>
              <a:t>1. Open Knowledge and inspect the learned item. If it still appears under Skills, follow its migration state rather than creating a duplicate.</a:t>
            </a:r>
          </a:p>
          <a:p/>
          <a:p>
            <a:r>
              <a:t>2. Use Topology → Regenerate, or request a refresh in chat.</a:t>
            </a:r>
          </a:p>
          <a:p/>
          <a:p>
            <a:r>
              <a:t>3. Inspect the versioned summary in the console Summary report or web-app Artifacts.</a:t>
            </a:r>
          </a:p>
          <a:p/>
          <a:p>
            <a:r>
              <a:t>### Scope and persistence</a:t>
            </a:r>
          </a:p>
          <a:p/>
          <a:p>
            <a:r>
              <a:t>Environment understanding refreshes after discovery and relevant integration changes. Current memory guidance describes activity-gated refreshes and a separate tool-use threshold; exact cadence is not a delivery-time guarantee.</a:t>
            </a:r>
          </a:p>
          <a:p/>
          <a:p>
            <a:r>
              <a:t>### Independent checks — proposed</a:t>
            </a:r>
          </a:p>
          <a:p/>
          <a:p>
            <a:r>
              <a:t>- Compare one service-to-repository link with deployment configuration.</a:t>
            </a:r>
          </a:p>
          <a:p/>
          <a:p>
            <a:r>
              <a:t>- Check the memory version after an authorized refresh; do not infer completion merely from clicking Regenerate.</a:t>
            </a:r>
          </a:p>
          <a:p/>
          <a:p>
            <a:r>
              <a:t>- Audit one tool-use recommendation against a successful tool result and its permissions.</a:t>
            </a:r>
          </a:p>
          <a:p/>
          <a:p>
            <a:r>
              <a:t>### Record to retain — proposed</a:t>
            </a:r>
          </a:p>
          <a:p/>
          <a:p>
            <a:r>
              <a:t>Before/after knowledge versions, changed integration, a sampled dependency and supporting configuration.</a:t>
            </a:r>
          </a:p>
          <a:p/>
          <a:p>
            <a:r>
              <a:t>### Stop, correct or remove</a:t>
            </a:r>
          </a:p>
          <a:p/>
          <a:p>
            <a:r>
              <a:t>Managed-agent schedules belong to the service. Use supported regeneration and knowledge controls rather than inventing a cron override.</a:t>
            </a:r>
          </a:p>
          <a:p/>
          <a:p>
            <a:r>
              <a:t>### Limits and fallback</a:t>
            </a:r>
          </a:p>
          <a:p/>
          <a:p>
            <a:r>
              <a:t>Cached documentation differs on historical refresh thresholds. This guide does not use a numeric threshold as an acceptance criterion.</a:t>
            </a:r>
          </a:p>
          <a:p/>
          <a:p>
            <a:r>
              <a:t>Keep a reviewer-approved topology snapshot as explicit context; investigate permission or discovery gaps before trusting the generated map.</a:t>
            </a:r>
          </a:p>
          <a:p/>
          <a:p>
            <a:r>
              <a:t>### Illustrative task — not executed</a:t>
            </a:r>
          </a:p>
          <a:p/>
          <a:p>
            <a:r>
              <a:t>Illustrative: “Refresh the environment understanding and report which version is now available. Distinguish observed dependencies from inferred relationships.”</a:t>
            </a:r>
          </a:p>
          <a:p/>
          <a:p>
            <a:r>
              <a:t>### Official guidance</a:t>
            </a:r>
          </a:p>
          <a:p/>
          <a:p>
            <a:r>
              <a:t>[DL: Learned Skills: migration to memory](https://docs.aws.amazon.com/devopsagent/latest/userguide/about-aws-devops-agent-learned-skills.html)</a:t>
            </a:r>
          </a:p>
          <a:p/>
          <a:p>
            <a:r>
              <a:t>[DG: Managed agents](https://docs.aws.amazon.com/devopsagent/latest/userguide/working-with-devops-agent-managed-agents.html)</a:t>
            </a:r>
          </a:p>
          <a:p/>
          <a:p>
            <a:r>
              <a:t>[DT: Topology and resource discovery](https://docs.aws.amazon.com/devopsagent/latest/userguide/about-aws-devops-agent-what-is-a-devops-agent-topology.html)</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D-M03 — Attach retained context to a custom agent</a:t>
            </a:r>
          </a:p>
          <a:p/>
          <a:p>
            <a:r>
              <a:t>**Surface:** Custom agents / Operator Web App</a:t>
            </a:r>
          </a:p>
          <a:p/>
          <a:p>
            <a:r>
              <a:t>**Availability:** Documented custom-agent configuration</a:t>
            </a:r>
          </a:p>
          <a:p/>
          <a:p>
            <a:r>
              <a:t>**Activation:** Explicit attachment</a:t>
            </a:r>
          </a:p>
          <a:p/>
          <a:p>
            <a:r>
              <a:t>### Documented mechanism</a:t>
            </a:r>
          </a:p>
          <a:p/>
          <a:p>
            <a:r>
              <a:t>A custom agent can read attached memory stores and write to attached custom stores. Managed stores are read-only to custom agents. A newly created custom agent has no memory access until stores are attached.</a:t>
            </a:r>
          </a:p>
          <a:p/>
          <a:p>
            <a:r>
              <a:t>### Enable and configure</a:t>
            </a:r>
          </a:p>
          <a:p/>
          <a:p>
            <a:r>
              <a:t>An Agent Space with an integration, a custom agent and relevant stores.</a:t>
            </a:r>
          </a:p>
          <a:p/>
          <a:p>
            <a:r>
              <a:t>1. Create a store through Knowledge → Memories → Create memory store; describe its subject and when it should be used.</a:t>
            </a:r>
          </a:p>
          <a:p/>
          <a:p>
            <a:r>
              <a:t>2. Create or edit the custom agent and select the Memory stores field, or ask Chat to attach a named store.</a:t>
            </a:r>
          </a:p>
          <a:p/>
          <a:p>
            <a:r>
              <a:t>3. Configure MCP tools separately through Chat; attaching knowledge does not grant a tool.</a:t>
            </a:r>
          </a:p>
          <a:p/>
          <a:p>
            <a:r>
              <a:t>### Scope and persistence</a:t>
            </a:r>
          </a:p>
          <a:p/>
          <a:p>
            <a:r>
              <a:t>Attachment is per custom agent, within its Agent Space. Managed chat and custom-agent write behavior must not be conflated.</a:t>
            </a:r>
          </a:p>
          <a:p/>
          <a:p>
            <a:r>
              <a:t>### Independent checks — proposed</a:t>
            </a:r>
          </a:p>
          <a:p/>
          <a:p>
            <a:r>
              <a:t>- Run a read-only task with a non-sensitive synthetic fact in an attached custom store.</a:t>
            </a:r>
          </a:p>
          <a:p/>
          <a:p>
            <a:r>
              <a:t>- Compare the result with an otherwise equivalent agent without that attachment.</a:t>
            </a:r>
          </a:p>
          <a:p/>
          <a:p>
            <a:r>
              <a:t>- Confirm the custom agent cannot treat managed history as its own editable store.</a:t>
            </a:r>
          </a:p>
          <a:p/>
          <a:p>
            <a:r>
              <a:t>### Record to retain — proposed</a:t>
            </a:r>
          </a:p>
          <a:p/>
          <a:p>
            <a:r>
              <a:t>Agent definition, store attachment list, test prompt, output and invocation ID.</a:t>
            </a:r>
          </a:p>
          <a:p/>
          <a:p>
            <a:r>
              <a:t>### Stop, correct or remove</a:t>
            </a:r>
          </a:p>
          <a:p/>
          <a:p>
            <a:r>
              <a:t>Remove an attachment in the agent’s configuration when the job no longer needs that context.</a:t>
            </a:r>
          </a:p>
          <a:p/>
          <a:p>
            <a:r>
              <a:t>### Limits and fallback</a:t>
            </a:r>
          </a:p>
          <a:p/>
          <a:p>
            <a:r>
              <a:t>Permission to read retained knowledge does not authorize infrastructure changes. Description matching does not guarantee recall on every run.</a:t>
            </a:r>
          </a:p>
          <a:p/>
          <a:p>
            <a:r>
              <a:t>Pass the fact explicitly for this run and record the missing attachment; do not broaden all tools to solve a context problem.</a:t>
            </a:r>
          </a:p>
          <a:p/>
          <a:p>
            <a:r>
              <a:t>### Illustrative task — not executed</a:t>
            </a:r>
          </a:p>
          <a:p/>
          <a:p>
            <a:r>
              <a:t>Illustrative: “Attach staging-service-notes to the weekly-review agent. Permit only the tools needed to read investigations.”</a:t>
            </a:r>
          </a:p>
          <a:p/>
          <a:p>
            <a:r>
              <a:t>### Official guidance</a:t>
            </a:r>
          </a:p>
          <a:p/>
          <a:p>
            <a:r>
              <a:t>[DC: Creating a custom agent](https://docs.aws.amazon.com/devopsagent/latest/userguide/custom-agents-creating-a-custom-agent.html)</a:t>
            </a:r>
          </a:p>
          <a:p/>
          <a:p>
            <a:r>
              <a:t>[DM: DevOps Agent Memories](https://docs.aws.amazon.com/devopsagent/latest/userguide/about-aws-devops-agent-devops-agent-memories.html)</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D-M04 — Apply always-on agent instructions</a:t>
            </a:r>
          </a:p>
          <a:p/>
          <a:p>
            <a:r>
              <a:t>**Surface:** Agents → Managed agents → Agent definition</a:t>
            </a:r>
          </a:p>
          <a:p/>
          <a:p>
            <a:r>
              <a:t>**Availability:** Documented instruction scopes</a:t>
            </a:r>
          </a:p>
          <a:p/>
          <a:p>
            <a:r>
              <a:t>**Activation:** User configured</a:t>
            </a:r>
          </a:p>
          <a:p/>
          <a:p>
            <a:r>
              <a:t>### Documented mechanism</a:t>
            </a:r>
          </a:p>
          <a:p/>
          <a:p>
            <a:r>
              <a:t>Global and agent-specific AGENTS.md content is loaded for new sessions. Both scopes apply when relevant. An instruction update does not replace the content already loaded in an in-progress session.</a:t>
            </a:r>
          </a:p>
          <a:p/>
          <a:p>
            <a:r>
              <a:t>### Enable and configure</a:t>
            </a:r>
          </a:p>
          <a:p/>
          <a:p>
            <a:r>
              <a:t>Agent Space administration access and a reviewed instruction change.</a:t>
            </a:r>
          </a:p>
          <a:p/>
          <a:p>
            <a:r>
              <a:t>1. Open a managed agent’s Agent definition.</a:t>
            </a:r>
          </a:p>
          <a:p/>
          <a:p>
            <a:r>
              <a:t>2. Edit Global instructions for space-wide guidance, or Agent instructions for that agent type.</a:t>
            </a:r>
          </a:p>
          <a:p/>
          <a:p>
            <a:r>
              <a:t>3. Save; global changes require confirmation. Start a new session to assess the revision.</a:t>
            </a:r>
          </a:p>
          <a:p/>
          <a:p>
            <a:r>
              <a:t>### Scope and persistence</a:t>
            </a:r>
          </a:p>
          <a:p/>
          <a:p>
            <a:r>
              <a:t>Global scope affects the Agent Space; specific scope affects that managed agent type.</a:t>
            </a:r>
          </a:p>
          <a:p/>
          <a:p>
            <a:r>
              <a:t>### Independent checks — proposed</a:t>
            </a:r>
          </a:p>
          <a:p/>
          <a:p>
            <a:r>
              <a:t>- Set a harmless output requirement and verify it in a new session.</a:t>
            </a:r>
          </a:p>
          <a:p/>
          <a:p>
            <a:r>
              <a:t>- Check that an existing session is not being used to test a newly saved instruction.</a:t>
            </a:r>
          </a:p>
          <a:p/>
          <a:p>
            <a:r>
              <a:t>- Keep a negative authorization test separate from the instruction test.</a:t>
            </a:r>
          </a:p>
          <a:p/>
          <a:p>
            <a:r>
              <a:t>### Record to retain — proposed</a:t>
            </a:r>
          </a:p>
          <a:p/>
          <a:p>
            <a:r>
              <a:t>Reviewed AGENTS.md revision, scope, approver, test session and resulting artifact.</a:t>
            </a:r>
          </a:p>
          <a:p/>
          <a:p>
            <a:r>
              <a:t>### Stop, correct or remove</a:t>
            </a:r>
          </a:p>
          <a:p/>
          <a:p>
            <a:r>
              <a:t>Download a copy before replacing or deleting instructions. Restore approved text through the editor when rolling back.</a:t>
            </a:r>
          </a:p>
          <a:p/>
          <a:p>
            <a:r>
              <a:t>### Limits and fallback</a:t>
            </a:r>
          </a:p>
          <a:p/>
          <a:p>
            <a:r>
              <a:t>Instructions are prompt context, not an IAM permission boundary or a guarantee that every requested behavior will occur.</a:t>
            </a:r>
          </a:p>
          <a:p/>
          <a:p>
            <a:r>
              <a:t>Use explicit run-scoped instructions while investigating propagation; retain access restrictions in IAM.</a:t>
            </a:r>
          </a:p>
          <a:p/>
          <a:p>
            <a:r>
              <a:t>### Illustrative task — not executed</a:t>
            </a:r>
          </a:p>
          <a:p/>
          <a:p>
            <a:r>
              <a:t>Illustrative instruction: “Distinguish observed facts, hypotheses and missing evidence. Identify the source window for each operational claim.”</a:t>
            </a:r>
          </a:p>
          <a:p/>
          <a:p>
            <a:r>
              <a:t>### Official guidance</a:t>
            </a:r>
          </a:p>
          <a:p/>
          <a:p>
            <a:r>
              <a:t>[DI: Agent instructions](https://docs.aws.amazon.com/devopsagent/latest/userguide/about-aws-devops-agent-agent-instructions.html)</a:t>
            </a:r>
          </a:p>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D-M05 — Load a procedure through a skill</a:t>
            </a:r>
          </a:p>
          <a:p/>
          <a:p>
            <a:r>
              <a:t>**Surface:** Knowledge → Skills</a:t>
            </a:r>
          </a:p>
          <a:p/>
          <a:p>
            <a:r>
              <a:t>**Availability:** Documented; this guide uses document-only skills</a:t>
            </a:r>
          </a:p>
          <a:p/>
          <a:p>
            <a:r>
              <a:t>**Activation:** Description-based selection</a:t>
            </a:r>
          </a:p>
          <a:p/>
          <a:p>
            <a:r>
              <a:t>### Documented mechanism</a:t>
            </a:r>
          </a:p>
          <a:p/>
          <a:p>
            <a:r>
              <a:t>A skill packages instructions and references. The name and description guide relevance selection; agent-type targeting limits where it is offered.</a:t>
            </a:r>
          </a:p>
          <a:p/>
          <a:p>
            <a:r>
              <a:t>### Enable and configure</a:t>
            </a:r>
          </a:p>
          <a:p/>
          <a:p>
            <a:r>
              <a:t>An Agent Space and an approved procedure. This example requires no executable skill content.</a:t>
            </a:r>
          </a:p>
          <a:p/>
          <a:p>
            <a:r>
              <a:t>1. Choose Knowledge → Skills → Add skill → Create skill.</a:t>
            </a:r>
          </a:p>
          <a:p/>
          <a:p>
            <a:r>
              <a:t>2. Enter a specific name, applicability description and Markdown procedure; select intended agent types and Active status.</a:t>
            </a:r>
          </a:p>
          <a:p/>
          <a:p>
            <a:r>
              <a:t>3. For packaged references, use the documented ZIP import with a root SKILL.md and required frontmatter.</a:t>
            </a:r>
          </a:p>
          <a:p/>
          <a:p>
            <a:r>
              <a:t>### Scope and persistence</a:t>
            </a:r>
          </a:p>
          <a:p/>
          <a:p>
            <a:r>
              <a:t>Skills are procedural context. They differ from informational memory and always-on instructions.</a:t>
            </a:r>
          </a:p>
          <a:p/>
          <a:p>
            <a:r>
              <a:t>### Independent checks — proposed</a:t>
            </a:r>
          </a:p>
          <a:p/>
          <a:p>
            <a:r>
              <a:t>- Use one task matching the description and one clearly unrelated task.</a:t>
            </a:r>
          </a:p>
          <a:p/>
          <a:p>
            <a:r>
              <a:t>- Inspect whether the expected procedure and evidence requests appear.</a:t>
            </a:r>
          </a:p>
          <a:p/>
          <a:p>
            <a:r>
              <a:t>- Review reference freshness; a well-formed skill can still contain an incorrect procedure.</a:t>
            </a:r>
          </a:p>
          <a:p/>
          <a:p>
            <a:r>
              <a:t>### Record to retain — proposed</a:t>
            </a:r>
          </a:p>
          <a:p/>
          <a:p>
            <a:r>
              <a:t>SKILL.md version, selected agent types, activation state and matched/unmatched test results.</a:t>
            </a:r>
          </a:p>
          <a:p/>
          <a:p>
            <a:r>
              <a:t>### Stop, correct or remove</a:t>
            </a:r>
          </a:p>
          <a:p/>
          <a:p>
            <a:r>
              <a:t>Edit the skill or set it Inactive to prevent use for new work.</a:t>
            </a:r>
          </a:p>
          <a:p/>
          <a:p>
            <a:r>
              <a:t>### Limits and fallback</a:t>
            </a:r>
          </a:p>
          <a:p/>
          <a:p>
            <a:r>
              <a:t>The skill page contains differing script-upload wording and a Sandbox-preview exception. Do not assume executable skill support from this document-only example.</a:t>
            </a:r>
          </a:p>
          <a:p/>
          <a:p>
            <a:r>
              <a:t>Provide the approved procedure explicitly for the current run; improve its description rather than adding unrelated instructions.</a:t>
            </a:r>
          </a:p>
          <a:p/>
          <a:p>
            <a:r>
              <a:t>### Illustrative task — not executed</a:t>
            </a:r>
          </a:p>
          <a:p/>
          <a:p>
            <a:r>
              <a:t>Illustrative procedure: compare deployment time, application errors and dependency health before selecting a cause.</a:t>
            </a:r>
          </a:p>
          <a:p/>
          <a:p>
            <a:r>
              <a:t>### Official guidance</a:t>
            </a:r>
          </a:p>
          <a:p/>
          <a:p>
            <a:r>
              <a:t>[DS: DevOps Agent Skills](https://docs.aws.amazon.com/devopsagent/latest/userguide/about-aws-devops-agent-devops-agent-skills.html)</a:t>
            </a:r>
          </a:p>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D-M06 — Discover resources without confusing scope with access</a:t>
            </a:r>
          </a:p>
          <a:p/>
          <a:p>
            <a:r>
              <a:t>**Surface:** AWS accounts / topology</a:t>
            </a:r>
          </a:p>
          <a:p/>
          <a:p>
            <a:r>
              <a:t>**Availability:** Documented topology discovery</a:t>
            </a:r>
          </a:p>
          <a:p/>
          <a:p>
            <a:r>
              <a:t>**Activation:** Connected account discovery</a:t>
            </a:r>
          </a:p>
          <a:p/>
          <a:p>
            <a:r>
              <a:t>### Documented mechanism</a:t>
            </a:r>
          </a:p>
          <a:p/>
          <a:p>
            <a:r>
              <a:t>Topology discovery uses CloudFormation and, for tagged non-CloudFormation resources, AWS Resource Explorer. Observability and deployment data contribute relationships. Investigation can use accessible resources outside the displayed graph. For investigation sessions, effective permissions intersect the account role with the service-applied session policy; adding an IAM permission outside that policy does not make it usable.</a:t>
            </a:r>
          </a:p>
          <a:p/>
          <a:p>
            <a:r>
              <a:t>### Enable and configure</a:t>
            </a:r>
          </a:p>
          <a:p/>
          <a:p>
            <a:r>
              <a:t>Configured account connections and appropriately scoped roles; Resource Explorer enabled where its discovery is needed.</a:t>
            </a:r>
          </a:p>
          <a:p/>
          <a:p>
            <a:r>
              <a:t>1. Verify the connected primary and source accounts.</a:t>
            </a:r>
          </a:p>
          <a:p/>
          <a:p>
            <a:r>
              <a:t>2. Enable Resource Explorer in a target account when tagged resources outside CloudFormation must be discovered.</a:t>
            </a:r>
          </a:p>
          <a:p/>
          <a:p>
            <a:r>
              <a:t>3. Inspect Topology. Restrict the account role to enforce actual access boundaries.</a:t>
            </a:r>
          </a:p>
          <a:p/>
          <a:p>
            <a:r>
              <a:t>### Scope and persistence</a:t>
            </a:r>
          </a:p>
          <a:p/>
          <a:p>
            <a:r>
              <a:t>Graph inclusion describes context, not authorization. IAM is the access boundary.</a:t>
            </a:r>
          </a:p>
          <a:p/>
          <a:p>
            <a:r>
              <a:t>### Independent checks — proposed</a:t>
            </a:r>
          </a:p>
          <a:p/>
          <a:p>
            <a:r>
              <a:t>- Compare a CloudFormation resource and an externally deployed tagged resource against inventory.</a:t>
            </a:r>
          </a:p>
          <a:p/>
          <a:p>
            <a:r>
              <a:t>- Confirm an out-of-scope resource is inaccessible under the role, even if named in chat.</a:t>
            </a:r>
          </a:p>
          <a:p/>
          <a:p>
            <a:r>
              <a:t>### Record to retain — proposed</a:t>
            </a:r>
          </a:p>
          <a:p/>
          <a:p>
            <a:r>
              <a:t>Account/Region scope, sampled resource identifiers, role policy review and discovery comparison.</a:t>
            </a:r>
          </a:p>
          <a:p/>
          <a:p>
            <a:r>
              <a:t>### Stop, correct or remove</a:t>
            </a:r>
          </a:p>
          <a:p/>
          <a:p>
            <a:r>
              <a:t>Change role permissions to restrict access; removing a graph item alone is not sufficient.</a:t>
            </a:r>
          </a:p>
          <a:p/>
          <a:p>
            <a:r>
              <a:t>### Limits and fallback</a:t>
            </a:r>
          </a:p>
          <a:p/>
          <a:p>
            <a:r>
              <a:t>An absent node may indicate discovery or telemetry gaps, not absence of the deployed resource. Directed actions use a separate opt-in execution path; see D-M09.</a:t>
            </a:r>
          </a:p>
          <a:p/>
          <a:p>
            <a:r>
              <a:t>Use current inventory as explicit context; resolve missing indexing or account permissions before accepting completeness.</a:t>
            </a:r>
          </a:p>
          <a:p/>
          <a:p>
            <a:r>
              <a:t>### Illustrative task — not executed</a:t>
            </a:r>
          </a:p>
          <a:p/>
          <a:p>
            <a:r>
              <a:t>Illustrative: “List which checkout resources were discovered and which evidence sources are missing. Do not treat the topology as an access policy.”</a:t>
            </a:r>
          </a:p>
          <a:p/>
          <a:p>
            <a:r>
              <a:t>### Official guidance</a:t>
            </a:r>
          </a:p>
          <a:p/>
          <a:p>
            <a:r>
              <a:t>[DT: Topology and resource discovery](https://docs.aws.amazon.com/devopsagent/latest/userguide/about-aws-devops-agent-what-is-a-devops-agent-topology.html)</a:t>
            </a:r>
          </a:p>
          <a:p/>
          <a:p>
            <a:r>
              <a:t>[DA: Limiting agent access in an AWS account](https://docs.aws.amazon.com/devopsagent/latest/userguide/aws-devops-agent-security-limiting-agent-access-in-an-aws-account.html)</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D-M07 — Trigger investigations through authenticated events</a:t>
            </a:r>
          </a:p>
          <a:p/>
          <a:p>
            <a:r>
              <a:t>**Surface:** Agent Space webhooks</a:t>
            </a:r>
          </a:p>
          <a:p/>
          <a:p>
            <a:r>
              <a:t>**Availability:** Documented webhook integration</a:t>
            </a:r>
          </a:p>
          <a:p/>
          <a:p>
            <a:r>
              <a:t>**Activation:** Explicit external event configuration</a:t>
            </a:r>
          </a:p>
          <a:p/>
          <a:p>
            <a:r>
              <a:t>### Documented mechanism</a:t>
            </a:r>
          </a:p>
          <a:p/>
          <a:p>
            <a:r>
              <a:t>An external HTTP event can enqueue an investigation. Generic webhooks support HMAC or bearer-token authentication; delivery acceptance does not prove that an investigation started.</a:t>
            </a:r>
          </a:p>
          <a:p/>
          <a:p>
            <a:r>
              <a:t>### Enable and configure</a:t>
            </a:r>
          </a:p>
          <a:p/>
          <a:p>
            <a:r>
              <a:t>An Agent Space, an authorized event sender and secure storage for the generated credential.</a:t>
            </a:r>
          </a:p>
          <a:p/>
          <a:p>
            <a:r>
              <a:t>1. Open the Agent Space Capabilities tab and add a generic webhook.</a:t>
            </a:r>
          </a:p>
          <a:p/>
          <a:p>
            <a:r>
              <a:t>2. Select HMAC or API key, save the one-time credential securely and configure the sender using the documented schema.</a:t>
            </a:r>
          </a:p>
          <a:p/>
          <a:p>
            <a:r>
              <a:t>3. Send a controlled event with a unique incident ID and current timestamp; inspect the investigation, not only HTTP status.</a:t>
            </a:r>
          </a:p>
          <a:p/>
          <a:p>
            <a:r>
              <a:t>### Scope and persistence</a:t>
            </a:r>
          </a:p>
          <a:p/>
          <a:p>
            <a:r>
              <a:t>Credentials belong to the webhook. Duplicate events can be deduplicated.</a:t>
            </a:r>
          </a:p>
          <a:p/>
          <a:p>
            <a:r>
              <a:t>### Independent checks — proposed</a:t>
            </a:r>
          </a:p>
          <a:p/>
          <a:p>
            <a:r>
              <a:t>- Use a non-production event and trace sender ID to investigation ID.</a:t>
            </a:r>
          </a:p>
          <a:p/>
          <a:p>
            <a:r>
              <a:t>- Confirm malformed or unauthorized requests do not become accepted work.</a:t>
            </a:r>
          </a:p>
          <a:p/>
          <a:p>
            <a:r>
              <a:t>- Record rotation readiness without deliberately exposing production credentials.</a:t>
            </a:r>
          </a:p>
          <a:p/>
          <a:p>
            <a:r>
              <a:t>### Record to retain — proposed</a:t>
            </a:r>
          </a:p>
          <a:p/>
          <a:p>
            <a:r>
              <a:t>Redacted event, sender time, request result and investigation ID/status.</a:t>
            </a:r>
          </a:p>
          <a:p/>
          <a:p>
            <a:r>
              <a:t>### Stop, correct or remove</a:t>
            </a:r>
          </a:p>
          <a:p/>
          <a:p>
            <a:r>
              <a:t>Rotate the credential through the webhook editor and update the sender; removing the webhook stops that endpoint.</a:t>
            </a:r>
          </a:p>
          <a:p/>
          <a:p>
            <a:r>
              <a:t>### Limits and fallback</a:t>
            </a:r>
          </a:p>
          <a:p/>
          <a:p>
            <a:r>
              <a:t>Never include secrets in sample payloads. A successful HTTP response means queued processing, not a completed analysis.</a:t>
            </a:r>
          </a:p>
          <a:p/>
          <a:p>
            <a:r>
              <a:t>Open the investigation manually with the same bounded context while fixing authentication, schema or deduplication issues.</a:t>
            </a:r>
          </a:p>
          <a:p/>
          <a:p>
            <a:r>
              <a:t>### Illustrative task — not executed</a:t>
            </a:r>
          </a:p>
          <a:p/>
          <a:p>
            <a:r>
              <a:t>Illustrative payload fields: incidentId, title, service, timestamp, current symptom and links to authorized evidence.</a:t>
            </a:r>
          </a:p>
          <a:p/>
          <a:p>
            <a:r>
              <a:t>### Official guidance</a:t>
            </a:r>
          </a:p>
          <a:p/>
          <a:p>
            <a:r>
              <a:t>[DW: Invoking DevOps Agent through Webhook](https://docs.aws.amazon.com/devopsagent/latest/userguide/configuring-integrations-and-knowledge-invoking-devops-agent-through-webhook.html)</a:t>
            </a:r>
          </a:p>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D-M08 — Schedule a bounded custom-agent job</a:t>
            </a:r>
          </a:p>
          <a:p/>
          <a:p>
            <a:r>
              <a:t>**Surface:** Custom agent detail / Triggers</a:t>
            </a:r>
          </a:p>
          <a:p/>
          <a:p>
            <a:r>
              <a:t>**Availability:** Documented custom-agent schedules</a:t>
            </a:r>
          </a:p>
          <a:p/>
          <a:p>
            <a:r>
              <a:t>**Activation:** User-created schedule</a:t>
            </a:r>
          </a:p>
          <a:p/>
          <a:p>
            <a:r>
              <a:t>### Documented mechanism</a:t>
            </a:r>
          </a:p>
          <a:p/>
          <a:p>
            <a:r>
              <a:t>A custom agent can run on demand or through a schedule. Each invocation has a history entry and recorded tool activity. The managed learning schedule is a different, service-owned mechanism.</a:t>
            </a:r>
          </a:p>
          <a:p/>
          <a:p>
            <a:r>
              <a:t>### Enable and configure</a:t>
            </a:r>
          </a:p>
          <a:p/>
          <a:p>
            <a:r>
              <a:t>A custom agent with only the required tools, skills and stores.</a:t>
            </a:r>
          </a:p>
          <a:p/>
          <a:p>
            <a:r>
              <a:t>1. Open the custom agent and use Run Now to validate its configuration.</a:t>
            </a:r>
          </a:p>
          <a:p/>
          <a:p>
            <a:r>
              <a:t>2. In Triggers, create a Schedule and provide the documented cron or rate expression.</a:t>
            </a:r>
          </a:p>
          <a:p/>
          <a:p>
            <a:r>
              <a:t>3. Inspect the listed next-run time and the invocation History after execution.</a:t>
            </a:r>
          </a:p>
          <a:p/>
          <a:p>
            <a:r>
              <a:t>### Scope and persistence</a:t>
            </a:r>
          </a:p>
          <a:p/>
          <a:p>
            <a:r>
              <a:t>Each invocation uses the configured custom-agent scope. A schedule is not a broader permission grant.</a:t>
            </a:r>
          </a:p>
          <a:p/>
          <a:p>
            <a:r>
              <a:t>### Independent checks — proposed</a:t>
            </a:r>
          </a:p>
          <a:p/>
          <a:p>
            <a:r>
              <a:t>- Use a daily read-only staging review with a narrow time window.</a:t>
            </a:r>
          </a:p>
          <a:p/>
          <a:p>
            <a:r>
              <a:t>- Confirm the actual run time, tools used and output completeness.</a:t>
            </a:r>
          </a:p>
          <a:p/>
          <a:p>
            <a:r>
              <a:t>- Verify no unexpected external publication occurred.</a:t>
            </a:r>
          </a:p>
          <a:p/>
          <a:p>
            <a:r>
              <a:t>### Record to retain — proposed</a:t>
            </a:r>
          </a:p>
          <a:p/>
          <a:p>
            <a:r>
              <a:t>Agent revision, schedule expression and timezone interpretation, invocation trace, report and owner.</a:t>
            </a:r>
          </a:p>
          <a:p/>
          <a:p>
            <a:r>
              <a:t>### Stop, correct or remove</a:t>
            </a:r>
          </a:p>
          <a:p/>
          <a:p>
            <a:r>
              <a:t>Review or remove the schedule through trigger management when no longer needed; do not assume removing a future trigger cancels an active invocation.</a:t>
            </a:r>
          </a:p>
          <a:p/>
          <a:p>
            <a:r>
              <a:t>### Limits and fallback</a:t>
            </a:r>
          </a:p>
          <a:p/>
          <a:p>
            <a:r>
              <a:t>Report generation requires suitable source access and an explicit output definition. No completion-time guarantee follows from the schedule.</a:t>
            </a:r>
          </a:p>
          <a:p/>
          <a:p>
            <a:r>
              <a:t>Run the approved task on demand, or perform the review manually, until scheduled execution is verified.</a:t>
            </a:r>
          </a:p>
          <a:p/>
          <a:p>
            <a:r>
              <a:t>### Illustrative task — not executed</a:t>
            </a:r>
          </a:p>
          <a:p/>
          <a:p>
            <a:r>
              <a:t>Illustrative: “Summarize completed staging investigations for the last day. Retain unresolved evidence gaps. Do not create tickets.”</a:t>
            </a:r>
          </a:p>
          <a:p/>
          <a:p>
            <a:r>
              <a:t>### Official guidance</a:t>
            </a:r>
          </a:p>
          <a:p/>
          <a:p>
            <a:r>
              <a:t>[DX: Executing custom agents](https://docs.aws.amazon.com/devopsagent/latest/userguide/custom-agents-executing-custom-agents.html)</a:t>
            </a:r>
          </a:p>
          <a:p/>
          <a:p>
            <a:r>
              <a:t>[DC: Creating a custom agent](https://docs.aws.amazon.com/devopsagent/latest/userguide/custom-agents-creating-a-custom-agent.html)</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D-M09 — Authorize mutating directed actions</a:t>
            </a:r>
          </a:p>
          <a:p/>
          <a:p>
            <a:r>
              <a:t>**Surface:** Agent Space and per-account associations</a:t>
            </a:r>
          </a:p>
          <a:p/>
          <a:p>
            <a:r>
              <a:t>**Availability:** Documented; disabled by default</a:t>
            </a:r>
          </a:p>
          <a:p/>
          <a:p>
            <a:r>
              <a:t>**Activation:** Layered opt-in plus per-action approval</a:t>
            </a:r>
          </a:p>
          <a:p/>
          <a:p>
            <a:r>
              <a:t>### Documented mechanism</a:t>
            </a:r>
          </a:p>
          <a:p/>
          <a:p>
            <a:r>
              <a:t>Directed actions require an enabled Agent Space, an elevated account role or tool configuration, and operator approval for the specific mutation. The role is a permission ceiling; execution is further scoped.</a:t>
            </a:r>
          </a:p>
          <a:p/>
          <a:p>
            <a:r>
              <a:t>### Enable and configure</a:t>
            </a:r>
          </a:p>
          <a:p/>
          <a:p>
            <a:r>
              <a:t>Authorized administrators and operators; a deliberately restricted elevated role for the target account.</a:t>
            </a:r>
          </a:p>
          <a:p/>
          <a:p>
            <a:r>
              <a:t>1. Enable directed actions in Agent Space settings.</a:t>
            </a:r>
          </a:p>
          <a:p/>
          <a:p>
            <a:r>
              <a:t>2. Register the target account’s elevated role; follow the documented trust policy and action restrictions.</a:t>
            </a:r>
          </a:p>
          <a:p/>
          <a:p>
            <a:r>
              <a:t>3. Review the proposed operation, resource, parameters and rollback before approving a single action.</a:t>
            </a:r>
          </a:p>
          <a:p/>
          <a:p>
            <a:r>
              <a:t>### Scope and persistence</a:t>
            </a:r>
          </a:p>
          <a:p/>
          <a:p>
            <a:r>
              <a:t>Read-only investigation remains available without elevated access. Tool classifications and roles are not memory settings.</a:t>
            </a:r>
          </a:p>
          <a:p/>
          <a:p>
            <a:r>
              <a:t>### Independent checks — proposed</a:t>
            </a:r>
          </a:p>
          <a:p/>
          <a:p>
            <a:r>
              <a:t>- Use a reversible staging change only after separate authorization.</a:t>
            </a:r>
          </a:p>
          <a:p/>
          <a:p>
            <a:r>
              <a:t>- Check the approved operation and resource against CloudTrail and actual state.</a:t>
            </a:r>
          </a:p>
          <a:p/>
          <a:p>
            <a:r>
              <a:t>- Reject a deliberately out-of-scope proposal; confirm no mutation occurred.</a:t>
            </a:r>
          </a:p>
          <a:p/>
          <a:p>
            <a:r>
              <a:t>### Record to retain — proposed</a:t>
            </a:r>
          </a:p>
          <a:p/>
          <a:p>
            <a:r>
              <a:t>Approval identity, operation/parameters, role scope, audit event and rollback verification.</a:t>
            </a:r>
          </a:p>
          <a:p/>
          <a:p>
            <a:r>
              <a:t>### Stop, correct or remove</a:t>
            </a:r>
          </a:p>
          <a:p/>
          <a:p>
            <a:r>
              <a:t>Disable directed actions at the Agent Space to remove elevated capability. Approved execution is attributable in CloudTrail.</a:t>
            </a:r>
          </a:p>
          <a:p/>
          <a:p>
            <a:r>
              <a:t>### Limits and fallback</a:t>
            </a:r>
          </a:p>
          <a:p/>
          <a:p>
            <a:r>
              <a:t>The API preferences update replaces the supplied preference map; preserve other settings. Do not infer that all AWS operations are supported.</a:t>
            </a:r>
          </a:p>
          <a:p/>
          <a:p>
            <a:r>
              <a:t>Keep the investigation read-only and hand the reviewed change to the normal deployment process.</a:t>
            </a:r>
          </a:p>
          <a:p/>
          <a:p>
            <a:r>
              <a:t>### Illustrative task — not executed</a:t>
            </a:r>
          </a:p>
          <a:p/>
          <a:p>
            <a:r>
              <a:t>Illustrative: “Describe the proposed staging change and rollback. Request approval before any mutation.”</a:t>
            </a:r>
          </a:p>
          <a:p/>
          <a:p>
            <a:r>
              <a:t>### Official guidance</a:t>
            </a:r>
          </a:p>
          <a:p/>
          <a:p>
            <a:r>
              <a:t>[DE: Directed actions](https://docs.aws.amazon.com/devopsagent/latest/userguide/working-with-devops-agent-working-with-directed-actions.html)</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AWS DevOps Agent — mechanisms and enablement</a:t>
            </a:r>
          </a:p>
          <a:p/>
          <a:p>
            <a:r>
              <a:t>Reviewed 21 October 2026. Independent checks and examples are proposed; no live workflow was executed.</a:t>
            </a:r>
          </a:p>
          <a:p/>
          <a:p>
            <a:r>
              <a:t>## Mechanism model</a:t>
            </a:r>
          </a:p>
          <a:p/>
          <a:p>
            <a:r>
              <a:t>A recurring alarm does not prove that its previous root cause has returned. Use historical context to select hypotheses, then test those hypotheses against current telemetry. The documentation describes retained Markdown knowledge, routing by descriptions, and a managed learning process. It does not document a customer-operated model-training switch.</a:t>
            </a:r>
          </a:p>
          <a:p/>
          <a:p>
            <a:r>
              <a:t>Historical investigations produce managed context; corrective feedback can produce reflections. Later investigations selectively retrieve relevant memories. Maintained instructions, reusable skills and tool permissions are separate controls.</a:t>
            </a:r>
          </a:p>
          <a:p/>
          <a:p>
            <a:r>
              <a:t>Documented operational mechanisms; controls and learning schedules are feature-specific. Managed-agent UI availability may vary by rollout.</a:t>
            </a:r>
          </a:p>
          <a:p/>
          <a:p>
            <a:r>
              <a:t>## D-M10 — Record a corrected cause through investigation feedback</a:t>
            </a:r>
          </a:p>
          <a:p/>
          <a:p>
            <a:r>
              <a:t>**Surface:** Completed investigation / Knowledge → Memories</a:t>
            </a:r>
          </a:p>
          <a:p/>
          <a:p>
            <a:r>
              <a:t>**Availability:** Documented corrective-feedback memory</a:t>
            </a:r>
          </a:p>
          <a:p/>
          <a:p>
            <a:r>
              <a:t>**Activation:** Submit an incorrect verdict and the actual root cause</a:t>
            </a:r>
          </a:p>
          <a:p/>
          <a:p>
            <a:r>
              <a:t>### Documented mechanism</a:t>
            </a:r>
          </a:p>
          <a:p/>
          <a:p>
            <a:r>
              <a:t>Corrective feedback can create a memory in the reflections store for later investigations of the alarm. This is distinct from recurring-cause summaries and does not establish model-weight training.</a:t>
            </a:r>
          </a:p>
          <a:p/>
          <a:p>
            <a:r>
              <a:t>### Enable and configure</a:t>
            </a:r>
          </a:p>
          <a:p/>
          <a:p>
            <a:r>
              <a:t>A completed investigation and an independently established cause.</a:t>
            </a:r>
          </a:p>
          <a:p/>
          <a:p>
            <a:r>
              <a:t>1. Open the completed investigation and choose Add feedback, or provide the correction in Chat.</a:t>
            </a:r>
          </a:p>
          <a:p/>
          <a:p>
            <a:r>
              <a:t>2. Select an incorrect verdict and supply the actual root cause. Sharing with AWS requires separate confirmation.</a:t>
            </a:r>
          </a:p>
          <a:p/>
          <a:p>
            <a:r>
              <a:t>3. Inspect Knowledge → Memories → reflections and retain the relevant entry and version.</a:t>
            </a:r>
          </a:p>
          <a:p/>
          <a:p>
            <a:r>
              <a:t>### Scope and persistence</a:t>
            </a:r>
          </a:p>
          <a:p/>
          <a:p>
            <a:r>
              <a:t>Reflection context relates to the alarm. Latest submitted feedback replaces previous feedback for that investigation.</a:t>
            </a:r>
          </a:p>
          <a:p/>
          <a:p>
            <a:r>
              <a:t>### Independent checks — proposed</a:t>
            </a:r>
          </a:p>
          <a:p/>
          <a:p>
            <a:r>
              <a:t>- Proposed: use a reviewed, non-production incident whose established cause differs from the original result.</a:t>
            </a:r>
          </a:p>
          <a:p/>
          <a:p>
            <a:r>
              <a:t>- Record feedback and any resulting reflection; check a separate investigation against new evidence.</a:t>
            </a:r>
          </a:p>
          <a:p/>
          <a:p>
            <a:r>
              <a:t>- Report recall as unverified unless the run exposes evidence that the memory was read.</a:t>
            </a:r>
          </a:p>
          <a:p/>
          <a:p>
            <a:r>
              <a:t>### Record to retain — proposed</a:t>
            </a:r>
          </a:p>
          <a:p/>
          <a:p>
            <a:r>
              <a:t>Investigation ID, reviewed cause, feedback, memory version, subsequent read evidence and reviewer decision.</a:t>
            </a:r>
          </a:p>
          <a:p/>
          <a:p>
            <a:r>
              <a:t>### Stop, correct or remove</a:t>
            </a:r>
          </a:p>
          <a:p/>
          <a:p>
            <a:r>
              <a:t>Update incorrect feedback. Inspect, correct or deactivate affected memories separately; do not assume feedback replacement removes every historical memory version.</a:t>
            </a:r>
          </a:p>
          <a:p/>
          <a:p>
            <a:r>
              <a:t>### Limits and fallback</a:t>
            </a:r>
          </a:p>
          <a:p/>
          <a:p>
            <a:r>
              <a:t>A reflection is retained context, not proof of a future diagnosis or broader execution authority.</a:t>
            </a:r>
          </a:p>
          <a:p/>
          <a:p>
            <a:r>
              <a:t>Keep the reviewed correction as explicit context when reflection creation or recall cannot be observed.</a:t>
            </a:r>
          </a:p>
          <a:p/>
          <a:p>
            <a:r>
              <a:t>### Illustrative task — not executed</a:t>
            </a:r>
          </a:p>
          <a:p/>
          <a:p>
            <a:r>
              <a:t>Illustrative: "The cause was incorrect. The reviewed cause is the staging connection-pool limit; retain the supporting evidence and do not change resources."</a:t>
            </a:r>
          </a:p>
          <a:p/>
          <a:p>
            <a:r>
              <a:t>### Official guidance</a:t>
            </a:r>
          </a:p>
          <a:p/>
          <a:p>
            <a:r>
              <a:t>[DF: Provide feedback on investigations](https://docs.aws.amazon.com/devopsagent/latest/userguide/production-operations-autonomous-incident-response.html#provide-feedback-on-investigations)</a:t>
            </a:r>
          </a:p>
          <a:p/>
          <a:p>
            <a:r>
              <a:t>[DM: DevOps Agent Memories](https://docs.aws.amazon.com/devopsagent/latest/userguide/about-aws-devops-agent-devops-agent-memories.html)</a:t>
            </a:r>
          </a:p>
          <a:p/>
          <a:p>
            <a:r>
              <a:t>[DN: DevOps Agent dated product changes](https://docs.aws.amazon.com/devopsagent/latest/userguide/whats-new.html)</a:t>
            </a:r>
          </a:p>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EXERCISE. Use a non-production Agent Space with a resolved, independently reviewed incident and a distinct new investigation. Keep directed actions disabled. Use prepared records if no managed memory is yet available.</a:t>
            </a:r>
          </a:p>
          <a:p>
            <a:r>
              <a:t>Exit: Accept only when the new conclusion is supported by current evidence and the retained context is correctly scoped. Record recall as unproven when no read evidence is available.</a:t>
            </a:r>
          </a:p>
          <a:p>
            <a:r>
              <a:t>Fallback: Use a prepared memory record and investigation trace. Do not wait for the managed learning schedule during a live session.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EXERCISE. Use a non-production Agent Space with a resolved, independently reviewed incident and a distinct new investigation. Keep directed actions disabled. Use prepared records if no managed memory is yet available.</a:t>
            </a:r>
          </a:p>
          <a:p>
            <a:r>
              <a:t>Exit: Accept only when the new conclusion is supported by current evidence and the retained context is correctly scoped. Record recall as unproven when no read evidence is available.</a:t>
            </a:r>
          </a:p>
          <a:p>
            <a:r>
              <a:t>Fallback: Use a prepared memory record and investigation trace. Do not wait for the managed learning schedule during a live session.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DevOps Agent Memories</a:t>
            </a:r>
          </a:p>
          <a:p>
            <a:r>
              <a:t>https://docs.aws.amazon.com/devopsagent/latest/userguide/about-aws-devops-agent-devops-agent-memories.html</a:t>
            </a:r>
          </a:p>
          <a:p>
            <a:r>
              <a:t>Managed agents</a:t>
            </a:r>
          </a:p>
          <a:p>
            <a:r>
              <a:t>https://docs.aws.amazon.com/devopsagent/latest/userguide/working-with-devops-agent-managed-agents.html</a:t>
            </a:r>
          </a:p>
          <a:p>
            <a:r>
              <a:t>DevOps Agent dated product changes</a:t>
            </a:r>
          </a:p>
          <a:p>
            <a:r>
              <a:t>https://docs.aws.amazon.com/devopsagent/latest/userguide/whats-new.html</a:t>
            </a:r>
          </a:p>
          <a:p>
            <a:r>
              <a:t>Learned Skills: migration to memory</a:t>
            </a:r>
          </a:p>
          <a:p>
            <a:r>
              <a:t>https://docs.aws.amazon.com/devopsagent/latest/userguide/about-aws-devops-agent-learned-skills.html</a:t>
            </a:r>
          </a:p>
          <a:p>
            <a:r>
              <a:t>Topology and resource discovery</a:t>
            </a:r>
          </a:p>
          <a:p>
            <a:r>
              <a:t>https://docs.aws.amazon.com/devopsagent/latest/userguide/about-aws-devops-agent-what-is-a-devops-agent-topology.html</a:t>
            </a:r>
          </a:p>
          <a:p>
            <a:r>
              <a:t>Creating a custom agent</a:t>
            </a:r>
          </a:p>
          <a:p>
            <a:r>
              <a:t>https://docs.aws.amazon.com/devopsagent/latest/userguide/custom-agents-creating-a-custom-agent.html</a:t>
            </a:r>
          </a:p>
          <a:p>
            <a:r>
              <a:t>Agent instructions</a:t>
            </a:r>
          </a:p>
          <a:p>
            <a:r>
              <a:t>https://docs.aws.amazon.com/devopsagent/latest/userguide/about-aws-devops-agent-agent-instructions.html</a:t>
            </a:r>
          </a:p>
          <a:p>
            <a:r>
              <a:t>DevOps Agent Skills</a:t>
            </a:r>
          </a:p>
          <a:p>
            <a:r>
              <a:t>https://docs.aws.amazon.com/devopsagent/latest/userguide/about-aws-devops-agent-devops-agent-skills.html</a:t>
            </a:r>
          </a:p>
          <a:p>
            <a:r>
              <a:t>Limiting agent access in an AWS account</a:t>
            </a:r>
          </a:p>
          <a:p>
            <a:r>
              <a:t>https://docs.aws.amazon.com/devopsagent/latest/userguide/aws-devops-agent-security-limiting-agent-access-in-an-aws-account.html</a:t>
            </a:r>
          </a:p>
          <a:p>
            <a:r>
              <a:t>Invoking DevOps Agent through Webhook</a:t>
            </a:r>
          </a:p>
          <a:p>
            <a:r>
              <a:t>https://docs.aws.amazon.com/devopsagent/latest/userguide/configuring-integrations-and-knowledge-invoking-devops-agent-through-webhook.html</a:t>
            </a:r>
          </a:p>
          <a:p>
            <a:r>
              <a:t>Executing custom agents</a:t>
            </a:r>
          </a:p>
          <a:p>
            <a:r>
              <a:t>https://docs.aws.amazon.com/devopsagent/latest/userguide/custom-agents-executing-custom-agents.html</a:t>
            </a:r>
          </a:p>
          <a:p>
            <a:r>
              <a:t>Directed actions</a:t>
            </a:r>
          </a:p>
          <a:p>
            <a:r>
              <a:t>https://docs.aws.amazon.com/devopsagent/latest/userguide/working-with-devops-agent-working-with-directed-actions.html</a:t>
            </a:r>
          </a:p>
          <a:p>
            <a:r>
              <a:t>Provide feedback on investigations</a:t>
            </a:r>
          </a:p>
          <a:p>
            <a:r>
              <a:t>https://docs.aws.amazon.com/devopsagent/latest/userguide/production-operations-autonomous-incident-response.html#provide-feedback-on-investigations</a:t>
            </a:r>
          </a:p>
          <a:p/>
          <a:p>
            <a:r>
              <a:t>Documented configuration, not a claim about undisclosed internals. No live AWS test or measured improvement. Retained context does not establish customer-controlled model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docs.aws.amazon.com/devopsagent/latest/userguide/about-aws-devops-agent-devops-agent-memories.html" TargetMode="External"/><Relationship Id="rId4" Type="http://schemas.openxmlformats.org/officeDocument/2006/relationships/hyperlink" Target="https://docs.aws.amazon.com/devopsagent/latest/userguide/working-with-devops-agent-managed-agents.html" TargetMode="External"/><Relationship Id="rId5" Type="http://schemas.openxmlformats.org/officeDocument/2006/relationships/hyperlink" Target="https://docs.aws.amazon.com/devopsagent/latest/userguide/whats-new.html" TargetMode="External"/><Relationship Id="rId6" Type="http://schemas.openxmlformats.org/officeDocument/2006/relationships/hyperlink" Target="https://docs.aws.amazon.com/devopsagent/latest/userguide/about-aws-devops-agent-learned-skills.html" TargetMode="External"/><Relationship Id="rId7" Type="http://schemas.openxmlformats.org/officeDocument/2006/relationships/hyperlink" Target="https://docs.aws.amazon.com/devopsagent/latest/userguide/about-aws-devops-agent-what-is-a-devops-agent-topology.html" TargetMode="External"/><Relationship Id="rId8" Type="http://schemas.openxmlformats.org/officeDocument/2006/relationships/hyperlink" Target="https://docs.aws.amazon.com/devopsagent/latest/userguide/custom-agents-creating-a-custom-agent.html" TargetMode="External"/><Relationship Id="rId9" Type="http://schemas.openxmlformats.org/officeDocument/2006/relationships/hyperlink" Target="https://docs.aws.amazon.com/devopsagent/latest/userguide/about-aws-devops-agent-agent-instructions.html" TargetMode="External"/><Relationship Id="rId10" Type="http://schemas.openxmlformats.org/officeDocument/2006/relationships/hyperlink" Target="https://docs.aws.amazon.com/devopsagent/latest/userguide/about-aws-devops-agent-devops-agent-skills.html" TargetMode="External"/><Relationship Id="rId11" Type="http://schemas.openxmlformats.org/officeDocument/2006/relationships/hyperlink" Target="https://docs.aws.amazon.com/devopsagent/latest/userguide/aws-devops-agent-security-limiting-agent-access-in-an-aws-account.html" TargetMode="External"/><Relationship Id="rId12" Type="http://schemas.openxmlformats.org/officeDocument/2006/relationships/hyperlink" Target="https://docs.aws.amazon.com/devopsagent/latest/userguide/configuring-integrations-and-knowledge-invoking-devops-agent-through-webhook.html" TargetMode="External"/><Relationship Id="rId13" Type="http://schemas.openxmlformats.org/officeDocument/2006/relationships/hyperlink" Target="https://docs.aws.amazon.com/devopsagent/latest/userguide/custom-agents-executing-custom-agents.html" TargetMode="External"/><Relationship Id="rId14" Type="http://schemas.openxmlformats.org/officeDocument/2006/relationships/hyperlink" Target="https://docs.aws.amazon.com/devopsagent/latest/userguide/working-with-devops-agent-working-with-directed-actions.html" TargetMode="External"/><Relationship Id="rId15" Type="http://schemas.openxmlformats.org/officeDocument/2006/relationships/hyperlink" Target="https://docs.aws.amazon.com/devopsagent/latest/userguide/production-operations-autonomous-incident-response.html#provide-feedback-on-investigation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REFERENCE COMPANION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AWS DevOps Agent — mechanisms and enablement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01 / UNTIMED</a:t>
            </a:r>
          </a:p>
        </p:txBody>
      </p:sp>
      <p:sp>
        <p:nvSpPr>
          <p:cNvPr id="8" name="Rectangle 7"/>
          <p:cNvSpPr/>
          <p:nvPr/>
        </p:nvSpPr>
        <p:spPr>
          <a:xfrm>
            <a:off x="502920" y="1874519"/>
            <a:ext cx="6812280" cy="2788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79"/>
            <a:ext cx="644652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HOW RETAINED CONTEXT IS USED</a:t>
            </a:r>
          </a:p>
        </p:txBody>
      </p:sp>
      <p:sp>
        <p:nvSpPr>
          <p:cNvPr id="10" name="TextBox 9"/>
          <p:cNvSpPr txBox="1"/>
          <p:nvPr/>
        </p:nvSpPr>
        <p:spPr>
          <a:xfrm>
            <a:off x="685800" y="2377439"/>
            <a:ext cx="6446520" cy="2176272"/>
          </a:xfrm>
          <a:prstGeom prst="rect">
            <a:avLst/>
          </a:prstGeom>
          <a:noFill/>
        </p:spPr>
        <p:txBody>
          <a:bodyPr wrap="square" lIns="0" rIns="0" tIns="0" bIns="0">
            <a:spAutoFit/>
          </a:bodyPr>
          <a:lstStyle/>
          <a:p>
            <a:pPr>
              <a:spcAft>
                <a:spcPts val="600"/>
              </a:spcAft>
              <a:defRPr sz="2300" b="0">
                <a:solidFill>
                  <a:srgbClr val="182D43"/>
                </a:solidFill>
                <a:latin typeface="Aptos"/>
              </a:defRPr>
            </a:pPr>
            <a:r>
              <a:t>Historical investigations produce managed context; corrective feedback can produce reflections. Later investigations selectively retrieve relevant memories. Maintained instructions, reusable skills and tool permissions are separate controls.</a:t>
            </a:r>
          </a:p>
        </p:txBody>
      </p:sp>
      <p:sp>
        <p:nvSpPr>
          <p:cNvPr id="11" name="Rectangle 10"/>
          <p:cNvSpPr/>
          <p:nvPr/>
        </p:nvSpPr>
        <p:spPr>
          <a:xfrm>
            <a:off x="7543800" y="1874519"/>
            <a:ext cx="4142232" cy="278892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011679"/>
            <a:ext cx="3776472"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READING CONTRACT</a:t>
            </a:r>
          </a:p>
        </p:txBody>
      </p:sp>
      <p:sp>
        <p:nvSpPr>
          <p:cNvPr id="13" name="TextBox 12"/>
          <p:cNvSpPr txBox="1"/>
          <p:nvPr/>
        </p:nvSpPr>
        <p:spPr>
          <a:xfrm>
            <a:off x="7726679" y="2377439"/>
            <a:ext cx="3776472" cy="2176272"/>
          </a:xfrm>
          <a:prstGeom prst="rect">
            <a:avLst/>
          </a:prstGeom>
          <a:noFill/>
        </p:spPr>
        <p:txBody>
          <a:bodyPr wrap="square" lIns="0" rIns="0" tIns="0" bIns="0">
            <a:spAutoFit/>
          </a:bodyPr>
          <a:lstStyle/>
          <a:p>
            <a:pPr>
              <a:spcAft>
                <a:spcPts val="600"/>
              </a:spcAft>
              <a:defRPr sz="2100" b="0">
                <a:solidFill>
                  <a:srgbClr val="182D43"/>
                </a:solidFill>
                <a:latin typeface="Aptos"/>
              </a:defRPr>
            </a:pPr>
            <a:r>
              <a:t>Documented operation</a:t>
            </a:r>
          </a:p>
          <a:p>
            <a:pPr>
              <a:spcAft>
                <a:spcPts val="600"/>
              </a:spcAft>
              <a:defRPr sz="2100" b="0">
                <a:solidFill>
                  <a:srgbClr val="182D43"/>
                </a:solidFill>
                <a:latin typeface="Aptos"/>
              </a:defRPr>
            </a:pPr>
            <a:r>
              <a:t>Official setup</a:t>
            </a:r>
          </a:p>
          <a:p>
            <a:pPr>
              <a:spcAft>
                <a:spcPts val="600"/>
              </a:spcAft>
              <a:defRPr sz="2100" b="0">
                <a:solidFill>
                  <a:srgbClr val="182D43"/>
                </a:solidFill>
                <a:latin typeface="Aptos"/>
              </a:defRPr>
            </a:pPr>
            <a:r>
              <a:t>Proposed independent checks</a:t>
            </a:r>
          </a:p>
          <a:p>
            <a:pPr>
              <a:spcAft>
                <a:spcPts val="600"/>
              </a:spcAft>
              <a:defRPr sz="2100" b="0">
                <a:solidFill>
                  <a:srgbClr val="182D43"/>
                </a:solidFill>
                <a:latin typeface="Aptos"/>
              </a:defRPr>
            </a:pPr>
            <a:r>
              <a:t>Stop and residual-data limits</a:t>
            </a:r>
          </a:p>
        </p:txBody>
      </p:sp>
      <p:sp>
        <p:nvSpPr>
          <p:cNvPr id="14" name="TextBox 13"/>
          <p:cNvSpPr txBox="1"/>
          <p:nvPr/>
        </p:nvSpPr>
        <p:spPr>
          <a:xfrm>
            <a:off x="594360" y="5029200"/>
            <a:ext cx="10881360" cy="731520"/>
          </a:xfrm>
          <a:prstGeom prst="rect">
            <a:avLst/>
          </a:prstGeom>
          <a:noFill/>
        </p:spPr>
        <p:txBody>
          <a:bodyPr wrap="square" lIns="0" rIns="0" tIns="0" bIns="0">
            <a:spAutoFit/>
          </a:bodyPr>
          <a:lstStyle/>
          <a:p>
            <a:pPr>
              <a:spcAft>
                <a:spcPts val="600"/>
              </a:spcAft>
              <a:defRPr sz="2200" b="0">
                <a:solidFill>
                  <a:srgbClr val="52657A"/>
                </a:solidFill>
                <a:latin typeface="Aptos"/>
              </a:defRPr>
            </a:pPr>
            <a:r>
              <a:t>Untimed reference slides. The existing core programme and demonstration allocations remain unchanged.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D-M01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Recall recurring alarm causes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02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The learning agent summarizes earlier investigations into monitor-specific memory.</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Open Knowledge → Memories.</a:t>
            </a:r>
          </a:p>
          <a:p>
            <a:pPr>
              <a:spcAft>
                <a:spcPts val="600"/>
              </a:spcAft>
              <a:defRPr sz="2000" b="0">
                <a:solidFill>
                  <a:srgbClr val="182D43"/>
                </a:solidFill>
                <a:latin typeface="Aptos"/>
              </a:defRPr>
            </a:pPr>
            <a:r>
              <a:t>2. Inspect the monitor entry and versions.</a:t>
            </a:r>
          </a:p>
          <a:p>
            <a:pPr>
              <a:spcAft>
                <a:spcPts val="600"/>
              </a:spcAft>
              <a:defRPr sz="2000" b="0">
                <a:solidFill>
                  <a:srgbClr val="182D43"/>
                </a:solidFill>
                <a:latin typeface="Aptos"/>
              </a:defRPr>
            </a:pPr>
            <a:r>
              <a:t>3. Check Active state and Learning history.</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Compare the agent’s cited past context with current logs. A matching conclusion alone is not proof that memory was read.</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Deactivate stale or incorrect context. Use memory/store toggles to stop recall.</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DM, DG, DN · Agent Space / Operator Web App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D-M02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Refresh environment and tool-use knowledge</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03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Environment, repository, pipeline and tool-use knowledge is maintained as managed memory.</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Inspect the item’s migration state.</a:t>
            </a:r>
          </a:p>
          <a:p>
            <a:pPr>
              <a:spcAft>
                <a:spcPts val="600"/>
              </a:spcAft>
              <a:defRPr sz="2000" b="0">
                <a:solidFill>
                  <a:srgbClr val="182D43"/>
                </a:solidFill>
                <a:latin typeface="Aptos"/>
              </a:defRPr>
            </a:pPr>
            <a:r>
              <a:t>2. Request Topology → Regenerate.</a:t>
            </a:r>
          </a:p>
          <a:p>
            <a:pPr>
              <a:spcAft>
                <a:spcPts val="600"/>
              </a:spcAft>
              <a:defRPr sz="2000" b="0">
                <a:solidFill>
                  <a:srgbClr val="182D43"/>
                </a:solidFill>
                <a:latin typeface="Aptos"/>
              </a:defRPr>
            </a:pPr>
            <a:r>
              <a:t>3. Review the new summary and version.</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Audit one tool-use recommendation against a successful tool result and its permissions.</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Refresh is not continuous retraining. Managed-agent schedules belong to the service.</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DL, DG, DT · Agent Space knowledge / topology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D-M03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Attach retained context to a custom agent</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04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 custom agent can read attached memory stores and write to attached custom stores.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Create a described custom memory store.</a:t>
            </a:r>
          </a:p>
          <a:p>
            <a:pPr>
              <a:spcAft>
                <a:spcPts val="600"/>
              </a:spcAft>
              <a:defRPr sz="2000" b="0">
                <a:solidFill>
                  <a:srgbClr val="182D43"/>
                </a:solidFill>
                <a:latin typeface="Aptos"/>
              </a:defRPr>
            </a:pPr>
            <a:r>
              <a:t>2. Attach it in the custom-agent definition.</a:t>
            </a:r>
          </a:p>
          <a:p>
            <a:pPr>
              <a:spcAft>
                <a:spcPts val="600"/>
              </a:spcAft>
              <a:defRPr sz="2000" b="0">
                <a:solidFill>
                  <a:srgbClr val="182D43"/>
                </a:solidFill>
                <a:latin typeface="Aptos"/>
              </a:defRPr>
            </a:pPr>
            <a:r>
              <a:t>3. Configure tools separately through Chat.</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Confirm the custom agent cannot treat managed history as its own editable store.</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Tools and memory are separate. Remove an attachment in the agent’s configuration when the job no longer needs that context.</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DC, DM · Custom agents / Operator Web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D-M04 / INSTRUCTIONS</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Apply always-on agent instructions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05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Global and agent-specific AGENTS.md content is loaded for new sessions.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Open the agent’s definition.</a:t>
            </a:r>
          </a:p>
          <a:p>
            <a:pPr>
              <a:spcAft>
                <a:spcPts val="600"/>
              </a:spcAft>
              <a:defRPr sz="2000" b="0">
                <a:solidFill>
                  <a:srgbClr val="182D43"/>
                </a:solidFill>
                <a:latin typeface="Aptos"/>
              </a:defRPr>
            </a:pPr>
            <a:r>
              <a:t>2. Edit global or agent instructions.</a:t>
            </a:r>
          </a:p>
          <a:p>
            <a:pPr>
              <a:spcAft>
                <a:spcPts val="600"/>
              </a:spcAft>
              <a:defRPr sz="2000" b="0">
                <a:solidFill>
                  <a:srgbClr val="182D43"/>
                </a:solidFill>
                <a:latin typeface="Aptos"/>
              </a:defRPr>
            </a:pPr>
            <a:r>
              <a:t>3. Save; evaluate in a new session.</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Keep a negative authorization test separate from the instruction test.</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Guidance does not grant access. Download a copy before replacing or deleting instructions.</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DI · Agents → Managed agents → Agent definition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D-M05 / INSTRUCTIONS</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Load a procedure through a skill</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06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 skill packages instructions and references.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Open Knowledge → Skills.</a:t>
            </a:r>
          </a:p>
          <a:p>
            <a:pPr>
              <a:spcAft>
                <a:spcPts val="600"/>
              </a:spcAft>
              <a:defRPr sz="2000" b="0">
                <a:solidFill>
                  <a:srgbClr val="182D43"/>
                </a:solidFill>
                <a:latin typeface="Aptos"/>
              </a:defRPr>
            </a:pPr>
            <a:r>
              <a:t>2. Add reviewed, document-only instructions.</a:t>
            </a:r>
          </a:p>
          <a:p>
            <a:pPr>
              <a:spcAft>
                <a:spcPts val="600"/>
              </a:spcAft>
              <a:defRPr sz="2000" b="0">
                <a:solidFill>
                  <a:srgbClr val="182D43"/>
                </a:solidFill>
                <a:latin typeface="Aptos"/>
              </a:defRPr>
            </a:pPr>
            <a:r>
              <a:t>3. Choose scope and activation status.</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Review reference freshness; a well-formed skill can still contain an incorrect procedure.</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No execution assumed for documents. Edit the skill or set it Inactive to prevent use for new work.</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DS · Knowledge → Skills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D-M06 / RETRIEVAL</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Discover resources without confusing scope with access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07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Topology describes resource context. Effective investigation permissions intersect account-role policy with the service-applied session policy.</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Connect the in-scope resources.</a:t>
            </a:r>
          </a:p>
          <a:p>
            <a:pPr>
              <a:spcAft>
                <a:spcPts val="600"/>
              </a:spcAft>
              <a:defRPr sz="2000" b="0">
                <a:solidFill>
                  <a:srgbClr val="182D43"/>
                </a:solidFill>
                <a:latin typeface="Aptos"/>
              </a:defRPr>
            </a:pPr>
            <a:r>
              <a:t>2. Enable the documented discovery path.</a:t>
            </a:r>
          </a:p>
          <a:p>
            <a:pPr>
              <a:spcAft>
                <a:spcPts val="600"/>
              </a:spcAft>
              <a:defRPr sz="2000" b="0">
                <a:solidFill>
                  <a:srgbClr val="182D43"/>
                </a:solidFill>
                <a:latin typeface="Aptos"/>
              </a:defRPr>
            </a:pPr>
            <a:r>
              <a:t>3. Restrict the account roles in IAM.</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Confirm an out-of-scope resource is inaccessible under the role, even if named in chat.</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Enforce access in IAM. Change role permissions to restrict access; removing a graph item alone is not sufficient.</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DT, DA · AWS accounts / topology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D-M07 / TRIGGER</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Trigger investigations through authenticated events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08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An external HTTP event can enqueue an investigation.</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Add the webhook integration.</a:t>
            </a:r>
          </a:p>
          <a:p>
            <a:pPr>
              <a:spcAft>
                <a:spcPts val="600"/>
              </a:spcAft>
              <a:defRPr sz="2000" b="0">
                <a:solidFill>
                  <a:srgbClr val="182D43"/>
                </a:solidFill>
                <a:latin typeface="Aptos"/>
              </a:defRPr>
            </a:pPr>
            <a:r>
              <a:t>2. Store its credential securely.</a:t>
            </a:r>
          </a:p>
          <a:p>
            <a:pPr>
              <a:spcAft>
                <a:spcPts val="600"/>
              </a:spcAft>
              <a:defRPr sz="2000" b="0">
                <a:solidFill>
                  <a:srgbClr val="182D43"/>
                </a:solidFill>
                <a:latin typeface="Aptos"/>
              </a:defRPr>
            </a:pPr>
            <a:r>
              <a:t>3. Send a unique, authenticated event.</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Record rotation readiness without deliberately exposing production credentials.</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HTTP success is not analysis success. Rotate the credential through the webhook editor and update the sender; removing the webhook stops that endpoint.</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DW · Agent Space webhooks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D-M08 / TRIGGER</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Schedule a bounded custom-agent job</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09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A custom agent can run on demand or through a schedule.</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Define and test the custom agent.</a:t>
            </a:r>
          </a:p>
          <a:p>
            <a:pPr>
              <a:spcAft>
                <a:spcPts val="600"/>
              </a:spcAft>
              <a:defRPr sz="2000" b="0">
                <a:solidFill>
                  <a:srgbClr val="182D43"/>
                </a:solidFill>
                <a:latin typeface="Aptos"/>
              </a:defRPr>
            </a:pPr>
            <a:r>
              <a:t>2. Create a schedule and bounded prompt.</a:t>
            </a:r>
          </a:p>
          <a:p>
            <a:pPr>
              <a:spcAft>
                <a:spcPts val="600"/>
              </a:spcAft>
              <a:defRPr sz="2000" b="0">
                <a:solidFill>
                  <a:srgbClr val="182D43"/>
                </a:solidFill>
                <a:latin typeface="Aptos"/>
              </a:defRPr>
            </a:pPr>
            <a:r>
              <a:t>3. Inspect History and stop controls.</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Verify no unexpected external publication occurred.</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Do not alter managed learning schedules. Review or remove the schedule through trigger management when no longer needed; do not assume removing a future trigger cancels an active invocation.</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DX, DC · Custom agent detail / Triggers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D-M09 / AUTHORIZATION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Authorize mutating directed actions</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10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Directed actions require an enabled Agent Space, an elevated account role or tool configuration, and operator approval for the specific mutation.</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Keep directed actions off initially.</a:t>
            </a:r>
          </a:p>
          <a:p>
            <a:pPr>
              <a:spcAft>
                <a:spcPts val="600"/>
              </a:spcAft>
              <a:defRPr sz="2000" b="0">
                <a:solidFill>
                  <a:srgbClr val="182D43"/>
                </a:solidFill>
                <a:latin typeface="Aptos"/>
              </a:defRPr>
            </a:pPr>
            <a:r>
              <a:t>2. Configure the scoped elevated role.</a:t>
            </a:r>
          </a:p>
          <a:p>
            <a:pPr>
              <a:spcAft>
                <a:spcPts val="600"/>
              </a:spcAft>
              <a:defRPr sz="2000" b="0">
                <a:solidFill>
                  <a:srgbClr val="182D43"/>
                </a:solidFill>
                <a:latin typeface="Aptos"/>
              </a:defRPr>
            </a:pPr>
            <a:r>
              <a:t>3. Approve only the reviewed action.</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Reject a deliberately out-of-scope proposal; confirm no mutation occurred.</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Remembered context grants no authority. Disable directed actions at the Agent Space to remove elevated capability.</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DE · Agent Space and per-account associations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D-M10 / MEMORY</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Record a corrected cause through investigation feedback</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11 / UNTIMED</a:t>
            </a:r>
          </a:p>
        </p:txBody>
      </p:sp>
      <p:sp>
        <p:nvSpPr>
          <p:cNvPr id="8" name="Rectangle 7"/>
          <p:cNvSpPr/>
          <p:nvPr/>
        </p:nvSpPr>
        <p:spPr>
          <a:xfrm>
            <a:off x="502920"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DOCUMENTED OPERATION</a:t>
            </a:r>
          </a:p>
        </p:txBody>
      </p:sp>
      <p:sp>
        <p:nvSpPr>
          <p:cNvPr id="10" name="TextBox 9"/>
          <p:cNvSpPr txBox="1"/>
          <p:nvPr/>
        </p:nvSpPr>
        <p:spPr>
          <a:xfrm>
            <a:off x="685800" y="2313432"/>
            <a:ext cx="5120640" cy="1316736"/>
          </a:xfrm>
          <a:prstGeom prst="rect">
            <a:avLst/>
          </a:prstGeom>
          <a:noFill/>
        </p:spPr>
        <p:txBody>
          <a:bodyPr wrap="square" lIns="0" rIns="0" tIns="0" bIns="0">
            <a:spAutoFit/>
          </a:bodyPr>
          <a:lstStyle/>
          <a:p>
            <a:pPr>
              <a:spcAft>
                <a:spcPts val="600"/>
              </a:spcAft>
              <a:defRPr sz="1800" b="0">
                <a:solidFill>
                  <a:srgbClr val="182D43"/>
                </a:solidFill>
                <a:latin typeface="Aptos"/>
              </a:defRPr>
            </a:pPr>
            <a:r>
              <a:t>Corrective feedback creates alarm-related reflection context for later investigations.</a:t>
            </a:r>
          </a:p>
        </p:txBody>
      </p:sp>
      <p:sp>
        <p:nvSpPr>
          <p:cNvPr id="11" name="Rectangle 10"/>
          <p:cNvSpPr/>
          <p:nvPr/>
        </p:nvSpPr>
        <p:spPr>
          <a:xfrm>
            <a:off x="502920"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ENABLE / CONFIGURE</a:t>
            </a:r>
          </a:p>
        </p:txBody>
      </p:sp>
      <p:sp>
        <p:nvSpPr>
          <p:cNvPr id="13" name="TextBox 12"/>
          <p:cNvSpPr txBox="1"/>
          <p:nvPr/>
        </p:nvSpPr>
        <p:spPr>
          <a:xfrm>
            <a:off x="685800"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1. Open a completed investigation.</a:t>
            </a:r>
          </a:p>
          <a:p>
            <a:pPr>
              <a:spcAft>
                <a:spcPts val="600"/>
              </a:spcAft>
              <a:defRPr sz="2000" b="0">
                <a:solidFill>
                  <a:srgbClr val="182D43"/>
                </a:solidFill>
                <a:latin typeface="Aptos"/>
              </a:defRPr>
            </a:pPr>
            <a:r>
              <a:t>2. Submit incorrect verdict and actual cause.</a:t>
            </a:r>
          </a:p>
          <a:p>
            <a:pPr>
              <a:spcAft>
                <a:spcPts val="600"/>
              </a:spcAft>
              <a:defRPr sz="2000" b="0">
                <a:solidFill>
                  <a:srgbClr val="182D43"/>
                </a:solidFill>
                <a:latin typeface="Aptos"/>
              </a:defRPr>
            </a:pPr>
            <a:r>
              <a:t>3. Inspect the reflections entry and version.</a:t>
            </a:r>
          </a:p>
        </p:txBody>
      </p:sp>
      <p:sp>
        <p:nvSpPr>
          <p:cNvPr id="14" name="Rectangle 13"/>
          <p:cNvSpPr/>
          <p:nvPr/>
        </p:nvSpPr>
        <p:spPr>
          <a:xfrm>
            <a:off x="6199632" y="1810512"/>
            <a:ext cx="5486400" cy="1929384"/>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INDEPENDENT CHECK — PROPOSED</a:t>
            </a:r>
          </a:p>
        </p:txBody>
      </p:sp>
      <p:sp>
        <p:nvSpPr>
          <p:cNvPr id="16" name="TextBox 15"/>
          <p:cNvSpPr txBox="1"/>
          <p:nvPr/>
        </p:nvSpPr>
        <p:spPr>
          <a:xfrm>
            <a:off x="6382512" y="2313432"/>
            <a:ext cx="5120640" cy="1316736"/>
          </a:xfrm>
          <a:prstGeom prst="rect">
            <a:avLst/>
          </a:prstGeom>
          <a:noFill/>
        </p:spPr>
        <p:txBody>
          <a:bodyPr wrap="square" lIns="0" rIns="0" tIns="0" bIns="0">
            <a:spAutoFit/>
          </a:bodyPr>
          <a:lstStyle/>
          <a:p>
            <a:pPr>
              <a:spcAft>
                <a:spcPts val="600"/>
              </a:spcAft>
              <a:defRPr sz="1900" b="0">
                <a:solidFill>
                  <a:srgbClr val="182D43"/>
                </a:solidFill>
                <a:latin typeface="Aptos"/>
              </a:defRPr>
            </a:pPr>
            <a:r>
              <a:t>Report recall as unverified unless the run exposes evidence that the memory was read.</a:t>
            </a:r>
          </a:p>
        </p:txBody>
      </p:sp>
      <p:sp>
        <p:nvSpPr>
          <p:cNvPr id="17" name="Rectangle 16"/>
          <p:cNvSpPr/>
          <p:nvPr/>
        </p:nvSpPr>
        <p:spPr>
          <a:xfrm>
            <a:off x="6199632" y="3886200"/>
            <a:ext cx="5486400" cy="2286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4023360"/>
            <a:ext cx="5120640" cy="228600"/>
          </a:xfrm>
          <a:prstGeom prst="rect">
            <a:avLst/>
          </a:prstGeom>
          <a:noFill/>
        </p:spPr>
        <p:txBody>
          <a:bodyPr wrap="square" lIns="0" rIns="0" tIns="0" bIns="0">
            <a:spAutoFit/>
          </a:bodyPr>
          <a:lstStyle/>
          <a:p>
            <a:pPr>
              <a:spcAft>
                <a:spcPts val="600"/>
              </a:spcAft>
              <a:defRPr sz="1100" b="1">
                <a:solidFill>
                  <a:srgbClr val="975700"/>
                </a:solidFill>
                <a:latin typeface="Aptos"/>
              </a:defRPr>
            </a:pPr>
            <a:r>
              <a:t>CONTROL AND LIMITATION</a:t>
            </a:r>
          </a:p>
        </p:txBody>
      </p:sp>
      <p:sp>
        <p:nvSpPr>
          <p:cNvPr id="19" name="TextBox 18"/>
          <p:cNvSpPr txBox="1"/>
          <p:nvPr/>
        </p:nvSpPr>
        <p:spPr>
          <a:xfrm>
            <a:off x="6382512" y="4389120"/>
            <a:ext cx="5120640" cy="1673352"/>
          </a:xfrm>
          <a:prstGeom prst="rect">
            <a:avLst/>
          </a:prstGeom>
          <a:noFill/>
        </p:spPr>
        <p:txBody>
          <a:bodyPr wrap="square" lIns="0" rIns="0" tIns="0" bIns="0">
            <a:spAutoFit/>
          </a:bodyPr>
          <a:lstStyle/>
          <a:p>
            <a:pPr>
              <a:spcAft>
                <a:spcPts val="600"/>
              </a:spcAft>
              <a:defRPr sz="2000" b="0">
                <a:solidFill>
                  <a:srgbClr val="182D43"/>
                </a:solidFill>
                <a:latin typeface="Aptos"/>
              </a:defRPr>
            </a:pPr>
            <a:r>
              <a:t>No diagnosis guarantee. Sharing feedback with AWS requires separate confirmation.</a:t>
            </a:r>
          </a:p>
        </p:txBody>
      </p:sp>
      <p:sp>
        <p:nvSpPr>
          <p:cNvPr id="20" name="TextBox 19"/>
          <p:cNvSpPr txBox="1"/>
          <p:nvPr/>
        </p:nvSpPr>
        <p:spPr>
          <a:xfrm>
            <a:off x="594360" y="6236208"/>
            <a:ext cx="109728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Official sources: DF, DM, DN · Completed investigation / Knowledge → Memories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OPTIONAL 12-MINUTE EXERCISE / PART 1 OF 2</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Test recall without assuming the old cause has returned</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12 / UNTIMED</a:t>
            </a:r>
          </a:p>
        </p:txBody>
      </p:sp>
      <p:sp>
        <p:nvSpPr>
          <p:cNvPr id="8" name="Rectangle 7"/>
          <p:cNvSpPr/>
          <p:nvPr/>
        </p:nvSpPr>
        <p:spPr>
          <a:xfrm>
            <a:off x="502920" y="1828800"/>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93392"/>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00:00–01:30</a:t>
            </a:r>
          </a:p>
        </p:txBody>
      </p:sp>
      <p:sp>
        <p:nvSpPr>
          <p:cNvPr id="10" name="TextBox 9"/>
          <p:cNvSpPr txBox="1"/>
          <p:nvPr/>
        </p:nvSpPr>
        <p:spPr>
          <a:xfrm>
            <a:off x="2130552" y="1938528"/>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Scope the comparison</a:t>
            </a:r>
          </a:p>
        </p:txBody>
      </p:sp>
      <p:sp>
        <p:nvSpPr>
          <p:cNvPr id="11" name="TextBox 10"/>
          <p:cNvSpPr txBox="1"/>
          <p:nvPr/>
        </p:nvSpPr>
        <p:spPr>
          <a:xfrm>
            <a:off x="2130552" y="2331720"/>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Name the old incident, a new symptom window and the read-only resource boundary. Gate: Two distinct investigation IDs and an agreed evidence window.</a:t>
            </a:r>
          </a:p>
        </p:txBody>
      </p:sp>
      <p:sp>
        <p:nvSpPr>
          <p:cNvPr id="12" name="Rectangle 11"/>
          <p:cNvSpPr/>
          <p:nvPr/>
        </p:nvSpPr>
        <p:spPr>
          <a:xfrm>
            <a:off x="502920" y="3227832"/>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392424"/>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01:30–03:30</a:t>
            </a:r>
          </a:p>
        </p:txBody>
      </p:sp>
      <p:sp>
        <p:nvSpPr>
          <p:cNvPr id="14" name="TextBox 13"/>
          <p:cNvSpPr txBox="1"/>
          <p:nvPr/>
        </p:nvSpPr>
        <p:spPr>
          <a:xfrm>
            <a:off x="2130552" y="3337560"/>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Inspect retained knowledge</a:t>
            </a:r>
          </a:p>
        </p:txBody>
      </p:sp>
      <p:sp>
        <p:nvSpPr>
          <p:cNvPr id="15" name="TextBox 14"/>
          <p:cNvSpPr txBox="1"/>
          <p:nvPr/>
        </p:nvSpPr>
        <p:spPr>
          <a:xfrm>
            <a:off x="2130552" y="3730752"/>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Inspect Knowledge → Memories for the relevant monitor and its versions. Gate: Entry is relevant, active and traceable to the reviewed incident.</a:t>
            </a:r>
          </a:p>
        </p:txBody>
      </p:sp>
      <p:sp>
        <p:nvSpPr>
          <p:cNvPr id="16" name="Rectangle 15"/>
          <p:cNvSpPr/>
          <p:nvPr/>
        </p:nvSpPr>
        <p:spPr>
          <a:xfrm>
            <a:off x="502920" y="4626864"/>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791456"/>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03:30–05:30</a:t>
            </a:r>
          </a:p>
        </p:txBody>
      </p:sp>
      <p:sp>
        <p:nvSpPr>
          <p:cNvPr id="18" name="TextBox 17"/>
          <p:cNvSpPr txBox="1"/>
          <p:nvPr/>
        </p:nvSpPr>
        <p:spPr>
          <a:xfrm>
            <a:off x="2130552" y="4736592"/>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Check the consumer</a:t>
            </a:r>
          </a:p>
        </p:txBody>
      </p:sp>
      <p:sp>
        <p:nvSpPr>
          <p:cNvPr id="19" name="TextBox 18"/>
          <p:cNvSpPr txBox="1"/>
          <p:nvPr/>
        </p:nvSpPr>
        <p:spPr>
          <a:xfrm>
            <a:off x="2130552" y="5129784"/>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For a custom agent, explicitly attach the chosen store. Gate: Correct store attached; no unrelated tool access added.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OPTIONAL 12-MINUTE EXERCISE / PART 2 OF 2</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Test recall without assuming the old cause has returned</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13 / UNTIMED</a:t>
            </a:r>
          </a:p>
        </p:txBody>
      </p:sp>
      <p:sp>
        <p:nvSpPr>
          <p:cNvPr id="8" name="Rectangle 7"/>
          <p:cNvSpPr/>
          <p:nvPr/>
        </p:nvSpPr>
        <p:spPr>
          <a:xfrm>
            <a:off x="502920" y="1828800"/>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93392"/>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05:30–08:00</a:t>
            </a:r>
          </a:p>
        </p:txBody>
      </p:sp>
      <p:sp>
        <p:nvSpPr>
          <p:cNvPr id="10" name="TextBox 9"/>
          <p:cNvSpPr txBox="1"/>
          <p:nvPr/>
        </p:nvSpPr>
        <p:spPr>
          <a:xfrm>
            <a:off x="2130552" y="1938528"/>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Start a separate investigation</a:t>
            </a:r>
          </a:p>
        </p:txBody>
      </p:sp>
      <p:sp>
        <p:nvSpPr>
          <p:cNvPr id="11" name="TextBox 10"/>
          <p:cNvSpPr txBox="1"/>
          <p:nvPr/>
        </p:nvSpPr>
        <p:spPr>
          <a:xfrm>
            <a:off x="2130552" y="2331720"/>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Ask for current evidence and disconfirming observations. Gate: New task, current data and a record of recalled context if observable.</a:t>
            </a:r>
          </a:p>
        </p:txBody>
      </p:sp>
      <p:sp>
        <p:nvSpPr>
          <p:cNvPr id="12" name="Rectangle 11"/>
          <p:cNvSpPr/>
          <p:nvPr/>
        </p:nvSpPr>
        <p:spPr>
          <a:xfrm>
            <a:off x="502920" y="3227832"/>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392424"/>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08:00–10:30</a:t>
            </a:r>
          </a:p>
        </p:txBody>
      </p:sp>
      <p:sp>
        <p:nvSpPr>
          <p:cNvPr id="14" name="TextBox 13"/>
          <p:cNvSpPr txBox="1"/>
          <p:nvPr/>
        </p:nvSpPr>
        <p:spPr>
          <a:xfrm>
            <a:off x="2130552" y="3337560"/>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Challenge the conclusion</a:t>
            </a:r>
          </a:p>
        </p:txBody>
      </p:sp>
      <p:sp>
        <p:nvSpPr>
          <p:cNvPr id="15" name="TextBox 14"/>
          <p:cNvSpPr txBox="1"/>
          <p:nvPr/>
        </p:nvSpPr>
        <p:spPr>
          <a:xfrm>
            <a:off x="2130552" y="3730752"/>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Compare proposed cause with telemetry; do not count a matching narrative as proof of recall. Gate: Independent evidence supports or rejects the hypothesis.</a:t>
            </a:r>
          </a:p>
        </p:txBody>
      </p:sp>
      <p:sp>
        <p:nvSpPr>
          <p:cNvPr id="16" name="Rectangle 15"/>
          <p:cNvSpPr/>
          <p:nvPr/>
        </p:nvSpPr>
        <p:spPr>
          <a:xfrm>
            <a:off x="502920" y="4626864"/>
            <a:ext cx="11183112" cy="123444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791456"/>
            <a:ext cx="1325880" cy="301752"/>
          </a:xfrm>
          <a:prstGeom prst="rect">
            <a:avLst/>
          </a:prstGeom>
          <a:noFill/>
        </p:spPr>
        <p:txBody>
          <a:bodyPr wrap="square" lIns="0" rIns="0" tIns="0" bIns="0">
            <a:spAutoFit/>
          </a:bodyPr>
          <a:lstStyle/>
          <a:p>
            <a:pPr>
              <a:spcAft>
                <a:spcPts val="600"/>
              </a:spcAft>
              <a:defRPr sz="1600" b="1">
                <a:solidFill>
                  <a:srgbClr val="975700"/>
                </a:solidFill>
                <a:latin typeface="Aptos"/>
              </a:defRPr>
            </a:pPr>
            <a:r>
              <a:t>10:30–12:00</a:t>
            </a:r>
          </a:p>
        </p:txBody>
      </p:sp>
      <p:sp>
        <p:nvSpPr>
          <p:cNvPr id="18" name="TextBox 17"/>
          <p:cNvSpPr txBox="1"/>
          <p:nvPr/>
        </p:nvSpPr>
        <p:spPr>
          <a:xfrm>
            <a:off x="2130552" y="4736592"/>
            <a:ext cx="9281160" cy="301752"/>
          </a:xfrm>
          <a:prstGeom prst="rect">
            <a:avLst/>
          </a:prstGeom>
          <a:noFill/>
        </p:spPr>
        <p:txBody>
          <a:bodyPr wrap="square" lIns="0" rIns="0" tIns="0" bIns="0">
            <a:spAutoFit/>
          </a:bodyPr>
          <a:lstStyle/>
          <a:p>
            <a:pPr>
              <a:spcAft>
                <a:spcPts val="600"/>
              </a:spcAft>
              <a:defRPr sz="2000" b="1">
                <a:solidFill>
                  <a:srgbClr val="182D43"/>
                </a:solidFill>
                <a:latin typeface="Aptos"/>
              </a:defRPr>
            </a:pPr>
            <a:r>
              <a:t>Record a corrected outcome</a:t>
            </a:r>
          </a:p>
        </p:txBody>
      </p:sp>
      <p:sp>
        <p:nvSpPr>
          <p:cNvPr id="19" name="TextBox 18"/>
          <p:cNvSpPr txBox="1"/>
          <p:nvPr/>
        </p:nvSpPr>
        <p:spPr>
          <a:xfrm>
            <a:off x="2130552" y="5129784"/>
            <a:ext cx="9189720" cy="621792"/>
          </a:xfrm>
          <a:prstGeom prst="rect">
            <a:avLst/>
          </a:prstGeom>
          <a:noFill/>
        </p:spPr>
        <p:txBody>
          <a:bodyPr wrap="square" lIns="0" rIns="0" tIns="0" bIns="0">
            <a:spAutoFit/>
          </a:bodyPr>
          <a:lstStyle/>
          <a:p>
            <a:pPr>
              <a:spcAft>
                <a:spcPts val="600"/>
              </a:spcAft>
              <a:defRPr sz="1600" b="0">
                <a:solidFill>
                  <a:srgbClr val="182D43"/>
                </a:solidFill>
                <a:latin typeface="Aptos"/>
              </a:defRPr>
            </a:pPr>
            <a:r>
              <a:t>Submit the reviewed cause using Add feedback; inspect the reflection or a prepared record. Gate: Feedback and memory version retained; later recall checked separately.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975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11155680" cy="256032"/>
          </a:xfrm>
          <a:prstGeom prst="rect">
            <a:avLst/>
          </a:prstGeom>
          <a:noFill/>
        </p:spPr>
        <p:txBody>
          <a:bodyPr wrap="square" lIns="0" rIns="0" tIns="0" bIns="0">
            <a:spAutoFit/>
          </a:bodyPr>
          <a:lstStyle/>
          <a:p>
            <a:pPr>
              <a:spcAft>
                <a:spcPts val="600"/>
              </a:spcAft>
              <a:defRPr sz="1100" b="1">
                <a:solidFill>
                  <a:srgbClr val="975700"/>
                </a:solidFill>
                <a:latin typeface="Aptos"/>
              </a:defRPr>
            </a:pPr>
            <a:r>
              <a:t>OFFICIAL DOCUMENTATION</a:t>
            </a:r>
          </a:p>
        </p:txBody>
      </p:sp>
      <p:sp>
        <p:nvSpPr>
          <p:cNvPr id="4" name="TextBox 3"/>
          <p:cNvSpPr txBox="1"/>
          <p:nvPr/>
        </p:nvSpPr>
        <p:spPr>
          <a:xfrm>
            <a:off x="502920" y="777240"/>
            <a:ext cx="11155680" cy="868680"/>
          </a:xfrm>
          <a:prstGeom prst="rect">
            <a:avLst/>
          </a:prstGeom>
          <a:noFill/>
        </p:spPr>
        <p:txBody>
          <a:bodyPr wrap="square" lIns="0" rIns="0" tIns="0" bIns="0">
            <a:spAutoFit/>
          </a:bodyPr>
          <a:lstStyle/>
          <a:p>
            <a:pPr>
              <a:spcAft>
                <a:spcPts val="600"/>
              </a:spcAft>
              <a:defRPr sz="2900" b="1">
                <a:solidFill>
                  <a:srgbClr val="182D43"/>
                </a:solidFill>
                <a:latin typeface="Aptos"/>
              </a:defRPr>
            </a:pPr>
            <a:r>
              <a:t>Evidence and delivery boundary</a:t>
            </a:r>
          </a:p>
        </p:txBody>
      </p:sp>
      <p:sp>
        <p:nvSpPr>
          <p:cNvPr id="5" name="Rectangle 4"/>
          <p:cNvSpPr/>
          <p:nvPr/>
        </p:nvSpPr>
        <p:spPr>
          <a:xfrm>
            <a:off x="502920" y="6473952"/>
            <a:ext cx="11155680" cy="10972"/>
          </a:xfrm>
          <a:prstGeom prst="rect">
            <a:avLst/>
          </a:prstGeom>
          <a:solidFill>
            <a:srgbClr val="D4DF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65392"/>
            <a:ext cx="960120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AWS DevOps Agent | Mechanism reference | 21 Oct 2026</a:t>
            </a:r>
          </a:p>
        </p:txBody>
      </p:sp>
      <p:sp>
        <p:nvSpPr>
          <p:cNvPr id="7" name="TextBox 6"/>
          <p:cNvSpPr txBox="1"/>
          <p:nvPr/>
        </p:nvSpPr>
        <p:spPr>
          <a:xfrm>
            <a:off x="10149840" y="6565392"/>
            <a:ext cx="1554480" cy="182880"/>
          </a:xfrm>
          <a:prstGeom prst="rect">
            <a:avLst/>
          </a:prstGeom>
          <a:noFill/>
        </p:spPr>
        <p:txBody>
          <a:bodyPr wrap="square" lIns="0" rIns="0" tIns="0" bIns="0">
            <a:spAutoFit/>
          </a:bodyPr>
          <a:lstStyle/>
          <a:p>
            <a:pPr>
              <a:spcAft>
                <a:spcPts val="600"/>
              </a:spcAft>
              <a:defRPr sz="900" b="0">
                <a:solidFill>
                  <a:srgbClr val="52657A"/>
                </a:solidFill>
                <a:latin typeface="Aptos"/>
              </a:defRPr>
            </a:pPr>
            <a:r>
              <a:t>14 / UNTIMED</a:t>
            </a:r>
          </a:p>
        </p:txBody>
      </p:sp>
      <p:sp>
        <p:nvSpPr>
          <p:cNvPr id="8" name="TextBox 7"/>
          <p:cNvSpPr txBox="1"/>
          <p:nvPr/>
        </p:nvSpPr>
        <p:spPr>
          <a:xfrm>
            <a:off x="594360" y="1828800"/>
            <a:ext cx="10972800" cy="457200"/>
          </a:xfrm>
          <a:prstGeom prst="rect">
            <a:avLst/>
          </a:prstGeom>
          <a:noFill/>
        </p:spPr>
        <p:txBody>
          <a:bodyPr wrap="square" lIns="0" rIns="0" tIns="0" bIns="0">
            <a:spAutoFit/>
          </a:bodyPr>
          <a:lstStyle/>
          <a:p>
            <a:pPr>
              <a:spcAft>
                <a:spcPts val="600"/>
              </a:spcAft>
              <a:defRPr sz="2400" b="1">
                <a:solidFill>
                  <a:srgbClr val="182D43"/>
                </a:solidFill>
                <a:latin typeface="Aptos"/>
              </a:defRPr>
            </a:pPr>
            <a:r>
              <a:t>Official source register</a:t>
            </a:r>
          </a:p>
        </p:txBody>
      </p:sp>
      <p:sp>
        <p:nvSpPr>
          <p:cNvPr id="9" name="TextBox 8"/>
          <p:cNvSpPr txBox="1"/>
          <p:nvPr/>
        </p:nvSpPr>
        <p:spPr>
          <a:xfrm>
            <a:off x="594360" y="2560320"/>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3"/>
              </a:rPr>
              <a:t>[DM] DevOps Agent Memories</a:t>
            </a:r>
          </a:p>
        </p:txBody>
      </p:sp>
      <p:sp>
        <p:nvSpPr>
          <p:cNvPr id="10" name="TextBox 9"/>
          <p:cNvSpPr txBox="1"/>
          <p:nvPr/>
        </p:nvSpPr>
        <p:spPr>
          <a:xfrm>
            <a:off x="6263640" y="2560320"/>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4"/>
              </a:rPr>
              <a:t>[DG] Managed agents</a:t>
            </a:r>
          </a:p>
        </p:txBody>
      </p:sp>
      <p:sp>
        <p:nvSpPr>
          <p:cNvPr id="11" name="TextBox 10"/>
          <p:cNvSpPr txBox="1"/>
          <p:nvPr/>
        </p:nvSpPr>
        <p:spPr>
          <a:xfrm>
            <a:off x="594360" y="2898648"/>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5"/>
              </a:rPr>
              <a:t>[DN] DevOps Agent dated product changes</a:t>
            </a:r>
          </a:p>
        </p:txBody>
      </p:sp>
      <p:sp>
        <p:nvSpPr>
          <p:cNvPr id="12" name="TextBox 11"/>
          <p:cNvSpPr txBox="1"/>
          <p:nvPr/>
        </p:nvSpPr>
        <p:spPr>
          <a:xfrm>
            <a:off x="6263640" y="2898648"/>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6"/>
              </a:rPr>
              <a:t>[DL] Learned Skills: migration to memory</a:t>
            </a:r>
          </a:p>
        </p:txBody>
      </p:sp>
      <p:sp>
        <p:nvSpPr>
          <p:cNvPr id="13" name="TextBox 12"/>
          <p:cNvSpPr txBox="1"/>
          <p:nvPr/>
        </p:nvSpPr>
        <p:spPr>
          <a:xfrm>
            <a:off x="594360" y="3236976"/>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7"/>
              </a:rPr>
              <a:t>[DT] Topology and resource discovery</a:t>
            </a:r>
          </a:p>
        </p:txBody>
      </p:sp>
      <p:sp>
        <p:nvSpPr>
          <p:cNvPr id="14" name="TextBox 13"/>
          <p:cNvSpPr txBox="1"/>
          <p:nvPr/>
        </p:nvSpPr>
        <p:spPr>
          <a:xfrm>
            <a:off x="6263640" y="3236976"/>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8"/>
              </a:rPr>
              <a:t>[DC] Creating a custom agent</a:t>
            </a:r>
          </a:p>
        </p:txBody>
      </p:sp>
      <p:sp>
        <p:nvSpPr>
          <p:cNvPr id="15" name="TextBox 14"/>
          <p:cNvSpPr txBox="1"/>
          <p:nvPr/>
        </p:nvSpPr>
        <p:spPr>
          <a:xfrm>
            <a:off x="594360" y="3575303"/>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9"/>
              </a:rPr>
              <a:t>[DI] Agent instructions</a:t>
            </a:r>
          </a:p>
        </p:txBody>
      </p:sp>
      <p:sp>
        <p:nvSpPr>
          <p:cNvPr id="16" name="TextBox 15"/>
          <p:cNvSpPr txBox="1"/>
          <p:nvPr/>
        </p:nvSpPr>
        <p:spPr>
          <a:xfrm>
            <a:off x="6263640" y="3575303"/>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0"/>
              </a:rPr>
              <a:t>[DS] DevOps Agent Skills</a:t>
            </a:r>
          </a:p>
        </p:txBody>
      </p:sp>
      <p:sp>
        <p:nvSpPr>
          <p:cNvPr id="17" name="TextBox 16"/>
          <p:cNvSpPr txBox="1"/>
          <p:nvPr/>
        </p:nvSpPr>
        <p:spPr>
          <a:xfrm>
            <a:off x="594360" y="3913631"/>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1"/>
              </a:rPr>
              <a:t>[DA] Limiting agent access in an AWS account</a:t>
            </a:r>
          </a:p>
        </p:txBody>
      </p:sp>
      <p:sp>
        <p:nvSpPr>
          <p:cNvPr id="18" name="TextBox 17"/>
          <p:cNvSpPr txBox="1"/>
          <p:nvPr/>
        </p:nvSpPr>
        <p:spPr>
          <a:xfrm>
            <a:off x="6263640" y="3913631"/>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2"/>
              </a:rPr>
              <a:t>[DW] Invoking DevOps Agent through Webhook</a:t>
            </a:r>
          </a:p>
        </p:txBody>
      </p:sp>
      <p:sp>
        <p:nvSpPr>
          <p:cNvPr id="19" name="TextBox 18"/>
          <p:cNvSpPr txBox="1"/>
          <p:nvPr/>
        </p:nvSpPr>
        <p:spPr>
          <a:xfrm>
            <a:off x="594360" y="4251960"/>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3"/>
              </a:rPr>
              <a:t>[DX] Executing custom agents</a:t>
            </a:r>
          </a:p>
        </p:txBody>
      </p:sp>
      <p:sp>
        <p:nvSpPr>
          <p:cNvPr id="20" name="TextBox 19"/>
          <p:cNvSpPr txBox="1"/>
          <p:nvPr/>
        </p:nvSpPr>
        <p:spPr>
          <a:xfrm>
            <a:off x="6263640" y="4251960"/>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4"/>
              </a:rPr>
              <a:t>[DE] Directed actions</a:t>
            </a:r>
          </a:p>
        </p:txBody>
      </p:sp>
      <p:sp>
        <p:nvSpPr>
          <p:cNvPr id="21" name="TextBox 20"/>
          <p:cNvSpPr txBox="1"/>
          <p:nvPr/>
        </p:nvSpPr>
        <p:spPr>
          <a:xfrm>
            <a:off x="594360" y="4590288"/>
            <a:ext cx="5394960" cy="283464"/>
          </a:xfrm>
          <a:prstGeom prst="rect">
            <a:avLst/>
          </a:prstGeom>
          <a:noFill/>
        </p:spPr>
        <p:txBody>
          <a:bodyPr wrap="square" lIns="0" rIns="0" tIns="0" bIns="0">
            <a:spAutoFit/>
          </a:bodyPr>
          <a:lstStyle/>
          <a:p>
            <a:pPr>
              <a:spcAft>
                <a:spcPts val="600"/>
              </a:spcAft>
              <a:defRPr sz="1300" b="0">
                <a:solidFill>
                  <a:srgbClr val="975700"/>
                </a:solidFill>
                <a:latin typeface="Aptos"/>
              </a:defRPr>
            </a:pPr>
            <a:r>
              <a:rPr>
                <a:hlinkClick r:id="rId15"/>
              </a:rPr>
              <a:t>[DF] Provide feedback on investigations</a:t>
            </a:r>
          </a:p>
        </p:txBody>
      </p:sp>
      <p:sp>
        <p:nvSpPr>
          <p:cNvPr id="22" name="TextBox 21"/>
          <p:cNvSpPr txBox="1"/>
          <p:nvPr/>
        </p:nvSpPr>
        <p:spPr>
          <a:xfrm>
            <a:off x="594360" y="5897880"/>
            <a:ext cx="10972800" cy="438912"/>
          </a:xfrm>
          <a:prstGeom prst="rect">
            <a:avLst/>
          </a:prstGeom>
          <a:noFill/>
        </p:spPr>
        <p:txBody>
          <a:bodyPr wrap="square" lIns="0" rIns="0" tIns="0" bIns="0">
            <a:spAutoFit/>
          </a:bodyPr>
          <a:lstStyle/>
          <a:p>
            <a:pPr>
              <a:spcAft>
                <a:spcPts val="600"/>
              </a:spcAft>
              <a:defRPr sz="1500" b="0">
                <a:solidFill>
                  <a:srgbClr val="52657A"/>
                </a:solidFill>
                <a:latin typeface="Aptos"/>
              </a:defRPr>
            </a:pPr>
            <a:r>
              <a:t>Reviewed 21 October 2026. Proposed exercises were not executed. Consult the full HTML guide for qualifications and source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