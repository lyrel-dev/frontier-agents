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Agent-instance configuration, authorized data retrieval, persistent context, task orchestration, artifacts and external publication. Cost-anomaly investigation is an application of these abilities.</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agent instance has its own permissions, memory, files, task queue and integrations. Data access and operator access are separately configured.</a:t>
            </a:r>
          </a:p>
          <a:p/>
          <a:p>
            <a:r>
              <a:t>Resources: Agent instance; agent role; operator role.</a:t>
            </a:r>
          </a:p>
          <a:p/>
          <a:p>
            <a:r>
              <a:t>Operations: Create an instance; configure the data and operator roles; associate required integrations.</a:t>
            </a:r>
          </a:p>
          <a:p/>
          <a:p>
            <a:r>
              <a:t>Boundary: Separate instances do not imply a shared organization-wide memory. Access to the agent can expose its shared context to its users.</a:t>
            </a:r>
          </a:p>
          <a:p/>
          <a:p>
            <a:r>
              <a:t>Creating an agent</a:t>
            </a:r>
          </a:p>
          <a:p>
            <a:r>
              <a:t>https://docs.aws.amazon.com/finops-agent/latest/userguide/creating-an-agent.html</a:t>
            </a:r>
          </a:p>
          <a:p/>
          <a:p>
            <a:r>
              <a:t>Data protection and lifecycle</a:t>
            </a:r>
          </a:p>
          <a:p>
            <a:r>
              <a:t>https://docs.aws.amazon.com/finops-agent/latest/userguide/data-protection.html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queries authorized AWS services for cost data, recommendations and operational-change evidence.</a:t>
            </a:r>
          </a:p>
          <a:p/>
          <a:p>
            <a:r>
              <a:t>Resources: Agent role; Cost Explorer data; recommendation sources; CloudTrail access.</a:t>
            </a:r>
          </a:p>
          <a:p/>
          <a:p>
            <a:r>
              <a:t>Operations: Activate dependencies; grant required API actions; inspect data-source provenance and query filters.</a:t>
            </a:r>
          </a:p>
          <a:p/>
          <a:p>
            <a:r>
              <a:t>Boundary: Removing a source permission can remove a particular analytical input without disabling all cost inquiry. Retrieved recommendations are not an independent optimization calculation.</a:t>
            </a:r>
          </a:p>
          <a:p/>
          <a:p>
            <a:r>
              <a:t>IAM setup and dependent services</a:t>
            </a:r>
          </a:p>
          <a:p>
            <a:r>
              <a:t>https://docs.aws.amazon.com/finops-agent/latest/userguide/setting-up.html</a:t>
            </a:r>
          </a:p>
          <a:p/>
          <a:p>
            <a:r>
              <a:t>Action approval and analytical boundaries</a:t>
            </a:r>
          </a:p>
          <a:p>
            <a:r>
              <a:t>https://docs.aws.amazon.com/finops-agent/latest/userguide/agent-guardrail-control.html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Uploaded files provide account mappings, instructions and reporting conventions that the agent can read during work.</a:t>
            </a:r>
          </a:p>
          <a:p/>
          <a:p>
            <a:r>
              <a:t>Resources: Context file; active or soft-deleted state; workspace visibility.</a:t>
            </a:r>
          </a:p>
          <a:p/>
          <a:p>
            <a:r>
              <a:t>Operations: Upload, delete or restore files through the Context files workspace.</a:t>
            </a:r>
          </a:p>
          <a:p/>
          <a:p>
            <a:r>
              <a:t>Boundary: The agent cannot modify or delete uploaded context files through conversation. Files are visible to users who can access that agent.</a:t>
            </a:r>
          </a:p>
          <a:p/>
          <a:p>
            <a:r>
              <a:t>Context files and memory</a:t>
            </a:r>
          </a:p>
          <a:p>
            <a:r>
              <a:t>https://docs.aws.amazon.com/finops-agent/latest/userguide/context-files-and-memory.html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Conversational memory retains preferences, ownership details, corrections and previous task outcomes for subsequent sessions.</a:t>
            </a:r>
          </a:p>
          <a:p/>
          <a:p>
            <a:r>
              <a:t>Resources: Agent-instance memory.</a:t>
            </a:r>
          </a:p>
          <a:p/>
          <a:p>
            <a:r>
              <a:t>Operations: Ask the agent to remember, update or forget a non-sensitive fact or preference.</a:t>
            </a:r>
          </a:p>
          <a:p/>
          <a:p>
            <a:r>
              <a:t>Boundary: Conversational memory is different from the source files containing similar facts. Do not assume that editing one automatically synchronizes the other.</a:t>
            </a:r>
          </a:p>
          <a:p/>
          <a:p>
            <a:r>
              <a:t>Context files and memory</a:t>
            </a:r>
          </a:p>
          <a:p>
            <a:r>
              <a:t>https://docs.aws.amazon.com/finops-agent/latest/userguide/context-files-and-memory.html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the context limit approaches, older conversation portions are summarized while recent messages remain in full.</a:t>
            </a:r>
          </a:p>
          <a:p/>
          <a:p>
            <a:r>
              <a:t>Resources: Conversation context; older-message summary; recent messages.</a:t>
            </a:r>
          </a:p>
          <a:p/>
          <a:p>
            <a:r>
              <a:t>Operations: Inspect retained decisions and restate critical constraints when needed.</a:t>
            </a:r>
          </a:p>
          <a:p/>
          <a:p>
            <a:r>
              <a:t>Boundary: Compaction is not verbatim recall or a guarantee that every detail survives. It is separate from cross-session memory.</a:t>
            </a:r>
          </a:p>
          <a:p/>
          <a:p>
            <a:r>
              <a:t>Context files and memory</a:t>
            </a:r>
          </a:p>
          <a:p>
            <a:r>
              <a:t>https://docs.aws.amazon.com/finops-agent/latest/userguide/context-files-and-memory.html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On-demand, scheduled and event-based tasks run through a shared queue; automations create tasks when their conditions match.</a:t>
            </a:r>
          </a:p>
          <a:p/>
          <a:p>
            <a:r>
              <a:t>Resources: Task; automation; schedule; supported event rule; task history.</a:t>
            </a:r>
          </a:p>
          <a:p/>
          <a:p>
            <a:r>
              <a:t>Operations: Create an on-demand task or automation; inspect queued and completed work; stop future creation by removing the automation.</a:t>
            </a:r>
          </a:p>
          <a:p/>
          <a:p>
            <a:r>
              <a:t>Boundary: The reviewed preview documents Cost Anomaly Detection events, not an arbitrary general event-processing framework. Existing tasks have a separate lifecycle.</a:t>
            </a:r>
          </a:p>
          <a:p/>
          <a:p>
            <a:r>
              <a:t>Task management</a:t>
            </a:r>
          </a:p>
          <a:p>
            <a:r>
              <a:t>https://docs.aws.amazon.com/finops-agent/latest/userguide/task-management.html</a:t>
            </a:r>
          </a:p>
          <a:p/>
          <a:p>
            <a:r>
              <a:t>Event-based anomaly response</a:t>
            </a:r>
          </a:p>
          <a:p>
            <a:r>
              <a:t>https://docs.aws.amazon.com/finops-agent/latest/userguide/automated-anomaly-response.html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Configured Jira and Slack integrations support publishing actions with different approval rules by action and invocation path.</a:t>
            </a:r>
          </a:p>
          <a:p/>
          <a:p>
            <a:r>
              <a:t>Resources: Destination integration; issue or comment action; channel post; approval and task history.</a:t>
            </a:r>
          </a:p>
          <a:p/>
          <a:p>
            <a:r>
              <a:t>Operations: Review interactive Jira actions; configure automation destinations; inspect resulting external artifacts.</a:t>
            </a:r>
          </a:p>
          <a:p/>
          <a:p>
            <a:r>
              <a:t>Boundary: There is no universal approval prompt for every write. Slack posts and pre-authorized automated Jira work differ from interactive Jira work.</a:t>
            </a:r>
          </a:p>
          <a:p/>
          <a:p>
            <a:r>
              <a:t>Action approval and analytical boundaries</a:t>
            </a:r>
          </a:p>
          <a:p>
            <a:r>
              <a:t>https://docs.aws.amazon.com/finops-agent/latest/userguide/agent-guardrail-control.html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service generates report artifacts in documented formats, including HTML, PDF and editable PowerPoint, and supports subsequent revision requests.</a:t>
            </a:r>
          </a:p>
          <a:p/>
          <a:p>
            <a:r>
              <a:t>Resources: Report artifact; source data; report instructions.</a:t>
            </a:r>
          </a:p>
          <a:p/>
          <a:p>
            <a:r>
              <a:t>Operations: Request a report, inspect its source breakdowns and revise presentation requirements.</a:t>
            </a:r>
          </a:p>
          <a:p/>
          <a:p>
            <a:r>
              <a:t>Boundary: A generated chart or narrative must be reconciled to source data. Formatting quality does not establish numerical or causal accuracy.</a:t>
            </a:r>
          </a:p>
          <a:p/>
          <a:p>
            <a:r>
              <a:t>Custom cost reporting and artifacts</a:t>
            </a:r>
          </a:p>
          <a:p>
            <a:r>
              <a:t>https://docs.aws.amazon.com/finops-agent/latest/userguide/custom-cost-reporting.html</a:t>
            </a:r>
          </a:p>
          <a:p/>
          <a:p>
            <a:r>
              <a:t>Action approval and analytical boundaries</a:t>
            </a:r>
          </a:p>
          <a:p>
            <a:r>
              <a:t>https://docs.aws.amazon.com/finops-agent/latest/userguide/agent-guardrail-control.html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Persistent agent data is distinct from the ephemeral session runtime, and deletion or stopping behavior depends on the object type.</a:t>
            </a:r>
          </a:p>
          <a:p/>
          <a:p>
            <a:r>
              <a:t>Resources: Context file; memory; conversation; task; automation; agent instance.</a:t>
            </a:r>
          </a:p>
          <a:p/>
          <a:p>
            <a:r>
              <a:t>Operations: Use the documented control for the intended object; review storage and inference location independently.</a:t>
            </a:r>
          </a:p>
          <a:p/>
          <a:p>
            <a:r>
              <a:t>Boundary: Deleting an automation stops future task creation, not every retained execution record. Storage location is not a complete statement of processing geography.</a:t>
            </a:r>
          </a:p>
          <a:p/>
          <a:p>
            <a:r>
              <a:t>Data protection and lifecycle</a:t>
            </a:r>
          </a:p>
          <a:p>
            <a:r>
              <a:t>https://docs.aws.amazon.com/finops-agent/latest/userguide/data-protection.html</a:t>
            </a:r>
          </a:p>
          <a:p/>
          <a:p>
            <a:r>
              <a:t>Cross-Region inference</a:t>
            </a:r>
          </a:p>
          <a:p>
            <a:r>
              <a:t>https://docs.aws.amazon.com/finops-agent/latest/userguide/cross-region-inference.html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request or task requires cost totals, recommendation data or evidence of operational changes.</a:t>
            </a:r>
          </a:p>
          <a:p/>
          <a:p>
            <a:r>
              <a:t>The service retrieves source data rather than modifying billing records. Optimization recommendations originate in Cost Optimization Hub and Compute Optimizer. The agent summarizes them; it does not generate the underlying optimization analysis.</a:t>
            </a:r>
          </a:p>
          <a:p/>
          <a:p>
            <a:r>
              <a:t>The authorized data sources and filters determine the available evidence. Removing cloudtrail:LookupEvents removes change-event evidence without necessarily preventing basic cost inquiry.</a:t>
            </a:r>
          </a:p>
          <a:p/>
          <a:p>
            <a:r>
              <a:t>Enablement: Configure the agent data role and separate operator role through the supported setup path. Activate the required upstream cost and recommendation services. Inspect the actual policy actions and data filters rather than relying on a role name.</a:t>
            </a:r>
          </a:p>
          <a:p/>
          <a:p>
            <a:r>
              <a:t>Reconcile numerical results and validate causal explanations separately. A temporal correlation with a deployment is not sufficient proof of the cost driver.</a:t>
            </a:r>
          </a:p>
          <a:p/>
          <a:p>
            <a:r>
              <a:t>Proposed verification: Proposed check: reproduce a reported total using identical dates, basis, granularity and filters. Independently verify recommendation provenance and any change evidence. Record unavailable sources rather than filling gaps with assumptions.</a:t>
            </a:r>
          </a:p>
          <a:p/>
          <a:p>
            <a:r>
              <a:t>IAM setup and dependent services</a:t>
            </a:r>
          </a:p>
          <a:p>
            <a:r>
              <a:t>https://docs.aws.amazon.com/finops-agent/latest/userguide/setting-up.html</a:t>
            </a:r>
          </a:p>
          <a:p/>
          <a:p>
            <a:r>
              <a:t>Action approval and analytical boundaries</a:t>
            </a:r>
          </a:p>
          <a:p>
            <a:r>
              <a:t>https://docs.aws.amazon.com/finops-agent/latest/userguide/agent-guardrail-control.html</a:t>
            </a:r>
          </a:p>
          <a:p/>
          <a:p>
            <a:r>
              <a:t>Custom cost reporting and artifacts</a:t>
            </a:r>
          </a:p>
          <a:p>
            <a:r>
              <a:t>https://docs.aws.amazon.com/finops-agent/latest/userguide/custom-cost-reporting.html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request or task requires cost totals, recommendation data or evidence of operational changes.</a:t>
            </a:r>
          </a:p>
          <a:p/>
          <a:p>
            <a:r>
              <a:t>The service retrieves source data rather than modifying billing records. Optimization recommendations originate in Cost Optimization Hub and Compute Optimizer. The agent summarizes them; it does not generate the underlying optimization analysis.</a:t>
            </a:r>
          </a:p>
          <a:p/>
          <a:p>
            <a:r>
              <a:t>The authorized data sources and filters determine the available evidence. Removing cloudtrail:LookupEvents removes change-event evidence without necessarily preventing basic cost inquiry.</a:t>
            </a:r>
          </a:p>
          <a:p/>
          <a:p>
            <a:r>
              <a:t>Enablement: Configure the agent data role and separate operator role through the supported setup path. Activate the required upstream cost and recommendation services. Inspect the actual policy actions and data filters rather than relying on a role name.</a:t>
            </a:r>
          </a:p>
          <a:p/>
          <a:p>
            <a:r>
              <a:t>Reconcile numerical results and validate causal explanations separately. A temporal correlation with a deployment is not sufficient proof of the cost driver.</a:t>
            </a:r>
          </a:p>
          <a:p/>
          <a:p>
            <a:r>
              <a:t>Proposed verification: Proposed check: reproduce a reported total using identical dates, basis, granularity and filters. Independently verify recommendation provenance and any change evidence. Record unavailable sources rather than filling gaps with assumptions.</a:t>
            </a:r>
          </a:p>
          <a:p/>
          <a:p>
            <a:r>
              <a:t>IAM setup and dependent services</a:t>
            </a:r>
          </a:p>
          <a:p>
            <a:r>
              <a:t>https://docs.aws.amazon.com/finops-agent/latest/userguide/setting-up.html</a:t>
            </a:r>
          </a:p>
          <a:p/>
          <a:p>
            <a:r>
              <a:t>Action approval and analytical boundaries</a:t>
            </a:r>
          </a:p>
          <a:p>
            <a:r>
              <a:t>https://docs.aws.amazon.com/finops-agent/latest/userguide/agent-guardrail-control.html</a:t>
            </a:r>
          </a:p>
          <a:p/>
          <a:p>
            <a:r>
              <a:t>Custom cost reporting and artifacts</a:t>
            </a:r>
          </a:p>
          <a:p>
            <a:r>
              <a:t>https://docs.aws.amazon.com/finops-agent/latest/userguide/custom-cost-reporting.html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session or task uses organizational context, or a conversation approaches its context limit.</a:t>
            </a:r>
          </a:p>
          <a:p/>
          <a:p>
            <a:r>
              <a:t>Uploaded context is operator-maintained; conversational preferences can be remembered, updated or forgotten. Older conversation content is summarized as the context budget fills. These are separate state mechanisms.</a:t>
            </a:r>
          </a:p>
          <a:p/>
          <a:p>
            <a:r>
              <a:t>Persistent files and memory are loaded into a session-isolated ephemeral runtime. Agent instances do not share this state.</a:t>
            </a:r>
          </a:p>
          <a:p/>
          <a:p>
            <a:r>
              <a:t>Enablement: Upload authoritative non-sensitive reference files through the Context files workspace. Use explicit remember, update or forget requests for conversational preferences. Test file retrieval and memory recall independently; restate critical constraints when evaluating compacted conversations.</a:t>
            </a:r>
          </a:p>
          <a:p/>
          <a:p>
            <a:r>
              <a:t>All users with agent access can see context files. Updating memory does not establish that an uploaded file or prior conversation was also changed.</a:t>
            </a:r>
          </a:p>
          <a:p/>
          <a:p>
            <a:r>
              <a:t>Proposed verification: Proposed check: establish a harmless preference, open a new conversation and examine its application. Correct or forget it and repeat. Use a different test for uploaded context so file retrieval is not mistaken for memory recall.</a:t>
            </a:r>
          </a:p>
          <a:p/>
          <a:p>
            <a:r>
              <a:t>Context files and memory</a:t>
            </a:r>
          </a:p>
          <a:p>
            <a:r>
              <a:t>https://docs.aws.amazon.com/finops-agent/latest/userguide/context-files-and-memory.html</a:t>
            </a:r>
          </a:p>
          <a:p/>
          <a:p>
            <a:r>
              <a:t>Data protection and lifecycle</a:t>
            </a:r>
          </a:p>
          <a:p>
            <a:r>
              <a:t>https://docs.aws.amazon.com/finops-agent/latest/userguide/data-protection.html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session or task uses organizational context, or a conversation approaches its context limit.</a:t>
            </a:r>
          </a:p>
          <a:p/>
          <a:p>
            <a:r>
              <a:t>Uploaded context is operator-maintained; conversational preferences can be remembered, updated or forgotten. Older conversation content is summarized as the context budget fills. These are separate state mechanisms.</a:t>
            </a:r>
          </a:p>
          <a:p/>
          <a:p>
            <a:r>
              <a:t>Persistent files and memory are loaded into a session-isolated ephemeral runtime. Agent instances do not share this state.</a:t>
            </a:r>
          </a:p>
          <a:p/>
          <a:p>
            <a:r>
              <a:t>Enablement: Upload authoritative non-sensitive reference files through the Context files workspace. Use explicit remember, update or forget requests for conversational preferences. Test file retrieval and memory recall independently; restate critical constraints when evaluating compacted conversations.</a:t>
            </a:r>
          </a:p>
          <a:p/>
          <a:p>
            <a:r>
              <a:t>All users with agent access can see context files. Updating memory does not establish that an uploaded file or prior conversation was also changed.</a:t>
            </a:r>
          </a:p>
          <a:p/>
          <a:p>
            <a:r>
              <a:t>Proposed verification: Proposed check: establish a harmless preference, open a new conversation and examine its application. Correct or forget it and repeat. Use a different test for uploaded context so file retrieval is not mistaken for memory recall.</a:t>
            </a:r>
          </a:p>
          <a:p/>
          <a:p>
            <a:r>
              <a:t>Context files and memory</a:t>
            </a:r>
          </a:p>
          <a:p>
            <a:r>
              <a:t>https://docs.aws.amazon.com/finops-agent/latest/userguide/context-files-and-memory.html</a:t>
            </a:r>
          </a:p>
          <a:p/>
          <a:p>
            <a:r>
              <a:t>Data protection and lifecycle</a:t>
            </a:r>
          </a:p>
          <a:p>
            <a:r>
              <a:t>https://docs.aws.amazon.com/finops-agent/latest/userguide/data-protection.html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configured anomaly event or schedule matches an automation.</a:t>
            </a:r>
          </a:p>
          <a:p/>
          <a:p>
            <a:r>
              <a:t>The documented anomaly path connects Cost Anomaly Detection, managed EventBridge rules and task creation. On-demand, scheduled and event-based work shares the task queue.</a:t>
            </a:r>
          </a:p>
          <a:p/>
          <a:p>
            <a:r>
              <a:t>An automation defines future invocation; each created task has its own execution history. The documented preview event source is Cost Anomaly Detection.</a:t>
            </a:r>
          </a:p>
          <a:p/>
          <a:p>
            <a:r>
              <a:t>Enablement: Configure the anomaly monitor and the agent permissions needed to manage the service's EventBridge rules. Connect the intended destination and define explicit monitor or threshold conditions. Inspect the resulting automation and rule; a conversational acknowledgement alone is not proof of registration.</a:t>
            </a:r>
          </a:p>
          <a:p/>
          <a:p>
            <a:r>
              <a:t>IAM ownership and account conditions constrain rule management. Destination publishing may be pre-authorized when the automation is configured.</a:t>
            </a:r>
          </a:p>
          <a:p/>
          <a:p>
            <a:r>
              <a:t>Proposed verification: Proposed check: trace an authorized test event through rule match, task creation, execution and destination result. Remove or disable the automation and verify that future tasks stop; examine existing tasks separately.</a:t>
            </a:r>
          </a:p>
          <a:p/>
          <a:p>
            <a:r>
              <a:t>IAM setup and dependent services</a:t>
            </a:r>
          </a:p>
          <a:p>
            <a:r>
              <a:t>https://docs.aws.amazon.com/finops-agent/latest/userguide/setting-up.html</a:t>
            </a:r>
          </a:p>
          <a:p/>
          <a:p>
            <a:r>
              <a:t>Task management</a:t>
            </a:r>
          </a:p>
          <a:p>
            <a:r>
              <a:t>https://docs.aws.amazon.com/finops-agent/latest/userguide/task-management.html</a:t>
            </a:r>
          </a:p>
          <a:p/>
          <a:p>
            <a:r>
              <a:t>Event-based anomaly response</a:t>
            </a:r>
          </a:p>
          <a:p>
            <a:r>
              <a:t>https://docs.aws.amazon.com/finops-agent/latest/userguide/automated-anomaly-response.html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configured anomaly event or schedule matches an automation.</a:t>
            </a:r>
          </a:p>
          <a:p/>
          <a:p>
            <a:r>
              <a:t>The documented anomaly path connects Cost Anomaly Detection, managed EventBridge rules and task creation. On-demand, scheduled and event-based work shares the task queue.</a:t>
            </a:r>
          </a:p>
          <a:p/>
          <a:p>
            <a:r>
              <a:t>An automation defines future invocation; each created task has its own execution history. The documented preview event source is Cost Anomaly Detection.</a:t>
            </a:r>
          </a:p>
          <a:p/>
          <a:p>
            <a:r>
              <a:t>Enablement: Configure the anomaly monitor and the agent permissions needed to manage the service's EventBridge rules. Connect the intended destination and define explicit monitor or threshold conditions. Inspect the resulting automation and rule; a conversational acknowledgement alone is not proof of registration.</a:t>
            </a:r>
          </a:p>
          <a:p/>
          <a:p>
            <a:r>
              <a:t>IAM ownership and account conditions constrain rule management. Destination publishing may be pre-authorized when the automation is configured.</a:t>
            </a:r>
          </a:p>
          <a:p/>
          <a:p>
            <a:r>
              <a:t>Proposed verification: Proposed check: trace an authorized test event through rule match, task creation, execution and destination result. Remove or disable the automation and verify that future tasks stop; examine existing tasks separately.</a:t>
            </a:r>
          </a:p>
          <a:p/>
          <a:p>
            <a:r>
              <a:t>IAM setup and dependent services</a:t>
            </a:r>
          </a:p>
          <a:p>
            <a:r>
              <a:t>https://docs.aws.amazon.com/finops-agent/latest/userguide/setting-up.html</a:t>
            </a:r>
          </a:p>
          <a:p/>
          <a:p>
            <a:r>
              <a:t>Task management</a:t>
            </a:r>
          </a:p>
          <a:p>
            <a:r>
              <a:t>https://docs.aws.amazon.com/finops-agent/latest/userguide/task-management.html</a:t>
            </a:r>
          </a:p>
          <a:p/>
          <a:p>
            <a:r>
              <a:t>Event-based anomaly response</a:t>
            </a:r>
          </a:p>
          <a:p>
            <a:r>
              <a:t>https://docs.aws.amazon.com/finops-agent/latest/userguide/automated-anomaly-response.html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creates a Jira issue, adds a Jira comment or posts a Slack message.</a:t>
            </a:r>
          </a:p>
          <a:p/>
          <a:p>
            <a:r>
              <a:t>Interactive and on-demand Jira issue/comment actions require approval. Scheduled or event-based Jira actions are pre-authorized when the automation is configured. Slack posting does not require an approval prompt, including interactive posting.</a:t>
            </a:r>
          </a:p>
          <a:p/>
          <a:p>
            <a:r>
              <a:t>Task history records results. Automation setup is an authorization decision, not just a timing preference.</a:t>
            </a:r>
          </a:p>
          <a:p/>
          <a:p>
            <a:r>
              <a:t>Enablement: Connect only intended Jira projects and Slack destinations. Inspect the content and destination for interactive Jira approvals. For automations, review publishing instructions before enabling recurring or event-based execution.</a:t>
            </a:r>
          </a:p>
          <a:p/>
          <a:p>
            <a:r>
              <a:t>Do not describe the service as approval-gated for all external writes. Prevent sensitive context from being placed into automatically published messages.</a:t>
            </a:r>
          </a:p>
          <a:p/>
          <a:p>
            <a:r>
              <a:t>Proposed verification: Proposed check: in designated test destinations, inspect an interactive Jira approval, a pre-authorized automation result and a Slack post. Confirm the actual destination and record whether an approval prompt occurred.</a:t>
            </a:r>
          </a:p>
          <a:p/>
          <a:p>
            <a:r>
              <a:t>Action approval and analytical boundaries</a:t>
            </a:r>
          </a:p>
          <a:p>
            <a:r>
              <a:t>https://docs.aws.amazon.com/finops-agent/latest/userguide/agent-guardrail-control.html</a:t>
            </a:r>
          </a:p>
          <a:p/>
          <a:p>
            <a:r>
              <a:t>Task management</a:t>
            </a:r>
          </a:p>
          <a:p>
            <a:r>
              <a:t>https://docs.aws.amazon.com/finops-agent/latest/userguide/task-management.html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creates a Jira issue, adds a Jira comment or posts a Slack message.</a:t>
            </a:r>
          </a:p>
          <a:p/>
          <a:p>
            <a:r>
              <a:t>Interactive and on-demand Jira issue/comment actions require approval. Scheduled or event-based Jira actions are pre-authorized when the automation is configured. Slack posting does not require an approval prompt, including interactive posting.</a:t>
            </a:r>
          </a:p>
          <a:p/>
          <a:p>
            <a:r>
              <a:t>Task history records results. Automation setup is an authorization decision, not just a timing preference.</a:t>
            </a:r>
          </a:p>
          <a:p/>
          <a:p>
            <a:r>
              <a:t>Enablement: Connect only intended Jira projects and Slack destinations. Inspect the content and destination for interactive Jira approvals. For automations, review publishing instructions before enabling recurring or event-based execution.</a:t>
            </a:r>
          </a:p>
          <a:p/>
          <a:p>
            <a:r>
              <a:t>Do not describe the service as approval-gated for all external writes. Prevent sensitive context from being placed into automatically published messages.</a:t>
            </a:r>
          </a:p>
          <a:p/>
          <a:p>
            <a:r>
              <a:t>Proposed verification: Proposed check: in designated test destinations, inspect an interactive Jira approval, a pre-authorized automation result and a Slack post. Confirm the actual destination and record whether an approval prompt occurred.</a:t>
            </a:r>
          </a:p>
          <a:p/>
          <a:p>
            <a:r>
              <a:t>Action approval and analytical boundaries</a:t>
            </a:r>
          </a:p>
          <a:p>
            <a:r>
              <a:t>https://docs.aws.amazon.com/finops-agent/latest/userguide/agent-guardrail-control.html</a:t>
            </a:r>
          </a:p>
          <a:p/>
          <a:p>
            <a:r>
              <a:t>Task management</a:t>
            </a:r>
          </a:p>
          <a:p>
            <a:r>
              <a:t>https://docs.aws.amazon.com/finops-agent/latest/userguide/task-management.html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operator changes or removes retained context, an automation or the agent instance.</a:t>
            </a:r>
          </a:p>
          <a:p/>
          <a:p>
            <a:r>
              <a:t>Context-file deletion is reversible soft deletion. Forget requests change memory. Deleting an automation stops future task creation. In the reviewed preview guidance, individual conversations and task records remain until agent deletion rather than supporting individual deletion.</a:t>
            </a:r>
          </a:p>
          <a:p/>
          <a:p>
            <a:r>
              <a:t>The preview stores agent data in us-east-1; Bedrock inference may run in other US Regions. Persistent storage and ephemeral session execution are different layers.</a:t>
            </a:r>
          </a:p>
          <a:p/>
          <a:p>
            <a:r>
              <a:t>Enablement: Identify whether the intended target is a file, memory, conversation, task, automation or whole instance. Use the documented workspace or lifecycle control for that object. Review the current storage and cross-Region inference guidance before making a data-location assertion.</a:t>
            </a:r>
          </a:p>
          <a:p/>
          <a:p>
            <a:r>
              <a:t>Soft deletion is not physical erasure. Stopping future automation is not equivalent to removing existing records or already published external artifacts.</a:t>
            </a:r>
          </a:p>
          <a:p/>
          <a:p>
            <a:r>
              <a:t>Proposed verification: Proposed check: use non-sensitive test data to distinguish inactive, restored, forgotten and retained records. Do not delete a real agent merely to demonstrate lifecycle behavior.</a:t>
            </a:r>
          </a:p>
          <a:p/>
          <a:p>
            <a:r>
              <a:t>Data protection and lifecycle</a:t>
            </a:r>
          </a:p>
          <a:p>
            <a:r>
              <a:t>https://docs.aws.amazon.com/finops-agent/latest/userguide/data-protection.html</a:t>
            </a:r>
          </a:p>
          <a:p/>
          <a:p>
            <a:r>
              <a:t>Cross-Region inference</a:t>
            </a:r>
          </a:p>
          <a:p>
            <a:r>
              <a:t>https://docs.aws.amazon.com/finops-agent/latest/userguide/cross-region-inference.html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operator changes or removes retained context, an automation or the agent instance.</a:t>
            </a:r>
          </a:p>
          <a:p/>
          <a:p>
            <a:r>
              <a:t>Context-file deletion is reversible soft deletion. Forget requests change memory. Deleting an automation stops future task creation. In the reviewed preview guidance, individual conversations and task records remain until agent deletion rather than supporting individual deletion.</a:t>
            </a:r>
          </a:p>
          <a:p/>
          <a:p>
            <a:r>
              <a:t>The preview stores agent data in us-east-1; Bedrock inference may run in other US Regions. Persistent storage and ephemeral session execution are different layers.</a:t>
            </a:r>
          </a:p>
          <a:p/>
          <a:p>
            <a:r>
              <a:t>Enablement: Identify whether the intended target is a file, memory, conversation, task, automation or whole instance. Use the documented workspace or lifecycle control for that object. Review the current storage and cross-Region inference guidance before making a data-location assertion.</a:t>
            </a:r>
          </a:p>
          <a:p/>
          <a:p>
            <a:r>
              <a:t>Soft deletion is not physical erasure. Stopping future automation is not equivalent to removing existing records or already published external artifacts.</a:t>
            </a:r>
          </a:p>
          <a:p/>
          <a:p>
            <a:r>
              <a:t>Proposed verification: Proposed check: use non-sensitive test data to distinguish inactive, restored, forgotten and retained records. Do not delete a real agent merely to demonstrate lifecycle behavior.</a:t>
            </a:r>
          </a:p>
          <a:p/>
          <a:p>
            <a:r>
              <a:t>Data protection and lifecycle</a:t>
            </a:r>
          </a:p>
          <a:p>
            <a:r>
              <a:t>https://docs.aws.amazon.com/finops-agent/latest/userguide/data-protection.html</a:t>
            </a:r>
          </a:p>
          <a:p/>
          <a:p>
            <a:r>
              <a:t>Cross-Region inference</a:t>
            </a:r>
          </a:p>
          <a:p>
            <a:r>
              <a:t>https://docs.aws.amazon.com/finops-agent/latest/userguide/cross-region-inference.html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prepared-result exercise; test data and test destinations only</a:t>
            </a:r>
          </a:p>
          <a:p>
            <a:r>
              <a:t>Separate source-data accuracy, retained context, event execution and publishing authority. No measured savings or proven causality is inferred.</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F01 Service scope</a:t>
            </a:r>
          </a:p>
          <a:p>
            <a:r>
              <a:t>https://docs.aws.amazon.com/finops-agent/latest/userguide/what-is.html</a:t>
            </a:r>
          </a:p>
          <a:p>
            <a:r>
              <a:t>F02 Creating an agent</a:t>
            </a:r>
          </a:p>
          <a:p>
            <a:r>
              <a:t>https://docs.aws.amazon.com/finops-agent/latest/userguide/creating-an-agent.html</a:t>
            </a:r>
          </a:p>
          <a:p>
            <a:r>
              <a:t>F03 IAM setup and dependent services</a:t>
            </a:r>
          </a:p>
          <a:p>
            <a:r>
              <a:t>https://docs.aws.amazon.com/finops-agent/latest/userguide/setting-up.html</a:t>
            </a:r>
          </a:p>
          <a:p>
            <a:r>
              <a:t>F04 Context files and memory</a:t>
            </a:r>
          </a:p>
          <a:p>
            <a:r>
              <a:t>https://docs.aws.amazon.com/finops-agent/latest/userguide/context-files-and-memory.html</a:t>
            </a:r>
          </a:p>
          <a:p>
            <a:r>
              <a:t>F05 Task management</a:t>
            </a:r>
          </a:p>
          <a:p>
            <a:r>
              <a:t>https://docs.aws.amazon.com/finops-agent/latest/userguide/task-management.html</a:t>
            </a:r>
          </a:p>
          <a:p>
            <a:r>
              <a:t>F06 Action approval and analytical boundaries</a:t>
            </a:r>
          </a:p>
          <a:p>
            <a:r>
              <a:t>https://docs.aws.amazon.com/finops-agent/latest/userguide/agent-guardrail-control.html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F07 Custom cost reporting and artifacts</a:t>
            </a:r>
          </a:p>
          <a:p>
            <a:r>
              <a:t>https://docs.aws.amazon.com/finops-agent/latest/userguide/custom-cost-reporting.html</a:t>
            </a:r>
          </a:p>
          <a:p>
            <a:r>
              <a:t>F08 Data protection and lifecycle</a:t>
            </a:r>
          </a:p>
          <a:p>
            <a:r>
              <a:t>https://docs.aws.amazon.com/finops-agent/latest/userguide/data-protection.html</a:t>
            </a:r>
          </a:p>
          <a:p>
            <a:r>
              <a:t>F09 Event-based anomaly response</a:t>
            </a:r>
          </a:p>
          <a:p>
            <a:r>
              <a:t>https://docs.aws.amazon.com/finops-agent/latest/userguide/automated-anomaly-response.html</a:t>
            </a:r>
          </a:p>
          <a:p>
            <a:r>
              <a:t>F10 Cross-Region inference</a:t>
            </a:r>
          </a:p>
          <a:p>
            <a:r>
              <a:t>https://docs.aws.amazon.com/finops-agent/latest/userguide/cross-region-inference.html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docs.aws.amazon.com/finops-agent/latest/userguide/what-is.html" TargetMode="External"/><Relationship Id="rId4" Type="http://schemas.openxmlformats.org/officeDocument/2006/relationships/hyperlink" Target="https://docs.aws.amazon.com/finops-agent/latest/userguide/creating-an-agent.html" TargetMode="External"/><Relationship Id="rId5" Type="http://schemas.openxmlformats.org/officeDocument/2006/relationships/hyperlink" Target="https://docs.aws.amazon.com/finops-agent/latest/userguide/setting-up.html" TargetMode="External"/><Relationship Id="rId6" Type="http://schemas.openxmlformats.org/officeDocument/2006/relationships/hyperlink" Target="https://docs.aws.amazon.com/finops-agent/latest/userguide/context-files-and-memory.html" TargetMode="External"/><Relationship Id="rId7" Type="http://schemas.openxmlformats.org/officeDocument/2006/relationships/hyperlink" Target="https://docs.aws.amazon.com/finops-agent/latest/userguide/task-management.html" TargetMode="External"/><Relationship Id="rId8" Type="http://schemas.openxmlformats.org/officeDocument/2006/relationships/hyperlink" Target="https://docs.aws.amazon.com/finops-agent/latest/userguide/agent-guardrail-control.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docs.aws.amazon.com/finops-agent/latest/userguide/custom-cost-reporting.html" TargetMode="External"/><Relationship Id="rId4" Type="http://schemas.openxmlformats.org/officeDocument/2006/relationships/hyperlink" Target="https://docs.aws.amazon.com/finops-agent/latest/userguide/data-protection.html" TargetMode="External"/><Relationship Id="rId5" Type="http://schemas.openxmlformats.org/officeDocument/2006/relationships/hyperlink" Target="https://docs.aws.amazon.com/finops-agent/latest/userguide/automated-anomaly-response.html" TargetMode="External"/><Relationship Id="rId6" Type="http://schemas.openxmlformats.org/officeDocument/2006/relationships/hyperlink" Target="https://docs.aws.amazon.com/finops-agent/latest/userguide/cross-region-inference.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Capabilities, operations and mechanisms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Reference deck — untimed; optional exercise has a separate budget</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a:t>
            </a:r>
          </a:p>
        </p:txBody>
      </p:sp>
      <p:sp>
        <p:nvSpPr>
          <p:cNvPr id="6" name="TextBox 5"/>
          <p:cNvSpPr txBox="1"/>
          <p:nvPr/>
        </p:nvSpPr>
        <p:spPr>
          <a:xfrm>
            <a:off x="548640" y="1828800"/>
            <a:ext cx="10881360" cy="914400"/>
          </a:xfrm>
          <a:prstGeom prst="rect">
            <a:avLst/>
          </a:prstGeom>
          <a:noFill/>
        </p:spPr>
        <p:txBody>
          <a:bodyPr wrap="square" lIns="0" rIns="0" tIns="0" bIns="0">
            <a:spAutoFit/>
          </a:bodyPr>
          <a:lstStyle/>
          <a:p>
            <a:pPr>
              <a:spcAft>
                <a:spcPts val="500"/>
              </a:spcAft>
              <a:defRPr sz="1900" b="0">
                <a:solidFill>
                  <a:srgbClr val="172C43"/>
                </a:solidFill>
                <a:latin typeface="Aptos"/>
              </a:defRPr>
            </a:pPr>
            <a:r>
              <a:t>Agent-instance configuration, authorized data retrieval, persistent context, task orchestration, artifacts and external publication. Cost-anomaly investigation is an application of these abilities.</a:t>
            </a:r>
          </a:p>
        </p:txBody>
      </p:sp>
      <p:sp>
        <p:nvSpPr>
          <p:cNvPr id="7" name="TextBox 6"/>
          <p:cNvSpPr txBox="1"/>
          <p:nvPr/>
        </p:nvSpPr>
        <p:spPr>
          <a:xfrm>
            <a:off x="548640" y="3017520"/>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Platform capability</a:t>
            </a:r>
          </a:p>
        </p:txBody>
      </p:sp>
      <p:sp>
        <p:nvSpPr>
          <p:cNvPr id="8" name="TextBox 7"/>
          <p:cNvSpPr txBox="1"/>
          <p:nvPr/>
        </p:nvSpPr>
        <p:spPr>
          <a:xfrm>
            <a:off x="2880360" y="3017520"/>
            <a:ext cx="82296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t>A reusable ability exposed by the platform.</a:t>
            </a:r>
          </a:p>
        </p:txBody>
      </p:sp>
      <p:sp>
        <p:nvSpPr>
          <p:cNvPr id="9" name="TextBox 8"/>
          <p:cNvSpPr txBox="1"/>
          <p:nvPr/>
        </p:nvSpPr>
        <p:spPr>
          <a:xfrm>
            <a:off x="548640" y="3639312"/>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Operation</a:t>
            </a:r>
          </a:p>
        </p:txBody>
      </p:sp>
      <p:sp>
        <p:nvSpPr>
          <p:cNvPr id="10" name="TextBox 9"/>
          <p:cNvSpPr txBox="1"/>
          <p:nvPr/>
        </p:nvSpPr>
        <p:spPr>
          <a:xfrm>
            <a:off x="2880360" y="3639312"/>
            <a:ext cx="82296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t>An action on a platform resource or configuration object.</a:t>
            </a:r>
          </a:p>
        </p:txBody>
      </p:sp>
      <p:sp>
        <p:nvSpPr>
          <p:cNvPr id="11" name="TextBox 10"/>
          <p:cNvSpPr txBox="1"/>
          <p:nvPr/>
        </p:nvSpPr>
        <p:spPr>
          <a:xfrm>
            <a:off x="548640" y="4261104"/>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Mechanism</a:t>
            </a:r>
          </a:p>
        </p:txBody>
      </p:sp>
      <p:sp>
        <p:nvSpPr>
          <p:cNvPr id="12" name="TextBox 11"/>
          <p:cNvSpPr txBox="1"/>
          <p:nvPr/>
        </p:nvSpPr>
        <p:spPr>
          <a:xfrm>
            <a:off x="2880360" y="4261104"/>
            <a:ext cx="8229600" cy="457200"/>
          </a:xfrm>
          <a:prstGeom prst="rect">
            <a:avLst/>
          </a:prstGeom>
          <a:noFill/>
        </p:spPr>
        <p:txBody>
          <a:bodyPr wrap="square" lIns="0" rIns="0" tIns="0" bIns="0">
            <a:spAutoFit/>
          </a:bodyPr>
          <a:lstStyle/>
          <a:p>
            <a:pPr>
              <a:spcAft>
                <a:spcPts val="500"/>
              </a:spcAft>
              <a:defRPr sz="1400" b="0">
                <a:solidFill>
                  <a:srgbClr val="172C43"/>
                </a:solidFill>
                <a:latin typeface="Aptos"/>
              </a:defRPr>
            </a:pPr>
            <a:r>
              <a:t>The documented process connecting inputs, state, execution and outputs.</a:t>
            </a:r>
          </a:p>
        </p:txBody>
      </p:sp>
      <p:sp>
        <p:nvSpPr>
          <p:cNvPr id="13" name="TextBox 12"/>
          <p:cNvSpPr txBox="1"/>
          <p:nvPr/>
        </p:nvSpPr>
        <p:spPr>
          <a:xfrm>
            <a:off x="548640" y="4882896"/>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Use case</a:t>
            </a:r>
          </a:p>
        </p:txBody>
      </p:sp>
      <p:sp>
        <p:nvSpPr>
          <p:cNvPr id="14" name="TextBox 13"/>
          <p:cNvSpPr txBox="1"/>
          <p:nvPr/>
        </p:nvSpPr>
        <p:spPr>
          <a:xfrm>
            <a:off x="2880360" y="4882896"/>
            <a:ext cx="82296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t>An engineering problem that combines capabilities and mechanisms.</a:t>
            </a:r>
          </a:p>
        </p:txBody>
      </p:sp>
      <p:sp>
        <p:nvSpPr>
          <p:cNvPr id="15" name="TextBox 14"/>
          <p:cNvSpPr txBox="1"/>
          <p:nvPr/>
        </p:nvSpPr>
        <p:spPr>
          <a:xfrm>
            <a:off x="548640" y="5623560"/>
            <a:ext cx="10972800" cy="548640"/>
          </a:xfrm>
          <a:prstGeom prst="rect">
            <a:avLst/>
          </a:prstGeom>
          <a:noFill/>
        </p:spPr>
        <p:txBody>
          <a:bodyPr wrap="square" lIns="0" rIns="0" tIns="0" bIns="0">
            <a:spAutoFit/>
          </a:bodyPr>
          <a:lstStyle/>
          <a:p>
            <a:pPr>
              <a:spcAft>
                <a:spcPts val="500"/>
              </a:spcAft>
              <a:defRPr sz="1400" b="0">
                <a:solidFill>
                  <a:srgbClr val="172C43"/>
                </a:solidFill>
                <a:latin typeface="Aptos"/>
              </a:defRPr>
            </a:pPr>
            <a:r>
              <a:t>AWS FinOps Agent is documented as preview. Confirm current eligibility, service dependencies and data-processing boundaries before enabling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Agent-instance isolation and role separation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F-C01 · Instance and data access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Each agent instance has its own permissions, memory, files, task queue and integrations. Data access and operator access are separately configured.</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Agent instance; agent role; operator role.</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Create an instance; configure the data and operator roles; associate required integrations.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Separate instances do not imply a shared organization-wide memory. Access to the agent can expose its shared context to its users.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Authorized source-data retrieval</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F-C02 · Instance and data access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3</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The agent queries authorized AWS services for cost data, recommendations and operational-change evidence.</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Agent role; Cost Explorer data; recommendation sources; CloudTrail access.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Activate dependencies; grant required API actions; inspect data-source provenance and query filters.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Removing a source permission can remove a particular analytical input without disabling all cost inquiry. Retrieved recommendations are not an independent optimization calculation.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Organization-specific reference context</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F-C03 · Context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4</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Uploaded files provide account mappings, instructions and reporting conventions that the agent can read during work.</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Context file; active or soft-deleted state; workspace visibility.</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Upload, delete or restore files through the Context files workspace.</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The agent cannot modify or delete uploaded context files through conversation. Files are visible to users who can access that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Persistent preferences and corrections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F-C04 · Context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5</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Conversational memory retains preferences, ownership details, corrections and previous task outcomes for subsequent sessions.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Agent-instance memory.</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Ask the agent to remember, update or forget a non-sensitive fact or preference.</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Conversational memory is different from the source files containing similar facts. Do not assume that editing one automatically synchronizes the other.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Bounded conversation-context management</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F-C05 · Context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6</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As the context limit approaches, older conversation portions are summarized while recent messages remain in full.</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Conversation context; older-message summary; recent messages.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Inspect retained decisions and restate critical constraints when needed.</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Compaction is not verbatim recall or a guarantee that every detail survives. It is separate from cross-session memory.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Task queue and automation execution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F-C06 · Execution, outputs and lifecycle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7</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On-demand, scheduled and event-based tasks run through a shared queue; automations create tasks when their conditions match.</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Task; automation; schedule; supported event rule; task history.</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1700" b="0">
                <a:solidFill>
                  <a:srgbClr val="172C43"/>
                </a:solidFill>
                <a:latin typeface="Aptos"/>
              </a:defRPr>
            </a:pPr>
            <a:r>
              <a:t>Create an on-demand task or automation; inspect queued and completed work; stop future creation by removing the automation.</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The reviewed preview documents Cost Anomaly Detection events, not an arbitrary general event-processing framework. Existing tasks have a separate lifecycle.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Destination-specific external publication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F-C07 · Execution, outputs and lifecycle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8</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Configured Jira and Slack integrations support publishing actions with different approval rules by action and invocation path.</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Destination integration; issue or comment action; channel post; approval and task history.</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Review interactive Jira actions; configure automation destinations; inspect resulting external artifacts.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There is no universal approval prompt for every write. Slack posts and pre-authorized automated Jira work differ from interactive Jira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Report artifact generation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F-C08 · Execution, outputs and lifecycle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9</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The service generates report artifacts in documented formats, including HTML, PDF and editable PowerPoint, and supports subsequent revision requests.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Report artifact; source data; report instructions.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Request a report, inspect its source breakdowns and revise presentation requirements.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A generated chart or narrative must be reconciled to source data. Formatting quality does not establish numerical or causal accuracy.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Object-specific data lifecycle</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F-C09 · Execution, outputs and lifecycle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10</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Persistent agent data is distinct from the ephemeral session runtime, and deletion or stopping behavior depends on the object type.</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Context file; memory; conversation; task; automation; agent instance.</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Use the documented control for the intended object; review storage and inference location independently.</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Deleting an automation stops future task creation, not every retained execution record. Storage location is not a complete statement of processing geography.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Source-backed analysis and permission dependencies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F-M01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11</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Agent role and query scope</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Underlying AWS API results</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Contextual interpretation</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Reviewable answer or artifact</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service retrieves source data rather than modifying billing records. Optimization recommendations originate in Cost Optimization Hub and Compute Optimizer. The agent summarizes them; it does not generate the underlying optimization analysis.</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authorized data sources and filters determine the available evidence. Removing cloudtrail:LookupEvents removes change-event evidence without necessarily preventing basic cost inquiry.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Source-backed analysis and permission dependencies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F-M01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12</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Configure the agent data role and separate operator role through the supported setup path.</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Activate the required upstream cost and recommendation services.</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Inspect the actual policy actions and data filters rather than relying on a role name.</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Reconcile numerical results and validate causal explanations separately. A temporal correlation with a deployment is not sufficient proof of the cost driver.</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reproduce a reported total using identical dates, basis, granularity and filters. Independently verify recommendation provenance and any change evidence. Record unavailable sources rather than filling gaps with assumptions.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Reference files, conversational memory and compaction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F-M02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13</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Uploaded files or stated preferences</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Persistent instance context</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Session runtime loading</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Answer or compacted conversation</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Uploaded context is operator-maintained; conversational preferences can be remembered, updated or forgotten. Older conversation content is summarized as the context budget fills. These are separate state mechanisms.</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Persistent files and memory are loaded into a session-isolated ephemeral runtime. Agent instances do not share this state.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Reference files, conversational memory and compaction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F-M02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14</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Upload authoritative non-sensitive reference files through the Context files workspace.</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Use explicit remember, update or forget requests for conversational preferences.</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500" b="0">
                <a:solidFill>
                  <a:srgbClr val="172C43"/>
                </a:solidFill>
                <a:latin typeface="Aptos"/>
              </a:defRPr>
            </a:pPr>
            <a:r>
              <a:t>Test file retrieval and memory recall independently; restate critical constraints when evaluating compacted conversations.</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All users with agent access can see context files. Updating memory does not establish that an uploaded file or prior conversation was also changed.</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establish a harmless preference, open a new conversation and examine its application. Correct or forget it and repeat. Use a different test for uploaded context so file retrieval is not mistaken for memory recall.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Event matching and queued execution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F-M03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15</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Monitor event or schedule</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Managed rule and automation match</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Queued task</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Recorded execution result</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documented anomaly path connects Cost Anomaly Detection, managed EventBridge rules and task creation. On-demand, scheduled and event-based work shares the task queue.</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An automation defines future invocation; each created task has its own execution history. The documented preview event source is Cost Anomaly Detection.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Event matching and queued execution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F-M03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16</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Configure the anomaly monitor and the agent permissions needed to manage the service's EventBridge rules.</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Connect the intended destination and define explicit monitor or threshold conditions.</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Inspect the resulting automation and rule; a conversational acknowledgement alone is not proof of registration.</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IAM ownership and account conditions constrain rule management. Destination publishing may be pre-authorized when the automation is configured.</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trace an authorized test event through rule match, task creation, execution and destination result. Remove or disable the automation and verify that future tasks stop; examine existing tasks separately.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Action- and invocation-specific publication approval</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F-M04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17</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Configured destination</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Action and invocation type</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Applicable approval rule</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External artifact and history</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Interactive and on-demand Jira issue/comment actions require approval. Scheduled or event-based Jira actions are pre-authorized when the automation is configured. Slack posting does not require an approval prompt, including interactive posting.</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Task history records results. Automation setup is an authorization decision, not just a timing preference.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Action- and invocation-specific publication approval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F-M04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18</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Connect only intended Jira projects and Slack destinations.</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Inspect the content and destination for interactive Jira approvals.</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For automations, review publishing instructions before enabling recurring or event-based execution.</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Do not describe the service as approval-gated for all external writes. Prevent sensitive context from being placed into automatically published messages.</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in designated test destinations, inspect an interactive Jira approval, a pre-authorized automation result and a Slack post. Confirm the actual destination and record whether an approval prompt occurred.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Data lifecycle and processing boundaries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F-M05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19</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Identify the object</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Apply its supported control</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Check retained versus inactive data</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Confirm processing boundary</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700" b="0">
                <a:solidFill>
                  <a:srgbClr val="172C43"/>
                </a:solidFill>
                <a:latin typeface="Aptos"/>
              </a:defRPr>
            </a:pPr>
            <a:r>
              <a:t>Context-file deletion is reversible soft deletion. Forget requests change memory. Deleting an automation stops future task creation. In the reviewed preview guidance, individual conversations and task records remain until agent deletion rather than supporting individual deletion.</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preview stores agent data in us-east-1; Bedrock inference may run in other US Regions. Persistent storage and ephemeral session execution are different layers.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Data lifecycle and processing boundaries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F-M05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20</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Identify whether the intended target is a file, memory, conversation, task, automation or whole instance.</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Use the documented workspace or lifecycle control for that object.</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Review the current storage and cross-Region inference guidance before making a data-location assertion.</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Soft deletion is not physical erasure. Stopping future automation is not equivalent to removing existing records or already published external artifacts.</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use non-sensitive test data to distinguish inactive, restored, forgotten and retained records. Do not delete a real agent merely to demonstrate lifecycle behavior.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Verify context, event execution and publication separately</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8 minute optional exercise; not part of a measured runtime</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21</a:t>
            </a:r>
          </a:p>
        </p:txBody>
      </p:sp>
      <p:sp>
        <p:nvSpPr>
          <p:cNvPr id="6" name="TextBox 5"/>
          <p:cNvSpPr txBox="1"/>
          <p:nvPr/>
        </p:nvSpPr>
        <p:spPr>
          <a:xfrm>
            <a:off x="548640" y="1828800"/>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7" name="TextBox 6"/>
          <p:cNvSpPr txBox="1"/>
          <p:nvPr/>
        </p:nvSpPr>
        <p:spPr>
          <a:xfrm>
            <a:off x="1737360" y="1828800"/>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Inspect the agent data role and source-query scope.</a:t>
            </a:r>
          </a:p>
        </p:txBody>
      </p:sp>
      <p:sp>
        <p:nvSpPr>
          <p:cNvPr id="8" name="TextBox 7"/>
          <p:cNvSpPr txBox="1"/>
          <p:nvPr/>
        </p:nvSpPr>
        <p:spPr>
          <a:xfrm>
            <a:off x="548640" y="2587752"/>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9" name="TextBox 8"/>
          <p:cNvSpPr txBox="1"/>
          <p:nvPr/>
        </p:nvSpPr>
        <p:spPr>
          <a:xfrm>
            <a:off x="1737360" y="2587752"/>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Compare a test memory preference with an uploaded reference file.</a:t>
            </a:r>
          </a:p>
        </p:txBody>
      </p:sp>
      <p:sp>
        <p:nvSpPr>
          <p:cNvPr id="10" name="TextBox 9"/>
          <p:cNvSpPr txBox="1"/>
          <p:nvPr/>
        </p:nvSpPr>
        <p:spPr>
          <a:xfrm>
            <a:off x="548640" y="3346704"/>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11" name="TextBox 10"/>
          <p:cNvSpPr txBox="1"/>
          <p:nvPr/>
        </p:nvSpPr>
        <p:spPr>
          <a:xfrm>
            <a:off x="1737360" y="3346704"/>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Trace an anomaly event into an automation task and its result.</a:t>
            </a:r>
          </a:p>
        </p:txBody>
      </p:sp>
      <p:sp>
        <p:nvSpPr>
          <p:cNvPr id="12" name="TextBox 11"/>
          <p:cNvSpPr txBox="1"/>
          <p:nvPr/>
        </p:nvSpPr>
        <p:spPr>
          <a:xfrm>
            <a:off x="548640" y="4105656"/>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13" name="TextBox 12"/>
          <p:cNvSpPr txBox="1"/>
          <p:nvPr/>
        </p:nvSpPr>
        <p:spPr>
          <a:xfrm>
            <a:off x="1737360" y="4105656"/>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Identify the publishing approval rule and reconcile the reported numbers.</a:t>
            </a:r>
          </a:p>
        </p:txBody>
      </p:sp>
      <p:sp>
        <p:nvSpPr>
          <p:cNvPr id="14" name="TextBox 13"/>
          <p:cNvSpPr txBox="1"/>
          <p:nvPr/>
        </p:nvSpPr>
        <p:spPr>
          <a:xfrm>
            <a:off x="548640" y="5212080"/>
            <a:ext cx="10972800" cy="914400"/>
          </a:xfrm>
          <a:prstGeom prst="rect">
            <a:avLst/>
          </a:prstGeom>
          <a:noFill/>
        </p:spPr>
        <p:txBody>
          <a:bodyPr wrap="square" lIns="0" rIns="0" tIns="0" bIns="0">
            <a:spAutoFit/>
          </a:bodyPr>
          <a:lstStyle/>
          <a:p>
            <a:pPr>
              <a:spcAft>
                <a:spcPts val="500"/>
              </a:spcAft>
              <a:defRPr sz="1800" b="0">
                <a:solidFill>
                  <a:srgbClr val="172C43"/>
                </a:solidFill>
                <a:latin typeface="Aptos"/>
              </a:defRPr>
            </a:pPr>
            <a:r>
              <a:t>Separate source-data accuracy, retained context, event execution and publishing authority. No measured savings or proven causality is inferred.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Official source register</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Untimed evidence appendix; complete URLs in speaker notes</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22</a:t>
            </a:r>
          </a:p>
        </p:txBody>
      </p:sp>
      <p:sp>
        <p:nvSpPr>
          <p:cNvPr id="6" name="TextBox 5"/>
          <p:cNvSpPr txBox="1"/>
          <p:nvPr/>
        </p:nvSpPr>
        <p:spPr>
          <a:xfrm>
            <a:off x="548640" y="182880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3"/>
              </a:rPr>
              <a:t>F01  Service scope</a:t>
            </a:r>
          </a:p>
        </p:txBody>
      </p:sp>
      <p:sp>
        <p:nvSpPr>
          <p:cNvPr id="7" name="TextBox 6"/>
          <p:cNvSpPr txBox="1"/>
          <p:nvPr/>
        </p:nvSpPr>
        <p:spPr>
          <a:xfrm>
            <a:off x="548640" y="2450592"/>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4"/>
              </a:rPr>
              <a:t>F02  Creating an agent</a:t>
            </a:r>
          </a:p>
        </p:txBody>
      </p:sp>
      <p:sp>
        <p:nvSpPr>
          <p:cNvPr id="8" name="TextBox 7"/>
          <p:cNvSpPr txBox="1"/>
          <p:nvPr/>
        </p:nvSpPr>
        <p:spPr>
          <a:xfrm>
            <a:off x="548640" y="3072384"/>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5"/>
              </a:rPr>
              <a:t>F03  IAM setup and dependent services</a:t>
            </a:r>
          </a:p>
        </p:txBody>
      </p:sp>
      <p:sp>
        <p:nvSpPr>
          <p:cNvPr id="9" name="TextBox 8"/>
          <p:cNvSpPr txBox="1"/>
          <p:nvPr/>
        </p:nvSpPr>
        <p:spPr>
          <a:xfrm>
            <a:off x="548640" y="3694176"/>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6"/>
              </a:rPr>
              <a:t>F04  Context files and memory</a:t>
            </a:r>
          </a:p>
        </p:txBody>
      </p:sp>
      <p:sp>
        <p:nvSpPr>
          <p:cNvPr id="10" name="TextBox 9"/>
          <p:cNvSpPr txBox="1"/>
          <p:nvPr/>
        </p:nvSpPr>
        <p:spPr>
          <a:xfrm>
            <a:off x="548640" y="4315968"/>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7"/>
              </a:rPr>
              <a:t>F05  Task management</a:t>
            </a:r>
          </a:p>
        </p:txBody>
      </p:sp>
      <p:sp>
        <p:nvSpPr>
          <p:cNvPr id="11" name="TextBox 10"/>
          <p:cNvSpPr txBox="1"/>
          <p:nvPr/>
        </p:nvSpPr>
        <p:spPr>
          <a:xfrm>
            <a:off x="548640" y="493776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8"/>
              </a:rPr>
              <a:t>F06  Action approval and analytical boundaries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FINOPS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Official source register</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Untimed evidence appendix; complete URLs in speaker notes</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23</a:t>
            </a:r>
          </a:p>
        </p:txBody>
      </p:sp>
      <p:sp>
        <p:nvSpPr>
          <p:cNvPr id="6" name="TextBox 5"/>
          <p:cNvSpPr txBox="1"/>
          <p:nvPr/>
        </p:nvSpPr>
        <p:spPr>
          <a:xfrm>
            <a:off x="548640" y="182880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3"/>
              </a:rPr>
              <a:t>F07  Custom cost reporting and artifacts</a:t>
            </a:r>
          </a:p>
        </p:txBody>
      </p:sp>
      <p:sp>
        <p:nvSpPr>
          <p:cNvPr id="7" name="TextBox 6"/>
          <p:cNvSpPr txBox="1"/>
          <p:nvPr/>
        </p:nvSpPr>
        <p:spPr>
          <a:xfrm>
            <a:off x="548640" y="2450592"/>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4"/>
              </a:rPr>
              <a:t>F08  Data protection and lifecycle</a:t>
            </a:r>
          </a:p>
        </p:txBody>
      </p:sp>
      <p:sp>
        <p:nvSpPr>
          <p:cNvPr id="8" name="TextBox 7"/>
          <p:cNvSpPr txBox="1"/>
          <p:nvPr/>
        </p:nvSpPr>
        <p:spPr>
          <a:xfrm>
            <a:off x="548640" y="3072384"/>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5"/>
              </a:rPr>
              <a:t>F09  Event-based anomaly response</a:t>
            </a:r>
          </a:p>
        </p:txBody>
      </p:sp>
      <p:sp>
        <p:nvSpPr>
          <p:cNvPr id="9" name="TextBox 8"/>
          <p:cNvSpPr txBox="1"/>
          <p:nvPr/>
        </p:nvSpPr>
        <p:spPr>
          <a:xfrm>
            <a:off x="548640" y="3694176"/>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6"/>
              </a:rPr>
              <a:t>F10  Cross-Region inference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