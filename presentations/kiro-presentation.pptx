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00:00–00:45; allocated 00:45.</a:t>
            </a:r>
          </a:p>
          <a:p/>
          <a:p>
            <a:r>
              <a:t>This presentation follows a request-ID propagation change in checkout-api and a small scheduled maintenance job. It separates Kiro Web’s cloud work from local IDE and CLI controls. Access depends on plan, administrator enablement and feature rollout; current documentation also labels Web as preview in some pages. Do not apply a blanket general-availability statement across every client. The merge decision stays with the team.</a:t>
            </a:r>
          </a:p>
          <a:p/>
          <a:p>
            <a:r>
              <a:t>Official evidence:</a:t>
            </a:r>
          </a:p>
          <a:p>
            <a:r>
              <a:t>K02 — Kiro Web: https://kiro.dev/docs/web/</a:t>
            </a:r>
          </a:p>
          <a:p>
            <a:r>
              <a:t>K04 — Autonomous mode: https://kiro.dev/docs/web/autonomous-mode/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00:45–01:45; allocated 01:00.</a:t>
            </a:r>
          </a:p>
          <a:p/>
          <a:p>
            <a:r>
              <a:t>When the design is unclear, work interactively. When behavior needs to be agreed before implementation, use a spec. When the outcome is bounded and sufficiently clear, delegate it through autonomous mode. These are not mandatory sequential stages. The demonstration chooses spec-first planning deliberately; it does not imply that every autonomous task must begin with a user-authored spec.</a:t>
            </a:r>
          </a:p>
          <a:p/>
          <a:p>
            <a:r>
              <a:t>Official evidence:</a:t>
            </a:r>
          </a:p>
          <a:p>
            <a:r>
              <a:t>K02 — Kiro Web: https://kiro.dev/docs/web/</a:t>
            </a:r>
          </a:p>
          <a:p>
            <a:r>
              <a:t>K03 — Working with the agent: https://kiro.dev/docs/web/using-the-agent/</a:t>
            </a:r>
          </a:p>
          <a:p>
            <a:r>
              <a:t>K04 — Autonomous mode: https://kiro.dev/docs/web/autonomous-mode/</a:t>
            </a:r>
          </a:p>
          <a:p>
            <a:r>
              <a:t>K08 — Specifications: https://kiro.dev/docs/specs/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01:45–03:15; allocated 01:30.</a:t>
            </a:r>
          </a:p>
          <a:p/>
          <a:p>
            <a:r>
              <a:t>The example asks for an inbound request ID to be preserved on outbound calls. The team must first define behavior when the inbound value is missing or invalid. That policy is not an agent decision to make silently. Limit the work to middleware and the HTTP client, preserve public APIs, and name the tests that will demonstrate success. This task contract is our recommended practice, built on documented repository and spec capabilities.</a:t>
            </a:r>
          </a:p>
          <a:p/>
          <a:p>
            <a:r>
              <a:t>Official evidence:</a:t>
            </a:r>
          </a:p>
          <a:p>
            <a:r>
              <a:t>K03 — Working with the agent: https://kiro.dev/docs/web/using-the-agent/</a:t>
            </a:r>
          </a:p>
          <a:p>
            <a:r>
              <a:t>K08 — Specifications: https://kiro.dev/docs/specs/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03:15–04:30; allocated 01:15.</a:t>
            </a:r>
          </a:p>
          <a:p/>
          <a:p>
            <a:r>
              <a:t>A feature spec captures requirements and acceptance criteria. A bugfix spec makes the defect and unaffected behavior explicit. The design connects requirements to existing components; the task list makes execution reviewable. Not every advanced spec capability exists on every client, so check the documented support matrix. Treat the three artifacts as editable engineering agreements rather than evidence that the code is already correct.</a:t>
            </a:r>
          </a:p>
          <a:p/>
          <a:p>
            <a:r>
              <a:t>Official evidence:</a:t>
            </a:r>
          </a:p>
          <a:p>
            <a:r>
              <a:t>K08 — Specifications: https://kiro.dev/docs/specs/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04:30–05:30; allocated 01:00.</a:t>
            </a:r>
          </a:p>
          <a:p/>
          <a:p>
            <a:r>
              <a:t>Ask Kiro to cite the files and symbols it inspected. Then compare the explanation with a known execution path. Test generation is useful when the tests would fail for the original defect, exercise an important boundary and execute successfully in the chosen environment. A browser check can strengthen UI verification, but it does not establish coverage of every user journey.</a:t>
            </a:r>
          </a:p>
          <a:p/>
          <a:p>
            <a:r>
              <a:t>Official evidence:</a:t>
            </a:r>
          </a:p>
          <a:p>
            <a:r>
              <a:t>K03 — Working with the agent: https://kiro.dev/docs/web/using-the-agent/</a:t>
            </a:r>
          </a:p>
          <a:p>
            <a:r>
              <a:t>K09 — Built-in tools: https://kiro.dev/docs/tools/</a:t>
            </a:r>
          </a:p>
          <a:p>
            <a:r>
              <a:t>K10 — Cloud sandbox: https://kiro.dev/docs/web/sandbox/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05:30–06:30; allocated 01:00.</a:t>
            </a:r>
          </a:p>
          <a:p/>
          <a:p>
            <a:r>
              <a:t>The sandbox is where cloud work executes. Dependency access, network settings and injected credentials determine what it can reach. A test command can still call an external API when credentials and connectivity permit it. Keep production credentials out of a development demonstration and use disposable services. Secrets can be exposed through program output or requests, so review both code and environment configuration.</a:t>
            </a:r>
          </a:p>
          <a:p/>
          <a:p>
            <a:r>
              <a:t>Official evidence:</a:t>
            </a:r>
          </a:p>
          <a:p>
            <a:r>
              <a:t>K10 — Cloud sandbox: https://kiro.dev/docs/web/sandbox/</a:t>
            </a:r>
          </a:p>
          <a:p>
            <a:r>
              <a:t>K19 — Sandbox internet access: https://kiro.dev/docs/web/sandbox/internet-access/</a:t>
            </a:r>
          </a:p>
          <a:p>
            <a:r>
              <a:t>K20 — Environment variables and secrets: https://kiro.dev/docs/web/sandbox/environment-variables/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06:30–07:30; allocated 01:00.</a:t>
            </a:r>
          </a:p>
          <a:p/>
          <a:p>
            <a:r>
              <a:t>Connect the required repositories rather than granting blanket organization access for convenience. GitHub task assignment can originate from an issue through the documented label or command. A cross-repository task can produce separate pull or merge requests; the team still coordinates compatibility and merge order. A request to change one service must not silently broaden into other repositories.</a:t>
            </a:r>
          </a:p>
          <a:p/>
          <a:p>
            <a:r>
              <a:t>Official evidence:</a:t>
            </a:r>
          </a:p>
          <a:p>
            <a:r>
              <a:t>K06 — GitHub integration: https://kiro.dev/docs/web/github/</a:t>
            </a:r>
          </a:p>
          <a:p>
            <a:r>
              <a:t>K07 — GitLab integration: https://kiro.dev/docs/web/gitlab/</a:t>
            </a:r>
          </a:p>
          <a:p>
            <a:r>
              <a:t>K04 — Autonomous mode: https://kiro.dev/docs/web/autonomous-mode/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07:30–15:30; allocated 08:00.</a:t>
            </a:r>
          </a:p>
          <a:p/>
          <a:p>
            <a:r>
              <a:t>The eight-minute allocation is for explaining the workflow and reviewing evidence. It is not an implementation-duration claim. Show a completed run if a fresh task has not reached a useful stage. A passing check is meaningful only if it ran on the displayed commit and exercised the relevant behavior. Reject unsupported claims that tests passed if the output shows a missing dependency or an unexecuted command.</a:t>
            </a:r>
          </a:p>
          <a:p/>
          <a:p>
            <a:r>
              <a:t>Official evidence:</a:t>
            </a:r>
          </a:p>
          <a:p>
            <a:r>
              <a:t>K03 — Working with the agent: https://kiro.dev/docs/web/using-the-agent/</a:t>
            </a:r>
          </a:p>
          <a:p>
            <a:r>
              <a:t>K04 — Autonomous mode: https://kiro.dev/docs/web/autonomous-mode/</a:t>
            </a:r>
          </a:p>
          <a:p>
            <a:r>
              <a:t>K08 — Specifications: https://kiro.dev/docs/specs/</a:t>
            </a:r>
          </a:p>
          <a:p>
            <a:r>
              <a:t>K09 — Built-in tools: https://kiro.dev/docs/tools/</a:t>
            </a:r>
          </a:p>
          <a:p/>
          <a:p>
            <a:r>
              <a:t>Preflight: Prepare a test repository, an approved spec and a completed PR; document whether evidence is live or replayed.</a:t>
            </a:r>
          </a:p>
          <a:p/>
          <a:p>
            <a:r>
              <a:t>Prompt: Plan request-ID propagation in checkout-api. Preserve public APIs and unrelated behavior. First show requirements, design and tasks. Cite relevant files. After plan approval, implement the scoped change, run repository checks and open a PR; do not merge.</a:t>
            </a:r>
          </a:p>
          <a:p/>
          <a:p>
            <a:r>
              <a:t>Runbook:</a:t>
            </a:r>
          </a:p>
          <a:p>
            <a:r>
              <a:t>01:00 — Agree the contract: Confirm missing-ID behavior, scope and non-goals.</a:t>
            </a:r>
          </a:p>
          <a:p>
            <a:r>
              <a:t>02:00 — Review the spec: Inspect requirements, affected components and the planned tests.</a:t>
            </a:r>
          </a:p>
          <a:p>
            <a:r>
              <a:t>02:00 — Inspect execution: Start the task or open the prepared completed session.</a:t>
            </a:r>
          </a:p>
          <a:p>
            <a:r>
              <a:t>01:30 — Inspect test evidence: Show a meaningful failure case and fresh check output.</a:t>
            </a:r>
          </a:p>
          <a:p>
            <a:r>
              <a:t>01:30 — Review the PR: Trace changed files to requirements; keep merge manual.</a:t>
            </a:r>
          </a:p>
          <a:p/>
          <a:p>
            <a:r>
              <a:t>Success: A focused diff with requirement-linked tests and an explicit human review decision.</a:t>
            </a:r>
          </a:p>
          <a:p/>
          <a:p>
            <a:r>
              <a:t>Fallback: Use the prepared spec, diff and test output after 60 seconds without usable progress; inspect rather than imply live completion.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15:30–16:45; allocated 01:15.</a:t>
            </a:r>
          </a:p>
          <a:p/>
          <a:p>
            <a:r>
              <a:t>Use code review to refine the task rather than as a formality after generation. A review comment should state the behavior or constraint that must change. When supplying CI failures, include the log and failing command rather than asking the agent to guess. The team verifies the latest diff and check state before merge. Do not assume that every CI provider or failure is automatically connected.</a:t>
            </a:r>
          </a:p>
          <a:p/>
          <a:p>
            <a:r>
              <a:t>Official evidence:</a:t>
            </a:r>
          </a:p>
          <a:p>
            <a:r>
              <a:t>K04 — Autonomous mode: https://kiro.dev/docs/web/autonomous-mode/</a:t>
            </a:r>
          </a:p>
          <a:p>
            <a:r>
              <a:t>K06 — GitHub integration: https://kiro.dev/docs/web/github/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16:45–17:45; allocated 01:00.</a:t>
            </a:r>
          </a:p>
          <a:p/>
          <a:p>
            <a:r>
              <a:t>Start with a narrow task: one dependency group, a changelog or documentation drift. Keep the update policy explicit, including whether major versions are excluded and which checks must pass. Review the first runs and disable the automation if outputs become noisy or misleading. Scheduling execution does not authorize automatic merging.</a:t>
            </a:r>
          </a:p>
          <a:p/>
          <a:p>
            <a:r>
              <a:t>Official evidence:</a:t>
            </a:r>
          </a:p>
          <a:p>
            <a:r>
              <a:t>K11 — Automations: https://kiro.dev/docs/web/automations/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17:45–22:45; allocated 05:00.</a:t>
            </a:r>
          </a:p>
          <a:p/>
          <a:p>
            <a:r>
              <a:t>This is a configuration and result-review demo, not a timed dependency-upgrade benchmark. The schedule should remain disabled until the team approves it. Use a prepared output to show the reviewer’s decision. A run with no appropriate update can be successful; the goal is useful maintenance, not a mandatory pull request every week.</a:t>
            </a:r>
          </a:p>
          <a:p/>
          <a:p>
            <a:r>
              <a:t>Official evidence:</a:t>
            </a:r>
          </a:p>
          <a:p>
            <a:r>
              <a:t>K11 — Automations: https://kiro.dev/docs/web/automations/</a:t>
            </a:r>
          </a:p>
          <a:p>
            <a:r>
              <a:t>K06 — GitHub integration: https://kiro.dev/docs/web/github/</a:t>
            </a:r>
          </a:p>
          <a:p/>
          <a:p>
            <a:r>
              <a:t>Preflight: Use a non-production repository and prepare a completed sample run; do not wait for the next scheduled trigger.</a:t>
            </a:r>
          </a:p>
          <a:p/>
          <a:p>
            <a:r>
              <a:t>Prompt: Each week, inspect only the approved development dependency group. Exclude major-version changes and unrelated files. Run the repository checks. Open a small PR when an update is justified; otherwise report no change. Do not merge.</a:t>
            </a:r>
          </a:p>
          <a:p/>
          <a:p>
            <a:r>
              <a:t>Runbook:</a:t>
            </a:r>
          </a:p>
          <a:p>
            <a:r>
              <a:t>00:45 — Choose scope: One repository, dependency group and accountable reviewer.</a:t>
            </a:r>
          </a:p>
          <a:p>
            <a:r>
              <a:t>00:45 — Write the prompt: Show exclusions and required evidence.</a:t>
            </a:r>
          </a:p>
          <a:p>
            <a:r>
              <a:t>01:00 — Inspect the setup: Review cadence, repository access and enabled state.</a:t>
            </a:r>
          </a:p>
          <a:p>
            <a:r>
              <a:t>01:30 — Review a prepared run: Inspect changed files, check results and a no-change outcome.</a:t>
            </a:r>
          </a:p>
          <a:p>
            <a:r>
              <a:t>01:00 — Set the stop rule: Explain how the owner disables noisy or failing automation.</a:t>
            </a:r>
          </a:p>
          <a:p/>
          <a:p>
            <a:r>
              <a:t>Success: A limited, reviewable maintenance task with a named owner and a disabled-by-default rehearsal setup.</a:t>
            </a:r>
          </a:p>
          <a:p/>
          <a:p>
            <a:r>
              <a:t>Fallback: Walk through the reviewed configuration and a labeled example PR; do not claim the schedule ran during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22:45–23:45; allocated 01:00.</a:t>
            </a:r>
          </a:p>
          <a:p/>
          <a:p>
            <a:r>
              <a:t>Put stable, explicit conventions in steering. Learned memory helps avoid rediscovering repository commands or earlier corrections, but it can become stale. Inspect and correct remembered information where the client supports it. When a remembered claim conflicts with current source code or policy, verify the present evidence. Neither mechanism substitutes for permissions or branch protections.</a:t>
            </a:r>
          </a:p>
          <a:p/>
          <a:p>
            <a:r>
              <a:t>Official evidence:</a:t>
            </a:r>
          </a:p>
          <a:p>
            <a:r>
              <a:t>K13 — Steering: https://kiro.dev/docs/steering/</a:t>
            </a:r>
          </a:p>
          <a:p>
            <a:r>
              <a:t>K14 — Memory: https://kiro.dev/docs/memory/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23:45–24:45; allocated 01:00.</a:t>
            </a:r>
          </a:p>
          <a:p/>
          <a:p>
            <a:r>
              <a:t>An MCP integration connects tools. A Power packages task-oriented capabilities and guidance. A custom agent defines a reusable specialist configuration. A skill packages a procedure and its resources. These mechanisms can compose, but their existence does not imply universal client support or permission to access every service. Review tool provenance, credentials, network reach and the side effects before adding an extension.</a:t>
            </a:r>
          </a:p>
          <a:p/>
          <a:p>
            <a:r>
              <a:t>Official evidence:</a:t>
            </a:r>
          </a:p>
          <a:p>
            <a:r>
              <a:t>K15 — Model Context Protocol: https://kiro.dev/docs/mcp/</a:t>
            </a:r>
          </a:p>
          <a:p>
            <a:r>
              <a:t>K16 — Powers: https://kiro.dev/docs/powers/</a:t>
            </a:r>
          </a:p>
          <a:p>
            <a:r>
              <a:t>K22 — Custom agents: https://kiro.dev/docs/custom-agents/</a:t>
            </a:r>
          </a:p>
          <a:p>
            <a:r>
              <a:t>K23 — Agent Skills: https://kiro.dev/docs/skills/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24:45–25:45; allocated 01:00.</a:t>
            </a:r>
          </a:p>
          <a:p/>
          <a:p>
            <a:r>
              <a:t>The dedicated hooks and permissions pages document IDE and CLI support and do not list Web support for those controls. Other pages discuss cloud configuration more broadly, so do not infer exact parity from the shared product name. Verify the feature in the client you deploy. Cloud network and secret settings remain a distinct set of controls. A prompt or steering file is not an enforced deny rule.</a:t>
            </a:r>
          </a:p>
          <a:p/>
          <a:p>
            <a:r>
              <a:t>Official evidence:</a:t>
            </a:r>
          </a:p>
          <a:p>
            <a:r>
              <a:t>K17 — Hooks: https://kiro.dev/docs/hooks/</a:t>
            </a:r>
          </a:p>
          <a:p>
            <a:r>
              <a:t>K18 — Permissions: https://kiro.dev/docs/permissions/</a:t>
            </a:r>
          </a:p>
          <a:p>
            <a:r>
              <a:t>K19 — Sandbox internet access: https://kiro.dev/docs/web/sandbox/internet-access/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25:45–27:15; allocated 01:30.</a:t>
            </a:r>
          </a:p>
          <a:p/>
          <a:p>
            <a:r>
              <a:t>Workflows differ from autonomous mode. Autonomous mode lets the agent determine the process for a task; a workflow makes the multi-step structure explicit and reusable. It can separate implementation from a fresh-context review step. The feature is opt-in and may not be exposed to every account. More structure also consumes more usage, so use it for work that benefits from independent stages rather than every small edit.</a:t>
            </a:r>
          </a:p>
          <a:p/>
          <a:p>
            <a:r>
              <a:t>Official evidence:</a:t>
            </a:r>
          </a:p>
          <a:p>
            <a:r>
              <a:t>K24 — Workflows: https://kiro.dev/docs/workflows/</a:t>
            </a:r>
          </a:p>
          <a:p>
            <a:r>
              <a:t>K22 — Custom agents: https://kiro.dev/docs/custom-agents/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27:15–28:30; allocated 01:15.</a:t>
            </a:r>
          </a:p>
          <a:p/>
          <a:p>
            <a:r>
              <a:t>Cloud-session continuity helps an engineer return to ongoing work from supported clients. Local checkpoint or rewind features have their own documented scope. Neither implies that an external system or deployed service is rolled back. Git remains the review and version-history mechanism for repository changes. For the first pilot, test recovery with an unimportant branch before relying on it during a real change.</a:t>
            </a:r>
          </a:p>
          <a:p/>
          <a:p>
            <a:r>
              <a:t>Official evidence:</a:t>
            </a:r>
          </a:p>
          <a:p>
            <a:r>
              <a:t>K02 — Kiro Web: https://kiro.dev/docs/web/</a:t>
            </a:r>
          </a:p>
          <a:p>
            <a:r>
              <a:t>K21 — Checkpoints and rewind: https://kiro.dev/docs/checkpoints/</a:t>
            </a:r>
          </a:p>
          <a:p>
            <a:r>
              <a:t>K10 — Cloud sandbox: https://kiro.dev/docs/web/sandbox/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28:30–30:00; allocated 01:30.</a:t>
            </a:r>
          </a:p>
          <a:p/>
          <a:p>
            <a:r>
              <a:t>The supplied-log diagnosis and infrastructure examples are not separate native guarantees. Give the exact failing command, configuration, environment and relevant logs. Ask for a minimal proposed change, then rerun the same check. Generated runbook steps should be rehearsed with safe inputs by the service owner. Never treat a plausible explanation of Terraform, a build or an incident procedure as executed validation.</a:t>
            </a:r>
          </a:p>
          <a:p/>
          <a:p>
            <a:r>
              <a:t>Official evidence:</a:t>
            </a:r>
          </a:p>
          <a:p>
            <a:r>
              <a:t>K03 — Working with the agent: https://kiro.dev/docs/web/using-the-agent/</a:t>
            </a:r>
          </a:p>
          <a:p>
            <a:r>
              <a:t>K09 — Built-in tools: https://kiro.dev/docs/tools/</a:t>
            </a:r>
          </a:p>
          <a:p>
            <a:r>
              <a:t>K17 — Hooks: https://kiro.dev/docs/hooks/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30:00–32:00; allocated 02:00.</a:t>
            </a:r>
          </a:p>
          <a:p/>
          <a:p>
            <a:r>
              <a:t>Start with one repository and one reproducible change. Record review effort before the pilot, then compare similar work produced with Kiro. Track accepted changes, failed checks, reviewer corrections and scope drift; include tool and model consumption. Add recurring maintenance only after the interactive workflow is reliable. Every outcome must remain reviewable. The detailed capability crosswalk maps all 21 entries below to this presentation, including the local and cloud distinctions.</a:t>
            </a:r>
          </a:p>
          <a:p/>
          <a:p>
            <a:r>
              <a:t>Official evidence:</a:t>
            </a:r>
          </a:p>
          <a:p>
            <a:r>
              <a:t>K02 — Kiro Web: https://kiro.dev/docs/web/</a:t>
            </a:r>
          </a:p>
          <a:p>
            <a:r>
              <a:t>K04 — Autonomous mode: https://kiro.dev/docs/web/autonomous-mode/</a:t>
            </a:r>
          </a:p>
          <a:p>
            <a:r>
              <a:t>K11 — Automations: https://kiro.dev/docs/web/automations/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S03 — Working with the agent: https://kiro.dev/docs/web/using-the-agent/</a:t>
            </a:r>
          </a:p>
          <a:p>
            <a:r>
              <a:t>S09 — Built-in tools: https://kiro.dev/docs/tools/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S08 — Specifications: https://kiro.dev/docs/specs/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S08 — Specifications: https://kiro.dev/docs/specs/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S04 — Autonomous mode: https://kiro.dev/docs/web/autonomous-mode/</a:t>
            </a:r>
          </a:p>
          <a:p>
            <a:r>
              <a:t>S02 — Kiro Web: https://kiro.dev/docs/web/</a:t>
            </a:r>
          </a:p>
          <a:p>
            <a:r>
              <a:t>S12 — Cloud sessions: https://kiro.dev/docs/cloud-sessions/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S05 — Creating tasks: https://kiro.dev/docs/web/using-the-agent/creating-tasks/</a:t>
            </a:r>
          </a:p>
          <a:p>
            <a:r>
              <a:t>S07 — GitLab integration: https://kiro.dev/docs/web/gitlab/</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S06 — GitHub integration: https://kiro.dev/docs/web/github/</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S06 — GitHub integration: https://kiro.dev/docs/web/github/</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S09 — Built-in tools: https://kiro.dev/docs/tools/</a:t>
            </a:r>
          </a:p>
          <a:p>
            <a:r>
              <a:t>S10 — Cloud sandbox: https://kiro.dev/docs/web/sandbox/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S11 — Automations: https://kiro.dev/docs/web/automations/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S12 — Cloud sessions: https://kiro.dev/docs/cloud-sessions/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S13 — Steering: https://kiro.dev/docs/steering/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S14 — Memory: https://kiro.dev/docs/memory/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S15 — Model Context Protocol: https://kiro.dev/docs/mcp/</a:t>
            </a:r>
          </a:p>
          <a:p>
            <a:r>
              <a:t>S16 — Powers: https://kiro.dev/docs/powers/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S17 — Hooks: https://kiro.dev/docs/hooks/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S18 — Permissions: https://kiro.dev/docs/permissions/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S19 — Sandbox internet access: https://kiro.dev/docs/web/sandbox/internet-access/</a:t>
            </a:r>
          </a:p>
          <a:p>
            <a:r>
              <a:t>S20 — Environment variables and secrets: https://kiro.dev/docs/web/sandbox/environment-variables/</a:t>
            </a:r>
          </a:p>
          <a:p>
            <a:r>
              <a:t>S10 — Cloud sandbox: https://kiro.dev/docs/web/sandbox/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S21 — Checkpoints and rewind: https://kiro.dev/docs/checkpoints/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S09 — Built-in tools: https://kiro.dev/docs/tools/</a:t>
            </a:r>
          </a:p>
          <a:p>
            <a:r>
              <a:t>S18 — Permissions: https://kiro.dev/docs/permissions/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S22 — Custom agents: https://kiro.dev/docs/custom-agents/</a:t>
            </a:r>
          </a:p>
          <a:p>
            <a:r>
              <a:t>S13 — Steering: https://kiro.dev/docs/steering/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S23 — Agent Skills: https://kiro.dev/docs/skills/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Reference content only; not part of the timed presentation. Product function and prerequisites come from the cited official documentation. The retention record and independent acceptance procedure are recommended team controls, not asserted native outputs. No live workflow was executed.</a:t>
            </a:r>
          </a:p>
          <a:p/>
          <a:p>
            <a:r>
              <a:t>Official evidence:</a:t>
            </a:r>
          </a:p>
          <a:p/>
          <a:p/>
          <a:p>
            <a:r>
              <a:t>Capability evidence:</a:t>
            </a:r>
          </a:p>
          <a:p>
            <a:r>
              <a:t>S24 — Workflows: https://kiro.dev/docs/workflows/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32:00–32:00; allocated 00:00.</a:t>
            </a:r>
          </a:p>
          <a:p/>
          <a:p>
            <a:r>
              <a:t>This appendix is outside the timed session. All source URLs are listed below and in the relevant slide notes. No live workflow or measured benefit is claimed.</a:t>
            </a:r>
          </a:p>
          <a:p/>
          <a:p>
            <a:r>
              <a:t>Official evidence:</a:t>
            </a:r>
          </a:p>
          <a:p>
            <a:r>
              <a:t>K02 — Kiro Web: https://kiro.dev/docs/web/</a:t>
            </a:r>
          </a:p>
          <a:p>
            <a:r>
              <a:t>K03 — Working with the agent: https://kiro.dev/docs/web/using-the-agent/</a:t>
            </a:r>
          </a:p>
          <a:p>
            <a:r>
              <a:t>K04 — Autonomous mode: https://kiro.dev/docs/web/autonomous-mode/</a:t>
            </a:r>
          </a:p>
          <a:p>
            <a:r>
              <a:t>K06 — GitHub integration: https://kiro.dev/docs/web/github/</a:t>
            </a:r>
          </a:p>
          <a:p>
            <a:r>
              <a:t>K07 — GitLab integration: https://kiro.dev/docs/web/gitlab/</a:t>
            </a:r>
          </a:p>
          <a:p>
            <a:r>
              <a:t>K08 — Specifications: https://kiro.dev/docs/specs/</a:t>
            </a:r>
          </a:p>
          <a:p>
            <a:r>
              <a:t>K09 — Built-in tools: https://kiro.dev/docs/tools/</a:t>
            </a:r>
          </a:p>
          <a:p>
            <a:r>
              <a:t>K10 — Cloud sandbox: https://kiro.dev/docs/web/sandbox/</a:t>
            </a:r>
          </a:p>
          <a:p>
            <a:r>
              <a:t>K11 — Automations: https://kiro.dev/docs/web/automations/</a:t>
            </a:r>
          </a:p>
          <a:p>
            <a:r>
              <a:t>K13 — Steering: https://kiro.dev/docs/steering/</a:t>
            </a:r>
          </a:p>
          <a:p>
            <a:r>
              <a:t>K14 — Memory: https://kiro.dev/docs/memory/</a:t>
            </a:r>
          </a:p>
          <a:p>
            <a:r>
              <a:t>K15 — Model Context Protocol: https://kiro.dev/docs/mcp/</a:t>
            </a:r>
          </a:p>
          <a:p>
            <a:r>
              <a:t>K16 — Powers: https://kiro.dev/docs/powers/</a:t>
            </a:r>
          </a:p>
          <a:p>
            <a:r>
              <a:t>K17 — Hooks: https://kiro.dev/docs/hooks/</a:t>
            </a:r>
          </a:p>
          <a:p>
            <a:r>
              <a:t>K18 — Permissions: https://kiro.dev/docs/permissions/</a:t>
            </a:r>
          </a:p>
          <a:p>
            <a:r>
              <a:t>K19 — Sandbox internet access: https://kiro.dev/docs/web/sandbox/internet-access/</a:t>
            </a:r>
          </a:p>
          <a:p>
            <a:r>
              <a:t>K20 — Environment variables and secrets: https://kiro.dev/docs/web/sandbox/environment-variables/</a:t>
            </a:r>
          </a:p>
          <a:p>
            <a:r>
              <a:t>K21 — Checkpoints and rewind: https://kiro.dev/docs/checkpoints/</a:t>
            </a:r>
          </a:p>
          <a:p>
            <a:r>
              <a:t>K22 — Custom agents: https://kiro.dev/docs/custom-agents/</a:t>
            </a:r>
          </a:p>
          <a:p>
            <a:r>
              <a:t>K23 — Agent Skills: https://kiro.dev/docs/skills/</a:t>
            </a:r>
          </a:p>
          <a:p>
            <a:r>
              <a:t>K24 — Workflows: https://kiro.dev/docs/workflows/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kiro.dev/docs/web/" TargetMode="External"/><Relationship Id="rId4" Type="http://schemas.openxmlformats.org/officeDocument/2006/relationships/hyperlink" Target="https://kiro.dev/docs/web/using-the-agent/" TargetMode="External"/><Relationship Id="rId5" Type="http://schemas.openxmlformats.org/officeDocument/2006/relationships/hyperlink" Target="https://kiro.dev/docs/web/autonomous-mode/" TargetMode="External"/><Relationship Id="rId6" Type="http://schemas.openxmlformats.org/officeDocument/2006/relationships/hyperlink" Target="https://kiro.dev/docs/web/github/" TargetMode="External"/><Relationship Id="rId7" Type="http://schemas.openxmlformats.org/officeDocument/2006/relationships/hyperlink" Target="https://kiro.dev/docs/web/gitlab/" TargetMode="External"/><Relationship Id="rId8" Type="http://schemas.openxmlformats.org/officeDocument/2006/relationships/hyperlink" Target="https://kiro.dev/docs/spec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POSITION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Kiro</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delegated task can produce a change proposal for repository review.</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00:45 allocated  |  00:00–00:45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K02, K04</a:t>
            </a:r>
          </a:p>
        </p:txBody>
      </p:sp>
      <p:sp>
        <p:nvSpPr>
          <p:cNvPr id="10" name="Rounded Rectangle 9"/>
          <p:cNvSpPr/>
          <p:nvPr/>
        </p:nvSpPr>
        <p:spPr>
          <a:xfrm>
            <a:off x="502920" y="2331720"/>
            <a:ext cx="11183112" cy="960120"/>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96896"/>
            <a:ext cx="10698480" cy="411480"/>
          </a:xfrm>
          <a:prstGeom prst="rect">
            <a:avLst/>
          </a:prstGeom>
          <a:noFill/>
        </p:spPr>
        <p:txBody>
          <a:bodyPr wrap="square" lIns="0" rIns="0" tIns="0" bIns="0" anchor="t">
            <a:spAutoFit/>
          </a:bodyPr>
          <a:lstStyle/>
          <a:p>
            <a:pPr>
              <a:lnSpc>
                <a:spcPct val="112000"/>
              </a:lnSpc>
              <a:spcAft>
                <a:spcPts val="300"/>
              </a:spcAft>
              <a:defRPr sz="2500" b="1">
                <a:solidFill>
                  <a:srgbClr val="FFFFFF"/>
                </a:solidFill>
                <a:latin typeface="Arial"/>
              </a:defRPr>
            </a:pPr>
            <a:r>
              <a:t>Understand → specify → implement → verify → review</a:t>
            </a:r>
          </a:p>
        </p:txBody>
      </p:sp>
      <p:sp>
        <p:nvSpPr>
          <p:cNvPr id="12" name="Rounded Rectangle 11"/>
          <p:cNvSpPr/>
          <p:nvPr/>
        </p:nvSpPr>
        <p:spPr>
          <a:xfrm>
            <a:off x="502920"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7046A3"/>
                </a:solidFill>
                <a:latin typeface="Arial"/>
              </a:defRPr>
            </a:pPr>
            <a:r>
              <a:t>32 min</a:t>
            </a:r>
          </a:p>
        </p:txBody>
      </p:sp>
      <p:sp>
        <p:nvSpPr>
          <p:cNvPr id="14" name="TextBox 13"/>
          <p:cNvSpPr txBox="1"/>
          <p:nvPr/>
        </p:nvSpPr>
        <p:spPr>
          <a:xfrm>
            <a:off x="704088"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session, including demos</a:t>
            </a:r>
          </a:p>
        </p:txBody>
      </p:sp>
      <p:sp>
        <p:nvSpPr>
          <p:cNvPr id="15" name="Rounded Rectangle 14"/>
          <p:cNvSpPr/>
          <p:nvPr/>
        </p:nvSpPr>
        <p:spPr>
          <a:xfrm>
            <a:off x="4288536"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3"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7046A3"/>
                </a:solidFill>
                <a:latin typeface="Arial"/>
              </a:defRPr>
            </a:pPr>
            <a:r>
              <a:t>13 min</a:t>
            </a:r>
          </a:p>
        </p:txBody>
      </p:sp>
      <p:sp>
        <p:nvSpPr>
          <p:cNvPr id="17" name="TextBox 16"/>
          <p:cNvSpPr txBox="1"/>
          <p:nvPr/>
        </p:nvSpPr>
        <p:spPr>
          <a:xfrm>
            <a:off x="4489703"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two demo walkthroughs</a:t>
            </a:r>
          </a:p>
        </p:txBody>
      </p:sp>
      <p:sp>
        <p:nvSpPr>
          <p:cNvPr id="18" name="Rounded Rectangle 17"/>
          <p:cNvSpPr/>
          <p:nvPr/>
        </p:nvSpPr>
        <p:spPr>
          <a:xfrm>
            <a:off x="8074152"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7046A3"/>
                </a:solidFill>
                <a:latin typeface="Arial"/>
              </a:defRPr>
            </a:pPr>
            <a:r>
              <a:t>1 PR</a:t>
            </a:r>
          </a:p>
        </p:txBody>
      </p:sp>
      <p:sp>
        <p:nvSpPr>
          <p:cNvPr id="20" name="TextBox 19"/>
          <p:cNvSpPr txBox="1"/>
          <p:nvPr/>
        </p:nvSpPr>
        <p:spPr>
          <a:xfrm>
            <a:off x="8275320"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first useful acceptance unit</a:t>
            </a:r>
          </a:p>
        </p:txBody>
      </p:sp>
      <p:sp>
        <p:nvSpPr>
          <p:cNvPr id="21" name="TextBox 20"/>
          <p:cNvSpPr txBox="1"/>
          <p:nvPr/>
        </p:nvSpPr>
        <p:spPr>
          <a:xfrm>
            <a:off x="521207" y="5504688"/>
            <a:ext cx="11064240" cy="530352"/>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Kiro Web is preview, requires eligible paid access, and has documented Region and administrator controls. IDE, CLI and Web features are not interchangeable.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USE CASE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950" b="1">
                <a:solidFill>
                  <a:srgbClr val="182B43"/>
                </a:solidFill>
                <a:latin typeface="Arial"/>
              </a:defRPr>
            </a:pPr>
            <a:r>
              <a:t>Select interactive and delegated modes by task definition</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Collaboration, specs and autonomous work solve different coordination problems.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00:45–01:45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K02, K03, K04, K08</a:t>
            </a:r>
          </a:p>
        </p:txBody>
      </p:sp>
      <p:sp>
        <p:nvSpPr>
          <p:cNvPr id="10" name="Rounded Rectangle 9"/>
          <p:cNvSpPr/>
          <p:nvPr/>
        </p:nvSpPr>
        <p:spPr>
          <a:xfrm>
            <a:off x="50292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EXPLORE</a:t>
            </a:r>
          </a:p>
        </p:txBody>
      </p:sp>
      <p:sp>
        <p:nvSpPr>
          <p:cNvPr id="12" name="TextBox 11"/>
          <p:cNvSpPr txBox="1"/>
          <p:nvPr/>
        </p:nvSpPr>
        <p:spPr>
          <a:xfrm>
            <a:off x="66751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Collaborate</a:t>
            </a:r>
          </a:p>
        </p:txBody>
      </p:sp>
      <p:sp>
        <p:nvSpPr>
          <p:cNvPr id="13" name="TextBox 12"/>
          <p:cNvSpPr txBox="1"/>
          <p:nvPr/>
        </p:nvSpPr>
        <p:spPr>
          <a:xfrm>
            <a:off x="667512" y="3392424"/>
            <a:ext cx="3264408"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Inspect code and discuss options while the engineer guides the next step.</a:t>
            </a:r>
          </a:p>
        </p:txBody>
      </p:sp>
      <p:sp>
        <p:nvSpPr>
          <p:cNvPr id="14" name="Rounded Rectangle 13"/>
          <p:cNvSpPr/>
          <p:nvPr/>
        </p:nvSpPr>
        <p:spPr>
          <a:xfrm>
            <a:off x="429768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STRUCTURE</a:t>
            </a:r>
          </a:p>
        </p:txBody>
      </p:sp>
      <p:sp>
        <p:nvSpPr>
          <p:cNvPr id="16" name="TextBox 15"/>
          <p:cNvSpPr txBox="1"/>
          <p:nvPr/>
        </p:nvSpPr>
        <p:spPr>
          <a:xfrm>
            <a:off x="446227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Specify</a:t>
            </a:r>
          </a:p>
        </p:txBody>
      </p:sp>
      <p:sp>
        <p:nvSpPr>
          <p:cNvPr id="17" name="TextBox 16"/>
          <p:cNvSpPr txBox="1"/>
          <p:nvPr/>
        </p:nvSpPr>
        <p:spPr>
          <a:xfrm>
            <a:off x="4462272" y="3392424"/>
            <a:ext cx="3264408"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Review requirements, design and implementation tasks before execution.</a:t>
            </a:r>
          </a:p>
        </p:txBody>
      </p:sp>
      <p:sp>
        <p:nvSpPr>
          <p:cNvPr id="18" name="Rounded Rectangle 17"/>
          <p:cNvSpPr/>
          <p:nvPr/>
        </p:nvSpPr>
        <p:spPr>
          <a:xfrm>
            <a:off x="809244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AUTONOMOUS</a:t>
            </a:r>
          </a:p>
        </p:txBody>
      </p:sp>
      <p:sp>
        <p:nvSpPr>
          <p:cNvPr id="20" name="TextBox 19"/>
          <p:cNvSpPr txBox="1"/>
          <p:nvPr/>
        </p:nvSpPr>
        <p:spPr>
          <a:xfrm>
            <a:off x="825703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Delegate</a:t>
            </a:r>
          </a:p>
        </p:txBody>
      </p:sp>
      <p:sp>
        <p:nvSpPr>
          <p:cNvPr id="21" name="TextBox 20"/>
          <p:cNvSpPr txBox="1"/>
          <p:nvPr/>
        </p:nvSpPr>
        <p:spPr>
          <a:xfrm>
            <a:off x="8257032" y="3392424"/>
            <a:ext cx="3264408"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Let the agent plan, implement and return reviewable repository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USE CASE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Use case · request-ID propagation</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concrete contract constrains the change before the first edit.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03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01:45–03:15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K03, K08</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Contract field</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Proposed value</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Why it matters</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Outcome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Propagate an approved request ID</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Observable behavior, not “improve tracing”</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Scope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Middleware + outbound HTTP client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No broad framework refactor</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Non-goals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No API or tracing-platform migration</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Avoid hidden scope expansion</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Evidence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Focused diff + fresh test and CI results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Reviewer can verify completion</a:t>
                      </a:r>
                    </a:p>
                  </a:txBody>
                  <a:tcPr marL="128016" marR="128016" marT="82296" marB="54864">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Specifications record expected behavior and non-goals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approve behavior and non-goals before accepting implementation work.</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04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03:15–04:30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K08</a:t>
            </a:r>
          </a:p>
        </p:txBody>
      </p:sp>
      <p:sp>
        <p:nvSpPr>
          <p:cNvPr id="10" name="Rounded Rectangle 9"/>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01</a:t>
            </a:r>
          </a:p>
        </p:txBody>
      </p:sp>
      <p:sp>
        <p:nvSpPr>
          <p:cNvPr id="12" name="TextBox 11"/>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3" name="TextBox 12"/>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Feature request or reproduced defect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Repository constraints and preserved behavior</a:t>
            </a:r>
          </a:p>
        </p:txBody>
      </p:sp>
      <p:sp>
        <p:nvSpPr>
          <p:cNvPr id="14" name="Rounded Rectangle 13"/>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02</a:t>
            </a:r>
          </a:p>
        </p:txBody>
      </p:sp>
      <p:sp>
        <p:nvSpPr>
          <p:cNvPr id="16" name="TextBox 15"/>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7" name="TextBox 16"/>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Produce requirements or bug analysis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Develop a design and ordered implementation tasks</a:t>
            </a:r>
          </a:p>
        </p:txBody>
      </p:sp>
      <p:sp>
        <p:nvSpPr>
          <p:cNvPr id="18" name="Rounded Rectangle 17"/>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03</a:t>
            </a:r>
          </a:p>
        </p:txBody>
      </p:sp>
      <p:sp>
        <p:nvSpPr>
          <p:cNvPr id="20" name="TextBox 19"/>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1" name="TextBox 20"/>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requirements.md or bugfix.md</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design.md and tasks.md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Repository understanding and test generation</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a test must challenge the requirement; generated test code alone is not a pass.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05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04:30–05:30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K03, K09, K10</a:t>
            </a:r>
          </a:p>
        </p:txBody>
      </p:sp>
      <p:sp>
        <p:nvSpPr>
          <p:cNvPr id="10" name="Rounded Rectangle 9"/>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01</a:t>
            </a:r>
          </a:p>
        </p:txBody>
      </p:sp>
      <p:sp>
        <p:nvSpPr>
          <p:cNvPr id="12" name="TextBox 11"/>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3" name="TextBox 12"/>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Selected repository, branch and relevant files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Known request trace or failing test</a:t>
            </a:r>
          </a:p>
        </p:txBody>
      </p:sp>
      <p:sp>
        <p:nvSpPr>
          <p:cNvPr id="14" name="Rounded Rectangle 13"/>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02</a:t>
            </a:r>
          </a:p>
        </p:txBody>
      </p:sp>
      <p:sp>
        <p:nvSpPr>
          <p:cNvPr id="16" name="TextBox 15"/>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7" name="TextBox 16"/>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Read and explain code; modify a scoped implementation</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Run available checks and inspect UI behavior in the sandbox</a:t>
            </a:r>
          </a:p>
        </p:txBody>
      </p:sp>
      <p:sp>
        <p:nvSpPr>
          <p:cNvPr id="18" name="Rounded Rectangle 17"/>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03</a:t>
            </a:r>
          </a:p>
        </p:txBody>
      </p:sp>
      <p:sp>
        <p:nvSpPr>
          <p:cNvPr id="20" name="TextBox 19"/>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1" name="TextBox 20"/>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Cited code path and candidate patch</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Test files, execution output and verification observations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Cloud sandbox: configure the execution boundary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sandbox isolation is not permission to call production systems.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06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05:30–06:30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K10, K19, K20</a:t>
            </a:r>
          </a:p>
        </p:txBody>
      </p:sp>
      <p:sp>
        <p:nvSpPr>
          <p:cNvPr id="10" name="Rounded Rectangle 9"/>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01</a:t>
            </a:r>
          </a:p>
        </p:txBody>
      </p:sp>
      <p:sp>
        <p:nvSpPr>
          <p:cNvPr id="12" name="TextBox 11"/>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3" name="TextBox 12"/>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Connected source, dependency requirements and allowed endpoints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Only the environment variables and secrets the task needs</a:t>
            </a:r>
          </a:p>
        </p:txBody>
      </p:sp>
      <p:sp>
        <p:nvSpPr>
          <p:cNvPr id="14" name="Rounded Rectangle 13"/>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02</a:t>
            </a:r>
          </a:p>
        </p:txBody>
      </p:sp>
      <p:sp>
        <p:nvSpPr>
          <p:cNvPr id="16" name="TextBox 15"/>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7" name="TextBox 16"/>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Clone and work in an isolated execution environment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Apply documented network and environment configuration</a:t>
            </a:r>
          </a:p>
        </p:txBody>
      </p:sp>
      <p:sp>
        <p:nvSpPr>
          <p:cNvPr id="18" name="Rounded Rectangle 17"/>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03</a:t>
            </a:r>
          </a:p>
        </p:txBody>
      </p:sp>
      <p:sp>
        <p:nvSpPr>
          <p:cNvPr id="20" name="TextBox 19"/>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1" name="TextBox 20"/>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reproducible work environment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Changes and check results ready for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GitHub, GitLab and cross-repository work</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Repository access and review artifacts remain provider-specific.</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07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06:30–07:30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K06, K07, K04</a:t>
            </a:r>
          </a:p>
        </p:txBody>
      </p:sp>
      <p:sp>
        <p:nvSpPr>
          <p:cNvPr id="10" name="Rounded Rectangle 9"/>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SETUP</a:t>
            </a:r>
          </a:p>
        </p:txBody>
      </p:sp>
      <p:sp>
        <p:nvSpPr>
          <p:cNvPr id="12" name="TextBox 11"/>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Authorize</a:t>
            </a:r>
          </a:p>
        </p:txBody>
      </p:sp>
      <p:sp>
        <p:nvSpPr>
          <p:cNvPr id="13" name="TextBox 12"/>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Repository integration plus the user’s access.</a:t>
            </a:r>
          </a:p>
        </p:txBody>
      </p:sp>
      <p:sp>
        <p:nvSpPr>
          <p:cNvPr id="14" name="Rounded Rectangle 13"/>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TRIGGER</a:t>
            </a:r>
          </a:p>
        </p:txBody>
      </p:sp>
      <p:sp>
        <p:nvSpPr>
          <p:cNvPr id="16" name="TextBox 15"/>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Assign</a:t>
            </a:r>
          </a:p>
        </p:txBody>
      </p:sp>
      <p:sp>
        <p:nvSpPr>
          <p:cNvPr id="17" name="TextBox 16"/>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A scoped chat task or supported issue workflow.</a:t>
            </a:r>
          </a:p>
        </p:txBody>
      </p:sp>
      <p:sp>
        <p:nvSpPr>
          <p:cNvPr id="18" name="Rounded Rectangle 17"/>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WORK</a:t>
            </a:r>
          </a:p>
        </p:txBody>
      </p:sp>
      <p:sp>
        <p:nvSpPr>
          <p:cNvPr id="20" name="TextBox 19"/>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Coordinate</a:t>
            </a:r>
          </a:p>
        </p:txBody>
      </p:sp>
      <p:sp>
        <p:nvSpPr>
          <p:cNvPr id="21" name="TextBox 20"/>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Inspect dependencies across selected repositories.</a:t>
            </a:r>
          </a:p>
        </p:txBody>
      </p:sp>
      <p:sp>
        <p:nvSpPr>
          <p:cNvPr id="22" name="Rounded Rectangle 21"/>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OUTPUT</a:t>
            </a:r>
          </a:p>
        </p:txBody>
      </p:sp>
      <p:sp>
        <p:nvSpPr>
          <p:cNvPr id="24" name="TextBox 23"/>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Review</a:t>
            </a:r>
          </a:p>
        </p:txBody>
      </p:sp>
      <p:sp>
        <p:nvSpPr>
          <p:cNvPr id="25" name="TextBox 24"/>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Separate PRs/MRs, checks and human merge decisions.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DEMONSTRATION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Demo 1 · request ID from task to PR</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Specify and review request-ID propagation without changing the public API.</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08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08:00 allocated  |  07:30–15:30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K03, K04, K08, K09</a:t>
            </a:r>
          </a:p>
        </p:txBody>
      </p:sp>
      <p:sp>
        <p:nvSpPr>
          <p:cNvPr id="10" name="Rounded Rectangle 9"/>
          <p:cNvSpPr/>
          <p:nvPr/>
        </p:nvSpPr>
        <p:spPr>
          <a:xfrm>
            <a:off x="502920" y="2295144"/>
            <a:ext cx="11183112" cy="969264"/>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432304"/>
            <a:ext cx="10789920" cy="713232"/>
          </a:xfrm>
          <a:prstGeom prst="rect">
            <a:avLst/>
          </a:prstGeom>
          <a:noFill/>
        </p:spPr>
        <p:txBody>
          <a:bodyPr wrap="square" lIns="0" rIns="0" tIns="0" bIns="0" anchor="t">
            <a:spAutoFit/>
          </a:bodyPr>
          <a:lstStyle/>
          <a:p>
            <a:pPr>
              <a:lnSpc>
                <a:spcPct val="112000"/>
              </a:lnSpc>
              <a:spcAft>
                <a:spcPts val="300"/>
              </a:spcAft>
              <a:defRPr sz="1500" b="0">
                <a:solidFill>
                  <a:srgbClr val="FFFFFF"/>
                </a:solidFill>
                <a:latin typeface="Arial"/>
              </a:defRPr>
            </a:pPr>
            <a:r>
              <a:t>Plan request-ID propagation in checkout-api. Preserve public APIs and unrelated behavior. First show requirements, design and tasks. Cite relevant files. After plan approval, implement the scoped change, run repository checks and open a PR; do not merge.</a:t>
            </a:r>
          </a:p>
        </p:txBody>
      </p:sp>
      <p:sp>
        <p:nvSpPr>
          <p:cNvPr id="12" name="TextBox 11"/>
          <p:cNvSpPr txBox="1"/>
          <p:nvPr/>
        </p:nvSpPr>
        <p:spPr>
          <a:xfrm>
            <a:off x="502920" y="342900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PREFLIGHT</a:t>
            </a:r>
          </a:p>
        </p:txBody>
      </p:sp>
      <p:sp>
        <p:nvSpPr>
          <p:cNvPr id="13" name="TextBox 12"/>
          <p:cNvSpPr txBox="1"/>
          <p:nvPr/>
        </p:nvSpPr>
        <p:spPr>
          <a:xfrm>
            <a:off x="502920" y="368503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Prepare a test repository, an approved spec and a completed PR; document whether evidence is live or replayed.</a:t>
            </a:r>
          </a:p>
        </p:txBody>
      </p:sp>
      <p:sp>
        <p:nvSpPr>
          <p:cNvPr id="14" name="TextBox 13"/>
          <p:cNvSpPr txBox="1"/>
          <p:nvPr/>
        </p:nvSpPr>
        <p:spPr>
          <a:xfrm>
            <a:off x="502920" y="438912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SUCCESS</a:t>
            </a:r>
          </a:p>
        </p:txBody>
      </p:sp>
      <p:sp>
        <p:nvSpPr>
          <p:cNvPr id="15" name="TextBox 14"/>
          <p:cNvSpPr txBox="1"/>
          <p:nvPr/>
        </p:nvSpPr>
        <p:spPr>
          <a:xfrm>
            <a:off x="502920" y="464515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A focused diff with requirement-linked tests and an explicit human review decision.</a:t>
            </a:r>
          </a:p>
        </p:txBody>
      </p:sp>
      <p:sp>
        <p:nvSpPr>
          <p:cNvPr id="16" name="TextBox 15"/>
          <p:cNvSpPr txBox="1"/>
          <p:nvPr/>
        </p:nvSpPr>
        <p:spPr>
          <a:xfrm>
            <a:off x="502920" y="534924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FALLBACK</a:t>
            </a:r>
          </a:p>
        </p:txBody>
      </p:sp>
      <p:sp>
        <p:nvSpPr>
          <p:cNvPr id="17" name="TextBox 16"/>
          <p:cNvSpPr txBox="1"/>
          <p:nvPr/>
        </p:nvSpPr>
        <p:spPr>
          <a:xfrm>
            <a:off x="502920" y="560527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Use the prepared spec, diff and test output after 60 seconds without usable progress; inspect rather than imply live completion.</a:t>
            </a:r>
          </a:p>
        </p:txBody>
      </p:sp>
      <p:sp>
        <p:nvSpPr>
          <p:cNvPr id="18" name="Rounded Rectangle 17"/>
          <p:cNvSpPr/>
          <p:nvPr/>
        </p:nvSpPr>
        <p:spPr>
          <a:xfrm>
            <a:off x="4096512" y="341071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33672" y="352044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01:00</a:t>
            </a:r>
          </a:p>
        </p:txBody>
      </p:sp>
      <p:sp>
        <p:nvSpPr>
          <p:cNvPr id="20" name="TextBox 19"/>
          <p:cNvSpPr txBox="1"/>
          <p:nvPr/>
        </p:nvSpPr>
        <p:spPr>
          <a:xfrm>
            <a:off x="4937760" y="348386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Agree the contract</a:t>
            </a:r>
          </a:p>
        </p:txBody>
      </p:sp>
      <p:sp>
        <p:nvSpPr>
          <p:cNvPr id="21" name="TextBox 20"/>
          <p:cNvSpPr txBox="1"/>
          <p:nvPr/>
        </p:nvSpPr>
        <p:spPr>
          <a:xfrm>
            <a:off x="4937760" y="368503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Confirm missing-ID behavior, scope and non-goals.</a:t>
            </a:r>
          </a:p>
        </p:txBody>
      </p:sp>
      <p:sp>
        <p:nvSpPr>
          <p:cNvPr id="22" name="Rounded Rectangle 21"/>
          <p:cNvSpPr/>
          <p:nvPr/>
        </p:nvSpPr>
        <p:spPr>
          <a:xfrm>
            <a:off x="4096512" y="3966667"/>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33672" y="407639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02:00</a:t>
            </a:r>
          </a:p>
        </p:txBody>
      </p:sp>
      <p:sp>
        <p:nvSpPr>
          <p:cNvPr id="24" name="TextBox 23"/>
          <p:cNvSpPr txBox="1"/>
          <p:nvPr/>
        </p:nvSpPr>
        <p:spPr>
          <a:xfrm>
            <a:off x="4937760" y="403981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Review the spec</a:t>
            </a:r>
          </a:p>
        </p:txBody>
      </p:sp>
      <p:sp>
        <p:nvSpPr>
          <p:cNvPr id="25" name="TextBox 24"/>
          <p:cNvSpPr txBox="1"/>
          <p:nvPr/>
        </p:nvSpPr>
        <p:spPr>
          <a:xfrm>
            <a:off x="4937760" y="4240987"/>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Inspect requirements, affected components and the planned tests.</a:t>
            </a:r>
          </a:p>
        </p:txBody>
      </p:sp>
      <p:sp>
        <p:nvSpPr>
          <p:cNvPr id="26" name="Rounded Rectangle 25"/>
          <p:cNvSpPr/>
          <p:nvPr/>
        </p:nvSpPr>
        <p:spPr>
          <a:xfrm>
            <a:off x="4096512" y="452262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33672" y="463235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02:00</a:t>
            </a:r>
          </a:p>
        </p:txBody>
      </p:sp>
      <p:sp>
        <p:nvSpPr>
          <p:cNvPr id="28" name="TextBox 27"/>
          <p:cNvSpPr txBox="1"/>
          <p:nvPr/>
        </p:nvSpPr>
        <p:spPr>
          <a:xfrm>
            <a:off x="4937760" y="459577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execution</a:t>
            </a:r>
          </a:p>
        </p:txBody>
      </p:sp>
      <p:sp>
        <p:nvSpPr>
          <p:cNvPr id="29" name="TextBox 28"/>
          <p:cNvSpPr txBox="1"/>
          <p:nvPr/>
        </p:nvSpPr>
        <p:spPr>
          <a:xfrm>
            <a:off x="4937760" y="479694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Start the task or open the prepared completed session.</a:t>
            </a:r>
          </a:p>
        </p:txBody>
      </p:sp>
      <p:sp>
        <p:nvSpPr>
          <p:cNvPr id="30" name="Rounded Rectangle 29"/>
          <p:cNvSpPr/>
          <p:nvPr/>
        </p:nvSpPr>
        <p:spPr>
          <a:xfrm>
            <a:off x="4096512" y="5078577"/>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33672" y="518830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01:30</a:t>
            </a:r>
          </a:p>
        </p:txBody>
      </p:sp>
      <p:sp>
        <p:nvSpPr>
          <p:cNvPr id="32" name="TextBox 31"/>
          <p:cNvSpPr txBox="1"/>
          <p:nvPr/>
        </p:nvSpPr>
        <p:spPr>
          <a:xfrm>
            <a:off x="4937760" y="515172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test evidence</a:t>
            </a:r>
          </a:p>
        </p:txBody>
      </p:sp>
      <p:sp>
        <p:nvSpPr>
          <p:cNvPr id="33" name="TextBox 32"/>
          <p:cNvSpPr txBox="1"/>
          <p:nvPr/>
        </p:nvSpPr>
        <p:spPr>
          <a:xfrm>
            <a:off x="4937760" y="5352897"/>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Show a meaningful failure case and fresh check output.</a:t>
            </a:r>
          </a:p>
        </p:txBody>
      </p:sp>
      <p:sp>
        <p:nvSpPr>
          <p:cNvPr id="34" name="Rounded Rectangle 33"/>
          <p:cNvSpPr/>
          <p:nvPr/>
        </p:nvSpPr>
        <p:spPr>
          <a:xfrm>
            <a:off x="4096512" y="563453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33672" y="574426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01:30</a:t>
            </a:r>
          </a:p>
        </p:txBody>
      </p:sp>
      <p:sp>
        <p:nvSpPr>
          <p:cNvPr id="36" name="TextBox 35"/>
          <p:cNvSpPr txBox="1"/>
          <p:nvPr/>
        </p:nvSpPr>
        <p:spPr>
          <a:xfrm>
            <a:off x="4937760" y="570768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Review the PR</a:t>
            </a:r>
          </a:p>
        </p:txBody>
      </p:sp>
      <p:sp>
        <p:nvSpPr>
          <p:cNvPr id="37" name="TextBox 36"/>
          <p:cNvSpPr txBox="1"/>
          <p:nvPr/>
        </p:nvSpPr>
        <p:spPr>
          <a:xfrm>
            <a:off x="4937760" y="590885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Trace changed files to requirements; keep merge manual.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Review feedback requires a new validated change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verify the latest revision, not the first green result.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09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15:30–16:45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K04, K06</a:t>
            </a:r>
          </a:p>
        </p:txBody>
      </p:sp>
      <p:sp>
        <p:nvSpPr>
          <p:cNvPr id="10" name="Rounded Rectangle 9"/>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01</a:t>
            </a:r>
          </a:p>
        </p:txBody>
      </p:sp>
      <p:sp>
        <p:nvSpPr>
          <p:cNvPr id="12" name="TextBox 11"/>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3" name="TextBox 12"/>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PR/MR comments and an exact revision</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CI output or a reproducible failing check</a:t>
            </a:r>
          </a:p>
        </p:txBody>
      </p:sp>
      <p:sp>
        <p:nvSpPr>
          <p:cNvPr id="14" name="Rounded Rectangle 13"/>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02</a:t>
            </a:r>
          </a:p>
        </p:txBody>
      </p:sp>
      <p:sp>
        <p:nvSpPr>
          <p:cNvPr id="16" name="TextBox 15"/>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7" name="TextBox 16"/>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Respond to supported review commands and feedback</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Update the change and rerun relevant checks</a:t>
            </a:r>
          </a:p>
        </p:txBody>
      </p:sp>
      <p:sp>
        <p:nvSpPr>
          <p:cNvPr id="18" name="Rounded Rectangle 17"/>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03</a:t>
            </a:r>
          </a:p>
        </p:txBody>
      </p:sp>
      <p:sp>
        <p:nvSpPr>
          <p:cNvPr id="20" name="TextBox 19"/>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1" name="TextBox 20"/>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revised patch and check evidence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visible explanation of changes and remaining limits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Scheduled tasks require repository scope and review</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review recurring changes and prevent unbounded pull-request creation.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10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16:45–17:45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K11</a:t>
            </a:r>
          </a:p>
        </p:txBody>
      </p:sp>
      <p:sp>
        <p:nvSpPr>
          <p:cNvPr id="10" name="Rounded Rectangle 9"/>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01</a:t>
            </a:r>
          </a:p>
        </p:txBody>
      </p:sp>
      <p:sp>
        <p:nvSpPr>
          <p:cNvPr id="12" name="TextBox 11"/>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3" name="TextBox 12"/>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recurring prompt, selected repositories and schedule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maintenance policy with explicit limits</a:t>
            </a:r>
          </a:p>
        </p:txBody>
      </p:sp>
      <p:sp>
        <p:nvSpPr>
          <p:cNvPr id="14" name="Rounded Rectangle 13"/>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02</a:t>
            </a:r>
          </a:p>
        </p:txBody>
      </p:sp>
      <p:sp>
        <p:nvSpPr>
          <p:cNvPr id="16" name="TextBox 15"/>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7" name="TextBox 16"/>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Run the task in autonomous mode on schedule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Prepare changes when there is useful work to review</a:t>
            </a:r>
          </a:p>
        </p:txBody>
      </p:sp>
      <p:sp>
        <p:nvSpPr>
          <p:cNvPr id="18" name="Rounded Rectangle 17"/>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03</a:t>
            </a:r>
          </a:p>
        </p:txBody>
      </p:sp>
      <p:sp>
        <p:nvSpPr>
          <p:cNvPr id="20" name="TextBox 19"/>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1" name="TextBox 20"/>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tracked run and PR/MR where applicable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An inspectable recurring maintenance queue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DEMONSTRATION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Demo 2 · bounded dependency maintenance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Configure one weekly repository task and review an example output.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11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05:00 allocated  |  17:45–22:45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K11, K06</a:t>
            </a:r>
          </a:p>
        </p:txBody>
      </p:sp>
      <p:sp>
        <p:nvSpPr>
          <p:cNvPr id="10" name="Rounded Rectangle 9"/>
          <p:cNvSpPr/>
          <p:nvPr/>
        </p:nvSpPr>
        <p:spPr>
          <a:xfrm>
            <a:off x="502920" y="2295144"/>
            <a:ext cx="11183112" cy="969264"/>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432304"/>
            <a:ext cx="10789920" cy="713232"/>
          </a:xfrm>
          <a:prstGeom prst="rect">
            <a:avLst/>
          </a:prstGeom>
          <a:noFill/>
        </p:spPr>
        <p:txBody>
          <a:bodyPr wrap="square" lIns="0" rIns="0" tIns="0" bIns="0" anchor="t">
            <a:spAutoFit/>
          </a:bodyPr>
          <a:lstStyle/>
          <a:p>
            <a:pPr>
              <a:lnSpc>
                <a:spcPct val="112000"/>
              </a:lnSpc>
              <a:spcAft>
                <a:spcPts val="300"/>
              </a:spcAft>
              <a:defRPr sz="1500" b="0">
                <a:solidFill>
                  <a:srgbClr val="FFFFFF"/>
                </a:solidFill>
                <a:latin typeface="Arial"/>
              </a:defRPr>
            </a:pPr>
            <a:r>
              <a:t>Each week, inspect only the approved development dependency group. Exclude major-version changes and unrelated files. Run the repository checks. Open a small PR when an update is justified; otherwise report no change. Do not merge.</a:t>
            </a:r>
          </a:p>
        </p:txBody>
      </p:sp>
      <p:sp>
        <p:nvSpPr>
          <p:cNvPr id="12" name="TextBox 11"/>
          <p:cNvSpPr txBox="1"/>
          <p:nvPr/>
        </p:nvSpPr>
        <p:spPr>
          <a:xfrm>
            <a:off x="502920" y="342900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PREFLIGHT</a:t>
            </a:r>
          </a:p>
        </p:txBody>
      </p:sp>
      <p:sp>
        <p:nvSpPr>
          <p:cNvPr id="13" name="TextBox 12"/>
          <p:cNvSpPr txBox="1"/>
          <p:nvPr/>
        </p:nvSpPr>
        <p:spPr>
          <a:xfrm>
            <a:off x="502920" y="368503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Use a non-production repository and prepare a completed sample run; do not wait for the next scheduled trigger.</a:t>
            </a:r>
          </a:p>
        </p:txBody>
      </p:sp>
      <p:sp>
        <p:nvSpPr>
          <p:cNvPr id="14" name="TextBox 13"/>
          <p:cNvSpPr txBox="1"/>
          <p:nvPr/>
        </p:nvSpPr>
        <p:spPr>
          <a:xfrm>
            <a:off x="502920" y="438912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SUCCESS</a:t>
            </a:r>
          </a:p>
        </p:txBody>
      </p:sp>
      <p:sp>
        <p:nvSpPr>
          <p:cNvPr id="15" name="TextBox 14"/>
          <p:cNvSpPr txBox="1"/>
          <p:nvPr/>
        </p:nvSpPr>
        <p:spPr>
          <a:xfrm>
            <a:off x="502920" y="464515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A limited, reviewable maintenance task with a named owner and a disabled-by-default rehearsal setup.</a:t>
            </a:r>
          </a:p>
        </p:txBody>
      </p:sp>
      <p:sp>
        <p:nvSpPr>
          <p:cNvPr id="16" name="TextBox 15"/>
          <p:cNvSpPr txBox="1"/>
          <p:nvPr/>
        </p:nvSpPr>
        <p:spPr>
          <a:xfrm>
            <a:off x="502920" y="5349240"/>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FALLBACK</a:t>
            </a:r>
          </a:p>
        </p:txBody>
      </p:sp>
      <p:sp>
        <p:nvSpPr>
          <p:cNvPr id="17" name="TextBox 16"/>
          <p:cNvSpPr txBox="1"/>
          <p:nvPr/>
        </p:nvSpPr>
        <p:spPr>
          <a:xfrm>
            <a:off x="502920" y="5605272"/>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Walk through the reviewed configuration and a labeled example PR; do not claim the schedule ran during the session.</a:t>
            </a:r>
          </a:p>
        </p:txBody>
      </p:sp>
      <p:sp>
        <p:nvSpPr>
          <p:cNvPr id="18" name="Rounded Rectangle 17"/>
          <p:cNvSpPr/>
          <p:nvPr/>
        </p:nvSpPr>
        <p:spPr>
          <a:xfrm>
            <a:off x="4096512" y="341071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33672" y="352044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00:45</a:t>
            </a:r>
          </a:p>
        </p:txBody>
      </p:sp>
      <p:sp>
        <p:nvSpPr>
          <p:cNvPr id="20" name="TextBox 19"/>
          <p:cNvSpPr txBox="1"/>
          <p:nvPr/>
        </p:nvSpPr>
        <p:spPr>
          <a:xfrm>
            <a:off x="4937760" y="348386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Choose scope</a:t>
            </a:r>
          </a:p>
        </p:txBody>
      </p:sp>
      <p:sp>
        <p:nvSpPr>
          <p:cNvPr id="21" name="TextBox 20"/>
          <p:cNvSpPr txBox="1"/>
          <p:nvPr/>
        </p:nvSpPr>
        <p:spPr>
          <a:xfrm>
            <a:off x="4937760" y="368503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One repository, dependency group and accountable reviewer.</a:t>
            </a:r>
          </a:p>
        </p:txBody>
      </p:sp>
      <p:sp>
        <p:nvSpPr>
          <p:cNvPr id="22" name="Rounded Rectangle 21"/>
          <p:cNvSpPr/>
          <p:nvPr/>
        </p:nvSpPr>
        <p:spPr>
          <a:xfrm>
            <a:off x="4096512" y="3966667"/>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33672" y="407639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00:45</a:t>
            </a:r>
          </a:p>
        </p:txBody>
      </p:sp>
      <p:sp>
        <p:nvSpPr>
          <p:cNvPr id="24" name="TextBox 23"/>
          <p:cNvSpPr txBox="1"/>
          <p:nvPr/>
        </p:nvSpPr>
        <p:spPr>
          <a:xfrm>
            <a:off x="4937760" y="403981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Write the prompt</a:t>
            </a:r>
          </a:p>
        </p:txBody>
      </p:sp>
      <p:sp>
        <p:nvSpPr>
          <p:cNvPr id="25" name="TextBox 24"/>
          <p:cNvSpPr txBox="1"/>
          <p:nvPr/>
        </p:nvSpPr>
        <p:spPr>
          <a:xfrm>
            <a:off x="4937760" y="4240987"/>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Show exclusions and required evidence.</a:t>
            </a:r>
          </a:p>
        </p:txBody>
      </p:sp>
      <p:sp>
        <p:nvSpPr>
          <p:cNvPr id="26" name="Rounded Rectangle 25"/>
          <p:cNvSpPr/>
          <p:nvPr/>
        </p:nvSpPr>
        <p:spPr>
          <a:xfrm>
            <a:off x="4096512" y="452262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33672" y="463235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01:00</a:t>
            </a:r>
          </a:p>
        </p:txBody>
      </p:sp>
      <p:sp>
        <p:nvSpPr>
          <p:cNvPr id="28" name="TextBox 27"/>
          <p:cNvSpPr txBox="1"/>
          <p:nvPr/>
        </p:nvSpPr>
        <p:spPr>
          <a:xfrm>
            <a:off x="4937760" y="459577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the setup</a:t>
            </a:r>
          </a:p>
        </p:txBody>
      </p:sp>
      <p:sp>
        <p:nvSpPr>
          <p:cNvPr id="29" name="TextBox 28"/>
          <p:cNvSpPr txBox="1"/>
          <p:nvPr/>
        </p:nvSpPr>
        <p:spPr>
          <a:xfrm>
            <a:off x="4937760" y="479694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Review cadence, repository access and enabled state.</a:t>
            </a:r>
          </a:p>
        </p:txBody>
      </p:sp>
      <p:sp>
        <p:nvSpPr>
          <p:cNvPr id="30" name="Rounded Rectangle 29"/>
          <p:cNvSpPr/>
          <p:nvPr/>
        </p:nvSpPr>
        <p:spPr>
          <a:xfrm>
            <a:off x="4096512" y="5078577"/>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33672" y="518830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01:30</a:t>
            </a:r>
          </a:p>
        </p:txBody>
      </p:sp>
      <p:sp>
        <p:nvSpPr>
          <p:cNvPr id="32" name="TextBox 31"/>
          <p:cNvSpPr txBox="1"/>
          <p:nvPr/>
        </p:nvSpPr>
        <p:spPr>
          <a:xfrm>
            <a:off x="4937760" y="515172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Review a prepared run</a:t>
            </a:r>
          </a:p>
        </p:txBody>
      </p:sp>
      <p:sp>
        <p:nvSpPr>
          <p:cNvPr id="33" name="TextBox 32"/>
          <p:cNvSpPr txBox="1"/>
          <p:nvPr/>
        </p:nvSpPr>
        <p:spPr>
          <a:xfrm>
            <a:off x="4937760" y="5352897"/>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Inspect changed files, check results and a no-change outcome.</a:t>
            </a:r>
          </a:p>
        </p:txBody>
      </p:sp>
      <p:sp>
        <p:nvSpPr>
          <p:cNvPr id="34" name="Rounded Rectangle 33"/>
          <p:cNvSpPr/>
          <p:nvPr/>
        </p:nvSpPr>
        <p:spPr>
          <a:xfrm>
            <a:off x="4096512" y="5634532"/>
            <a:ext cx="7589520" cy="501091"/>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33672" y="5744260"/>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7046A3"/>
                </a:solidFill>
                <a:latin typeface="Arial"/>
              </a:defRPr>
            </a:pPr>
            <a:r>
              <a:t>01:00</a:t>
            </a:r>
          </a:p>
        </p:txBody>
      </p:sp>
      <p:sp>
        <p:nvSpPr>
          <p:cNvPr id="36" name="TextBox 35"/>
          <p:cNvSpPr txBox="1"/>
          <p:nvPr/>
        </p:nvSpPr>
        <p:spPr>
          <a:xfrm>
            <a:off x="4937760" y="5707684"/>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Set the stop rule</a:t>
            </a:r>
          </a:p>
        </p:txBody>
      </p:sp>
      <p:sp>
        <p:nvSpPr>
          <p:cNvPr id="37" name="TextBox 36"/>
          <p:cNvSpPr txBox="1"/>
          <p:nvPr/>
        </p:nvSpPr>
        <p:spPr>
          <a:xfrm>
            <a:off x="4937760" y="5908852"/>
            <a:ext cx="6537960" cy="263347"/>
          </a:xfrm>
          <a:prstGeom prst="rect">
            <a:avLst/>
          </a:prstGeom>
          <a:noFill/>
        </p:spPr>
        <p:txBody>
          <a:bodyPr wrap="square" lIns="0" rIns="0" tIns="0" bIns="0" anchor="t">
            <a:spAutoFit/>
          </a:bodyPr>
          <a:lstStyle/>
          <a:p>
            <a:pPr>
              <a:lnSpc>
                <a:spcPct val="112000"/>
              </a:lnSpc>
              <a:spcAft>
                <a:spcPts val="300"/>
              </a:spcAft>
              <a:defRPr sz="1350" b="0">
                <a:solidFill>
                  <a:srgbClr val="182B43"/>
                </a:solidFill>
                <a:latin typeface="Arial"/>
              </a:defRPr>
            </a:pPr>
            <a:r>
              <a:t>Explain how the owner disables noisy or failing automation.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Steering and memory serve different purposes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Explicit team rules and learned context are useful—but neither is an authorization policy.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12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22:45–23:45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K13, K14</a:t>
            </a:r>
          </a:p>
        </p:txBody>
      </p:sp>
      <p:sp>
        <p:nvSpPr>
          <p:cNvPr id="10" name="Rounded Rectangle 9"/>
          <p:cNvSpPr/>
          <p:nvPr/>
        </p:nvSpPr>
        <p:spPr>
          <a:xfrm>
            <a:off x="502920"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EXPLICIT GUIDANCE</a:t>
            </a:r>
          </a:p>
        </p:txBody>
      </p:sp>
      <p:sp>
        <p:nvSpPr>
          <p:cNvPr id="12" name="TextBox 11"/>
          <p:cNvSpPr txBox="1"/>
          <p:nvPr/>
        </p:nvSpPr>
        <p:spPr>
          <a:xfrm>
            <a:off x="667512"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Steering</a:t>
            </a:r>
          </a:p>
        </p:txBody>
      </p:sp>
      <p:sp>
        <p:nvSpPr>
          <p:cNvPr id="13" name="TextBox 12"/>
          <p:cNvSpPr txBox="1"/>
          <p:nvPr/>
        </p:nvSpPr>
        <p:spPr>
          <a:xfrm>
            <a:off x="667512"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Team-authored conventions: approved test commands, repository layout, error handling and review expectations.</a:t>
            </a:r>
          </a:p>
        </p:txBody>
      </p:sp>
      <p:sp>
        <p:nvSpPr>
          <p:cNvPr id="14" name="Rounded Rectangle 13"/>
          <p:cNvSpPr/>
          <p:nvPr/>
        </p:nvSpPr>
        <p:spPr>
          <a:xfrm>
            <a:off x="6199632"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LEARNED CONTEXT</a:t>
            </a:r>
          </a:p>
        </p:txBody>
      </p:sp>
      <p:sp>
        <p:nvSpPr>
          <p:cNvPr id="16" name="TextBox 15"/>
          <p:cNvSpPr txBox="1"/>
          <p:nvPr/>
        </p:nvSpPr>
        <p:spPr>
          <a:xfrm>
            <a:off x="6364224"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Memory</a:t>
            </a:r>
          </a:p>
        </p:txBody>
      </p:sp>
      <p:sp>
        <p:nvSpPr>
          <p:cNvPr id="17" name="TextBox 16"/>
          <p:cNvSpPr txBox="1"/>
          <p:nvPr/>
        </p:nvSpPr>
        <p:spPr>
          <a:xfrm>
            <a:off x="6364224"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Learned context: useful commands, corrections and prior debugging insights recalled for later work.</a:t>
            </a:r>
          </a:p>
        </p:txBody>
      </p:sp>
      <p:sp>
        <p:nvSpPr>
          <p:cNvPr id="18" name="Rounded Rectangle 17"/>
          <p:cNvSpPr/>
          <p:nvPr/>
        </p:nvSpPr>
        <p:spPr>
          <a:xfrm>
            <a:off x="502920" y="5477256"/>
            <a:ext cx="11183112" cy="713232"/>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632704"/>
            <a:ext cx="10771632" cy="402336"/>
          </a:xfrm>
          <a:prstGeom prst="rect">
            <a:avLst/>
          </a:prstGeom>
          <a:noFill/>
        </p:spPr>
        <p:txBody>
          <a:bodyPr wrap="square" lIns="0" rIns="0" tIns="0" bIns="0" anchor="t">
            <a:spAutoFit/>
          </a:bodyPr>
          <a:lstStyle/>
          <a:p>
            <a:pPr>
              <a:lnSpc>
                <a:spcPct val="112000"/>
              </a:lnSpc>
              <a:spcAft>
                <a:spcPts val="300"/>
              </a:spcAft>
              <a:defRPr sz="1600" b="1">
                <a:solidFill>
                  <a:srgbClr val="FFFFFF"/>
                </a:solidFill>
                <a:latin typeface="Arial"/>
              </a:defRPr>
            </a:pPr>
            <a:r>
              <a:t>Recommended practice: version stable guidance; verify learned context against the current repository.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Evaluate tool integrations for a defined task</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Choose the smallest reusable mechanism that fits the task.</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13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23:45–24:45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K15, K16, K22, K23</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964692">
                <a:tc>
                  <a:txBody>
                    <a:bodyPr/>
                    <a:lstStyle/>
                    <a:p>
                      <a:pPr>
                        <a:spcAft>
                          <a:spcPts val="0"/>
                        </a:spcAft>
                        <a:defRPr sz="1600" b="1">
                          <a:solidFill>
                            <a:srgbClr val="FFFFFF"/>
                          </a:solidFill>
                          <a:latin typeface="Arial"/>
                        </a:defRPr>
                      </a:pPr>
                      <a:r>
                        <a:t>Mechanism</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What it contributes</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Review before use</a:t>
                      </a:r>
                    </a:p>
                  </a:txBody>
                  <a:tcPr marL="128016" marR="128016" marT="82296" marB="54864">
                    <a:solidFill>
                      <a:srgbClr val="10243B"/>
                    </a:solidFill>
                  </a:tcPr>
                </a:tc>
              </a:tr>
              <a:tr h="964692">
                <a:tc>
                  <a:txBody>
                    <a:bodyPr/>
                    <a:lstStyle/>
                    <a:p>
                      <a:pPr>
                        <a:spcAft>
                          <a:spcPts val="0"/>
                        </a:spcAft>
                        <a:defRPr sz="1600" b="0">
                          <a:solidFill>
                            <a:srgbClr val="182B43"/>
                          </a:solidFill>
                          <a:latin typeface="Arial"/>
                        </a:defRPr>
                      </a:pPr>
                      <a:r>
                        <a:t>MCP / Powers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Connected tools and task-specific guidance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Provider, credentials, tool effects</a:t>
                      </a:r>
                    </a:p>
                  </a:txBody>
                  <a:tcPr marL="128016" marR="128016" marT="82296" marB="54864">
                    <a:solidFill>
                      <a:srgbClr val="F1F5F8"/>
                    </a:solidFill>
                  </a:tcPr>
                </a:tc>
              </a:tr>
              <a:tr h="964692">
                <a:tc>
                  <a:txBody>
                    <a:bodyPr/>
                    <a:lstStyle/>
                    <a:p>
                      <a:pPr>
                        <a:spcAft>
                          <a:spcPts val="0"/>
                        </a:spcAft>
                        <a:defRPr sz="1600" b="0">
                          <a:solidFill>
                            <a:srgbClr val="182B43"/>
                          </a:solidFill>
                          <a:latin typeface="Arial"/>
                        </a:defRPr>
                      </a:pPr>
                      <a:r>
                        <a:t>Custom agent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Reusable role, instructions and selected configuration</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Scope and allowed capabilities</a:t>
                      </a:r>
                    </a:p>
                  </a:txBody>
                  <a:tcPr marL="128016" marR="128016" marT="82296" marB="54864">
                    <a:solidFill>
                      <a:srgbClr val="FFFFFF"/>
                    </a:solidFill>
                  </a:tcPr>
                </a:tc>
              </a:tr>
              <a:tr h="964692">
                <a:tc>
                  <a:txBody>
                    <a:bodyPr/>
                    <a:lstStyle/>
                    <a:p>
                      <a:pPr>
                        <a:spcAft>
                          <a:spcPts val="0"/>
                        </a:spcAft>
                        <a:defRPr sz="1600" b="0">
                          <a:solidFill>
                            <a:srgbClr val="182B43"/>
                          </a:solidFill>
                          <a:latin typeface="Arial"/>
                        </a:defRPr>
                      </a:pPr>
                      <a:r>
                        <a:t>Skill</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Reusable procedure and supporting resources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Commands, dependencies and assumptions</a:t>
                      </a:r>
                    </a:p>
                  </a:txBody>
                  <a:tcPr marL="128016" marR="128016" marT="82296" marB="54864">
                    <a:solidFill>
                      <a:srgbClr val="F1F5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Local hooks are not cloud automation controls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Use the capability matrix for the client actually running the work.</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14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24:45–25:45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K17, K18, K19</a:t>
            </a:r>
          </a:p>
        </p:txBody>
      </p:sp>
      <p:sp>
        <p:nvSpPr>
          <p:cNvPr id="10" name="Rounded Rectangle 9"/>
          <p:cNvSpPr/>
          <p:nvPr/>
        </p:nvSpPr>
        <p:spPr>
          <a:xfrm>
            <a:off x="502920"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LOCAL CONTROLS</a:t>
            </a:r>
          </a:p>
        </p:txBody>
      </p:sp>
      <p:sp>
        <p:nvSpPr>
          <p:cNvPr id="12" name="TextBox 11"/>
          <p:cNvSpPr txBox="1"/>
          <p:nvPr/>
        </p:nvSpPr>
        <p:spPr>
          <a:xfrm>
            <a:off x="667512"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IDE / CLI</a:t>
            </a:r>
          </a:p>
        </p:txBody>
      </p:sp>
      <p:sp>
        <p:nvSpPr>
          <p:cNvPr id="13" name="TextBox 12"/>
          <p:cNvSpPr txBox="1"/>
          <p:nvPr/>
        </p:nvSpPr>
        <p:spPr>
          <a:xfrm>
            <a:off x="667512"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Event-driven hooks can run local checks. Capability permissions define deny, ask and allow behavior.</a:t>
            </a:r>
          </a:p>
        </p:txBody>
      </p:sp>
      <p:sp>
        <p:nvSpPr>
          <p:cNvPr id="14" name="Rounded Rectangle 13"/>
          <p:cNvSpPr/>
          <p:nvPr/>
        </p:nvSpPr>
        <p:spPr>
          <a:xfrm>
            <a:off x="6199632"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CLOUD CONTROLS</a:t>
            </a:r>
          </a:p>
        </p:txBody>
      </p:sp>
      <p:sp>
        <p:nvSpPr>
          <p:cNvPr id="16" name="TextBox 15"/>
          <p:cNvSpPr txBox="1"/>
          <p:nvPr/>
        </p:nvSpPr>
        <p:spPr>
          <a:xfrm>
            <a:off x="6364224"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Web sandbox</a:t>
            </a:r>
          </a:p>
        </p:txBody>
      </p:sp>
      <p:sp>
        <p:nvSpPr>
          <p:cNvPr id="17" name="TextBox 16"/>
          <p:cNvSpPr txBox="1"/>
          <p:nvPr/>
        </p:nvSpPr>
        <p:spPr>
          <a:xfrm>
            <a:off x="6364224"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Use supported repository, network, environment and cloud controls; confirm the current feature rollout.</a:t>
            </a:r>
          </a:p>
        </p:txBody>
      </p:sp>
      <p:sp>
        <p:nvSpPr>
          <p:cNvPr id="18" name="Rounded Rectangle 17"/>
          <p:cNvSpPr/>
          <p:nvPr/>
        </p:nvSpPr>
        <p:spPr>
          <a:xfrm>
            <a:off x="502920" y="5477256"/>
            <a:ext cx="11183112" cy="713232"/>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632704"/>
            <a:ext cx="10771632" cy="402336"/>
          </a:xfrm>
          <a:prstGeom prst="rect">
            <a:avLst/>
          </a:prstGeom>
          <a:noFill/>
        </p:spPr>
        <p:txBody>
          <a:bodyPr wrap="square" lIns="0" rIns="0" tIns="0" bIns="0" anchor="t">
            <a:spAutoFit/>
          </a:bodyPr>
          <a:lstStyle/>
          <a:p>
            <a:pPr>
              <a:lnSpc>
                <a:spcPct val="112000"/>
              </a:lnSpc>
              <a:spcAft>
                <a:spcPts val="300"/>
              </a:spcAft>
              <a:defRPr sz="1700" b="1">
                <a:solidFill>
                  <a:srgbClr val="FFFFFF"/>
                </a:solidFill>
                <a:latin typeface="Arial"/>
              </a:defRPr>
            </a:pPr>
            <a:r>
              <a:t>Do not copy a local permission or hook configuration and assume it protects a Web task.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Workflow definitions specify steps and handoffs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bound retries and verify account/client availability before relying on a workflow.</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15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25:45–27:15</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K24, K22</a:t>
            </a:r>
          </a:p>
        </p:txBody>
      </p:sp>
      <p:sp>
        <p:nvSpPr>
          <p:cNvPr id="10" name="Rounded Rectangle 9"/>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01</a:t>
            </a:r>
          </a:p>
        </p:txBody>
      </p:sp>
      <p:sp>
        <p:nvSpPr>
          <p:cNvPr id="12" name="TextBox 11"/>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3" name="TextBox 12"/>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bounded outcome and requested review structure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Selected agents, explicit handoffs and stopping limits</a:t>
            </a:r>
          </a:p>
        </p:txBody>
      </p:sp>
      <p:sp>
        <p:nvSpPr>
          <p:cNvPr id="14" name="Rounded Rectangle 13"/>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02</a:t>
            </a:r>
          </a:p>
        </p:txBody>
      </p:sp>
      <p:sp>
        <p:nvSpPr>
          <p:cNvPr id="16" name="TextBox 15"/>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7" name="TextBox 16"/>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Run a graph of steps, branches, loops and waits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Inspect, steer or stop work through the supported client controls</a:t>
            </a:r>
          </a:p>
        </p:txBody>
      </p:sp>
      <p:sp>
        <p:nvSpPr>
          <p:cNvPr id="18" name="Rounded Rectangle 17"/>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03</a:t>
            </a:r>
          </a:p>
        </p:txBody>
      </p:sp>
      <p:sp>
        <p:nvSpPr>
          <p:cNvPr id="20" name="TextBox 19"/>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1" name="TextBox 20"/>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Step-specific results and linked artifacts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reusable recipe when the process is worth repeating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Resume work and recover with the correct mechanism</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Session continuity, local rewind and Git recovery are not interchangeable.</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16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27:15–28:30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K02, K21, K10</a:t>
            </a:r>
          </a:p>
        </p:txBody>
      </p:sp>
      <p:sp>
        <p:nvSpPr>
          <p:cNvPr id="10" name="Rounded Rectangle 9"/>
          <p:cNvSpPr/>
          <p:nvPr/>
        </p:nvSpPr>
        <p:spPr>
          <a:xfrm>
            <a:off x="50292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SESSION</a:t>
            </a:r>
          </a:p>
        </p:txBody>
      </p:sp>
      <p:sp>
        <p:nvSpPr>
          <p:cNvPr id="12" name="TextBox 11"/>
          <p:cNvSpPr txBox="1"/>
          <p:nvPr/>
        </p:nvSpPr>
        <p:spPr>
          <a:xfrm>
            <a:off x="66751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Continue</a:t>
            </a:r>
          </a:p>
        </p:txBody>
      </p:sp>
      <p:sp>
        <p:nvSpPr>
          <p:cNvPr id="13" name="TextBox 12"/>
          <p:cNvSpPr txBox="1"/>
          <p:nvPr/>
        </p:nvSpPr>
        <p:spPr>
          <a:xfrm>
            <a:off x="667512" y="3392424"/>
            <a:ext cx="3264408"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Resume the supported cloud session and inspect its current task state.</a:t>
            </a:r>
          </a:p>
        </p:txBody>
      </p:sp>
      <p:sp>
        <p:nvSpPr>
          <p:cNvPr id="14" name="Rounded Rectangle 13"/>
          <p:cNvSpPr/>
          <p:nvPr/>
        </p:nvSpPr>
        <p:spPr>
          <a:xfrm>
            <a:off x="429768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LOCAL</a:t>
            </a:r>
          </a:p>
        </p:txBody>
      </p:sp>
      <p:sp>
        <p:nvSpPr>
          <p:cNvPr id="16" name="TextBox 15"/>
          <p:cNvSpPr txBox="1"/>
          <p:nvPr/>
        </p:nvSpPr>
        <p:spPr>
          <a:xfrm>
            <a:off x="446227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Restore locally</a:t>
            </a:r>
          </a:p>
        </p:txBody>
      </p:sp>
      <p:sp>
        <p:nvSpPr>
          <p:cNvPr id="17" name="TextBox 16"/>
          <p:cNvSpPr txBox="1"/>
          <p:nvPr/>
        </p:nvSpPr>
        <p:spPr>
          <a:xfrm>
            <a:off x="4462272" y="3392424"/>
            <a:ext cx="3264408"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Use documented checkpoints/rewind only for their supported surface.</a:t>
            </a:r>
          </a:p>
        </p:txBody>
      </p:sp>
      <p:sp>
        <p:nvSpPr>
          <p:cNvPr id="18" name="Rounded Rectangle 17"/>
          <p:cNvSpPr/>
          <p:nvPr/>
        </p:nvSpPr>
        <p:spPr>
          <a:xfrm>
            <a:off x="809244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TEAM</a:t>
            </a:r>
          </a:p>
        </p:txBody>
      </p:sp>
      <p:sp>
        <p:nvSpPr>
          <p:cNvPr id="20" name="TextBox 19"/>
          <p:cNvSpPr txBox="1"/>
          <p:nvPr/>
        </p:nvSpPr>
        <p:spPr>
          <a:xfrm>
            <a:off x="825703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Recover a change</a:t>
            </a:r>
          </a:p>
        </p:txBody>
      </p:sp>
      <p:sp>
        <p:nvSpPr>
          <p:cNvPr id="21" name="TextBox 20"/>
          <p:cNvSpPr txBox="1"/>
          <p:nvPr/>
        </p:nvSpPr>
        <p:spPr>
          <a:xfrm>
            <a:off x="8257032" y="3392424"/>
            <a:ext cx="3264408"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Use reviewed Git history and normal deployment rollback procedures.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BOUNDARIES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IaC, CI diagnosis and runbooks are composed workflows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General coding tools help; specialist validation still determines correctness.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17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28:30–30:00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K03, K09, K17</a:t>
            </a:r>
          </a:p>
        </p:txBody>
      </p:sp>
      <p:graphicFrame>
        <p:nvGraphicFramePr>
          <p:cNvPr id="10" name="Table 9"/>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964692">
                <a:tc>
                  <a:txBody>
                    <a:bodyPr/>
                    <a:lstStyle/>
                    <a:p>
                      <a:pPr>
                        <a:spcAft>
                          <a:spcPts val="0"/>
                        </a:spcAft>
                        <a:defRPr sz="1600" b="1">
                          <a:solidFill>
                            <a:srgbClr val="FFFFFF"/>
                          </a:solidFill>
                          <a:latin typeface="Arial"/>
                        </a:defRPr>
                      </a:pPr>
                      <a:r>
                        <a:t>Example job</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Useful agent output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Required external check</a:t>
                      </a:r>
                    </a:p>
                  </a:txBody>
                  <a:tcPr marL="128016" marR="128016" marT="82296" marB="54864">
                    <a:solidFill>
                      <a:srgbClr val="10243B"/>
                    </a:solidFill>
                  </a:tcPr>
                </a:tc>
              </a:tr>
              <a:tr h="964692">
                <a:tc>
                  <a:txBody>
                    <a:bodyPr/>
                    <a:lstStyle/>
                    <a:p>
                      <a:pPr>
                        <a:spcAft>
                          <a:spcPts val="0"/>
                        </a:spcAft>
                        <a:defRPr sz="1600" b="0">
                          <a:solidFill>
                            <a:srgbClr val="182B43"/>
                          </a:solidFill>
                          <a:latin typeface="Arial"/>
                        </a:defRPr>
                      </a:pPr>
                      <a:r>
                        <a:t>Explain a Terraform change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Scoped candidate diff and reasoning</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Format, validate, policy checks and plan review</a:t>
                      </a:r>
                    </a:p>
                  </a:txBody>
                  <a:tcPr marL="128016" marR="128016" marT="82296" marB="54864">
                    <a:solidFill>
                      <a:srgbClr val="F1F5F8"/>
                    </a:solidFill>
                  </a:tcPr>
                </a:tc>
              </a:tr>
              <a:tr h="964692">
                <a:tc>
                  <a:txBody>
                    <a:bodyPr/>
                    <a:lstStyle/>
                    <a:p>
                      <a:pPr>
                        <a:spcAft>
                          <a:spcPts val="0"/>
                        </a:spcAft>
                        <a:defRPr sz="1600" b="0">
                          <a:solidFill>
                            <a:srgbClr val="182B43"/>
                          </a:solidFill>
                          <a:latin typeface="Arial"/>
                        </a:defRPr>
                      </a:pPr>
                      <a:r>
                        <a:t>Diagnose a build failure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Evidence-linked hypothesis and patch</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Rerun the same CI command on the new commit</a:t>
                      </a:r>
                    </a:p>
                  </a:txBody>
                  <a:tcPr marL="128016" marR="128016" marT="82296" marB="54864">
                    <a:solidFill>
                      <a:srgbClr val="FFFFFF"/>
                    </a:solidFill>
                  </a:tcPr>
                </a:tc>
              </a:tr>
              <a:tr h="964692">
                <a:tc>
                  <a:txBody>
                    <a:bodyPr/>
                    <a:lstStyle/>
                    <a:p>
                      <a:pPr>
                        <a:spcAft>
                          <a:spcPts val="0"/>
                        </a:spcAft>
                        <a:defRPr sz="1600" b="0">
                          <a:solidFill>
                            <a:srgbClr val="182B43"/>
                          </a:solidFill>
                          <a:latin typeface="Arial"/>
                        </a:defRPr>
                      </a:pPr>
                      <a:r>
                        <a:t>Draft a runbook</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Prerequisites, steps and rollback draft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Owner rehearsal in a safe environment</a:t>
                      </a:r>
                    </a:p>
                  </a:txBody>
                  <a:tcPr marL="128016" marR="128016" marT="82296" marB="54864">
                    <a:solidFill>
                      <a:srgbClr val="F1F5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CLOSE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Measure accepted changes, review effort and rework</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Expand scope only if acceptance, review effort and failure metrics support it.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18 / 18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02:00 allocated  |  30:00–32:00</a:t>
            </a:r>
          </a:p>
        </p:txBody>
      </p:sp>
      <p:sp>
        <p:nvSpPr>
          <p:cNvPr id="9" name="TextBox 8"/>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K02, K04, K11</a:t>
            </a:r>
          </a:p>
        </p:txBody>
      </p:sp>
      <p:sp>
        <p:nvSpPr>
          <p:cNvPr id="10" name="Rounded Rectangle 9"/>
          <p:cNvSpPr/>
          <p:nvPr/>
        </p:nvSpPr>
        <p:spPr>
          <a:xfrm>
            <a:off x="50292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Week 1</a:t>
            </a:r>
          </a:p>
        </p:txBody>
      </p:sp>
      <p:sp>
        <p:nvSpPr>
          <p:cNvPr id="12" name="TextBox 11"/>
          <p:cNvSpPr txBox="1"/>
          <p:nvPr/>
        </p:nvSpPr>
        <p:spPr>
          <a:xfrm>
            <a:off x="66751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Repository access, test environment and baseline task.</a:t>
            </a:r>
          </a:p>
        </p:txBody>
      </p:sp>
      <p:sp>
        <p:nvSpPr>
          <p:cNvPr id="13" name="Rounded Rectangle 12"/>
          <p:cNvSpPr/>
          <p:nvPr/>
        </p:nvSpPr>
        <p:spPr>
          <a:xfrm>
            <a:off x="429768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Weeks 2–3</a:t>
            </a:r>
          </a:p>
        </p:txBody>
      </p:sp>
      <p:sp>
        <p:nvSpPr>
          <p:cNvPr id="15" name="TextBox 14"/>
          <p:cNvSpPr txBox="1"/>
          <p:nvPr/>
        </p:nvSpPr>
        <p:spPr>
          <a:xfrm>
            <a:off x="446227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One spec-driven change; then one bounded automation.</a:t>
            </a:r>
          </a:p>
        </p:txBody>
      </p:sp>
      <p:sp>
        <p:nvSpPr>
          <p:cNvPr id="16" name="Rounded Rectangle 15"/>
          <p:cNvSpPr/>
          <p:nvPr/>
        </p:nvSpPr>
        <p:spPr>
          <a:xfrm>
            <a:off x="809244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Week 4</a:t>
            </a:r>
          </a:p>
        </p:txBody>
      </p:sp>
      <p:sp>
        <p:nvSpPr>
          <p:cNvPr id="18" name="TextBox 17"/>
          <p:cNvSpPr txBox="1"/>
          <p:nvPr/>
        </p:nvSpPr>
        <p:spPr>
          <a:xfrm>
            <a:off x="825703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Review acceptance, correction effort and cost; expand or stop.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C01 · Understand a repository before editing</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Web · interactive mode · Native; connected repository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Inspect connected code, discuss implementation choices, and iterate on a change in a selected branch.</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Connect GitHub or GitLab and select the relevant repository and branch. Start with a narrowly scoped question.</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Repository map and file/symbol references for the investigated path.</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Follow the cited call path yourself and compare it with a known request or test trace.</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The accessible repository is the evidence base. A plausible explanation is not proof that the runtime behaves as described.</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S03, S09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950" b="1">
                <a:solidFill>
                  <a:srgbClr val="182B43"/>
                </a:solidFill>
                <a:latin typeface="Arial"/>
              </a:defRPr>
            </a:pPr>
            <a:r>
              <a:t>C02 · Plan a feature with requirements, design, and tasks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 CLI / Web · specifications · Native structured workflow</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Feature specifications separate requirements, technical design, and implementation tasks before execution.</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Provide the desired outcome, constraints, non-goals, and acceptance evidence; select the appropriate specification workflow.</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Versioned requirements, design decisions, implementation tasks, and open questions.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Review requirements and design against actual service contracts; reject tasks that expand the agreed scope.</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Spec capabilities vary by interface. Requirements analysis and correctness/property-based tooling are not uniformly available in Web.</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850" b="1">
                <a:solidFill>
                  <a:srgbClr val="182B43"/>
                </a:solidFill>
                <a:latin typeface="Arial"/>
              </a:defRPr>
            </a:pPr>
            <a:r>
              <a:t>C03 · Specify a bug fix without changing unrelated behavior</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 CLI / Web · bugfix specifications · Native structured workflow</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Bugfix specifications distinguish current behavior, expected behavior, and behavior that must remain unchanged.</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Provide a minimal reproduction, relevant input, expected output, and regression constraints.</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Current/expected behavior specification with preservation constraints and regression cases.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Require a failing regression test before the change and the same test passing afterward.</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The specification is not evidence that the bug is reproduced or the fix is correct.</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900" b="1">
                <a:solidFill>
                  <a:srgbClr val="182B43"/>
                </a:solidFill>
                <a:latin typeface="Arial"/>
              </a:defRPr>
            </a:pPr>
            <a:r>
              <a:t>C04 · Delegate a bounded outcome through to a pull request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Web / cloud sessions · autonomous mode · Native autonomous execution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Autonomous mode can plan work, delegate sub-agents, implement, verify, and open a pull request or merge request.</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Use an eligible plan, connected repositories, a functioning sandbox, explicit acceptance criteria, and a named human reviewer.</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Pull request with scoped diff, execution output, and unresolved review points.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Inspect the full diff and actual test output; apply ordinary review and branch-protection rules.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It is off by default, can pause for input, and may return an answer instead of a code change. It does not merge into the default branch.</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S04, S02, S12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C05 · Coordinate a change across repositories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Web · GitHub and GitLab · Native; provider connections required</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 task can span multiple repositories, including mixed GitHub and GitLab projects, with a separate PR or MR for each.</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Connect only trusted repositories; validate tokens, write access, default branches, and cross-repository dependency order.</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Repository-specific diffs with a cross-repository dependency and review checklist.</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Run consumer compatibility checks and review whether either change can be deployed independently.</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Provider access is not implied by the repository picker. GitLab token scope and network reachability matter; VPC-only private GitLab is not supported.</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S05, S07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C06 · Assign a GitHub issue to the agent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Web · GitHub integration · Native issue trigger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The documented GitHub flow delegates an issue using the kiro label or a /kiro comment.</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Install the Kiro GitHub app on selected repositories; give the issue a reproduction and completion criteria.</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GitHub issue, delegated task, resulting change proposal, and reviewer decision.</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Confirm one task owns the issue and that its resulting PR addresses the issue rather than unrelated cleanup.</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The app must have repository access and the assigning user needs suitable write access. Multiple assignments can create duplicate tasks.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950" b="1">
                <a:solidFill>
                  <a:srgbClr val="182B43"/>
                </a:solidFill>
                <a:latin typeface="Arial"/>
              </a:defRPr>
            </a:pPr>
            <a:r>
              <a:t>C07 · Iterate on review feedback and supplied CI failures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Web · GitHub feedback flow · Native PR interaction; trigger restrictions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Kiro can address explicit PR feedback through documented commands, including /kiro all or /kiro fix for a thread.</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Keep the task creator responsible for feedback and attach the failing job, commit, and test output.</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Updated PR diff with link to comments, failing checks, and verification reruns.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Confirm a fresh CI run validates the new commit rather than relying on a previous green result.</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The GitHub flow responds to the task creator’s instructions. Automated CI feedback is addressed when user feedback triggers work; do not assume every failed build causes an autonomous retry.</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C08 · Write tests and verify a UI in the sandbox</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Cloud sandbox; local tools where configured · Native tools; project test setup required</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Code and shell tools support test-writing workflows; the cloud sandbox includes browser tooling for UI inspection and verification.</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Provide reproducible fixtures, test commands, dependency access, and a non-production application endpoint when required.</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Test source, runner output, and UI/browser evidence when applicable.</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Review assertions, fixture realism, screenshots where relevant, and captured command exit status.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Available tools do not guarantee adequate coverage, reliable assertions, or access to every test dependency.</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S09, S10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C09 · Schedule small repository-maintenance jobs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Web · paid-plan automations · Native recurring autonomous tasks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Automations run a stored prompt against connected repositories on a schedule and can produce reviewable changes.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650" b="0">
                <a:solidFill>
                  <a:srgbClr val="182B43"/>
                </a:solidFill>
                <a:latin typeface="Arial"/>
              </a:defRPr>
            </a:pPr>
            <a:r>
              <a:t>Define a narrow prompt, repository selection, recurrence, and responsible reviewer; inspect the schedule before activating it.</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Scheduled task record, proposed maintenance diff, and assigned reviewer.</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Check the UTC-to-local conversion, inspect the first run, and disable the automation when ownership or usefulness lapses.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Schedules use UTC and cannot run more often than hourly. Repeated runs still need output review and consumption monitoring.</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C10 · Continue cloud work from another client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 CLI / Web · cloud sessions · Native session continuity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Cloud sessions run in a managed environment and can be resumed or steered from supported Kiro clients.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Enable Cloud Sessions where required and ensure the intended branch and commit are available to the cloud session.</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Cloud-session record, applied changes, and the final reviewed artifact.</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Compare the cloud commit with the intended local change before continuing or reviewing output.</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The service clones repository content server-side. Unsaved or unpushed local working-copy changes are not automatically uploaded.</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C11 · Apply team conventions through steering</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Documented · interface and access requirements apply · Native context configuration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650" b="0">
                <a:solidFill>
                  <a:srgbClr val="182B43"/>
                </a:solidFill>
                <a:latin typeface="Arial"/>
              </a:defRPr>
            </a:pPr>
            <a:r>
              <a:t>Workspace steering and AGENTS.md can carry repository conventions, architecture guidance, and expected engineering practices.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Commit concise project guidance and explicitly load necessary resources for custom agents; handle personal cloud context through supported sync.</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Versioned steering file with documented conventions and a change-review record.</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Check which instructions actually loaded and verify compliance in the resulting diff.</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Steering is instruction context, not an access-control boundary. Custom agents do not automatically inherit all steering resources.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000" b="1">
                <a:solidFill>
                  <a:srgbClr val="182B43"/>
                </a:solidFill>
                <a:latin typeface="Arial"/>
              </a:defRPr>
            </a:pPr>
            <a:r>
              <a:t>C12 · Reuse learned context without treating it as truth</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Documented · interface and access requirements apply · Native memory capability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Memory retains short reusable context such as recurring preferences or useful engineering knowledge, distinct from explicit steering.</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Keep authoritative decisions in version-controlled documentation; review recalled context when the project changes.</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Inspectable stored context and a correction record when recalled information is wrong.</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Correct outdated assumptions and assess the result against current files and tests, not remembered assertions.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It is not a complete conversation transcript or an authoritative record of the current system.</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C13 · Connect specialist tools using MCP and Powers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 CLI / Web · configuration varies · Configured integration, not automatic connectivity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MCP connects external tools; Powers bundle tools with relevant knowledge and workflows for use when needed.</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Vet the tool provider, allow only necessary operations, and connect a non-production or read-only scope first.</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Named MCP/Powers integration scope and records of calls affecting external systems.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Inspect tool provenance, permissions, and returned evidence; do not accept instructions embedded in external content as authority.</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Access requires configured servers, credentials, and dependencies. Installing guidance does not grant safe or correct access to an external system.</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S15, S16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C14 · Run repeatable local checks with hooks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 CLI only · not Web · Native event-triggered configuration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Configured hooks can invoke shell commands or agent prompts after relevant development events.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Choose a specific trigger and a bounded formatter, linter, or test action; review the command before enabling it.</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Hook configuration, invoked commands, exit status, and repository changes.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Confirm the hook fires on the intended event and cannot recursively trigger uncontrolled work.</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Web and Mobile do not support event-driven hooks in the documented matrix. Hook actions can have side effects.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C15 · Separate local permissions from cloud controls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 CLI permissions; separate Web sandbox · Native control configuration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Local permissions support scoped allow, ask, and deny rules for tool capabilities. Web instead uses its managed cloud execution controls.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Start with read-only local diagnostics; review sandbox access separately before enabling cloud changes.</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Permission rules and negative test showing blocked out-of-scope operations.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Test a harmless denied operation and confirm the actual client’s control behavior.</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Local per-action approval behavior must not be assumed to protect a cloud run. An approved shell or external tool can still have broad effects.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950" b="1">
                <a:solidFill>
                  <a:srgbClr val="182B43"/>
                </a:solidFill>
                <a:latin typeface="Arial"/>
              </a:defRPr>
            </a:pPr>
            <a:r>
              <a:t>C16 · Configure sandbox dependencies, egress, and secrets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Web sandbox · Native sandbox configuration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Sandbox settings control network access and provide environment variables or secrets for authorized task dependencies.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Use trusted repositories, minimal test credentials, and a narrow network allow-list; avoid broad AWS production access.</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Sandbox configuration including approved egress, injected settings, and secret-handling checks.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Review allowed endpoints and logs, rotate temporary credentials, and inspect changes for accidental disclosure.</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Encryption at rest does not prevent a task from exposing secrets through code, logs, or external requests. Isolation is not permission to provide production credentials.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S19, S20, S10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850" b="1">
                <a:solidFill>
                  <a:srgbClr val="182B43"/>
                </a:solidFill>
                <a:latin typeface="Arial"/>
              </a:defRPr>
            </a:pPr>
            <a:r>
              <a:t>C17 · Recover local work with the correct restore mechanism</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file checkpoints; CLI conversation rewind · Native; different semantics by client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IDE checkpoints can restore files and conversation context. CLI rewind forks conversation context but does not revert files.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Use version control alongside the client feature and record the commit before a change.</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Restoration record or new branch/fork demonstrating which work state was recovered.</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Inspect git status and external side effects explicitly; do not infer restored files from a rewound conversation.</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Neither capability is available as a Web file-rollback mechanism; neither reverses changes to external infrastructure.</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650" b="1">
                <a:solidFill>
                  <a:srgbClr val="182B43"/>
                </a:solidFill>
                <a:latin typeface="Arial"/>
              </a:defRPr>
            </a:pPr>
            <a:r>
              <a:t>C18 · Diagnose IaC or pipeline failures using supplied evidence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600" b="0">
                <a:solidFill>
                  <a:srgbClr val="55657A"/>
                </a:solidFill>
                <a:latin typeface="Arial"/>
              </a:defRPr>
            </a:pPr>
            <a:r>
              <a:t>Use supported coding tools; environment setup required · Application of documented file and shell tools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550" b="0">
                <a:solidFill>
                  <a:srgbClr val="182B43"/>
                </a:solidFill>
                <a:latin typeface="Arial"/>
              </a:defRPr>
            </a:pPr>
            <a:r>
              <a:t>A practical workflow is to provide Terraform, CloudFormation, CDK, or pipeline files plus a failure log and request a minimal proposed fix.</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Provide redacted logs, the exact tool version, relevant files, and safe validation commands.</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Evidence-backed failure analysis, proposed file change, and independent command output.</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Rerun the organization’s existing plan, lint, and policy checks in the intended environment and review all resource changes.</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This is not a separately documented universal IaC validator, a connected CI monitoring service, or authorization to deploy.</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S09, S18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C19 · Reuse a specialist custom agent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IDE / CLI primary agents; Web sub-agent delegation · Native configuration; client-specific behavior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Custom agents define focused instructions, tools, and context. Web can delegate to project-level agents committed in .kiro/agents/.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Version-control the agent configuration and include only the tools and resources needed for its task.</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Custom-agent configuration, scoped task result, and approval of its output.</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Check the effective tool list and confirm the reviewer’s evidence is independent of the implementation summary.</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 custom agent cannot be selected as the primary Web session agent. Local profiles and cloud-loaded configurations have different scope.</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S22, S13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C20 · Package a repeatable team procedure as a skill</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IDE / CLI / Web · workspace skills · Native reusable instruction package</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Skills package instructions, reference material, and optional scripts for relevant tasks, with workspace scope suitable for shared procedures.</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Create a focused SKILL.md under .kiro/skills/ and commit reviewed supporting material.</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Versioned skill instructions and a reproducibility review for included scripts.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Validate the included changes, excluded work, and output format against the intended release.</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A skill is not inherently a security sandbox. Scripts and instructions must be reviewed before the agent uses them.</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S23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2700" b="1">
                <a:solidFill>
                  <a:srgbClr val="182B43"/>
                </a:solidFill>
                <a:latin typeface="Arial"/>
              </a:defRPr>
            </a:pPr>
            <a:r>
              <a:t>C21 · Orchestrate a repeatable multi-step engineering workflow</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Opt-in · account rollout and client controls vary · Native workflow graph; optional advanced setup</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Rounded Rectangle 8"/>
          <p:cNvSpPr/>
          <p:nvPr/>
        </p:nvSpPr>
        <p:spPr>
          <a:xfrm>
            <a:off x="502920"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DOCUMENTED FUNCTION</a:t>
            </a:r>
          </a:p>
        </p:txBody>
      </p:sp>
      <p:sp>
        <p:nvSpPr>
          <p:cNvPr id="11" name="TextBox 10"/>
          <p:cNvSpPr txBox="1"/>
          <p:nvPr/>
        </p:nvSpPr>
        <p:spPr>
          <a:xfrm>
            <a:off x="658368"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Workflows define steps, handoffs, parallel branches, loops, and completion conditions; recipes can be saved for reuse.</a:t>
            </a:r>
          </a:p>
        </p:txBody>
      </p:sp>
      <p:sp>
        <p:nvSpPr>
          <p:cNvPr id="12" name="Rounded Rectangle 11"/>
          <p:cNvSpPr/>
          <p:nvPr/>
        </p:nvSpPr>
        <p:spPr>
          <a:xfrm>
            <a:off x="4288536"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3983"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INVOCATION &amp; SCOPE</a:t>
            </a:r>
          </a:p>
        </p:txBody>
      </p:sp>
      <p:sp>
        <p:nvSpPr>
          <p:cNvPr id="14" name="TextBox 13"/>
          <p:cNvSpPr txBox="1"/>
          <p:nvPr/>
        </p:nvSpPr>
        <p:spPr>
          <a:xfrm>
            <a:off x="4443983"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Enable the feature where available, cap loops, name required evidence, and keep a human merge decision.</a:t>
            </a:r>
          </a:p>
        </p:txBody>
      </p:sp>
      <p:sp>
        <p:nvSpPr>
          <p:cNvPr id="15" name="Rounded Rectangle 14"/>
          <p:cNvSpPr/>
          <p:nvPr/>
        </p:nvSpPr>
        <p:spPr>
          <a:xfrm>
            <a:off x="8074152" y="2286000"/>
            <a:ext cx="3611880" cy="1856231"/>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32304"/>
            <a:ext cx="3291840" cy="256032"/>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RETAINED RECORD · PROPOSED</a:t>
            </a:r>
          </a:p>
        </p:txBody>
      </p:sp>
      <p:sp>
        <p:nvSpPr>
          <p:cNvPr id="17" name="TextBox 16"/>
          <p:cNvSpPr txBox="1"/>
          <p:nvPr/>
        </p:nvSpPr>
        <p:spPr>
          <a:xfrm>
            <a:off x="8229600" y="2779776"/>
            <a:ext cx="3273552" cy="1316736"/>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Workflow definition, per-step artifacts, failures, handoffs, and completion status.</a:t>
            </a:r>
          </a:p>
        </p:txBody>
      </p:sp>
      <p:sp>
        <p:nvSpPr>
          <p:cNvPr id="18" name="Rounded Rectangle 17"/>
          <p:cNvSpPr/>
          <p:nvPr/>
        </p:nvSpPr>
        <p:spPr>
          <a:xfrm>
            <a:off x="502920" y="4315968"/>
            <a:ext cx="5486400" cy="177393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462272"/>
            <a:ext cx="5166360" cy="246888"/>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INDEPENDENT ACCEPTANCE · PROPOSED</a:t>
            </a:r>
          </a:p>
        </p:txBody>
      </p:sp>
      <p:sp>
        <p:nvSpPr>
          <p:cNvPr id="20" name="TextBox 19"/>
          <p:cNvSpPr txBox="1"/>
          <p:nvPr/>
        </p:nvSpPr>
        <p:spPr>
          <a:xfrm>
            <a:off x="658368"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Inspect handoff artifacts and each step’s result. A completed graph is not proof of a correct release.</a:t>
            </a:r>
          </a:p>
        </p:txBody>
      </p:sp>
      <p:sp>
        <p:nvSpPr>
          <p:cNvPr id="21" name="Rounded Rectangle 20"/>
          <p:cNvSpPr/>
          <p:nvPr/>
        </p:nvSpPr>
        <p:spPr>
          <a:xfrm>
            <a:off x="6190488" y="4315968"/>
            <a:ext cx="5495544" cy="1773936"/>
          </a:xfrm>
          <a:prstGeom prst="roundRect">
            <a:avLst>
              <a:gd name="adj" fmla="val 8000"/>
            </a:avLst>
          </a:prstGeom>
          <a:solidFill>
            <a:srgbClr val="FCF9F1"/>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4462272"/>
            <a:ext cx="5184648" cy="246888"/>
          </a:xfrm>
          <a:prstGeom prst="rect">
            <a:avLst/>
          </a:prstGeom>
          <a:noFill/>
        </p:spPr>
        <p:txBody>
          <a:bodyPr wrap="square" lIns="0" rIns="0" tIns="0" bIns="0" anchor="t">
            <a:spAutoFit/>
          </a:bodyPr>
          <a:lstStyle/>
          <a:p>
            <a:pPr>
              <a:lnSpc>
                <a:spcPct val="112000"/>
              </a:lnSpc>
              <a:spcAft>
                <a:spcPts val="300"/>
              </a:spcAft>
              <a:defRPr sz="1050" b="1">
                <a:solidFill>
                  <a:srgbClr val="8B5B1C"/>
                </a:solidFill>
                <a:latin typeface="Arial"/>
              </a:defRPr>
            </a:pPr>
            <a:r>
              <a:t>KNOWN LIMITS AND EFFECTS</a:t>
            </a:r>
          </a:p>
        </p:txBody>
      </p:sp>
      <p:sp>
        <p:nvSpPr>
          <p:cNvPr id="23" name="TextBox 22"/>
          <p:cNvSpPr txBox="1"/>
          <p:nvPr/>
        </p:nvSpPr>
        <p:spPr>
          <a:xfrm>
            <a:off x="6345936" y="4837176"/>
            <a:ext cx="5148072" cy="1078992"/>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This is distinct from autonomous mode. Workflows require opt-in; an absent setting can mean the account lacks access. Multi-agent work can consume more tokens.</a:t>
            </a:r>
          </a:p>
        </p:txBody>
      </p:sp>
      <p:sp>
        <p:nvSpPr>
          <p:cNvPr id="24" name="TextBox 23"/>
          <p:cNvSpPr txBox="1"/>
          <p:nvPr/>
        </p:nvSpPr>
        <p:spPr>
          <a:xfrm>
            <a:off x="521207" y="6208776"/>
            <a:ext cx="10881360" cy="155448"/>
          </a:xfrm>
          <a:prstGeom prst="rect">
            <a:avLst/>
          </a:prstGeom>
          <a:noFill/>
        </p:spPr>
        <p:txBody>
          <a:bodyPr wrap="square" lIns="0" rIns="0" tIns="0" bIns="0" anchor="t">
            <a:spAutoFit/>
          </a:bodyPr>
          <a:lstStyle/>
          <a:p>
            <a:pPr>
              <a:lnSpc>
                <a:spcPct val="112000"/>
              </a:lnSpc>
              <a:spcAft>
                <a:spcPts val="300"/>
              </a:spcAft>
              <a:defRPr sz="950" b="0">
                <a:solidFill>
                  <a:srgbClr val="55657A"/>
                </a:solidFill>
                <a:latin typeface="Arial"/>
              </a:defRPr>
            </a:pPr>
            <a:r>
              <a:t>Official source IDs: S24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7046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7046A3"/>
                </a:solidFill>
                <a:latin typeface="Arial"/>
              </a:defRPr>
            </a:pPr>
            <a:r>
              <a:t>KIRO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Official evidence and delivery boundary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Use the linked product documentation and the complete report source register.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Kiro</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TextBox 8"/>
          <p:cNvSpPr txBox="1"/>
          <p:nvPr/>
        </p:nvSpPr>
        <p:spPr>
          <a:xfrm>
            <a:off x="594360" y="2331720"/>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7046A3"/>
                </a:solidFill>
                <a:latin typeface="Arial"/>
              </a:defRPr>
            </a:pPr>
            <a:r>
              <a:rPr>
                <a:hlinkClick r:id="rId3"/>
              </a:rPr>
              <a:t>K02  Kiro Web</a:t>
            </a:r>
          </a:p>
        </p:txBody>
      </p:sp>
      <p:sp>
        <p:nvSpPr>
          <p:cNvPr id="10" name="TextBox 9"/>
          <p:cNvSpPr txBox="1"/>
          <p:nvPr/>
        </p:nvSpPr>
        <p:spPr>
          <a:xfrm>
            <a:off x="594360" y="2862072"/>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7046A3"/>
                </a:solidFill>
                <a:latin typeface="Arial"/>
              </a:defRPr>
            </a:pPr>
            <a:r>
              <a:rPr>
                <a:hlinkClick r:id="rId4"/>
              </a:rPr>
              <a:t>K03  Working with the agent</a:t>
            </a:r>
          </a:p>
        </p:txBody>
      </p:sp>
      <p:sp>
        <p:nvSpPr>
          <p:cNvPr id="11" name="TextBox 10"/>
          <p:cNvSpPr txBox="1"/>
          <p:nvPr/>
        </p:nvSpPr>
        <p:spPr>
          <a:xfrm>
            <a:off x="594360" y="3392424"/>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7046A3"/>
                </a:solidFill>
                <a:latin typeface="Arial"/>
              </a:defRPr>
            </a:pPr>
            <a:r>
              <a:rPr>
                <a:hlinkClick r:id="rId5"/>
              </a:rPr>
              <a:t>K04  Autonomous mode</a:t>
            </a:r>
          </a:p>
        </p:txBody>
      </p:sp>
      <p:sp>
        <p:nvSpPr>
          <p:cNvPr id="12" name="TextBox 11"/>
          <p:cNvSpPr txBox="1"/>
          <p:nvPr/>
        </p:nvSpPr>
        <p:spPr>
          <a:xfrm>
            <a:off x="594360" y="3922775"/>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7046A3"/>
                </a:solidFill>
                <a:latin typeface="Arial"/>
              </a:defRPr>
            </a:pPr>
            <a:r>
              <a:rPr>
                <a:hlinkClick r:id="rId6"/>
              </a:rPr>
              <a:t>K06  GitHub integration</a:t>
            </a:r>
          </a:p>
        </p:txBody>
      </p:sp>
      <p:sp>
        <p:nvSpPr>
          <p:cNvPr id="13" name="TextBox 12"/>
          <p:cNvSpPr txBox="1"/>
          <p:nvPr/>
        </p:nvSpPr>
        <p:spPr>
          <a:xfrm>
            <a:off x="594360" y="4453127"/>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7046A3"/>
                </a:solidFill>
                <a:latin typeface="Arial"/>
              </a:defRPr>
            </a:pPr>
            <a:r>
              <a:rPr>
                <a:hlinkClick r:id="rId7"/>
              </a:rPr>
              <a:t>K07  GitLab integration</a:t>
            </a:r>
          </a:p>
        </p:txBody>
      </p:sp>
      <p:sp>
        <p:nvSpPr>
          <p:cNvPr id="14" name="TextBox 13"/>
          <p:cNvSpPr txBox="1"/>
          <p:nvPr/>
        </p:nvSpPr>
        <p:spPr>
          <a:xfrm>
            <a:off x="594360" y="4983479"/>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7046A3"/>
                </a:solidFill>
                <a:latin typeface="Arial"/>
              </a:defRPr>
            </a:pPr>
            <a:r>
              <a:rPr>
                <a:hlinkClick r:id="rId8"/>
              </a:rPr>
              <a:t>K08  Specifications</a:t>
            </a:r>
          </a:p>
        </p:txBody>
      </p:sp>
      <p:sp>
        <p:nvSpPr>
          <p:cNvPr id="15" name="TextBox 14"/>
          <p:cNvSpPr txBox="1"/>
          <p:nvPr/>
        </p:nvSpPr>
        <p:spPr>
          <a:xfrm>
            <a:off x="594360" y="5660136"/>
            <a:ext cx="10927080" cy="475488"/>
          </a:xfrm>
          <a:prstGeom prst="rect">
            <a:avLst/>
          </a:prstGeom>
          <a:noFill/>
        </p:spPr>
        <p:txBody>
          <a:bodyPr wrap="square" lIns="0" rIns="0" tIns="0" bIns="0" anchor="t">
            <a:spAutoFit/>
          </a:bodyPr>
          <a:lstStyle/>
          <a:p>
            <a:pPr>
              <a:lnSpc>
                <a:spcPct val="112000"/>
              </a:lnSpc>
              <a:spcAft>
                <a:spcPts val="300"/>
              </a:spcAft>
              <a:defRPr sz="1500" b="0">
                <a:solidFill>
                  <a:srgbClr val="55657A"/>
                </a:solidFill>
                <a:latin typeface="Arial"/>
              </a:defRPr>
            </a:pPr>
            <a:r>
              <a:t>Complete source URLs are embedded in speaker notes. Demo slots include fallback walkthroughs; questions and breaks are additional.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Kiro — engineering field guide</dc:title>
  <dc:subject>Source-aligned publication edition; timed demonstrations and official documentation.</dc:subject>
  <dc:creator>Frontier agents documentation</dc:creator>
  <cp:keywords/>
  <dc:description>Independent synthesis. No live AWS execution or measured benefit is claimed.</dc:description>
  <cp:lastModifiedBy>Steve Canny</cp:lastModifiedBy>
  <cp:revision>1</cp:revision>
  <dcterms:created xsi:type="dcterms:W3CDTF">2013-01-27T09:14:16Z</dcterms:created>
  <dcterms:modified xsi:type="dcterms:W3CDTF">2013-01-27T09:15:58Z</dcterms:modified>
  <cp:category/>
</cp:coreProperties>
</file>