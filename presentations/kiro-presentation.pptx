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00:00–00:45; allocated 00:45.</a:t>
            </a:r>
          </a:p>
          <a:p/>
          <a:p>
            <a:r>
              <a:t>This presentation follows a request-ID propagation change in checkout-api and a small scheduled maintenance job. It separates Kiro Web’s cloud work from local IDE and CLI controls. Access depends on plan, administrator enablement and feature rollout; current documentation also labels Web as preview in some pages. Do not apply a blanket general-availability statement across every client. The merge decision stays with the team.</a:t>
            </a:r>
          </a:p>
          <a:p/>
          <a:p>
            <a:r>
              <a:t>Official evidence:</a:t>
            </a:r>
          </a:p>
          <a:p>
            <a:r>
              <a:t>K02 — Kiro Web: https://kiro.dev/docs/web/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00:45–01:45; allocated 01:00.</a:t>
            </a:r>
          </a:p>
          <a:p/>
          <a:p>
            <a:r>
              <a:t>When the design is unclear, work interactively. When behavior needs to be agreed before implementation, use a spec. When the outcome is bounded and sufficiently clear, delegate it through autonomous mode. These are not mandatory sequential stages. The demonstration chooses spec-first planning deliberately; it does not imply that every autonomous task must begin with a user-authored spec.</a:t>
            </a:r>
          </a:p>
          <a:p/>
          <a:p>
            <a:r>
              <a:t>Official evidence:</a:t>
            </a:r>
          </a:p>
          <a:p>
            <a:r>
              <a:t>K02 — Kiro Web: https://kiro.dev/docs/web/</a:t>
            </a:r>
          </a:p>
          <a:p>
            <a:r>
              <a:t>K03 — Working with the agent: https://kiro.dev/docs/web/using-the-agent/</a:t>
            </a:r>
          </a:p>
          <a:p>
            <a:r>
              <a:t>K04 — Autonomous mode: https://kiro.dev/docs/web/autonomous-mode/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01:45–03:15; allocated 01:30.</a:t>
            </a:r>
          </a:p>
          <a:p/>
          <a:p>
            <a:r>
              <a:t>The example asks for an inbound request ID to be preserved on outbound calls. The team must first define behavior when the inbound value is missing or invalid. That policy is not an agent decision to make silently. Limit the work to middleware and the HTTP client, preserve public APIs, and name the tests that will demonstrate success. This task contract is our recommended practice, built on documented repository and spec capabilities.</a:t>
            </a:r>
          </a:p>
          <a:p/>
          <a:p>
            <a:r>
              <a:t>Official evidence:</a:t>
            </a:r>
          </a:p>
          <a:p>
            <a:r>
              <a:t>K03 — Working with the agent: https://kiro.dev/docs/web/using-the-agent/</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03:15–04:30; allocated 01:15.</a:t>
            </a:r>
          </a:p>
          <a:p/>
          <a:p>
            <a:r>
              <a:t>A feature spec captures requirements and acceptance criteria. A bugfix spec makes the defect and unaffected behavior explicit. The design connects requirements to existing components; the task list makes execution reviewable. Not every advanced spec capability exists on every client, so check the documented support matrix. Treat the three artifacts as editable engineering agreements rather than evidence that the code is already correct.</a:t>
            </a:r>
          </a:p>
          <a:p/>
          <a:p>
            <a:r>
              <a:t>Official evidence:</a:t>
            </a:r>
          </a:p>
          <a:p>
            <a:r>
              <a:t>K08 — Specifications: https://kiro.dev/docs/specs/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04:30–05:30; allocated 01:00.</a:t>
            </a:r>
          </a:p>
          <a:p/>
          <a:p>
            <a:r>
              <a:t>Ask Kiro to cite the files and symbols it inspected. Then compare the explanation with a known execution path. Test generation is useful when the tests would fail for the original defect, exercise an important boundary and execute successfully in the chosen environment. A browser check can strengthen UI verification, but it does not establish coverage of every user journey.</a:t>
            </a:r>
          </a:p>
          <a:p/>
          <a:p>
            <a:r>
              <a:t>Official evidence:</a:t>
            </a:r>
          </a:p>
          <a:p>
            <a:r>
              <a:t>K03 — Working with the agent: https://kiro.dev/docs/web/using-the-agent/</a:t>
            </a:r>
          </a:p>
          <a:p>
            <a:r>
              <a:t>K09 — Built-in tools: https://kiro.dev/docs/tools/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05:30–06:30; allocated 01:00.</a:t>
            </a:r>
          </a:p>
          <a:p/>
          <a:p>
            <a:r>
              <a:t>The sandbox is where cloud work executes. Dependency access, network settings and injected credentials determine what it can reach. A test command can still call an external API when credentials and connectivity permit it. Keep production credentials out of a development demonstration and use disposable services. Secrets can be exposed through program output or requests, so review both code and environment configuration.</a:t>
            </a:r>
          </a:p>
          <a:p/>
          <a:p>
            <a:r>
              <a:t>Official evidence:</a:t>
            </a:r>
          </a:p>
          <a:p>
            <a:r>
              <a:t>K10 — Cloud sandbox: https://kiro.dev/docs/web/sandbox/</a:t>
            </a:r>
          </a:p>
          <a:p>
            <a:r>
              <a:t>K19 — Sandbox internet access: https://kiro.dev/docs/web/sandbox/internet-access/</a:t>
            </a:r>
          </a:p>
          <a:p>
            <a:r>
              <a:t>K20 — Environment variables and secrets: https://kiro.dev/docs/web/sandbox/environment-variables/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06:30–07:30; allocated 01:00.</a:t>
            </a:r>
          </a:p>
          <a:p/>
          <a:p>
            <a:r>
              <a:t>Connect the required repositories rather than granting blanket organization access for convenience. GitHub task assignment can originate from an issue through the documented label or command. A cross-repository task can produce separate pull or merge requests; the team still coordinates compatibility and merge order. A request to change one service must not silently broaden into other repositories.</a:t>
            </a:r>
          </a:p>
          <a:p/>
          <a:p>
            <a:r>
              <a:t>Official evidence:</a:t>
            </a:r>
          </a:p>
          <a:p>
            <a:r>
              <a:t>K06 — GitHub integration: https://kiro.dev/docs/web/github/</a:t>
            </a:r>
          </a:p>
          <a:p>
            <a:r>
              <a:t>K07 — GitLab integration: https://kiro.dev/docs/web/gitlab/</a:t>
            </a:r>
          </a:p>
          <a:p>
            <a:r>
              <a:t>K04 — Autonomous mode: https://kiro.dev/docs/web/autonomous-mode/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07:30–15:30; allocated 08:00.</a:t>
            </a:r>
          </a:p>
          <a:p/>
          <a:p>
            <a:r>
              <a:t>The eight-minute allocation is for explaining the workflow and reviewing evidence. It is not an implementation-duration claim. Show a completed run if a fresh task has not reached a useful stage. A passing check is meaningful only if it ran on the displayed commit and exercised the relevant behavior. Reject unsupported claims that tests passed if the output shows a missing dependency or an unexecuted command.</a:t>
            </a:r>
          </a:p>
          <a:p/>
          <a:p>
            <a:r>
              <a:t>Official evidence:</a:t>
            </a:r>
          </a:p>
          <a:p>
            <a:r>
              <a:t>K03 — Working with the agent: https://kiro.dev/docs/web/using-the-agent/</a:t>
            </a:r>
          </a:p>
          <a:p>
            <a:r>
              <a:t>K04 — Autonomous mode: https://kiro.dev/docs/web/autonomous-mode/</a:t>
            </a:r>
          </a:p>
          <a:p>
            <a:r>
              <a:t>K08 — Specifications: https://kiro.dev/docs/specs/</a:t>
            </a:r>
          </a:p>
          <a:p>
            <a:r>
              <a:t>K09 — Built-in tools: https://kiro.dev/docs/tools/</a:t>
            </a:r>
          </a:p>
          <a:p/>
          <a:p>
            <a:r>
              <a:t>Preflight: Prepare a test repository, an approved spec and a completed PR; document whether evidence is live or replayed.</a:t>
            </a:r>
          </a:p>
          <a:p/>
          <a:p>
            <a:r>
              <a:t>Prompt: Plan request-ID propagation in checkout-api. Preserve public APIs and unrelated behavior. First show requirements, design and tasks. Cite relevant files. After plan approval, implement the scoped change, run repository checks and open a PR; do not merge.</a:t>
            </a:r>
          </a:p>
          <a:p/>
          <a:p>
            <a:r>
              <a:t>Runbook:</a:t>
            </a:r>
          </a:p>
          <a:p>
            <a:r>
              <a:t>01:00 — Agree the contract: Confirm missing-ID behavior, scope and non-goals.</a:t>
            </a:r>
          </a:p>
          <a:p>
            <a:r>
              <a:t>02:00 — Review the spec: Inspect requirements, affected components and the planned tests.</a:t>
            </a:r>
          </a:p>
          <a:p>
            <a:r>
              <a:t>02:00 — Inspect execution: Start the task or open the prepared completed session.</a:t>
            </a:r>
          </a:p>
          <a:p>
            <a:r>
              <a:t>01:30 — Inspect test evidence: Show a meaningful failure case and fresh check output.</a:t>
            </a:r>
          </a:p>
          <a:p>
            <a:r>
              <a:t>01:30 — Review the PR: Trace changed files to requirements; keep merge manual.</a:t>
            </a:r>
          </a:p>
          <a:p/>
          <a:p>
            <a:r>
              <a:t>Success: A focused diff with requirement-linked tests and an explicit human review decision.</a:t>
            </a:r>
          </a:p>
          <a:p/>
          <a:p>
            <a:r>
              <a:t>Fallback: Use the prepared spec, diff and test output after 60 seconds without usable progress; inspect rather than imply live completion.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15:30–16:45; allocated 01:15.</a:t>
            </a:r>
          </a:p>
          <a:p/>
          <a:p>
            <a:r>
              <a:t>Use code review to refine the task rather than as a formality after generation. A review comment should state the behavior or constraint that must change. When supplying CI failures, include the log and failing command rather than asking the agent to guess. The team verifies the latest diff and check state before merge. Do not assume that every CI provider or failure is automatically connected.</a:t>
            </a:r>
          </a:p>
          <a:p/>
          <a:p>
            <a:r>
              <a:t>Official evidence:</a:t>
            </a:r>
          </a:p>
          <a:p>
            <a:r>
              <a:t>K04 — Autonomous mode: https://kiro.dev/docs/web/autonomous-mode/</a:t>
            </a:r>
          </a:p>
          <a:p>
            <a:r>
              <a:t>K06 — GitHub integration: https://kiro.dev/docs/web/github/</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16:45–17:45; allocated 01:00.</a:t>
            </a:r>
          </a:p>
          <a:p/>
          <a:p>
            <a:r>
              <a:t>Start with a narrow task: one dependency group, a changelog or documentation drift. Keep the update policy explicit, including whether major versions are excluded and which checks must pass. Review the first runs and disable the automation if outputs become noisy or misleading. Scheduling execution does not authorize automatic merging.</a:t>
            </a:r>
          </a:p>
          <a:p/>
          <a:p>
            <a:r>
              <a:t>Official evidence: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17:45–22:45; allocated 05:00.</a:t>
            </a:r>
          </a:p>
          <a:p/>
          <a:p>
            <a:r>
              <a:t>This is a configuration and result-review demo, not a timed dependency-upgrade benchmark. The schedule should remain disabled until the team approves it. Use a prepared output to show the reviewer’s decision. A run with no appropriate update can be successful; the goal is useful maintenance, not a mandatory pull request every week.</a:t>
            </a:r>
          </a:p>
          <a:p/>
          <a:p>
            <a:r>
              <a:t>Official evidence:</a:t>
            </a:r>
          </a:p>
          <a:p>
            <a:r>
              <a:t>K11 — Automations: https://kiro.dev/docs/web/automations/</a:t>
            </a:r>
          </a:p>
          <a:p>
            <a:r>
              <a:t>K06 — GitHub integration: https://kiro.dev/docs/web/github/</a:t>
            </a:r>
          </a:p>
          <a:p/>
          <a:p>
            <a:r>
              <a:t>Preflight: Use a non-production repository and prepare a completed sample run; do not wait for the next scheduled trigger.</a:t>
            </a:r>
          </a:p>
          <a:p/>
          <a:p>
            <a:r>
              <a:t>Prompt: Each week, inspect only the approved development dependency group. Exclude major-version changes and unrelated files. Run the repository checks. Open a small PR when an update is justified; otherwise report no change. Do not merge.</a:t>
            </a:r>
          </a:p>
          <a:p/>
          <a:p>
            <a:r>
              <a:t>Runbook:</a:t>
            </a:r>
          </a:p>
          <a:p>
            <a:r>
              <a:t>00:45 — Choose scope: One repository, dependency group and accountable reviewer.</a:t>
            </a:r>
          </a:p>
          <a:p>
            <a:r>
              <a:t>00:45 — Write the prompt: Show exclusions and required evidence.</a:t>
            </a:r>
          </a:p>
          <a:p>
            <a:r>
              <a:t>01:00 — Inspect the setup: Review cadence, repository access and enabled state.</a:t>
            </a:r>
          </a:p>
          <a:p>
            <a:r>
              <a:t>01:30 — Review a prepared run: Inspect changed files, check results and a no-change outcome.</a:t>
            </a:r>
          </a:p>
          <a:p>
            <a:r>
              <a:t>01:00 — Set the stop rule: Explain how the owner disables noisy or failing automation.</a:t>
            </a:r>
          </a:p>
          <a:p/>
          <a:p>
            <a:r>
              <a:t>Success: A limited, reviewable maintenance task with a named owner and a disabled-by-default rehearsal setup.</a:t>
            </a:r>
          </a:p>
          <a:p/>
          <a:p>
            <a:r>
              <a:t>Fallback: Walk through the reviewed configuration and a labeled example PR; do not claim the schedule ran during the session.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22:45–23:45; allocated 01:00.</a:t>
            </a:r>
          </a:p>
          <a:p/>
          <a:p>
            <a:r>
              <a:t>Put stable, explicit conventions in steering. Learned memory helps avoid rediscovering repository commands or earlier corrections, but it can become stale. Inspect and correct remembered information where the client supports it. When a remembered claim conflicts with current source code or policy, verify the present evidence. Neither mechanism substitutes for permissions or branch protections.</a:t>
            </a:r>
          </a:p>
          <a:p/>
          <a:p>
            <a:r>
              <a:t>Official evidence:</a:t>
            </a:r>
          </a:p>
          <a:p>
            <a:r>
              <a:t>K13 — Steering: https://kiro.dev/docs/steering/</a:t>
            </a:r>
          </a:p>
          <a:p>
            <a:r>
              <a:t>K14 — Memory: https://kiro.dev/docs/memory/</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23:45–24:45; allocated 01:00.</a:t>
            </a:r>
          </a:p>
          <a:p/>
          <a:p>
            <a:r>
              <a:t>An MCP integration connects tools. A Power packages task-oriented capabilities and guidance. A custom agent defines a reusable specialist configuration. A skill packages a procedure and its resources. These mechanisms can compose, but their existence does not imply universal client support or permission to access every service. Review tool provenance, credentials, network reach and the side effects before adding an extension.</a:t>
            </a:r>
          </a:p>
          <a:p/>
          <a:p>
            <a:r>
              <a:t>Official evidence:</a:t>
            </a:r>
          </a:p>
          <a:p>
            <a:r>
              <a:t>K15 — Model Context Protocol: https://kiro.dev/docs/mcp/</a:t>
            </a:r>
          </a:p>
          <a:p>
            <a:r>
              <a:t>K16 — Powers: https://kiro.dev/docs/powers/</a:t>
            </a:r>
          </a:p>
          <a:p>
            <a:r>
              <a:t>K22 — Custom agents: https://kiro.dev/docs/custom-agents/</a:t>
            </a:r>
          </a:p>
          <a:p>
            <a:r>
              <a:t>K23 — Agent Skills: https://kiro.dev/docs/skills/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24:45–25:45; allocated 01:00.</a:t>
            </a:r>
          </a:p>
          <a:p/>
          <a:p>
            <a:r>
              <a:t>The dedicated hooks and permissions pages document IDE and CLI support and do not list Web support for those controls. Other pages discuss cloud configuration more broadly, so do not infer exact parity from the shared product name. Verify the feature in the client you deploy. Cloud network and secret settings remain a distinct set of controls. A prompt or steering file is not an enforced deny rule.</a:t>
            </a:r>
          </a:p>
          <a:p/>
          <a:p>
            <a:r>
              <a:t>Official evidence:</a:t>
            </a:r>
          </a:p>
          <a:p>
            <a:r>
              <a:t>K17 — Hooks: https://kiro.dev/docs/hooks/</a:t>
            </a:r>
          </a:p>
          <a:p>
            <a:r>
              <a:t>K18 — Permissions: https://kiro.dev/docs/permissions/</a:t>
            </a:r>
          </a:p>
          <a:p>
            <a:r>
              <a:t>K19 — Sandbox internet access: https://kiro.dev/docs/web/sandbox/internet-access/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25:45–27:15; allocated 01:30.</a:t>
            </a:r>
          </a:p>
          <a:p/>
          <a:p>
            <a:r>
              <a:t>Workflows differ from autonomous mode. Autonomous mode lets the agent determine the process for a task; a workflow makes the multi-step structure explicit and reusable. It can separate implementation from a fresh-context review step. The feature is opt-in and may not be exposed to every account. More structure also consumes more usage, so use it for work that benefits from independent stages rather than every small edit.</a:t>
            </a:r>
          </a:p>
          <a:p/>
          <a:p>
            <a:r>
              <a:t>Official evidence:</a:t>
            </a:r>
          </a:p>
          <a:p>
            <a:r>
              <a:t>K24 — Workflows: https://kiro.dev/docs/workflows/</a:t>
            </a:r>
          </a:p>
          <a:p>
            <a:r>
              <a:t>K22 — Custom agents: https://kiro.dev/docs/custom-agents/</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27:15–28:30; allocated 01:15.</a:t>
            </a:r>
          </a:p>
          <a:p/>
          <a:p>
            <a:r>
              <a:t>Cloud-session continuity helps an engineer return to ongoing work from supported clients. Local checkpoint or rewind features have their own documented scope. Neither implies that an external system or deployed service is rolled back. Git remains the review and version-history mechanism for repository changes. For the first pilot, test recovery with an unimportant branch before relying on it during a real change.</a:t>
            </a:r>
          </a:p>
          <a:p/>
          <a:p>
            <a:r>
              <a:t>Official evidence:</a:t>
            </a:r>
          </a:p>
          <a:p>
            <a:r>
              <a:t>K02 — Kiro Web: https://kiro.dev/docs/web/</a:t>
            </a:r>
          </a:p>
          <a:p>
            <a:r>
              <a:t>K21 — Checkpoints and rewind: https://kiro.dev/docs/checkpoints/</a:t>
            </a:r>
          </a:p>
          <a:p>
            <a:r>
              <a:t>K10 — Cloud sandbox: https://kiro.dev/docs/web/sandbox/</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28:30–30:00; allocated 01:30.</a:t>
            </a:r>
          </a:p>
          <a:p/>
          <a:p>
            <a:r>
              <a:t>The supplied-log diagnosis and infrastructure examples are not separate native guarantees. Give the exact failing command, configuration, environment and relevant logs. Ask for a minimal proposed change, then rerun the same check. Generated runbook steps should be rehearsed with safe inputs by the service owner. Never treat a plausible explanation of Terraform, a build or an incident procedure as executed validation.</a:t>
            </a:r>
          </a:p>
          <a:p/>
          <a:p>
            <a:r>
              <a:t>Official evidence:</a:t>
            </a:r>
          </a:p>
          <a:p>
            <a:r>
              <a:t>K03 — Working with the agent: https://kiro.dev/docs/web/using-the-agent/</a:t>
            </a:r>
          </a:p>
          <a:p>
            <a:r>
              <a:t>K09 — Built-in tools: https://kiro.dev/docs/tools/</a:t>
            </a:r>
          </a:p>
          <a:p>
            <a:r>
              <a:t>K17 — Hooks: https://kiro.dev/docs/hooks/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30:00–32:00; allocated 02:00.</a:t>
            </a:r>
          </a:p>
          <a:p/>
          <a:p>
            <a:r>
              <a:t>Start with one repository and one reproducible change. Record review effort before the pilot, then compare similar work produced with Kiro. Track accepted changes, failed checks, reviewer corrections and scope drift; include tool and model consumption. Add recurring maintenance only after the interactive workflow is reliable. Every outcome must remain reviewable. The detailed capability crosswalk maps all 21 entries below to this presentation, including the local and cloud distinctions.</a:t>
            </a:r>
          </a:p>
          <a:p/>
          <a:p>
            <a:r>
              <a:t>Official evidence:</a:t>
            </a:r>
          </a:p>
          <a:p>
            <a:r>
              <a:t>K02 — Kiro Web: https://kiro.dev/docs/web/</a:t>
            </a:r>
          </a:p>
          <a:p>
            <a:r>
              <a:t>K04 — Autonomous mode: https://kiro.dev/docs/web/autonomous-mode/</a:t>
            </a:r>
          </a:p>
          <a:p>
            <a:r>
              <a:t>K11 — Automations: https://kiro.dev/docs/web/automations/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32:00–32:00; allocated 00:00.</a:t>
            </a:r>
          </a:p>
          <a:p/>
          <a:p>
            <a:r>
              <a:t>This appendix is outside the timed session. All source URLs are listed below and in the relevant slide notes. No live workflow or measured benefit is claimed.</a:t>
            </a:r>
          </a:p>
          <a:p/>
          <a:p>
            <a:r>
              <a:t>Official evidence:</a:t>
            </a:r>
          </a:p>
          <a:p>
            <a:r>
              <a:t>K02 — Kiro Web: https://kiro.dev/docs/web/</a:t>
            </a:r>
          </a:p>
          <a:p>
            <a:r>
              <a:t>K03 — Working with the agent: https://kiro.dev/docs/web/using-the-agent/</a:t>
            </a:r>
          </a:p>
          <a:p>
            <a:r>
              <a:t>K04 — Autonomous mode: https://kiro.dev/docs/web/autonomous-mode/</a:t>
            </a:r>
          </a:p>
          <a:p>
            <a:r>
              <a:t>K06 — GitHub integration: https://kiro.dev/docs/web/github/</a:t>
            </a:r>
          </a:p>
          <a:p>
            <a:r>
              <a:t>K07 — GitLab integration: https://kiro.dev/docs/web/gitlab/</a:t>
            </a:r>
          </a:p>
          <a:p>
            <a:r>
              <a:t>K08 — Specifications: https://kiro.dev/docs/specs/</a:t>
            </a:r>
          </a:p>
          <a:p>
            <a:r>
              <a:t>K09 — Built-in tools: https://kiro.dev/docs/tools/</a:t>
            </a:r>
          </a:p>
          <a:p>
            <a:r>
              <a:t>K10 — Cloud sandbox: https://kiro.dev/docs/web/sandbox/</a:t>
            </a:r>
          </a:p>
          <a:p>
            <a:r>
              <a:t>K11 — Automations: https://kiro.dev/docs/web/automations/</a:t>
            </a:r>
          </a:p>
          <a:p>
            <a:r>
              <a:t>K13 — Steering: https://kiro.dev/docs/steering/</a:t>
            </a:r>
          </a:p>
          <a:p>
            <a:r>
              <a:t>K14 — Memory: https://kiro.dev/docs/memory/</a:t>
            </a:r>
          </a:p>
          <a:p>
            <a:r>
              <a:t>K15 — Model Context Protocol: https://kiro.dev/docs/mcp/</a:t>
            </a:r>
          </a:p>
          <a:p>
            <a:r>
              <a:t>K16 — Powers: https://kiro.dev/docs/powers/</a:t>
            </a:r>
          </a:p>
          <a:p>
            <a:r>
              <a:t>K17 — Hooks: https://kiro.dev/docs/hooks/</a:t>
            </a:r>
          </a:p>
          <a:p>
            <a:r>
              <a:t>K18 — Permissions: https://kiro.dev/docs/permissions/</a:t>
            </a:r>
          </a:p>
          <a:p>
            <a:r>
              <a:t>K19 — Sandbox internet access: https://kiro.dev/docs/web/sandbox/internet-access/</a:t>
            </a:r>
          </a:p>
          <a:p>
            <a:r>
              <a:t>K20 — Environment variables and secrets: https://kiro.dev/docs/web/sandbox/environment-variables/</a:t>
            </a:r>
          </a:p>
          <a:p>
            <a:r>
              <a:t>K21 — Checkpoints and rewind: https://kiro.dev/docs/checkpoints/</a:t>
            </a:r>
          </a:p>
          <a:p>
            <a:r>
              <a:t>K22 — Custom agents: https://kiro.dev/docs/custom-agents/</a:t>
            </a:r>
          </a:p>
          <a:p>
            <a:r>
              <a:t>K23 — Agent Skills: https://kiro.dev/docs/skills/</a:t>
            </a:r>
          </a:p>
          <a:p>
            <a:r>
              <a:t>K24 — Workflows: https://kiro.dev/docs/workflows/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kiro.dev/docs/web/" TargetMode="External"/><Relationship Id="rId4" Type="http://schemas.openxmlformats.org/officeDocument/2006/relationships/hyperlink" Target="https://kiro.dev/docs/web/using-the-agent/" TargetMode="External"/><Relationship Id="rId5" Type="http://schemas.openxmlformats.org/officeDocument/2006/relationships/hyperlink" Target="https://kiro.dev/docs/web/autonomous-mode/" TargetMode="External"/><Relationship Id="rId6" Type="http://schemas.openxmlformats.org/officeDocument/2006/relationships/hyperlink" Target="https://kiro.dev/docs/web/github/" TargetMode="External"/><Relationship Id="rId7" Type="http://schemas.openxmlformats.org/officeDocument/2006/relationships/hyperlink" Target="https://kiro.dev/docs/web/gitlab/" TargetMode="External"/><Relationship Id="rId8" Type="http://schemas.openxmlformats.org/officeDocument/2006/relationships/hyperlink" Target="https://kiro.dev/docs/specs/" TargetMode="Externa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POSITION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Kiro</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Turn a bounded engineering outcome into a reviewable change.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00:45 allocated  |  00:00–00:45</a:t>
            </a:r>
          </a:p>
        </p:txBody>
      </p:sp>
      <p:sp>
        <p:nvSpPr>
          <p:cNvPr id="9" name="Rounded Rectangle 8"/>
          <p:cNvSpPr/>
          <p:nvPr/>
        </p:nvSpPr>
        <p:spPr>
          <a:xfrm>
            <a:off x="502920" y="2331720"/>
            <a:ext cx="11183112" cy="960120"/>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596896"/>
            <a:ext cx="10698480" cy="411480"/>
          </a:xfrm>
          <a:prstGeom prst="rect">
            <a:avLst/>
          </a:prstGeom>
          <a:noFill/>
        </p:spPr>
        <p:txBody>
          <a:bodyPr wrap="square" lIns="0" rIns="0" tIns="0" bIns="0" anchor="t">
            <a:spAutoFit/>
          </a:bodyPr>
          <a:lstStyle/>
          <a:p>
            <a:pPr>
              <a:lnSpc>
                <a:spcPct val="112000"/>
              </a:lnSpc>
              <a:spcAft>
                <a:spcPts val="300"/>
              </a:spcAft>
              <a:defRPr sz="2500" b="1">
                <a:solidFill>
                  <a:srgbClr val="FFFFFF"/>
                </a:solidFill>
                <a:latin typeface="Arial"/>
              </a:defRPr>
            </a:pPr>
            <a:r>
              <a:t>Understand → specify → implement → verify → review</a:t>
            </a:r>
          </a:p>
        </p:txBody>
      </p:sp>
      <p:sp>
        <p:nvSpPr>
          <p:cNvPr id="11" name="Rounded Rectangle 10"/>
          <p:cNvSpPr/>
          <p:nvPr/>
        </p:nvSpPr>
        <p:spPr>
          <a:xfrm>
            <a:off x="502920"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32 min</a:t>
            </a:r>
          </a:p>
        </p:txBody>
      </p:sp>
      <p:sp>
        <p:nvSpPr>
          <p:cNvPr id="13" name="TextBox 12"/>
          <p:cNvSpPr txBox="1"/>
          <p:nvPr/>
        </p:nvSpPr>
        <p:spPr>
          <a:xfrm>
            <a:off x="704088"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session, including demos</a:t>
            </a:r>
          </a:p>
        </p:txBody>
      </p:sp>
      <p:sp>
        <p:nvSpPr>
          <p:cNvPr id="14" name="Rounded Rectangle 13"/>
          <p:cNvSpPr/>
          <p:nvPr/>
        </p:nvSpPr>
        <p:spPr>
          <a:xfrm>
            <a:off x="4288536"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89703"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13 min</a:t>
            </a:r>
          </a:p>
        </p:txBody>
      </p:sp>
      <p:sp>
        <p:nvSpPr>
          <p:cNvPr id="16" name="TextBox 15"/>
          <p:cNvSpPr txBox="1"/>
          <p:nvPr/>
        </p:nvSpPr>
        <p:spPr>
          <a:xfrm>
            <a:off x="4489703"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two demo walkthroughs</a:t>
            </a:r>
          </a:p>
        </p:txBody>
      </p:sp>
      <p:sp>
        <p:nvSpPr>
          <p:cNvPr id="17" name="Rounded Rectangle 16"/>
          <p:cNvSpPr/>
          <p:nvPr/>
        </p:nvSpPr>
        <p:spPr>
          <a:xfrm>
            <a:off x="8074152" y="3703320"/>
            <a:ext cx="3611880" cy="141732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75320" y="3913632"/>
            <a:ext cx="3200400" cy="530352"/>
          </a:xfrm>
          <a:prstGeom prst="rect">
            <a:avLst/>
          </a:prstGeom>
          <a:noFill/>
        </p:spPr>
        <p:txBody>
          <a:bodyPr wrap="square" lIns="0" rIns="0" tIns="0" bIns="0" anchor="t">
            <a:spAutoFit/>
          </a:bodyPr>
          <a:lstStyle/>
          <a:p>
            <a:pPr>
              <a:lnSpc>
                <a:spcPct val="112000"/>
              </a:lnSpc>
              <a:spcAft>
                <a:spcPts val="300"/>
              </a:spcAft>
              <a:defRPr sz="3450" b="1">
                <a:solidFill>
                  <a:srgbClr val="7046A3"/>
                </a:solidFill>
                <a:latin typeface="Arial"/>
              </a:defRPr>
            </a:pPr>
            <a:r>
              <a:t>1 PR</a:t>
            </a:r>
          </a:p>
        </p:txBody>
      </p:sp>
      <p:sp>
        <p:nvSpPr>
          <p:cNvPr id="19" name="TextBox 18"/>
          <p:cNvSpPr txBox="1"/>
          <p:nvPr/>
        </p:nvSpPr>
        <p:spPr>
          <a:xfrm>
            <a:off x="8275320" y="4553712"/>
            <a:ext cx="3200400" cy="338328"/>
          </a:xfrm>
          <a:prstGeom prst="rect">
            <a:avLst/>
          </a:prstGeom>
          <a:noFill/>
        </p:spPr>
        <p:txBody>
          <a:bodyPr wrap="square" lIns="0" rIns="0" tIns="0" bIns="0" anchor="t">
            <a:spAutoFit/>
          </a:bodyPr>
          <a:lstStyle/>
          <a:p>
            <a:pPr>
              <a:lnSpc>
                <a:spcPct val="112000"/>
              </a:lnSpc>
              <a:spcAft>
                <a:spcPts val="300"/>
              </a:spcAft>
              <a:defRPr sz="1700" b="0">
                <a:solidFill>
                  <a:srgbClr val="182B43"/>
                </a:solidFill>
                <a:latin typeface="Arial"/>
              </a:defRPr>
            </a:pPr>
            <a:r>
              <a:t>first useful acceptance unit</a:t>
            </a:r>
          </a:p>
        </p:txBody>
      </p:sp>
      <p:sp>
        <p:nvSpPr>
          <p:cNvPr id="20" name="TextBox 19"/>
          <p:cNvSpPr txBox="1"/>
          <p:nvPr/>
        </p:nvSpPr>
        <p:spPr>
          <a:xfrm>
            <a:off x="521207" y="5504688"/>
            <a:ext cx="11064240" cy="530352"/>
          </a:xfrm>
          <a:prstGeom prst="rect">
            <a:avLst/>
          </a:prstGeom>
          <a:noFill/>
        </p:spPr>
        <p:txBody>
          <a:bodyPr wrap="square" lIns="0" rIns="0" tIns="0" bIns="0" anchor="t">
            <a:spAutoFit/>
          </a:bodyPr>
          <a:lstStyle/>
          <a:p>
            <a:pPr>
              <a:lnSpc>
                <a:spcPct val="112000"/>
              </a:lnSpc>
              <a:spcAft>
                <a:spcPts val="300"/>
              </a:spcAft>
              <a:defRPr sz="1700" b="0">
                <a:solidFill>
                  <a:srgbClr val="55657A"/>
                </a:solidFill>
                <a:latin typeface="Arial"/>
              </a:defRPr>
            </a:pPr>
            <a:r>
              <a:t>Kiro Web is preview, requires eligible paid access, and has documented Region and administrator controls. IDE, CLI and Web features are not interchangeable.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Choose the interaction model by uncertainty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Collaboration, specs and autonomous work solve different coordination problems.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00:45–01:45</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EXPLORE</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Collaborate</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Inspect code and discuss options while the engineer guides the next step.</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STRUCTURE</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Specify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requirements, design and implementation tasks before execution.</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AUTONOMOUS</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Delegate</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Let the agent plan, implement and return reviewable repository work.</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USE CASE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Use case · request-ID propagation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 concrete contract constrains the change before the first edit.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01:45–03:15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771753">
                <a:tc>
                  <a:txBody>
                    <a:bodyPr/>
                    <a:lstStyle/>
                    <a:p>
                      <a:pPr>
                        <a:spcAft>
                          <a:spcPts val="0"/>
                        </a:spcAft>
                        <a:defRPr sz="1600" b="1">
                          <a:solidFill>
                            <a:srgbClr val="FFFFFF"/>
                          </a:solidFill>
                          <a:latin typeface="Arial"/>
                        </a:defRPr>
                      </a:pPr>
                      <a:r>
                        <a:t>Contract field</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Proposed value</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Why it matters</a:t>
                      </a:r>
                    </a:p>
                  </a:txBody>
                  <a:tcPr marL="128016" marR="128016" marT="82296" marB="54864">
                    <a:solidFill>
                      <a:srgbClr val="10243B"/>
                    </a:solidFill>
                  </a:tcPr>
                </a:tc>
              </a:tr>
              <a:tr h="771753">
                <a:tc>
                  <a:txBody>
                    <a:bodyPr/>
                    <a:lstStyle/>
                    <a:p>
                      <a:pPr>
                        <a:spcAft>
                          <a:spcPts val="0"/>
                        </a:spcAft>
                        <a:defRPr sz="1600" b="0">
                          <a:solidFill>
                            <a:srgbClr val="182B43"/>
                          </a:solidFill>
                          <a:latin typeface="Arial"/>
                        </a:defRPr>
                      </a:pPr>
                      <a:r>
                        <a:t>Outcome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Propagate an approved request ID</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Observable behavior, not “improve tracing”</a:t>
                      </a:r>
                    </a:p>
                  </a:txBody>
                  <a:tcPr marL="128016" marR="128016" marT="82296" marB="54864">
                    <a:solidFill>
                      <a:srgbClr val="F1F5F8"/>
                    </a:solidFill>
                  </a:tcPr>
                </a:tc>
              </a:tr>
              <a:tr h="771753">
                <a:tc>
                  <a:txBody>
                    <a:bodyPr/>
                    <a:lstStyle/>
                    <a:p>
                      <a:pPr>
                        <a:spcAft>
                          <a:spcPts val="0"/>
                        </a:spcAft>
                        <a:defRPr sz="1600" b="0">
                          <a:solidFill>
                            <a:srgbClr val="182B43"/>
                          </a:solidFill>
                          <a:latin typeface="Arial"/>
                        </a:defRPr>
                      </a:pPr>
                      <a:r>
                        <a:t>Scope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Middleware + outbound HTTP client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No broad framework refactor</a:t>
                      </a:r>
                    </a:p>
                  </a:txBody>
                  <a:tcPr marL="128016" marR="128016" marT="82296" marB="54864">
                    <a:solidFill>
                      <a:srgbClr val="FFFFFF"/>
                    </a:solidFill>
                  </a:tcPr>
                </a:tc>
              </a:tr>
              <a:tr h="771753">
                <a:tc>
                  <a:txBody>
                    <a:bodyPr/>
                    <a:lstStyle/>
                    <a:p>
                      <a:pPr>
                        <a:spcAft>
                          <a:spcPts val="0"/>
                        </a:spcAft>
                        <a:defRPr sz="1600" b="0">
                          <a:solidFill>
                            <a:srgbClr val="182B43"/>
                          </a:solidFill>
                          <a:latin typeface="Arial"/>
                        </a:defRPr>
                      </a:pPr>
                      <a:r>
                        <a:t>Non-goals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No API or tracing-platform migration</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Avoid hidden scope expansion</a:t>
                      </a:r>
                    </a:p>
                  </a:txBody>
                  <a:tcPr marL="128016" marR="128016" marT="82296" marB="54864">
                    <a:solidFill>
                      <a:srgbClr val="F1F5F8"/>
                    </a:solidFill>
                  </a:tcPr>
                </a:tc>
              </a:tr>
              <a:tr h="771756">
                <a:tc>
                  <a:txBody>
                    <a:bodyPr/>
                    <a:lstStyle/>
                    <a:p>
                      <a:pPr>
                        <a:spcAft>
                          <a:spcPts val="0"/>
                        </a:spcAft>
                        <a:defRPr sz="1600" b="0">
                          <a:solidFill>
                            <a:srgbClr val="182B43"/>
                          </a:solidFill>
                          <a:latin typeface="Arial"/>
                        </a:defRPr>
                      </a:pPr>
                      <a:r>
                        <a:t>Evidence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Focused diff + fresh test and CI results</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Reviewer can verify completion</a:t>
                      </a:r>
                    </a:p>
                  </a:txBody>
                  <a:tcPr marL="128016" marR="128016" marT="82296" marB="54864">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Specs make intended behavior inspectable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approve behavior and non-goals before accepting implementation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03:15–04:30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Feature request or reproduced defect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Repository constraints and preserved behavior</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Produce requirements or bug analysis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Develop a design and ordered implementation tasks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requirements.md or bugfix.md</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design.md and tasks.md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Repository understanding and test generation</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a test must challenge the requirement; generated test code alone is not a pass.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04:30–05:30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Selected repository, branch and relevant files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Known request trace or failing test</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Read and explain code; modify a scoped implementation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Run available checks and inspect UI behavior in the sandbox</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Cited code path and candidate patch</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Test files, execution output and verification observations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Cloud sandbox: configure the execution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sandbox isolation is not permission to call production systems.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05:30–06:30</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Connected source, dependency requirements and allowed endpoints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Only the environment variables and secrets the task needs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Clone and work in an isolated execution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Apply documented network and environment configuration</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reproducible work environment</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Changes and check results ready for review</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GitHub, GitLab and cross-repository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Repository access and review artifacts remain provider-specific.</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06:30–07:30</a:t>
            </a:r>
          </a:p>
        </p:txBody>
      </p:sp>
      <p:sp>
        <p:nvSpPr>
          <p:cNvPr id="9" name="Rounded Rectangle 8"/>
          <p:cNvSpPr/>
          <p:nvPr/>
        </p:nvSpPr>
        <p:spPr>
          <a:xfrm>
            <a:off x="502920"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SETUP</a:t>
            </a:r>
          </a:p>
        </p:txBody>
      </p:sp>
      <p:sp>
        <p:nvSpPr>
          <p:cNvPr id="11" name="TextBox 10"/>
          <p:cNvSpPr txBox="1"/>
          <p:nvPr/>
        </p:nvSpPr>
        <p:spPr>
          <a:xfrm>
            <a:off x="667512"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Authorize</a:t>
            </a:r>
          </a:p>
        </p:txBody>
      </p:sp>
      <p:sp>
        <p:nvSpPr>
          <p:cNvPr id="12" name="TextBox 11"/>
          <p:cNvSpPr txBox="1"/>
          <p:nvPr/>
        </p:nvSpPr>
        <p:spPr>
          <a:xfrm>
            <a:off x="667512"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Repository integration plus the user’s access.</a:t>
            </a:r>
          </a:p>
        </p:txBody>
      </p:sp>
      <p:sp>
        <p:nvSpPr>
          <p:cNvPr id="13" name="Rounded Rectangle 12"/>
          <p:cNvSpPr/>
          <p:nvPr/>
        </p:nvSpPr>
        <p:spPr>
          <a:xfrm>
            <a:off x="6195059" y="2313432"/>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59651" y="2459736"/>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TRIGGER</a:t>
            </a:r>
          </a:p>
        </p:txBody>
      </p:sp>
      <p:sp>
        <p:nvSpPr>
          <p:cNvPr id="15" name="TextBox 14"/>
          <p:cNvSpPr txBox="1"/>
          <p:nvPr/>
        </p:nvSpPr>
        <p:spPr>
          <a:xfrm>
            <a:off x="6359651" y="2788920"/>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Assign</a:t>
            </a:r>
          </a:p>
        </p:txBody>
      </p:sp>
      <p:sp>
        <p:nvSpPr>
          <p:cNvPr id="16" name="TextBox 15"/>
          <p:cNvSpPr txBox="1"/>
          <p:nvPr/>
        </p:nvSpPr>
        <p:spPr>
          <a:xfrm>
            <a:off x="6359651" y="3392424"/>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A scoped chat task or supported issue workflow.</a:t>
            </a:r>
          </a:p>
        </p:txBody>
      </p:sp>
      <p:sp>
        <p:nvSpPr>
          <p:cNvPr id="17" name="Rounded Rectangle 16"/>
          <p:cNvSpPr/>
          <p:nvPr/>
        </p:nvSpPr>
        <p:spPr>
          <a:xfrm>
            <a:off x="502920"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7512"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WORK</a:t>
            </a:r>
          </a:p>
        </p:txBody>
      </p:sp>
      <p:sp>
        <p:nvSpPr>
          <p:cNvPr id="19" name="TextBox 18"/>
          <p:cNvSpPr txBox="1"/>
          <p:nvPr/>
        </p:nvSpPr>
        <p:spPr>
          <a:xfrm>
            <a:off x="667512"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Coordinate</a:t>
            </a:r>
          </a:p>
        </p:txBody>
      </p:sp>
      <p:sp>
        <p:nvSpPr>
          <p:cNvPr id="20" name="TextBox 19"/>
          <p:cNvSpPr txBox="1"/>
          <p:nvPr/>
        </p:nvSpPr>
        <p:spPr>
          <a:xfrm>
            <a:off x="667512"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Inspect dependencies across selected repositories.</a:t>
            </a:r>
          </a:p>
        </p:txBody>
      </p:sp>
      <p:sp>
        <p:nvSpPr>
          <p:cNvPr id="21" name="Rounded Rectangle 20"/>
          <p:cNvSpPr/>
          <p:nvPr/>
        </p:nvSpPr>
        <p:spPr>
          <a:xfrm>
            <a:off x="6195059" y="4352544"/>
            <a:ext cx="5490972" cy="1837944"/>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359651" y="4498848"/>
            <a:ext cx="516178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OUTPUT</a:t>
            </a:r>
          </a:p>
        </p:txBody>
      </p:sp>
      <p:sp>
        <p:nvSpPr>
          <p:cNvPr id="23" name="TextBox 22"/>
          <p:cNvSpPr txBox="1"/>
          <p:nvPr/>
        </p:nvSpPr>
        <p:spPr>
          <a:xfrm>
            <a:off x="6359651" y="4828031"/>
            <a:ext cx="516178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Review</a:t>
            </a:r>
          </a:p>
        </p:txBody>
      </p:sp>
      <p:sp>
        <p:nvSpPr>
          <p:cNvPr id="24" name="TextBox 23"/>
          <p:cNvSpPr txBox="1"/>
          <p:nvPr/>
        </p:nvSpPr>
        <p:spPr>
          <a:xfrm>
            <a:off x="6359651" y="5431536"/>
            <a:ext cx="5161788" cy="612648"/>
          </a:xfrm>
          <a:prstGeom prst="rect">
            <a:avLst/>
          </a:prstGeom>
          <a:noFill/>
        </p:spPr>
        <p:txBody>
          <a:bodyPr wrap="square" lIns="0" rIns="0" tIns="0" bIns="0" anchor="t">
            <a:spAutoFit/>
          </a:bodyPr>
          <a:lstStyle/>
          <a:p>
            <a:pPr>
              <a:lnSpc>
                <a:spcPct val="112000"/>
              </a:lnSpc>
              <a:spcAft>
                <a:spcPts val="300"/>
              </a:spcAft>
              <a:defRPr sz="1600" b="0">
                <a:solidFill>
                  <a:srgbClr val="182B43"/>
                </a:solidFill>
                <a:latin typeface="Arial"/>
              </a:defRPr>
            </a:pPr>
            <a:r>
              <a:t>Separate PRs/MRs, checks and human merge decisions.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1 · request ID from task to PR</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Specify and review request-ID propagation without changing the public API.</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08:00 allocated  |  07:30–15:30</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Plan request-ID propagation in checkout-api. Preserve public APIs and unrelated behavior. First show requirements, design and tasks. Cite relevant files. After plan approval, implement the scoped change, run repository checks and open a PR; do not merge.</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Prepare a test repository, an approved spec and a completed PR; document whether evidence is live or replayed.</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focused diff with requirement-linked tests and an explicit human review decision.</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the prepared spec, diff and test output after 60 seconds without usable progress; inspect rather than imply live completion.</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Agree the contract</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Confirm missing-ID behavior, scope and non-goals.</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spec</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requirements, affected components and the planned tests.</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02:00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execution</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Start the task or open the prepared completed session.</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test evidence</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a meaningful failure case and fresh check output.</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the PR</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Trace changed files to requirements; keep merge manual.</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Review feedback is a new work item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verify the latest revision, not the first green result.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09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15:30–16:45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PR/MR comments and an exact revision</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CI output or a reproducible failing check</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Respond to supported review commands and feedback</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Update the change and rerun relevant checks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revised patch and check evidence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visible explanation of changes and remaining limits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Automations handle repeatable repository work</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recurring work should reduce toil without creating uncontrolled PR noise.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10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16:45–17:45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recurring prompt, selected repositories and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maintenance policy with explicit limits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the task in autonomous mode on schedule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Prepare changes when there is useful work to review</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tracked run and PR/MR where applicable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An inspectable recurring maintenance queue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DEMONSTRATION</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Demo 2 · bounded dependency maintenance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Configure one weekly repository task and review an example output.</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11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05:00 allocated  |  17:45–22:45</a:t>
            </a:r>
          </a:p>
        </p:txBody>
      </p:sp>
      <p:sp>
        <p:nvSpPr>
          <p:cNvPr id="9" name="Rounded Rectangle 8"/>
          <p:cNvSpPr/>
          <p:nvPr/>
        </p:nvSpPr>
        <p:spPr>
          <a:xfrm>
            <a:off x="502920" y="2295144"/>
            <a:ext cx="11183112" cy="969264"/>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432304"/>
            <a:ext cx="10789920" cy="713232"/>
          </a:xfrm>
          <a:prstGeom prst="rect">
            <a:avLst/>
          </a:prstGeom>
          <a:noFill/>
        </p:spPr>
        <p:txBody>
          <a:bodyPr wrap="square" lIns="0" rIns="0" tIns="0" bIns="0" anchor="t">
            <a:spAutoFit/>
          </a:bodyPr>
          <a:lstStyle/>
          <a:p>
            <a:pPr>
              <a:lnSpc>
                <a:spcPct val="112000"/>
              </a:lnSpc>
              <a:spcAft>
                <a:spcPts val="300"/>
              </a:spcAft>
              <a:defRPr sz="1500" b="0">
                <a:solidFill>
                  <a:srgbClr val="FFFFFF"/>
                </a:solidFill>
                <a:latin typeface="Arial"/>
              </a:defRPr>
            </a:pPr>
            <a:r>
              <a:t>Each week, inspect only the approved development dependency group. Exclude major-version changes and unrelated files. Run the repository checks. Open a small PR when an update is justified; otherwise report no change. Do not merge.</a:t>
            </a:r>
          </a:p>
        </p:txBody>
      </p:sp>
      <p:sp>
        <p:nvSpPr>
          <p:cNvPr id="11" name="TextBox 10"/>
          <p:cNvSpPr txBox="1"/>
          <p:nvPr/>
        </p:nvSpPr>
        <p:spPr>
          <a:xfrm>
            <a:off x="502920" y="342900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PREFLIGHT</a:t>
            </a:r>
          </a:p>
        </p:txBody>
      </p:sp>
      <p:sp>
        <p:nvSpPr>
          <p:cNvPr id="12" name="TextBox 11"/>
          <p:cNvSpPr txBox="1"/>
          <p:nvPr/>
        </p:nvSpPr>
        <p:spPr>
          <a:xfrm>
            <a:off x="502920" y="368503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Use a non-production repository and prepare a completed sample run; do not wait for the next scheduled trigger.</a:t>
            </a:r>
          </a:p>
        </p:txBody>
      </p:sp>
      <p:sp>
        <p:nvSpPr>
          <p:cNvPr id="13" name="TextBox 12"/>
          <p:cNvSpPr txBox="1"/>
          <p:nvPr/>
        </p:nvSpPr>
        <p:spPr>
          <a:xfrm>
            <a:off x="502920" y="438912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SUCCESS</a:t>
            </a:r>
          </a:p>
        </p:txBody>
      </p:sp>
      <p:sp>
        <p:nvSpPr>
          <p:cNvPr id="14" name="TextBox 13"/>
          <p:cNvSpPr txBox="1"/>
          <p:nvPr/>
        </p:nvSpPr>
        <p:spPr>
          <a:xfrm>
            <a:off x="502920" y="464515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A limited, reviewable maintenance task with a named owner and a disabled-by-default rehearsal setup.</a:t>
            </a:r>
          </a:p>
        </p:txBody>
      </p:sp>
      <p:sp>
        <p:nvSpPr>
          <p:cNvPr id="15" name="TextBox 14"/>
          <p:cNvSpPr txBox="1"/>
          <p:nvPr/>
        </p:nvSpPr>
        <p:spPr>
          <a:xfrm>
            <a:off x="502920" y="5349240"/>
            <a:ext cx="3200400"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FALLBACK</a:t>
            </a:r>
          </a:p>
        </p:txBody>
      </p:sp>
      <p:sp>
        <p:nvSpPr>
          <p:cNvPr id="16" name="TextBox 15"/>
          <p:cNvSpPr txBox="1"/>
          <p:nvPr/>
        </p:nvSpPr>
        <p:spPr>
          <a:xfrm>
            <a:off x="502920" y="5605272"/>
            <a:ext cx="3337560" cy="612648"/>
          </a:xfrm>
          <a:prstGeom prst="rect">
            <a:avLst/>
          </a:prstGeom>
          <a:noFill/>
        </p:spPr>
        <p:txBody>
          <a:bodyPr wrap="square" lIns="0" rIns="0" tIns="0" bIns="0" anchor="t">
            <a:spAutoFit/>
          </a:bodyPr>
          <a:lstStyle/>
          <a:p>
            <a:pPr>
              <a:lnSpc>
                <a:spcPct val="112000"/>
              </a:lnSpc>
              <a:spcAft>
                <a:spcPts val="300"/>
              </a:spcAft>
              <a:defRPr sz="1300" b="0">
                <a:solidFill>
                  <a:srgbClr val="182B43"/>
                </a:solidFill>
                <a:latin typeface="Arial"/>
              </a:defRPr>
            </a:pPr>
            <a:r>
              <a:t>Walk through the reviewed configuration and a labeled example PR; do not claim the schedule ran during the session.</a:t>
            </a:r>
          </a:p>
        </p:txBody>
      </p:sp>
      <p:sp>
        <p:nvSpPr>
          <p:cNvPr id="17" name="Rounded Rectangle 16"/>
          <p:cNvSpPr/>
          <p:nvPr/>
        </p:nvSpPr>
        <p:spPr>
          <a:xfrm>
            <a:off x="4096512" y="341071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233672" y="352044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19" name="TextBox 18"/>
          <p:cNvSpPr txBox="1"/>
          <p:nvPr/>
        </p:nvSpPr>
        <p:spPr>
          <a:xfrm>
            <a:off x="4937760" y="348386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Choose scope</a:t>
            </a:r>
          </a:p>
        </p:txBody>
      </p:sp>
      <p:sp>
        <p:nvSpPr>
          <p:cNvPr id="20" name="TextBox 19"/>
          <p:cNvSpPr txBox="1"/>
          <p:nvPr/>
        </p:nvSpPr>
        <p:spPr>
          <a:xfrm>
            <a:off x="4937760" y="368503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One repository, dependency group and accountable reviewer.</a:t>
            </a:r>
          </a:p>
        </p:txBody>
      </p:sp>
      <p:sp>
        <p:nvSpPr>
          <p:cNvPr id="21" name="Rounded Rectangle 20"/>
          <p:cNvSpPr/>
          <p:nvPr/>
        </p:nvSpPr>
        <p:spPr>
          <a:xfrm>
            <a:off x="4096512" y="396666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233672" y="407639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00:45</a:t>
            </a:r>
          </a:p>
        </p:txBody>
      </p:sp>
      <p:sp>
        <p:nvSpPr>
          <p:cNvPr id="23" name="TextBox 22"/>
          <p:cNvSpPr txBox="1"/>
          <p:nvPr/>
        </p:nvSpPr>
        <p:spPr>
          <a:xfrm>
            <a:off x="4937760" y="403981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Write the prompt</a:t>
            </a:r>
          </a:p>
        </p:txBody>
      </p:sp>
      <p:sp>
        <p:nvSpPr>
          <p:cNvPr id="24" name="TextBox 23"/>
          <p:cNvSpPr txBox="1"/>
          <p:nvPr/>
        </p:nvSpPr>
        <p:spPr>
          <a:xfrm>
            <a:off x="4937760" y="424098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Show exclusions and required evidence.</a:t>
            </a:r>
          </a:p>
        </p:txBody>
      </p:sp>
      <p:sp>
        <p:nvSpPr>
          <p:cNvPr id="25" name="Rounded Rectangle 24"/>
          <p:cNvSpPr/>
          <p:nvPr/>
        </p:nvSpPr>
        <p:spPr>
          <a:xfrm>
            <a:off x="4096512" y="452262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233672" y="463235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27" name="TextBox 26"/>
          <p:cNvSpPr txBox="1"/>
          <p:nvPr/>
        </p:nvSpPr>
        <p:spPr>
          <a:xfrm>
            <a:off x="4937760" y="459577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Inspect the setup</a:t>
            </a:r>
          </a:p>
        </p:txBody>
      </p:sp>
      <p:sp>
        <p:nvSpPr>
          <p:cNvPr id="28" name="TextBox 27"/>
          <p:cNvSpPr txBox="1"/>
          <p:nvPr/>
        </p:nvSpPr>
        <p:spPr>
          <a:xfrm>
            <a:off x="4937760" y="479694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Review cadence, repository access and enabled state.</a:t>
            </a:r>
          </a:p>
        </p:txBody>
      </p:sp>
      <p:sp>
        <p:nvSpPr>
          <p:cNvPr id="29" name="Rounded Rectangle 28"/>
          <p:cNvSpPr/>
          <p:nvPr/>
        </p:nvSpPr>
        <p:spPr>
          <a:xfrm>
            <a:off x="4096512" y="5078577"/>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233672" y="5188305"/>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01:30</a:t>
            </a:r>
          </a:p>
        </p:txBody>
      </p:sp>
      <p:sp>
        <p:nvSpPr>
          <p:cNvPr id="31" name="TextBox 30"/>
          <p:cNvSpPr txBox="1"/>
          <p:nvPr/>
        </p:nvSpPr>
        <p:spPr>
          <a:xfrm>
            <a:off x="4937760" y="5151729"/>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Review a prepared run</a:t>
            </a:r>
          </a:p>
        </p:txBody>
      </p:sp>
      <p:sp>
        <p:nvSpPr>
          <p:cNvPr id="32" name="TextBox 31"/>
          <p:cNvSpPr txBox="1"/>
          <p:nvPr/>
        </p:nvSpPr>
        <p:spPr>
          <a:xfrm>
            <a:off x="4937760" y="5352897"/>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Inspect changed files, check results and a no-change outcome.</a:t>
            </a:r>
          </a:p>
        </p:txBody>
      </p:sp>
      <p:sp>
        <p:nvSpPr>
          <p:cNvPr id="33" name="Rounded Rectangle 32"/>
          <p:cNvSpPr/>
          <p:nvPr/>
        </p:nvSpPr>
        <p:spPr>
          <a:xfrm>
            <a:off x="4096512" y="5634532"/>
            <a:ext cx="7589520" cy="501091"/>
          </a:xfrm>
          <a:prstGeom prst="roundRect">
            <a:avLst>
              <a:gd name="adj" fmla="val 8000"/>
            </a:avLst>
          </a:prstGeom>
          <a:solidFill>
            <a:srgbClr val="F1F5F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233672" y="5744260"/>
            <a:ext cx="594360" cy="256032"/>
          </a:xfrm>
          <a:prstGeom prst="rect">
            <a:avLst/>
          </a:prstGeom>
          <a:noFill/>
        </p:spPr>
        <p:txBody>
          <a:bodyPr wrap="square" lIns="0" rIns="0" tIns="0" bIns="0" anchor="t">
            <a:spAutoFit/>
          </a:bodyPr>
          <a:lstStyle/>
          <a:p>
            <a:pPr>
              <a:lnSpc>
                <a:spcPct val="112000"/>
              </a:lnSpc>
              <a:spcAft>
                <a:spcPts val="300"/>
              </a:spcAft>
              <a:defRPr sz="1300" b="1">
                <a:solidFill>
                  <a:srgbClr val="7046A3"/>
                </a:solidFill>
                <a:latin typeface="Arial"/>
              </a:defRPr>
            </a:pPr>
            <a:r>
              <a:t>01:00</a:t>
            </a:r>
          </a:p>
        </p:txBody>
      </p:sp>
      <p:sp>
        <p:nvSpPr>
          <p:cNvPr id="35" name="TextBox 34"/>
          <p:cNvSpPr txBox="1"/>
          <p:nvPr/>
        </p:nvSpPr>
        <p:spPr>
          <a:xfrm>
            <a:off x="4937760" y="5707684"/>
            <a:ext cx="6537960" cy="219456"/>
          </a:xfrm>
          <a:prstGeom prst="rect">
            <a:avLst/>
          </a:prstGeom>
          <a:noFill/>
        </p:spPr>
        <p:txBody>
          <a:bodyPr wrap="square" lIns="0" rIns="0" tIns="0" bIns="0" anchor="t">
            <a:spAutoFit/>
          </a:bodyPr>
          <a:lstStyle/>
          <a:p>
            <a:pPr>
              <a:lnSpc>
                <a:spcPct val="112000"/>
              </a:lnSpc>
              <a:spcAft>
                <a:spcPts val="300"/>
              </a:spcAft>
              <a:defRPr sz="1350" b="1">
                <a:solidFill>
                  <a:srgbClr val="182B43"/>
                </a:solidFill>
                <a:latin typeface="Arial"/>
              </a:defRPr>
            </a:pPr>
            <a:r>
              <a:t>Set the stop rule</a:t>
            </a:r>
          </a:p>
        </p:txBody>
      </p:sp>
      <p:sp>
        <p:nvSpPr>
          <p:cNvPr id="36" name="TextBox 35"/>
          <p:cNvSpPr txBox="1"/>
          <p:nvPr/>
        </p:nvSpPr>
        <p:spPr>
          <a:xfrm>
            <a:off x="4937760" y="5908852"/>
            <a:ext cx="6537960" cy="263347"/>
          </a:xfrm>
          <a:prstGeom prst="rect">
            <a:avLst/>
          </a:prstGeom>
          <a:noFill/>
        </p:spPr>
        <p:txBody>
          <a:bodyPr wrap="square" lIns="0" rIns="0" tIns="0" bIns="0" anchor="t">
            <a:spAutoFit/>
          </a:bodyPr>
          <a:lstStyle/>
          <a:p>
            <a:pPr>
              <a:lnSpc>
                <a:spcPct val="112000"/>
              </a:lnSpc>
              <a:spcAft>
                <a:spcPts val="300"/>
              </a:spcAft>
              <a:defRPr sz="1350" b="0">
                <a:solidFill>
                  <a:srgbClr val="182B43"/>
                </a:solidFill>
                <a:latin typeface="Arial"/>
              </a:defRPr>
            </a:pPr>
            <a:r>
              <a:t>Explain how the owner disables noisy or failing automation.</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Steering and memory serve different purposes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Explicit team rules and learned context are useful—but neither is an authorization policy.</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12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22:45–23:45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EXPLICIT GUIDANCE</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Steering</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Team-authored conventions: approved test commands, repository layout, error handling and review expectations.</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LEARNED CONTEXT</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Memory</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Learned context: useful commands, corrections and prior debugging insights recalled for later work.</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600" b="1">
                <a:solidFill>
                  <a:srgbClr val="FFFFFF"/>
                </a:solidFill>
                <a:latin typeface="Arial"/>
              </a:defRPr>
            </a:pPr>
            <a:r>
              <a:t>Recommended practice: version stable guidance; verify learned context against the current repository.</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Extend capabilities deliberately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Choose the smallest reusable mechanism that fits the task.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13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23:45–24:45</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Mechanism</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What it contributes</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Review before use</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MCP / Powers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Connected tools and task-specific guidance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Provider, credentials, tool effects</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Custom agent</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Reusable role, instructions and selected configuration</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Scope and allowed capabilities</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Skill</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Reusable procedure and supporting resources</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Commands, dependencies and assumptions</a:t>
                      </a:r>
                    </a:p>
                  </a:txBody>
                  <a:tcPr marL="128016" marR="128016" marT="82296" marB="54864">
                    <a:solidFill>
                      <a:srgbClr val="F1F5F8"/>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Local hooks are not cloud automation controls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capability matrix for the client actually running the work.</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14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01:00 allocated  |  24:45–25:45</a:t>
            </a:r>
          </a:p>
        </p:txBody>
      </p:sp>
      <p:sp>
        <p:nvSpPr>
          <p:cNvPr id="9" name="Rounded Rectangle 8"/>
          <p:cNvSpPr/>
          <p:nvPr/>
        </p:nvSpPr>
        <p:spPr>
          <a:xfrm>
            <a:off x="502920"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 CONTROLS</a:t>
            </a:r>
          </a:p>
        </p:txBody>
      </p:sp>
      <p:sp>
        <p:nvSpPr>
          <p:cNvPr id="11" name="TextBox 10"/>
          <p:cNvSpPr txBox="1"/>
          <p:nvPr/>
        </p:nvSpPr>
        <p:spPr>
          <a:xfrm>
            <a:off x="667512"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IDE / CLI</a:t>
            </a:r>
          </a:p>
        </p:txBody>
      </p:sp>
      <p:sp>
        <p:nvSpPr>
          <p:cNvPr id="12" name="TextBox 11"/>
          <p:cNvSpPr txBox="1"/>
          <p:nvPr/>
        </p:nvSpPr>
        <p:spPr>
          <a:xfrm>
            <a:off x="667512"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Event-driven hooks can run local checks. Capability permissions define deny, ask and allow behavior.</a:t>
            </a:r>
          </a:p>
        </p:txBody>
      </p:sp>
      <p:sp>
        <p:nvSpPr>
          <p:cNvPr id="13" name="Rounded Rectangle 12"/>
          <p:cNvSpPr/>
          <p:nvPr/>
        </p:nvSpPr>
        <p:spPr>
          <a:xfrm>
            <a:off x="6199632" y="2313432"/>
            <a:ext cx="5486400" cy="2971800"/>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364224" y="2459736"/>
            <a:ext cx="515721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CLOUD CONTROLS</a:t>
            </a:r>
          </a:p>
        </p:txBody>
      </p:sp>
      <p:sp>
        <p:nvSpPr>
          <p:cNvPr id="15" name="TextBox 14"/>
          <p:cNvSpPr txBox="1"/>
          <p:nvPr/>
        </p:nvSpPr>
        <p:spPr>
          <a:xfrm>
            <a:off x="6364224" y="2788920"/>
            <a:ext cx="515721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Web sandbox</a:t>
            </a:r>
          </a:p>
        </p:txBody>
      </p:sp>
      <p:sp>
        <p:nvSpPr>
          <p:cNvPr id="16" name="TextBox 15"/>
          <p:cNvSpPr txBox="1"/>
          <p:nvPr/>
        </p:nvSpPr>
        <p:spPr>
          <a:xfrm>
            <a:off x="6364224" y="3392424"/>
            <a:ext cx="5157216" cy="1746504"/>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supported repository, network, environment and cloud controls; confirm the current feature rollout.</a:t>
            </a:r>
          </a:p>
        </p:txBody>
      </p:sp>
      <p:sp>
        <p:nvSpPr>
          <p:cNvPr id="17" name="Rounded Rectangle 16"/>
          <p:cNvSpPr/>
          <p:nvPr/>
        </p:nvSpPr>
        <p:spPr>
          <a:xfrm>
            <a:off x="502920" y="5477256"/>
            <a:ext cx="11183112" cy="713232"/>
          </a:xfrm>
          <a:prstGeom prst="roundRect">
            <a:avLst>
              <a:gd name="adj" fmla="val 8000"/>
            </a:avLst>
          </a:prstGeom>
          <a:solidFill>
            <a:srgbClr val="10243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5632704"/>
            <a:ext cx="10771632" cy="402336"/>
          </a:xfrm>
          <a:prstGeom prst="rect">
            <a:avLst/>
          </a:prstGeom>
          <a:noFill/>
        </p:spPr>
        <p:txBody>
          <a:bodyPr wrap="square" lIns="0" rIns="0" tIns="0" bIns="0" anchor="t">
            <a:spAutoFit/>
          </a:bodyPr>
          <a:lstStyle/>
          <a:p>
            <a:pPr>
              <a:lnSpc>
                <a:spcPct val="112000"/>
              </a:lnSpc>
              <a:spcAft>
                <a:spcPts val="300"/>
              </a:spcAft>
              <a:defRPr sz="1700" b="1">
                <a:solidFill>
                  <a:srgbClr val="FFFFFF"/>
                </a:solidFill>
                <a:latin typeface="Arial"/>
              </a:defRPr>
            </a:pPr>
            <a:r>
              <a:t>Do not copy a local permission or hook configuration and assume it protects a Web task.</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CAPABILITIES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Workflows make multi-step delegation explicit</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Acceptance: bound retries and verify account/client availability before relying on a workflow.</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15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25:45–27:15</a:t>
            </a:r>
          </a:p>
        </p:txBody>
      </p:sp>
      <p:sp>
        <p:nvSpPr>
          <p:cNvPr id="9" name="Rounded Rectangle 8"/>
          <p:cNvSpPr/>
          <p:nvPr/>
        </p:nvSpPr>
        <p:spPr>
          <a:xfrm>
            <a:off x="502920"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01</a:t>
            </a:r>
          </a:p>
        </p:txBody>
      </p:sp>
      <p:sp>
        <p:nvSpPr>
          <p:cNvPr id="11" name="TextBox 10"/>
          <p:cNvSpPr txBox="1"/>
          <p:nvPr/>
        </p:nvSpPr>
        <p:spPr>
          <a:xfrm>
            <a:off x="667512"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Inputs</a:t>
            </a:r>
          </a:p>
        </p:txBody>
      </p:sp>
      <p:sp>
        <p:nvSpPr>
          <p:cNvPr id="12" name="TextBox 11"/>
          <p:cNvSpPr txBox="1"/>
          <p:nvPr/>
        </p:nvSpPr>
        <p:spPr>
          <a:xfrm>
            <a:off x="667512"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A bounded outcome and requested review structure</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Selected agents, explicit handoffs and stopping limits</a:t>
            </a:r>
          </a:p>
        </p:txBody>
      </p:sp>
      <p:sp>
        <p:nvSpPr>
          <p:cNvPr id="13" name="Rounded Rectangle 12"/>
          <p:cNvSpPr/>
          <p:nvPr/>
        </p:nvSpPr>
        <p:spPr>
          <a:xfrm>
            <a:off x="4288536"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7"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02</a:t>
            </a:r>
          </a:p>
        </p:txBody>
      </p:sp>
      <p:sp>
        <p:nvSpPr>
          <p:cNvPr id="15" name="TextBox 14"/>
          <p:cNvSpPr txBox="1"/>
          <p:nvPr/>
        </p:nvSpPr>
        <p:spPr>
          <a:xfrm>
            <a:off x="4453127"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Agent work</a:t>
            </a:r>
          </a:p>
        </p:txBody>
      </p:sp>
      <p:sp>
        <p:nvSpPr>
          <p:cNvPr id="16" name="TextBox 15"/>
          <p:cNvSpPr txBox="1"/>
          <p:nvPr/>
        </p:nvSpPr>
        <p:spPr>
          <a:xfrm>
            <a:off x="4453127"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Run a graph of steps, branches, loops and waits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Inspect, steer or stop work through the supported client controls</a:t>
            </a:r>
          </a:p>
        </p:txBody>
      </p:sp>
      <p:sp>
        <p:nvSpPr>
          <p:cNvPr id="17" name="Rounded Rectangle 16"/>
          <p:cNvSpPr/>
          <p:nvPr/>
        </p:nvSpPr>
        <p:spPr>
          <a:xfrm>
            <a:off x="8074152" y="2313432"/>
            <a:ext cx="3611880"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38744" y="2459736"/>
            <a:ext cx="3282696"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03</a:t>
            </a:r>
          </a:p>
        </p:txBody>
      </p:sp>
      <p:sp>
        <p:nvSpPr>
          <p:cNvPr id="19" name="TextBox 18"/>
          <p:cNvSpPr txBox="1"/>
          <p:nvPr/>
        </p:nvSpPr>
        <p:spPr>
          <a:xfrm>
            <a:off x="8238744" y="2788920"/>
            <a:ext cx="3282696"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Outputs</a:t>
            </a:r>
          </a:p>
        </p:txBody>
      </p:sp>
      <p:sp>
        <p:nvSpPr>
          <p:cNvPr id="20" name="TextBox 19"/>
          <p:cNvSpPr txBox="1"/>
          <p:nvPr/>
        </p:nvSpPr>
        <p:spPr>
          <a:xfrm>
            <a:off x="8238744" y="3392424"/>
            <a:ext cx="3282696"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Step-specific results and linked artifacts</a:t>
            </a:r>
          </a:p>
          <a:p>
            <a:pPr>
              <a:lnSpc>
                <a:spcPct val="112000"/>
              </a:lnSpc>
              <a:spcAft>
                <a:spcPts val="300"/>
              </a:spcAft>
              <a:defRPr sz="1800" b="0">
                <a:solidFill>
                  <a:srgbClr val="182B43"/>
                </a:solidFill>
                <a:latin typeface="Arial"/>
              </a:defRPr>
            </a:pPr>
          </a:p>
          <a:p>
            <a:pPr>
              <a:lnSpc>
                <a:spcPct val="112000"/>
              </a:lnSpc>
              <a:spcAft>
                <a:spcPts val="300"/>
              </a:spcAft>
              <a:defRPr sz="1800" b="0">
                <a:solidFill>
                  <a:srgbClr val="182B43"/>
                </a:solidFill>
                <a:latin typeface="Arial"/>
              </a:defRPr>
            </a:pPr>
            <a:r>
              <a:t>A reusable recipe when the process is worth repeating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CONTROLS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Resume work and recover with the correct mechanism</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Session continuity, local rewind and Git recovery are not interchangeable.</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16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01:15 allocated  |  27:15–28:30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SESSION</a:t>
            </a:r>
          </a:p>
        </p:txBody>
      </p:sp>
      <p:sp>
        <p:nvSpPr>
          <p:cNvPr id="11" name="TextBox 10"/>
          <p:cNvSpPr txBox="1"/>
          <p:nvPr/>
        </p:nvSpPr>
        <p:spPr>
          <a:xfrm>
            <a:off x="66751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Continue</a:t>
            </a:r>
          </a:p>
        </p:txBody>
      </p:sp>
      <p:sp>
        <p:nvSpPr>
          <p:cNvPr id="12" name="TextBox 11"/>
          <p:cNvSpPr txBox="1"/>
          <p:nvPr/>
        </p:nvSpPr>
        <p:spPr>
          <a:xfrm>
            <a:off x="66751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Resume the supported cloud session and inspect its current task state.</a:t>
            </a:r>
          </a:p>
        </p:txBody>
      </p:sp>
      <p:sp>
        <p:nvSpPr>
          <p:cNvPr id="13" name="Rounded Rectangle 12"/>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6227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LOCAL</a:t>
            </a:r>
          </a:p>
        </p:txBody>
      </p:sp>
      <p:sp>
        <p:nvSpPr>
          <p:cNvPr id="15" name="TextBox 14"/>
          <p:cNvSpPr txBox="1"/>
          <p:nvPr/>
        </p:nvSpPr>
        <p:spPr>
          <a:xfrm>
            <a:off x="446227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Restore locally</a:t>
            </a:r>
          </a:p>
        </p:txBody>
      </p:sp>
      <p:sp>
        <p:nvSpPr>
          <p:cNvPr id="16" name="TextBox 15"/>
          <p:cNvSpPr txBox="1"/>
          <p:nvPr/>
        </p:nvSpPr>
        <p:spPr>
          <a:xfrm>
            <a:off x="446227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documented checkpoints/rewind only for their supported surface.</a:t>
            </a:r>
          </a:p>
        </p:txBody>
      </p:sp>
      <p:sp>
        <p:nvSpPr>
          <p:cNvPr id="17" name="Rounded Rectangle 16"/>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57032" y="2459736"/>
            <a:ext cx="3264408" cy="201168"/>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TEAM</a:t>
            </a:r>
          </a:p>
        </p:txBody>
      </p:sp>
      <p:sp>
        <p:nvSpPr>
          <p:cNvPr id="19" name="TextBox 18"/>
          <p:cNvSpPr txBox="1"/>
          <p:nvPr/>
        </p:nvSpPr>
        <p:spPr>
          <a:xfrm>
            <a:off x="8257032" y="2788920"/>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Recover a change</a:t>
            </a:r>
          </a:p>
        </p:txBody>
      </p:sp>
      <p:sp>
        <p:nvSpPr>
          <p:cNvPr id="20" name="TextBox 19"/>
          <p:cNvSpPr txBox="1"/>
          <p:nvPr/>
        </p:nvSpPr>
        <p:spPr>
          <a:xfrm>
            <a:off x="8257032" y="3392424"/>
            <a:ext cx="3264408" cy="2651760"/>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Use reviewed Git history and normal deployment rollback procedures.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BOUNDARIES</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IaC, CI diagnosis and runbooks are composed workflows</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General coding tools help; specialist validation still determines correctness.</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17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01:30 allocated  |  28:30–30:00</a:t>
            </a:r>
          </a:p>
        </p:txBody>
      </p:sp>
      <p:graphicFrame>
        <p:nvGraphicFramePr>
          <p:cNvPr id="9" name="Table 8"/>
          <p:cNvGraphicFramePr>
            <a:graphicFrameLocks noGrp="1"/>
          </p:cNvGraphicFramePr>
          <p:nvPr/>
        </p:nvGraphicFramePr>
        <p:xfrm>
          <a:off x="502920" y="2313432"/>
          <a:ext cx="11183112" cy="3858768"/>
        </p:xfrm>
        <a:graphic>
          <a:graphicData uri="http://schemas.openxmlformats.org/drawingml/2006/table">
            <a:tbl>
              <a:tblPr firstRow="1" bandRow="1">
                <a:tableStyleId>{5C22544A-7EE6-4342-B048-85BDC9FD1C3A}</a:tableStyleId>
              </a:tblPr>
              <a:tblGrid>
                <a:gridCol w="3727704"/>
                <a:gridCol w="3727704"/>
                <a:gridCol w="3727704"/>
              </a:tblGrid>
              <a:tr h="964692">
                <a:tc>
                  <a:txBody>
                    <a:bodyPr/>
                    <a:lstStyle/>
                    <a:p>
                      <a:pPr>
                        <a:spcAft>
                          <a:spcPts val="0"/>
                        </a:spcAft>
                        <a:defRPr sz="1600" b="1">
                          <a:solidFill>
                            <a:srgbClr val="FFFFFF"/>
                          </a:solidFill>
                          <a:latin typeface="Arial"/>
                        </a:defRPr>
                      </a:pPr>
                      <a:r>
                        <a:t>Example job</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Useful agent output</a:t>
                      </a:r>
                    </a:p>
                  </a:txBody>
                  <a:tcPr marL="128016" marR="128016" marT="82296" marB="54864">
                    <a:solidFill>
                      <a:srgbClr val="10243B"/>
                    </a:solidFill>
                  </a:tcPr>
                </a:tc>
                <a:tc>
                  <a:txBody>
                    <a:bodyPr/>
                    <a:lstStyle/>
                    <a:p>
                      <a:pPr>
                        <a:spcAft>
                          <a:spcPts val="0"/>
                        </a:spcAft>
                        <a:defRPr sz="1600" b="1">
                          <a:solidFill>
                            <a:srgbClr val="FFFFFF"/>
                          </a:solidFill>
                          <a:latin typeface="Arial"/>
                        </a:defRPr>
                      </a:pPr>
                      <a:r>
                        <a:t>Required external check</a:t>
                      </a:r>
                    </a:p>
                  </a:txBody>
                  <a:tcPr marL="128016" marR="128016" marT="82296" marB="54864">
                    <a:solidFill>
                      <a:srgbClr val="10243B"/>
                    </a:solidFill>
                  </a:tcPr>
                </a:tc>
              </a:tr>
              <a:tr h="964692">
                <a:tc>
                  <a:txBody>
                    <a:bodyPr/>
                    <a:lstStyle/>
                    <a:p>
                      <a:pPr>
                        <a:spcAft>
                          <a:spcPts val="0"/>
                        </a:spcAft>
                        <a:defRPr sz="1600" b="0">
                          <a:solidFill>
                            <a:srgbClr val="182B43"/>
                          </a:solidFill>
                          <a:latin typeface="Arial"/>
                        </a:defRPr>
                      </a:pPr>
                      <a:r>
                        <a:t>Explain a Terraform change</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Scoped candidate diff and reasoning</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Format, validate, policy checks and plan review</a:t>
                      </a:r>
                    </a:p>
                  </a:txBody>
                  <a:tcPr marL="128016" marR="128016" marT="82296" marB="54864">
                    <a:solidFill>
                      <a:srgbClr val="F1F5F8"/>
                    </a:solidFill>
                  </a:tcPr>
                </a:tc>
              </a:tr>
              <a:tr h="964692">
                <a:tc>
                  <a:txBody>
                    <a:bodyPr/>
                    <a:lstStyle/>
                    <a:p>
                      <a:pPr>
                        <a:spcAft>
                          <a:spcPts val="0"/>
                        </a:spcAft>
                        <a:defRPr sz="1600" b="0">
                          <a:solidFill>
                            <a:srgbClr val="182B43"/>
                          </a:solidFill>
                          <a:latin typeface="Arial"/>
                        </a:defRPr>
                      </a:pPr>
                      <a:r>
                        <a:t>Diagnose a build failure</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Evidence-linked hypothesis and patch</a:t>
                      </a:r>
                    </a:p>
                  </a:txBody>
                  <a:tcPr marL="128016" marR="128016" marT="82296" marB="54864">
                    <a:solidFill>
                      <a:srgbClr val="FFFFFF"/>
                    </a:solidFill>
                  </a:tcPr>
                </a:tc>
                <a:tc>
                  <a:txBody>
                    <a:bodyPr/>
                    <a:lstStyle/>
                    <a:p>
                      <a:pPr>
                        <a:spcAft>
                          <a:spcPts val="0"/>
                        </a:spcAft>
                        <a:defRPr sz="1600" b="0">
                          <a:solidFill>
                            <a:srgbClr val="182B43"/>
                          </a:solidFill>
                          <a:latin typeface="Arial"/>
                        </a:defRPr>
                      </a:pPr>
                      <a:r>
                        <a:t>Rerun the same CI command on the new commit</a:t>
                      </a:r>
                    </a:p>
                  </a:txBody>
                  <a:tcPr marL="128016" marR="128016" marT="82296" marB="54864">
                    <a:solidFill>
                      <a:srgbClr val="FFFFFF"/>
                    </a:solidFill>
                  </a:tcPr>
                </a:tc>
              </a:tr>
              <a:tr h="964692">
                <a:tc>
                  <a:txBody>
                    <a:bodyPr/>
                    <a:lstStyle/>
                    <a:p>
                      <a:pPr>
                        <a:spcAft>
                          <a:spcPts val="0"/>
                        </a:spcAft>
                        <a:defRPr sz="1600" b="0">
                          <a:solidFill>
                            <a:srgbClr val="182B43"/>
                          </a:solidFill>
                          <a:latin typeface="Arial"/>
                        </a:defRPr>
                      </a:pPr>
                      <a:r>
                        <a:t>Draft a runbook</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Prerequisites, steps and rollback draft</a:t>
                      </a:r>
                    </a:p>
                  </a:txBody>
                  <a:tcPr marL="128016" marR="128016" marT="82296" marB="54864">
                    <a:solidFill>
                      <a:srgbClr val="F1F5F8"/>
                    </a:solidFill>
                  </a:tcPr>
                </a:tc>
                <a:tc>
                  <a:txBody>
                    <a:bodyPr/>
                    <a:lstStyle/>
                    <a:p>
                      <a:pPr>
                        <a:spcAft>
                          <a:spcPts val="0"/>
                        </a:spcAft>
                        <a:defRPr sz="1600" b="0">
                          <a:solidFill>
                            <a:srgbClr val="182B43"/>
                          </a:solidFill>
                          <a:latin typeface="Arial"/>
                        </a:defRPr>
                      </a:pPr>
                      <a:r>
                        <a:t>Owner rehearsal in a safe environment</a:t>
                      </a:r>
                    </a:p>
                  </a:txBody>
                  <a:tcPr marL="128016" marR="128016" marT="82296" marB="54864">
                    <a:solidFill>
                      <a:srgbClr val="F1F5F8"/>
                    </a:solidFill>
                  </a:tcPr>
                </a:tc>
              </a:tr>
            </a:tbl>
          </a:graphicData>
        </a:graphic>
      </p:graphicFrame>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CLOSE</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Pilot for accepted changes, not generated volume</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Scale only when review effort, correctness and operational risk improve together.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18 / 18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02:00 allocated  |  30:00–32:00</a:t>
            </a:r>
          </a:p>
        </p:txBody>
      </p:sp>
      <p:sp>
        <p:nvSpPr>
          <p:cNvPr id="9" name="Rounded Rectangle 8"/>
          <p:cNvSpPr/>
          <p:nvPr/>
        </p:nvSpPr>
        <p:spPr>
          <a:xfrm>
            <a:off x="50292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6751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1</a:t>
            </a:r>
          </a:p>
        </p:txBody>
      </p:sp>
      <p:sp>
        <p:nvSpPr>
          <p:cNvPr id="11" name="TextBox 10"/>
          <p:cNvSpPr txBox="1"/>
          <p:nvPr/>
        </p:nvSpPr>
        <p:spPr>
          <a:xfrm>
            <a:off x="66751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Repository access, test environment and baseline task.</a:t>
            </a:r>
          </a:p>
        </p:txBody>
      </p:sp>
      <p:sp>
        <p:nvSpPr>
          <p:cNvPr id="12" name="Rounded Rectangle 11"/>
          <p:cNvSpPr/>
          <p:nvPr/>
        </p:nvSpPr>
        <p:spPr>
          <a:xfrm>
            <a:off x="429768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46227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Weeks 2–3</a:t>
            </a:r>
          </a:p>
        </p:txBody>
      </p:sp>
      <p:sp>
        <p:nvSpPr>
          <p:cNvPr id="14" name="TextBox 13"/>
          <p:cNvSpPr txBox="1"/>
          <p:nvPr/>
        </p:nvSpPr>
        <p:spPr>
          <a:xfrm>
            <a:off x="446227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One spec-driven change; then one bounded automation.</a:t>
            </a:r>
          </a:p>
        </p:txBody>
      </p:sp>
      <p:sp>
        <p:nvSpPr>
          <p:cNvPr id="15" name="Rounded Rectangle 14"/>
          <p:cNvSpPr/>
          <p:nvPr/>
        </p:nvSpPr>
        <p:spPr>
          <a:xfrm>
            <a:off x="8092440" y="2313432"/>
            <a:ext cx="3593592" cy="3877056"/>
          </a:xfrm>
          <a:prstGeom prst="roundRect">
            <a:avLst>
              <a:gd name="adj" fmla="val 8000"/>
            </a:avLst>
          </a:prstGeom>
          <a:solidFill>
            <a:srgbClr val="F1F5F8"/>
          </a:solidFill>
          <a:ln w="10160">
            <a:solidFill>
              <a:srgbClr val="DBE2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57032" y="2496312"/>
            <a:ext cx="3264408" cy="502920"/>
          </a:xfrm>
          <a:prstGeom prst="rect">
            <a:avLst/>
          </a:prstGeom>
          <a:noFill/>
        </p:spPr>
        <p:txBody>
          <a:bodyPr wrap="square" lIns="0" rIns="0" tIns="0" bIns="0" anchor="t">
            <a:spAutoFit/>
          </a:bodyPr>
          <a:lstStyle/>
          <a:p>
            <a:pPr>
              <a:lnSpc>
                <a:spcPct val="112000"/>
              </a:lnSpc>
              <a:spcAft>
                <a:spcPts val="300"/>
              </a:spcAft>
              <a:defRPr sz="2000" b="1">
                <a:solidFill>
                  <a:srgbClr val="182B43"/>
                </a:solidFill>
                <a:latin typeface="Arial"/>
              </a:defRPr>
            </a:pPr>
            <a:r>
              <a:t>Week 4</a:t>
            </a:r>
          </a:p>
        </p:txBody>
      </p:sp>
      <p:sp>
        <p:nvSpPr>
          <p:cNvPr id="17" name="TextBox 16"/>
          <p:cNvSpPr txBox="1"/>
          <p:nvPr/>
        </p:nvSpPr>
        <p:spPr>
          <a:xfrm>
            <a:off x="8257032" y="3099816"/>
            <a:ext cx="3264408" cy="2944368"/>
          </a:xfrm>
          <a:prstGeom prst="rect">
            <a:avLst/>
          </a:prstGeom>
          <a:noFill/>
        </p:spPr>
        <p:txBody>
          <a:bodyPr wrap="square" lIns="0" rIns="0" tIns="0" bIns="0" anchor="t">
            <a:spAutoFit/>
          </a:bodyPr>
          <a:lstStyle/>
          <a:p>
            <a:pPr>
              <a:lnSpc>
                <a:spcPct val="112000"/>
              </a:lnSpc>
              <a:spcAft>
                <a:spcPts val="300"/>
              </a:spcAft>
              <a:defRPr sz="1800" b="0">
                <a:solidFill>
                  <a:srgbClr val="182B43"/>
                </a:solidFill>
                <a:latin typeface="Arial"/>
              </a:defRPr>
            </a:pPr>
            <a:r>
              <a:t>Review acceptance, correction effort and cost; expand or stop.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9728"/>
          </a:xfrm>
          <a:prstGeom prst="rect">
            <a:avLst/>
          </a:prstGeom>
          <a:solidFill>
            <a:srgbClr val="7046A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310896"/>
            <a:ext cx="10881360" cy="228600"/>
          </a:xfrm>
          <a:prstGeom prst="rect">
            <a:avLst/>
          </a:prstGeom>
          <a:noFill/>
        </p:spPr>
        <p:txBody>
          <a:bodyPr wrap="square" lIns="0" rIns="0" tIns="0" bIns="0" anchor="t">
            <a:spAutoFit/>
          </a:bodyPr>
          <a:lstStyle/>
          <a:p>
            <a:pPr>
              <a:lnSpc>
                <a:spcPct val="112000"/>
              </a:lnSpc>
              <a:spcAft>
                <a:spcPts val="300"/>
              </a:spcAft>
              <a:defRPr sz="1050" b="1">
                <a:solidFill>
                  <a:srgbClr val="7046A3"/>
                </a:solidFill>
                <a:latin typeface="Arial"/>
              </a:defRPr>
            </a:pPr>
            <a:r>
              <a:t>KIRO  /  UNTIMED APPENDIX</a:t>
            </a:r>
          </a:p>
        </p:txBody>
      </p:sp>
      <p:sp>
        <p:nvSpPr>
          <p:cNvPr id="4" name="TextBox 3"/>
          <p:cNvSpPr txBox="1"/>
          <p:nvPr/>
        </p:nvSpPr>
        <p:spPr>
          <a:xfrm>
            <a:off x="502920" y="777240"/>
            <a:ext cx="11018520" cy="804672"/>
          </a:xfrm>
          <a:prstGeom prst="rect">
            <a:avLst/>
          </a:prstGeom>
          <a:noFill/>
        </p:spPr>
        <p:txBody>
          <a:bodyPr wrap="square" lIns="0" rIns="0" tIns="0" bIns="0" anchor="t">
            <a:spAutoFit/>
          </a:bodyPr>
          <a:lstStyle/>
          <a:p>
            <a:pPr>
              <a:lnSpc>
                <a:spcPct val="112000"/>
              </a:lnSpc>
              <a:spcAft>
                <a:spcPts val="300"/>
              </a:spcAft>
              <a:defRPr sz="3100" b="1">
                <a:solidFill>
                  <a:srgbClr val="182B43"/>
                </a:solidFill>
                <a:latin typeface="Arial"/>
              </a:defRPr>
            </a:pPr>
            <a:r>
              <a:t>Official evidence and delivery boundary</a:t>
            </a:r>
          </a:p>
        </p:txBody>
      </p:sp>
      <p:sp>
        <p:nvSpPr>
          <p:cNvPr id="5" name="TextBox 4"/>
          <p:cNvSpPr txBox="1"/>
          <p:nvPr/>
        </p:nvSpPr>
        <p:spPr>
          <a:xfrm>
            <a:off x="502920" y="1627632"/>
            <a:ext cx="11018520" cy="502920"/>
          </a:xfrm>
          <a:prstGeom prst="rect">
            <a:avLst/>
          </a:prstGeom>
          <a:noFill/>
        </p:spPr>
        <p:txBody>
          <a:bodyPr wrap="square" lIns="0" rIns="0" tIns="0" bIns="0" anchor="t">
            <a:spAutoFit/>
          </a:bodyPr>
          <a:lstStyle/>
          <a:p>
            <a:pPr>
              <a:lnSpc>
                <a:spcPct val="112000"/>
              </a:lnSpc>
              <a:spcAft>
                <a:spcPts val="300"/>
              </a:spcAft>
              <a:defRPr sz="1800" b="0">
                <a:solidFill>
                  <a:srgbClr val="55657A"/>
                </a:solidFill>
                <a:latin typeface="Arial"/>
              </a:defRPr>
            </a:pPr>
            <a:r>
              <a:t>Use the linked product documentation and the complete report source register.</a:t>
            </a:r>
          </a:p>
        </p:txBody>
      </p:sp>
      <p:sp>
        <p:nvSpPr>
          <p:cNvPr id="6" name="Rectangle 5"/>
          <p:cNvSpPr/>
          <p:nvPr/>
        </p:nvSpPr>
        <p:spPr>
          <a:xfrm>
            <a:off x="502920" y="6391656"/>
            <a:ext cx="11183112" cy="9144"/>
          </a:xfrm>
          <a:prstGeom prst="rect">
            <a:avLst/>
          </a:prstGeom>
          <a:solidFill>
            <a:srgbClr val="DBE2E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6510528"/>
            <a:ext cx="576072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UNTIMED APPENDIX    Kiro</a:t>
            </a:r>
          </a:p>
        </p:txBody>
      </p:sp>
      <p:sp>
        <p:nvSpPr>
          <p:cNvPr id="8" name="TextBox 7"/>
          <p:cNvSpPr txBox="1"/>
          <p:nvPr/>
        </p:nvSpPr>
        <p:spPr>
          <a:xfrm>
            <a:off x="7589520" y="6510528"/>
            <a:ext cx="4114800" cy="201168"/>
          </a:xfrm>
          <a:prstGeom prst="rect">
            <a:avLst/>
          </a:prstGeom>
          <a:noFill/>
        </p:spPr>
        <p:txBody>
          <a:bodyPr wrap="square" lIns="0" rIns="0" tIns="0" bIns="0" anchor="t">
            <a:spAutoFit/>
          </a:bodyPr>
          <a:lstStyle/>
          <a:p>
            <a:pPr>
              <a:lnSpc>
                <a:spcPct val="112000"/>
              </a:lnSpc>
              <a:spcAft>
                <a:spcPts val="300"/>
              </a:spcAft>
              <a:defRPr sz="1050" b="0">
                <a:solidFill>
                  <a:srgbClr val="55657A"/>
                </a:solidFill>
                <a:latin typeface="Arial"/>
              </a:defRPr>
            </a:pPr>
            <a:r>
              <a:t>Outside the timed session</a:t>
            </a:r>
          </a:p>
        </p:txBody>
      </p:sp>
      <p:sp>
        <p:nvSpPr>
          <p:cNvPr id="9" name="TextBox 8"/>
          <p:cNvSpPr txBox="1"/>
          <p:nvPr/>
        </p:nvSpPr>
        <p:spPr>
          <a:xfrm>
            <a:off x="594360" y="2331720"/>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3"/>
              </a:rPr>
              <a:t>K02  Kiro Web</a:t>
            </a:r>
          </a:p>
        </p:txBody>
      </p:sp>
      <p:sp>
        <p:nvSpPr>
          <p:cNvPr id="10" name="TextBox 9"/>
          <p:cNvSpPr txBox="1"/>
          <p:nvPr/>
        </p:nvSpPr>
        <p:spPr>
          <a:xfrm>
            <a:off x="594360" y="2862072"/>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4"/>
              </a:rPr>
              <a:t>K03  Working with the agent</a:t>
            </a:r>
          </a:p>
        </p:txBody>
      </p:sp>
      <p:sp>
        <p:nvSpPr>
          <p:cNvPr id="11" name="TextBox 10"/>
          <p:cNvSpPr txBox="1"/>
          <p:nvPr/>
        </p:nvSpPr>
        <p:spPr>
          <a:xfrm>
            <a:off x="594360" y="3392424"/>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5"/>
              </a:rPr>
              <a:t>K04  Autonomous mode</a:t>
            </a:r>
          </a:p>
        </p:txBody>
      </p:sp>
      <p:sp>
        <p:nvSpPr>
          <p:cNvPr id="12" name="TextBox 11"/>
          <p:cNvSpPr txBox="1"/>
          <p:nvPr/>
        </p:nvSpPr>
        <p:spPr>
          <a:xfrm>
            <a:off x="594360" y="3922775"/>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6"/>
              </a:rPr>
              <a:t>K06  GitHub integration</a:t>
            </a:r>
          </a:p>
        </p:txBody>
      </p:sp>
      <p:sp>
        <p:nvSpPr>
          <p:cNvPr id="13" name="TextBox 12"/>
          <p:cNvSpPr txBox="1"/>
          <p:nvPr/>
        </p:nvSpPr>
        <p:spPr>
          <a:xfrm>
            <a:off x="594360" y="4453127"/>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7"/>
              </a:rPr>
              <a:t>K07  GitLab integration</a:t>
            </a:r>
          </a:p>
        </p:txBody>
      </p:sp>
      <p:sp>
        <p:nvSpPr>
          <p:cNvPr id="14" name="TextBox 13"/>
          <p:cNvSpPr txBox="1"/>
          <p:nvPr/>
        </p:nvSpPr>
        <p:spPr>
          <a:xfrm>
            <a:off x="594360" y="4983479"/>
            <a:ext cx="10927080" cy="320040"/>
          </a:xfrm>
          <a:prstGeom prst="rect">
            <a:avLst/>
          </a:prstGeom>
          <a:noFill/>
        </p:spPr>
        <p:txBody>
          <a:bodyPr wrap="square" lIns="0" rIns="0" tIns="0" bIns="0" anchor="t">
            <a:spAutoFit/>
          </a:bodyPr>
          <a:lstStyle/>
          <a:p>
            <a:pPr>
              <a:lnSpc>
                <a:spcPct val="112000"/>
              </a:lnSpc>
              <a:spcAft>
                <a:spcPts val="300"/>
              </a:spcAft>
              <a:defRPr sz="1800" b="1">
                <a:solidFill>
                  <a:srgbClr val="7046A3"/>
                </a:solidFill>
                <a:latin typeface="Arial"/>
              </a:defRPr>
            </a:pPr>
            <a:r>
              <a:rPr>
                <a:hlinkClick r:id="rId8"/>
              </a:rPr>
              <a:t>K08  Specifications</a:t>
            </a:r>
          </a:p>
        </p:txBody>
      </p:sp>
      <p:sp>
        <p:nvSpPr>
          <p:cNvPr id="15" name="TextBox 14"/>
          <p:cNvSpPr txBox="1"/>
          <p:nvPr/>
        </p:nvSpPr>
        <p:spPr>
          <a:xfrm>
            <a:off x="594360" y="5660136"/>
            <a:ext cx="10927080" cy="475488"/>
          </a:xfrm>
          <a:prstGeom prst="rect">
            <a:avLst/>
          </a:prstGeom>
          <a:noFill/>
        </p:spPr>
        <p:txBody>
          <a:bodyPr wrap="square" lIns="0" rIns="0" tIns="0" bIns="0" anchor="t">
            <a:spAutoFit/>
          </a:bodyPr>
          <a:lstStyle/>
          <a:p>
            <a:pPr>
              <a:lnSpc>
                <a:spcPct val="112000"/>
              </a:lnSpc>
              <a:spcAft>
                <a:spcPts val="300"/>
              </a:spcAft>
              <a:defRPr sz="1500" b="0">
                <a:solidFill>
                  <a:srgbClr val="55657A"/>
                </a:solidFill>
                <a:latin typeface="Arial"/>
              </a:defRPr>
            </a:pPr>
            <a:r>
              <a:t>Complete source URLs are embedded in speaker notes. Demo slots include fallback walkthroughs; questions and breaks are additional.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Kiro — engineering field guide</dc:title>
  <dc:subject>Source-aligned publication edition; timed demonstrations and official documentation.</dc:subject>
  <dc:creator>Frontier agents documentation</dc:creator>
  <cp:keywords/>
  <dc:description>Independent synthesis. No live AWS execution or measured benefit is claimed.</dc:description>
  <cp:lastModifiedBy>Steve Canny</cp:lastModifiedBy>
  <cp:revision>1</cp:revision>
  <dcterms:created xsi:type="dcterms:W3CDTF">2013-01-27T09:14:16Z</dcterms:created>
  <dcterms:modified xsi:type="dcterms:W3CDTF">2013-01-27T09:15:58Z</dcterms:modified>
  <cp:category/>
</cp:coreProperties>
</file>