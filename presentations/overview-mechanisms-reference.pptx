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Documented configuration, not a claim about undisclosed internals. No live AWS test or measured improvement. Retained context does not establish customer-controlled model training.</a:t>
            </a:r>
          </a:p>
          <a:p/>
          <a:p>
            <a:r>
              <a:t>Identify the scope → select the context → authorize the effect → verify the result → correct or stop. No shared agent runtime or memory store is asserted.</a:t>
            </a:r>
          </a:p>
          <a:p/>
          <a:p>
            <a:r>
              <a:t>Documented configuration, not a claim about undisclosed internals. No live AWS test or measured improvement. Retained context does not establish customer-controlled model training.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# Common mechanism controls — mechanisms and enablement</a:t>
            </a:r>
          </a:p>
          <a:p/>
          <a:p>
            <a:r>
              <a:t>Reviewed 21 October 2026. Independent checks and examples are proposed; no live workflow was executed.</a:t>
            </a:r>
          </a:p>
          <a:p/>
          <a:p>
            <a:r>
              <a:t>## Mechanism model</a:t>
            </a:r>
          </a:p>
          <a:p/>
          <a:p>
            <a:r>
              <a:t>Documented configuration, not a claim about undisclosed internals. No live AWS test or measured improvement. Retained context does not establish customer-controlled model training.</a:t>
            </a:r>
          </a:p>
          <a:p/>
          <a:p>
            <a:r>
              <a:t>Identify the scope → select the context → authorize the effect → verify the result → correct or stop. No shared agent runtime or memory store is asserted.</a:t>
            </a:r>
          </a:p>
          <a:p/>
          <a:p>
            <a:r>
              <a:t>Proposed architecture practices, not native portfolio functionality.</a:t>
            </a:r>
          </a:p>
          <a:p/>
          <a:p>
            <a:r>
              <a:t>## X-M01 — Name the storage boundary</a:t>
            </a:r>
          </a:p>
          <a:p/>
          <a:p>
            <a:r>
              <a:t>**Surface:** Across the three products; implementation differs</a:t>
            </a:r>
          </a:p>
          <a:p/>
          <a:p>
            <a:r>
              <a:t>**Availability:** Proposed team practice</a:t>
            </a:r>
          </a:p>
          <a:p/>
          <a:p>
            <a:r>
              <a:t>**Activation:** Apply through each product’s own controls</a:t>
            </a:r>
          </a:p>
          <a:p/>
          <a:p>
            <a:r>
              <a:t>### Documented mechanism</a:t>
            </a:r>
          </a:p>
          <a:p/>
          <a:p>
            <a:r>
              <a:t>Record whether context is local-machine, repository, Agent Space, individual agent or task-specific. Never infer a portfolio-wide store.</a:t>
            </a:r>
          </a:p>
          <a:p/>
          <a:p>
            <a:r>
              <a:t>### Enable and configure</a:t>
            </a:r>
          </a:p>
          <a:p/>
          <a:p>
            <a:r>
              <a:t>Use the product-specific setup record and its current official guidance.</a:t>
            </a:r>
          </a:p>
          <a:p/>
          <a:p>
            <a:r>
              <a:t>1. Select the relevant product mechanism.</a:t>
            </a:r>
          </a:p>
          <a:p/>
          <a:p>
            <a:r>
              <a:t>2. Record its scope, owner and activation setting.</a:t>
            </a:r>
          </a:p>
          <a:p/>
          <a:p>
            <a:r>
              <a:t>3. Run the proposed independent check using approved test inputs.</a:t>
            </a:r>
          </a:p>
          <a:p/>
          <a:p>
            <a:r>
              <a:t>### Scope and persistence</a:t>
            </a:r>
          </a:p>
          <a:p/>
          <a:p>
            <a:r>
              <a:t>No shared permission or memory service is asserted.</a:t>
            </a:r>
          </a:p>
          <a:p/>
          <a:p>
            <a:r>
              <a:t>### Independent checks — proposed</a:t>
            </a:r>
          </a:p>
          <a:p/>
          <a:p>
            <a:r>
              <a:t>- Compare the configured boundary with independent evidence from the product or target.</a:t>
            </a:r>
          </a:p>
          <a:p/>
          <a:p>
            <a:r>
              <a:t>### Record to retain — proposed</a:t>
            </a:r>
          </a:p>
          <a:p/>
          <a:p>
            <a:r>
              <a:t>Product identifier, setting, test evidence and reviewer decision.</a:t>
            </a:r>
          </a:p>
          <a:p/>
          <a:p>
            <a:r>
              <a:t>### Stop, correct or remove</a:t>
            </a:r>
          </a:p>
          <a:p/>
          <a:p>
            <a:r>
              <a:t>Use the product-specific stop or correction control.</a:t>
            </a:r>
          </a:p>
          <a:p/>
          <a:p>
            <a:r>
              <a:t>### Limits and fallback</a:t>
            </a:r>
          </a:p>
          <a:p/>
          <a:p>
            <a:r>
              <a:t>A common review process does not create a common runtime, credential set or approval model.</a:t>
            </a:r>
          </a:p>
          <a:p/>
          <a:p>
            <a:r>
              <a:t>Use the existing team process when the documented mechanism is unavailable.</a:t>
            </a:r>
          </a:p>
          <a:p/>
          <a:p>
            <a:r>
              <a:t>### Illustrative task — not executed</a:t>
            </a:r>
          </a:p>
          <a:p/>
          <a:p>
            <a:r>
              <a:t>Proposed cross-platform review, not a native AWS orchestration configuration.</a:t>
            </a:r>
          </a:p>
          <a:p/>
          <a:p>
            <a:r>
              <a:t>### Official guidance</a:t>
            </a:r>
          </a:p>
          <a:p/>
          <a:p>
            <a:r>
              <a:t>[DM: DevOps Agent Memories](https://docs.aws.amazon.com/devopsagent/latest/userguide/about-aws-devops-agent-devops-agent-memories.html)</a:t>
            </a:r>
          </a:p>
          <a:p/>
          <a:p>
            <a:r>
              <a:t>[SC: Create a penetration test](https://docs.aws.amazon.com/securityagent/latest/userguide/perform-penetration-test.html)</a:t>
            </a:r>
          </a:p>
          <a:p/>
          <a:p>
            <a:r>
              <a:t>[FP: Data protection](https://docs.aws.amazon.com/finops-agent/latest/userguide/data-protection.html)</a:t>
            </a:r>
          </a:p>
          <a:p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# Common mechanism controls — mechanisms and enablement</a:t>
            </a:r>
          </a:p>
          <a:p/>
          <a:p>
            <a:r>
              <a:t>Reviewed 21 October 2026. Independent checks and examples are proposed; no live workflow was executed.</a:t>
            </a:r>
          </a:p>
          <a:p/>
          <a:p>
            <a:r>
              <a:t>## Mechanism model</a:t>
            </a:r>
          </a:p>
          <a:p/>
          <a:p>
            <a:r>
              <a:t>Documented configuration, not a claim about undisclosed internals. No live AWS test or measured improvement. Retained context does not establish customer-controlled model training.</a:t>
            </a:r>
          </a:p>
          <a:p/>
          <a:p>
            <a:r>
              <a:t>Identify the scope → select the context → authorize the effect → verify the result → correct or stop. No shared agent runtime or memory store is asserted.</a:t>
            </a:r>
          </a:p>
          <a:p/>
          <a:p>
            <a:r>
              <a:t>Proposed architecture practices, not native portfolio functionality.</a:t>
            </a:r>
          </a:p>
          <a:p/>
          <a:p>
            <a:r>
              <a:t>## X-M02 — Separate content from authority</a:t>
            </a:r>
          </a:p>
          <a:p/>
          <a:p>
            <a:r>
              <a:t>**Surface:** Across the three products; implementation differs</a:t>
            </a:r>
          </a:p>
          <a:p/>
          <a:p>
            <a:r>
              <a:t>**Availability:** Proposed team practice</a:t>
            </a:r>
          </a:p>
          <a:p/>
          <a:p>
            <a:r>
              <a:t>**Activation:** Apply through each product’s own controls</a:t>
            </a:r>
          </a:p>
          <a:p/>
          <a:p>
            <a:r>
              <a:t>### Documented mechanism</a:t>
            </a:r>
          </a:p>
          <a:p/>
          <a:p>
            <a:r>
              <a:t>Instructions and memory affect what is considered. IAM, application credentials and tool approvals determine what can be accessed or changed.</a:t>
            </a:r>
          </a:p>
          <a:p/>
          <a:p>
            <a:r>
              <a:t>### Enable and configure</a:t>
            </a:r>
          </a:p>
          <a:p/>
          <a:p>
            <a:r>
              <a:t>Use the product-specific setup record and its current official guidance.</a:t>
            </a:r>
          </a:p>
          <a:p/>
          <a:p>
            <a:r>
              <a:t>1. Select the relevant product mechanism.</a:t>
            </a:r>
          </a:p>
          <a:p/>
          <a:p>
            <a:r>
              <a:t>2. Record its scope, owner and activation setting.</a:t>
            </a:r>
          </a:p>
          <a:p/>
          <a:p>
            <a:r>
              <a:t>3. Run the proposed independent check using approved test inputs.</a:t>
            </a:r>
          </a:p>
          <a:p/>
          <a:p>
            <a:r>
              <a:t>### Scope and persistence</a:t>
            </a:r>
          </a:p>
          <a:p/>
          <a:p>
            <a:r>
              <a:t>No shared permission or memory service is asserted.</a:t>
            </a:r>
          </a:p>
          <a:p/>
          <a:p>
            <a:r>
              <a:t>### Independent checks — proposed</a:t>
            </a:r>
          </a:p>
          <a:p/>
          <a:p>
            <a:r>
              <a:t>- Compare the configured boundary with independent evidence from the product or target.</a:t>
            </a:r>
          </a:p>
          <a:p/>
          <a:p>
            <a:r>
              <a:t>### Record to retain — proposed</a:t>
            </a:r>
          </a:p>
          <a:p/>
          <a:p>
            <a:r>
              <a:t>Product identifier, setting, test evidence and reviewer decision.</a:t>
            </a:r>
          </a:p>
          <a:p/>
          <a:p>
            <a:r>
              <a:t>### Stop, correct or remove</a:t>
            </a:r>
          </a:p>
          <a:p/>
          <a:p>
            <a:r>
              <a:t>Use the product-specific stop or correction control.</a:t>
            </a:r>
          </a:p>
          <a:p/>
          <a:p>
            <a:r>
              <a:t>### Limits and fallback</a:t>
            </a:r>
          </a:p>
          <a:p/>
          <a:p>
            <a:r>
              <a:t>A common review process does not create a common runtime, credential set or approval model.</a:t>
            </a:r>
          </a:p>
          <a:p/>
          <a:p>
            <a:r>
              <a:t>Use the existing team process when the documented mechanism is unavailable.</a:t>
            </a:r>
          </a:p>
          <a:p/>
          <a:p>
            <a:r>
              <a:t>### Illustrative task — not executed</a:t>
            </a:r>
          </a:p>
          <a:p/>
          <a:p>
            <a:r>
              <a:t>Proposed cross-platform review, not a native AWS orchestration configuration.</a:t>
            </a:r>
          </a:p>
          <a:p/>
          <a:p>
            <a:r>
              <a:t>### Official guidance</a:t>
            </a:r>
          </a:p>
          <a:p/>
          <a:p>
            <a:r>
              <a:t>[DA: Limiting agent access in an AWS account](https://docs.aws.amazon.com/devopsagent/latest/userguide/aws-devops-agent-security-limiting-agent-access-in-an-aws-account.html)</a:t>
            </a:r>
          </a:p>
          <a:p/>
          <a:p>
            <a:r>
              <a:t>[SA: Provide authentication credentials](https://docs.aws.amazon.com/securityagent/latest/userguide/provide-testing-credentials.html)</a:t>
            </a:r>
          </a:p>
          <a:p/>
          <a:p>
            <a:r>
              <a:t>[FG: Agent guardrail controls](https://docs.aws.amazon.com/finops-agent/latest/userguide/agent-guardrail-control.html)</a:t>
            </a:r>
          </a:p>
          <a:p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# Common mechanism controls — mechanisms and enablement</a:t>
            </a:r>
          </a:p>
          <a:p/>
          <a:p>
            <a:r>
              <a:t>Reviewed 21 October 2026. Independent checks and examples are proposed; no live workflow was executed.</a:t>
            </a:r>
          </a:p>
          <a:p/>
          <a:p>
            <a:r>
              <a:t>## Mechanism model</a:t>
            </a:r>
          </a:p>
          <a:p/>
          <a:p>
            <a:r>
              <a:t>Documented configuration, not a claim about undisclosed internals. No live AWS test or measured improvement. Retained context does not establish customer-controlled model training.</a:t>
            </a:r>
          </a:p>
          <a:p/>
          <a:p>
            <a:r>
              <a:t>Identify the scope → select the context → authorize the effect → verify the result → correct or stop. No shared agent runtime or memory store is asserted.</a:t>
            </a:r>
          </a:p>
          <a:p/>
          <a:p>
            <a:r>
              <a:t>Proposed architecture practices, not native portfolio functionality.</a:t>
            </a:r>
          </a:p>
          <a:p/>
          <a:p>
            <a:r>
              <a:t>## X-M03 — Make activation observable</a:t>
            </a:r>
          </a:p>
          <a:p/>
          <a:p>
            <a:r>
              <a:t>**Surface:** Across the three products; implementation differs</a:t>
            </a:r>
          </a:p>
          <a:p/>
          <a:p>
            <a:r>
              <a:t>**Availability:** Proposed team practice</a:t>
            </a:r>
          </a:p>
          <a:p/>
          <a:p>
            <a:r>
              <a:t>**Activation:** Apply through each product’s own controls</a:t>
            </a:r>
          </a:p>
          <a:p/>
          <a:p>
            <a:r>
              <a:t>### Documented mechanism</a:t>
            </a:r>
          </a:p>
          <a:p/>
          <a:p>
            <a:r>
              <a:t>Record the selected feature, setting, attachment, client version and first new session or job used to test it.</a:t>
            </a:r>
          </a:p>
          <a:p/>
          <a:p>
            <a:r>
              <a:t>### Enable and configure</a:t>
            </a:r>
          </a:p>
          <a:p/>
          <a:p>
            <a:r>
              <a:t>Use the product-specific setup record and its current official guidance.</a:t>
            </a:r>
          </a:p>
          <a:p/>
          <a:p>
            <a:r>
              <a:t>1. Select the relevant product mechanism.</a:t>
            </a:r>
          </a:p>
          <a:p/>
          <a:p>
            <a:r>
              <a:t>2. Record its scope, owner and activation setting.</a:t>
            </a:r>
          </a:p>
          <a:p/>
          <a:p>
            <a:r>
              <a:t>3. Run the proposed independent check using approved test inputs.</a:t>
            </a:r>
          </a:p>
          <a:p/>
          <a:p>
            <a:r>
              <a:t>### Scope and persistence</a:t>
            </a:r>
          </a:p>
          <a:p/>
          <a:p>
            <a:r>
              <a:t>No shared permission or memory service is asserted.</a:t>
            </a:r>
          </a:p>
          <a:p/>
          <a:p>
            <a:r>
              <a:t>### Independent checks — proposed</a:t>
            </a:r>
          </a:p>
          <a:p/>
          <a:p>
            <a:r>
              <a:t>- Compare the configured boundary with independent evidence from the product or target.</a:t>
            </a:r>
          </a:p>
          <a:p/>
          <a:p>
            <a:r>
              <a:t>### Record to retain — proposed</a:t>
            </a:r>
          </a:p>
          <a:p/>
          <a:p>
            <a:r>
              <a:t>Product identifier, setting, test evidence and reviewer decision.</a:t>
            </a:r>
          </a:p>
          <a:p/>
          <a:p>
            <a:r>
              <a:t>### Stop, correct or remove</a:t>
            </a:r>
          </a:p>
          <a:p/>
          <a:p>
            <a:r>
              <a:t>Use the product-specific stop or correction control.</a:t>
            </a:r>
          </a:p>
          <a:p/>
          <a:p>
            <a:r>
              <a:t>### Limits and fallback</a:t>
            </a:r>
          </a:p>
          <a:p/>
          <a:p>
            <a:r>
              <a:t>A common review process does not create a common runtime, credential set or approval model.</a:t>
            </a:r>
          </a:p>
          <a:p/>
          <a:p>
            <a:r>
              <a:t>Use the existing team process when the documented mechanism is unavailable.</a:t>
            </a:r>
          </a:p>
          <a:p/>
          <a:p>
            <a:r>
              <a:t>### Illustrative task — not executed</a:t>
            </a:r>
          </a:p>
          <a:p/>
          <a:p>
            <a:r>
              <a:t>Proposed cross-platform review, not a native AWS orchestration configuration.</a:t>
            </a:r>
          </a:p>
          <a:p/>
          <a:p>
            <a:r>
              <a:t>### Official guidance</a:t>
            </a:r>
          </a:p>
          <a:p/>
          <a:p>
            <a:r>
              <a:t>[DC: Creating a custom agent](https://docs.aws.amazon.com/devopsagent/latest/userguide/custom-agents-creating-a-custom-agent.html)</a:t>
            </a:r>
          </a:p>
          <a:p/>
          <a:p>
            <a:r>
              <a:t>[SP: Manage security requirements](https://docs.aws.amazon.com/securityagent/latest/userguide/security-requirements.html)</a:t>
            </a:r>
          </a:p>
          <a:p/>
          <a:p>
            <a:r>
              <a:t>[FT: Task management](https://docs.aws.amazon.com/finops-agent/latest/userguide/task-management.html)</a:t>
            </a:r>
          </a:p>
          <a:p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# Common mechanism controls — mechanisms and enablement</a:t>
            </a:r>
          </a:p>
          <a:p/>
          <a:p>
            <a:r>
              <a:t>Reviewed 21 October 2026. Independent checks and examples are proposed; no live workflow was executed.</a:t>
            </a:r>
          </a:p>
          <a:p/>
          <a:p>
            <a:r>
              <a:t>## Mechanism model</a:t>
            </a:r>
          </a:p>
          <a:p/>
          <a:p>
            <a:r>
              <a:t>Documented configuration, not a claim about undisclosed internals. No live AWS test or measured improvement. Retained context does not establish customer-controlled model training.</a:t>
            </a:r>
          </a:p>
          <a:p/>
          <a:p>
            <a:r>
              <a:t>Identify the scope → select the context → authorize the effect → verify the result → correct or stop. No shared agent runtime or memory store is asserted.</a:t>
            </a:r>
          </a:p>
          <a:p/>
          <a:p>
            <a:r>
              <a:t>Proposed architecture practices, not native portfolio functionality.</a:t>
            </a:r>
          </a:p>
          <a:p/>
          <a:p>
            <a:r>
              <a:t>## X-M04 — Validate with independent evidence</a:t>
            </a:r>
          </a:p>
          <a:p/>
          <a:p>
            <a:r>
              <a:t>**Surface:** Across the three products; implementation differs</a:t>
            </a:r>
          </a:p>
          <a:p/>
          <a:p>
            <a:r>
              <a:t>**Availability:** Proposed team practice</a:t>
            </a:r>
          </a:p>
          <a:p/>
          <a:p>
            <a:r>
              <a:t>**Activation:** Apply through each product’s own controls</a:t>
            </a:r>
          </a:p>
          <a:p/>
          <a:p>
            <a:r>
              <a:t>### Documented mechanism</a:t>
            </a:r>
          </a:p>
          <a:p/>
          <a:p>
            <a:r>
              <a:t>Use retained context to form a hypothesis, not to prove it. Reconcile with current telemetry, tests, reproduced findings or billing queries.</a:t>
            </a:r>
          </a:p>
          <a:p/>
          <a:p>
            <a:r>
              <a:t>### Enable and configure</a:t>
            </a:r>
          </a:p>
          <a:p/>
          <a:p>
            <a:r>
              <a:t>Use the product-specific setup record and its current official guidance.</a:t>
            </a:r>
          </a:p>
          <a:p/>
          <a:p>
            <a:r>
              <a:t>1. Select the relevant product mechanism.</a:t>
            </a:r>
          </a:p>
          <a:p/>
          <a:p>
            <a:r>
              <a:t>2. Record its scope, owner and activation setting.</a:t>
            </a:r>
          </a:p>
          <a:p/>
          <a:p>
            <a:r>
              <a:t>3. Run the proposed independent check using approved test inputs.</a:t>
            </a:r>
          </a:p>
          <a:p/>
          <a:p>
            <a:r>
              <a:t>### Scope and persistence</a:t>
            </a:r>
          </a:p>
          <a:p/>
          <a:p>
            <a:r>
              <a:t>No shared permission or memory service is asserted.</a:t>
            </a:r>
          </a:p>
          <a:p/>
          <a:p>
            <a:r>
              <a:t>### Independent checks — proposed</a:t>
            </a:r>
          </a:p>
          <a:p/>
          <a:p>
            <a:r>
              <a:t>- Compare the configured boundary with independent evidence from the product or target.</a:t>
            </a:r>
          </a:p>
          <a:p/>
          <a:p>
            <a:r>
              <a:t>### Record to retain — proposed</a:t>
            </a:r>
          </a:p>
          <a:p/>
          <a:p>
            <a:r>
              <a:t>Product identifier, setting, test evidence and reviewer decision.</a:t>
            </a:r>
          </a:p>
          <a:p/>
          <a:p>
            <a:r>
              <a:t>### Stop, correct or remove</a:t>
            </a:r>
          </a:p>
          <a:p/>
          <a:p>
            <a:r>
              <a:t>Use the product-specific stop or correction control.</a:t>
            </a:r>
          </a:p>
          <a:p/>
          <a:p>
            <a:r>
              <a:t>### Limits and fallback</a:t>
            </a:r>
          </a:p>
          <a:p/>
          <a:p>
            <a:r>
              <a:t>A common review process does not create a common runtime, credential set or approval model.</a:t>
            </a:r>
          </a:p>
          <a:p/>
          <a:p>
            <a:r>
              <a:t>Use the existing team process when the documented mechanism is unavailable.</a:t>
            </a:r>
          </a:p>
          <a:p/>
          <a:p>
            <a:r>
              <a:t>### Illustrative task — not executed</a:t>
            </a:r>
          </a:p>
          <a:p/>
          <a:p>
            <a:r>
              <a:t>Proposed cross-platform review, not a native AWS orchestration configuration.</a:t>
            </a:r>
          </a:p>
          <a:p/>
          <a:p>
            <a:r>
              <a:t>### Official guidance</a:t>
            </a:r>
          </a:p>
          <a:p/>
          <a:p>
            <a:r>
              <a:t>[DM: DevOps Agent Memories](https://docs.aws.amazon.com/devopsagent/latest/userguide/about-aws-devops-agent-devops-agent-memories.html)</a:t>
            </a:r>
          </a:p>
          <a:p/>
          <a:p>
            <a:r>
              <a:t>[SG: Security considerations and finding validation](https://docs.aws.amazon.com/securityagent/latest/userguide/security-guidance.html)</a:t>
            </a:r>
          </a:p>
          <a:p/>
          <a:p>
            <a:r>
              <a:t>[FD: Cost inquiry and data-source access](https://docs.aws.amazon.com/finops-agent/latest/userguide/cost-inquiry.html)</a:t>
            </a:r>
          </a:p>
          <a:p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# Common mechanism controls — mechanisms and enablement</a:t>
            </a:r>
          </a:p>
          <a:p/>
          <a:p>
            <a:r>
              <a:t>Reviewed 21 October 2026. Independent checks and examples are proposed; no live workflow was executed.</a:t>
            </a:r>
          </a:p>
          <a:p/>
          <a:p>
            <a:r>
              <a:t>## Mechanism model</a:t>
            </a:r>
          </a:p>
          <a:p/>
          <a:p>
            <a:r>
              <a:t>Documented configuration, not a claim about undisclosed internals. No live AWS test or measured improvement. Retained context does not establish customer-controlled model training.</a:t>
            </a:r>
          </a:p>
          <a:p/>
          <a:p>
            <a:r>
              <a:t>Identify the scope → select the context → authorize the effect → verify the result → correct or stop. No shared agent runtime or memory store is asserted.</a:t>
            </a:r>
          </a:p>
          <a:p/>
          <a:p>
            <a:r>
              <a:t>Proposed architecture practices, not native portfolio functionality.</a:t>
            </a:r>
          </a:p>
          <a:p/>
          <a:p>
            <a:r>
              <a:t>## X-M05 — Control correction and residual data</a:t>
            </a:r>
          </a:p>
          <a:p/>
          <a:p>
            <a:r>
              <a:t>**Surface:** Across the three products; implementation differs</a:t>
            </a:r>
          </a:p>
          <a:p/>
          <a:p>
            <a:r>
              <a:t>**Availability:** Proposed team practice</a:t>
            </a:r>
          </a:p>
          <a:p/>
          <a:p>
            <a:r>
              <a:t>**Activation:** Apply through each product’s own controls</a:t>
            </a:r>
          </a:p>
          <a:p/>
          <a:p>
            <a:r>
              <a:t>### Documented mechanism</a:t>
            </a:r>
          </a:p>
          <a:p/>
          <a:p>
            <a:r>
              <a:t>A disabled trigger, removed attachment, forgotten fact and deleted history are different outcomes. Test the documented control for the actual data category.</a:t>
            </a:r>
          </a:p>
          <a:p/>
          <a:p>
            <a:r>
              <a:t>### Enable and configure</a:t>
            </a:r>
          </a:p>
          <a:p/>
          <a:p>
            <a:r>
              <a:t>Use the product-specific setup record and its current official guidance.</a:t>
            </a:r>
          </a:p>
          <a:p/>
          <a:p>
            <a:r>
              <a:t>1. Select the relevant product mechanism.</a:t>
            </a:r>
          </a:p>
          <a:p/>
          <a:p>
            <a:r>
              <a:t>2. Record its scope, owner and activation setting.</a:t>
            </a:r>
          </a:p>
          <a:p/>
          <a:p>
            <a:r>
              <a:t>3. Run the proposed independent check using approved test inputs.</a:t>
            </a:r>
          </a:p>
          <a:p/>
          <a:p>
            <a:r>
              <a:t>### Scope and persistence</a:t>
            </a:r>
          </a:p>
          <a:p/>
          <a:p>
            <a:r>
              <a:t>No shared permission or memory service is asserted.</a:t>
            </a:r>
          </a:p>
          <a:p/>
          <a:p>
            <a:r>
              <a:t>### Independent checks — proposed</a:t>
            </a:r>
          </a:p>
          <a:p/>
          <a:p>
            <a:r>
              <a:t>- Compare the configured boundary with independent evidence from the product or target.</a:t>
            </a:r>
          </a:p>
          <a:p/>
          <a:p>
            <a:r>
              <a:t>### Record to retain — proposed</a:t>
            </a:r>
          </a:p>
          <a:p/>
          <a:p>
            <a:r>
              <a:t>Product identifier, setting, test evidence and reviewer decision.</a:t>
            </a:r>
          </a:p>
          <a:p/>
          <a:p>
            <a:r>
              <a:t>### Stop, correct or remove</a:t>
            </a:r>
          </a:p>
          <a:p/>
          <a:p>
            <a:r>
              <a:t>Use the product-specific stop or correction control.</a:t>
            </a:r>
          </a:p>
          <a:p/>
          <a:p>
            <a:r>
              <a:t>### Limits and fallback</a:t>
            </a:r>
          </a:p>
          <a:p/>
          <a:p>
            <a:r>
              <a:t>A common review process does not create a common runtime, credential set or approval model.</a:t>
            </a:r>
          </a:p>
          <a:p/>
          <a:p>
            <a:r>
              <a:t>Use the existing team process when the documented mechanism is unavailable.</a:t>
            </a:r>
          </a:p>
          <a:p/>
          <a:p>
            <a:r>
              <a:t>### Illustrative task — not executed</a:t>
            </a:r>
          </a:p>
          <a:p/>
          <a:p>
            <a:r>
              <a:t>Proposed cross-platform review, not a native AWS orchestration configuration.</a:t>
            </a:r>
          </a:p>
          <a:p/>
          <a:p>
            <a:r>
              <a:t>### Official guidance</a:t>
            </a:r>
          </a:p>
          <a:p/>
          <a:p>
            <a:r>
              <a:t>[DM: DevOps Agent Memories](https://docs.aws.amazon.com/devopsagent/latest/userguide/about-aws-devops-agent-devops-agent-memories.html)</a:t>
            </a:r>
          </a:p>
          <a:p/>
          <a:p>
            <a:r>
              <a:t>[ST: Revalidate penetration-test findings](https://docs.aws.amazon.com/securityagent/latest/userguide/revalidate-findings.html)</a:t>
            </a:r>
          </a:p>
          <a:p/>
          <a:p>
            <a:r>
              <a:t>[FP: Data protection](https://docs.aws.amazon.com/finops-agent/latest/userguide/data-protection.html)</a:t>
            </a:r>
          </a:p>
          <a:p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# Common mechanism controls — mechanisms and enablement</a:t>
            </a:r>
          </a:p>
          <a:p/>
          <a:p>
            <a:r>
              <a:t>Reviewed 21 October 2026. Independent checks and examples are proposed; no live workflow was executed.</a:t>
            </a:r>
          </a:p>
          <a:p/>
          <a:p>
            <a:r>
              <a:t>## Mechanism model</a:t>
            </a:r>
          </a:p>
          <a:p/>
          <a:p>
            <a:r>
              <a:t>Documented configuration, not a claim about undisclosed internals. No live AWS test or measured improvement. Retained context does not establish customer-controlled model training.</a:t>
            </a:r>
          </a:p>
          <a:p/>
          <a:p>
            <a:r>
              <a:t>Identify the scope → select the context → authorize the effect → verify the result → correct or stop. No shared agent runtime or memory store is asserted.</a:t>
            </a:r>
          </a:p>
          <a:p/>
          <a:p>
            <a:r>
              <a:t>Proposed architecture practices, not native portfolio functionality.</a:t>
            </a:r>
          </a:p>
          <a:p/>
          <a:p>
            <a:r>
              <a:t>## X-M06 — Track documentation changes</a:t>
            </a:r>
          </a:p>
          <a:p/>
          <a:p>
            <a:r>
              <a:t>**Surface:** Across the three products; implementation differs</a:t>
            </a:r>
          </a:p>
          <a:p/>
          <a:p>
            <a:r>
              <a:t>**Availability:** Proposed team practice</a:t>
            </a:r>
          </a:p>
          <a:p/>
          <a:p>
            <a:r>
              <a:t>**Activation:** Apply through each product’s own controls</a:t>
            </a:r>
          </a:p>
          <a:p/>
          <a:p>
            <a:r>
              <a:t>### Documented mechanism</a:t>
            </a:r>
          </a:p>
          <a:p/>
          <a:p>
            <a:r>
              <a:t>Store official source, review date, surface and unresolved discrepancy. Treat a changed configuration path or migration as a reason to recheck before rollout.</a:t>
            </a:r>
          </a:p>
          <a:p/>
          <a:p>
            <a:r>
              <a:t>### Enable and configure</a:t>
            </a:r>
          </a:p>
          <a:p/>
          <a:p>
            <a:r>
              <a:t>Use the product-specific setup record and its current official guidance.</a:t>
            </a:r>
          </a:p>
          <a:p/>
          <a:p>
            <a:r>
              <a:t>1. Select the relevant product mechanism.</a:t>
            </a:r>
          </a:p>
          <a:p/>
          <a:p>
            <a:r>
              <a:t>2. Record its scope, owner and activation setting.</a:t>
            </a:r>
          </a:p>
          <a:p/>
          <a:p>
            <a:r>
              <a:t>3. Run the proposed independent check using approved test inputs.</a:t>
            </a:r>
          </a:p>
          <a:p/>
          <a:p>
            <a:r>
              <a:t>### Scope and persistence</a:t>
            </a:r>
          </a:p>
          <a:p/>
          <a:p>
            <a:r>
              <a:t>No shared permission or memory service is asserted.</a:t>
            </a:r>
          </a:p>
          <a:p/>
          <a:p>
            <a:r>
              <a:t>### Independent checks — proposed</a:t>
            </a:r>
          </a:p>
          <a:p/>
          <a:p>
            <a:r>
              <a:t>- Compare the configured boundary with independent evidence from the product or target.</a:t>
            </a:r>
          </a:p>
          <a:p/>
          <a:p>
            <a:r>
              <a:t>### Record to retain — proposed</a:t>
            </a:r>
          </a:p>
          <a:p/>
          <a:p>
            <a:r>
              <a:t>Product identifier, setting, test evidence and reviewer decision.</a:t>
            </a:r>
          </a:p>
          <a:p/>
          <a:p>
            <a:r>
              <a:t>### Stop, correct or remove</a:t>
            </a:r>
          </a:p>
          <a:p/>
          <a:p>
            <a:r>
              <a:t>Use the product-specific stop or correction control.</a:t>
            </a:r>
          </a:p>
          <a:p/>
          <a:p>
            <a:r>
              <a:t>### Limits and fallback</a:t>
            </a:r>
          </a:p>
          <a:p/>
          <a:p>
            <a:r>
              <a:t>A common review process does not create a common runtime, credential set or approval model.</a:t>
            </a:r>
          </a:p>
          <a:p/>
          <a:p>
            <a:r>
              <a:t>Use the existing team process when the documented mechanism is unavailable.</a:t>
            </a:r>
          </a:p>
          <a:p/>
          <a:p>
            <a:r>
              <a:t>### Illustrative task — not executed</a:t>
            </a:r>
          </a:p>
          <a:p/>
          <a:p>
            <a:r>
              <a:t>Proposed cross-platform review, not a native AWS orchestration configuration.</a:t>
            </a:r>
          </a:p>
          <a:p/>
          <a:p>
            <a:r>
              <a:t>### Official guidance</a:t>
            </a:r>
          </a:p>
          <a:p/>
          <a:p>
            <a:r>
              <a:t>[DL: Learned Skills: migration to memory](https://docs.aws.amazon.com/devopsagent/latest/userguide/about-aws-devops-agent-learned-skills.html)</a:t>
            </a:r>
          </a:p>
          <a:p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DevOps Agent Memories</a:t>
            </a:r>
          </a:p>
          <a:p>
            <a:r>
              <a:t>https://docs.aws.amazon.com/devopsagent/latest/userguide/about-aws-devops-agent-devops-agent-memories.html</a:t>
            </a:r>
          </a:p>
          <a:p>
            <a:r>
              <a:t>Create a penetration test</a:t>
            </a:r>
          </a:p>
          <a:p>
            <a:r>
              <a:t>https://docs.aws.amazon.com/securityagent/latest/userguide/perform-penetration-test.html</a:t>
            </a:r>
          </a:p>
          <a:p>
            <a:r>
              <a:t>Data protection</a:t>
            </a:r>
          </a:p>
          <a:p>
            <a:r>
              <a:t>https://docs.aws.amazon.com/finops-agent/latest/userguide/data-protection.html</a:t>
            </a:r>
          </a:p>
          <a:p>
            <a:r>
              <a:t>Limiting agent access in an AWS account</a:t>
            </a:r>
          </a:p>
          <a:p>
            <a:r>
              <a:t>https://docs.aws.amazon.com/devopsagent/latest/userguide/aws-devops-agent-security-limiting-agent-access-in-an-aws-account.html</a:t>
            </a:r>
          </a:p>
          <a:p>
            <a:r>
              <a:t>Provide authentication credentials</a:t>
            </a:r>
          </a:p>
          <a:p>
            <a:r>
              <a:t>https://docs.aws.amazon.com/securityagent/latest/userguide/provide-testing-credentials.html</a:t>
            </a:r>
          </a:p>
          <a:p>
            <a:r>
              <a:t>Agent guardrail controls</a:t>
            </a:r>
          </a:p>
          <a:p>
            <a:r>
              <a:t>https://docs.aws.amazon.com/finops-agent/latest/userguide/agent-guardrail-control.html</a:t>
            </a:r>
          </a:p>
          <a:p>
            <a:r>
              <a:t>Creating a custom agent</a:t>
            </a:r>
          </a:p>
          <a:p>
            <a:r>
              <a:t>https://docs.aws.amazon.com/devopsagent/latest/userguide/custom-agents-creating-a-custom-agent.html</a:t>
            </a:r>
          </a:p>
          <a:p>
            <a:r>
              <a:t>Manage security requirements</a:t>
            </a:r>
          </a:p>
          <a:p>
            <a:r>
              <a:t>https://docs.aws.amazon.com/securityagent/latest/userguide/security-requirements.html</a:t>
            </a:r>
          </a:p>
          <a:p>
            <a:r>
              <a:t>Task management</a:t>
            </a:r>
          </a:p>
          <a:p>
            <a:r>
              <a:t>https://docs.aws.amazon.com/finops-agent/latest/userguide/task-management.html</a:t>
            </a:r>
          </a:p>
          <a:p>
            <a:r>
              <a:t>Security considerations and finding validation</a:t>
            </a:r>
          </a:p>
          <a:p>
            <a:r>
              <a:t>https://docs.aws.amazon.com/securityagent/latest/userguide/security-guidance.html</a:t>
            </a:r>
          </a:p>
          <a:p>
            <a:r>
              <a:t>Cost inquiry and data-source access</a:t>
            </a:r>
          </a:p>
          <a:p>
            <a:r>
              <a:t>https://docs.aws.amazon.com/finops-agent/latest/userguide/cost-inquiry.html</a:t>
            </a:r>
          </a:p>
          <a:p>
            <a:r>
              <a:t>Revalidate penetration-test findings</a:t>
            </a:r>
          </a:p>
          <a:p>
            <a:r>
              <a:t>https://docs.aws.amazon.com/securityagent/latest/userguide/revalidate-findings.html</a:t>
            </a:r>
          </a:p>
          <a:p>
            <a:r>
              <a:t>Learned Skills: migration to memory</a:t>
            </a:r>
          </a:p>
          <a:p>
            <a:r>
              <a:t>https://docs.aws.amazon.com/devopsagent/latest/userguide/about-aws-devops-agent-learned-skills.html</a:t>
            </a:r>
          </a:p>
          <a:p/>
          <a:p>
            <a:r>
              <a:t>Documented configuration, not a claim about undisclosed internals. No live AWS test or measured improvement. Retained context does not establish customer-controlled model training.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docs.aws.amazon.com/devopsagent/latest/userguide/about-aws-devops-agent-devops-agent-memories.html" TargetMode="External"/><Relationship Id="rId4" Type="http://schemas.openxmlformats.org/officeDocument/2006/relationships/hyperlink" Target="https://docs.aws.amazon.com/securityagent/latest/userguide/perform-penetration-test.html" TargetMode="External"/><Relationship Id="rId5" Type="http://schemas.openxmlformats.org/officeDocument/2006/relationships/hyperlink" Target="https://docs.aws.amazon.com/finops-agent/latest/userguide/data-protection.html" TargetMode="External"/><Relationship Id="rId6" Type="http://schemas.openxmlformats.org/officeDocument/2006/relationships/hyperlink" Target="https://docs.aws.amazon.com/devopsagent/latest/userguide/aws-devops-agent-security-limiting-agent-access-in-an-aws-account.html" TargetMode="External"/><Relationship Id="rId7" Type="http://schemas.openxmlformats.org/officeDocument/2006/relationships/hyperlink" Target="https://docs.aws.amazon.com/securityagent/latest/userguide/provide-testing-credentials.html" TargetMode="External"/><Relationship Id="rId8" Type="http://schemas.openxmlformats.org/officeDocument/2006/relationships/hyperlink" Target="https://docs.aws.amazon.com/finops-agent/latest/userguide/agent-guardrail-control.html" TargetMode="External"/><Relationship Id="rId9" Type="http://schemas.openxmlformats.org/officeDocument/2006/relationships/hyperlink" Target="https://docs.aws.amazon.com/devopsagent/latest/userguide/custom-agents-creating-a-custom-agent.html" TargetMode="External"/><Relationship Id="rId10" Type="http://schemas.openxmlformats.org/officeDocument/2006/relationships/hyperlink" Target="https://docs.aws.amazon.com/securityagent/latest/userguide/security-requirements.html" TargetMode="External"/><Relationship Id="rId11" Type="http://schemas.openxmlformats.org/officeDocument/2006/relationships/hyperlink" Target="https://docs.aws.amazon.com/finops-agent/latest/userguide/task-management.html" TargetMode="External"/><Relationship Id="rId12" Type="http://schemas.openxmlformats.org/officeDocument/2006/relationships/hyperlink" Target="https://docs.aws.amazon.com/securityagent/latest/userguide/security-guidance.html" TargetMode="External"/><Relationship Id="rId13" Type="http://schemas.openxmlformats.org/officeDocument/2006/relationships/hyperlink" Target="https://docs.aws.amazon.com/finops-agent/latest/userguide/cost-inquiry.html" TargetMode="External"/><Relationship Id="rId14" Type="http://schemas.openxmlformats.org/officeDocument/2006/relationships/hyperlink" Target="https://docs.aws.amazon.com/securityagent/latest/userguide/revalidate-findings.html" TargetMode="External"/><Relationship Id="rId15" Type="http://schemas.openxmlformats.org/officeDocument/2006/relationships/hyperlink" Target="https://docs.aws.amazon.com/devopsagent/latest/userguide/about-aws-devops-agent-learned-skills.html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76E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155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176E83"/>
                </a:solidFill>
                <a:latin typeface="Aptos"/>
              </a:defRPr>
            </a:pPr>
            <a:r>
              <a:t>REFERENCE COMPANION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77240"/>
            <a:ext cx="111556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2900" b="1">
                <a:solidFill>
                  <a:srgbClr val="182D43"/>
                </a:solidFill>
                <a:latin typeface="Aptos"/>
              </a:defRPr>
            </a:pPr>
            <a:r>
              <a:t>Common mechanism controls — mechanisms and enablement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473952"/>
            <a:ext cx="11155680" cy="10972"/>
          </a:xfrm>
          <a:prstGeom prst="rect">
            <a:avLst/>
          </a:prstGeom>
          <a:solidFill>
            <a:srgbClr val="D4DF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65392"/>
            <a:ext cx="96012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900" b="0">
                <a:solidFill>
                  <a:srgbClr val="52657A"/>
                </a:solidFill>
                <a:latin typeface="Aptos"/>
              </a:defRPr>
            </a:pPr>
            <a:r>
              <a:t>Common mechanism controls | Mechanism reference | 21 Oct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49840" y="6565392"/>
            <a:ext cx="1554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900" b="0">
                <a:solidFill>
                  <a:srgbClr val="52657A"/>
                </a:solidFill>
                <a:latin typeface="Aptos"/>
              </a:defRPr>
            </a:pPr>
            <a:r>
              <a:t>01 / UNTIMED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874519"/>
            <a:ext cx="6812280" cy="278892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011679"/>
            <a:ext cx="6446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176E83"/>
                </a:solidFill>
                <a:latin typeface="Aptos"/>
              </a:defRPr>
            </a:pPr>
            <a:r>
              <a:t>HOW RETAINED CONTEXT IS USED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377439"/>
            <a:ext cx="6446520" cy="21762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2300" b="0">
                <a:solidFill>
                  <a:srgbClr val="182D43"/>
                </a:solidFill>
                <a:latin typeface="Aptos"/>
              </a:defRPr>
            </a:pPr>
            <a:r>
              <a:t>Identify the scope → select the context → authorize the effect → verify the result → correct or stop. No shared agent runtime or memory store is asserted.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543800" y="1874519"/>
            <a:ext cx="4142232" cy="278892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26679" y="2011679"/>
            <a:ext cx="3776472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176E83"/>
                </a:solidFill>
                <a:latin typeface="Aptos"/>
              </a:defRPr>
            </a:pPr>
            <a:r>
              <a:t>READING CONTRACT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26679" y="2377439"/>
            <a:ext cx="3776472" cy="21762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2100" b="0">
                <a:solidFill>
                  <a:srgbClr val="182D43"/>
                </a:solidFill>
                <a:latin typeface="Aptos"/>
              </a:defRPr>
            </a:pPr>
            <a:r>
              <a:t>Documented operation</a:t>
            </a:r>
          </a:p>
          <a:p>
            <a:pPr>
              <a:spcAft>
                <a:spcPts val="600"/>
              </a:spcAft>
              <a:defRPr sz="2100" b="0">
                <a:solidFill>
                  <a:srgbClr val="182D43"/>
                </a:solidFill>
                <a:latin typeface="Aptos"/>
              </a:defRPr>
            </a:pPr>
            <a:r>
              <a:t>Official setup</a:t>
            </a:r>
          </a:p>
          <a:p>
            <a:pPr>
              <a:spcAft>
                <a:spcPts val="600"/>
              </a:spcAft>
              <a:defRPr sz="2100" b="0">
                <a:solidFill>
                  <a:srgbClr val="182D43"/>
                </a:solidFill>
                <a:latin typeface="Aptos"/>
              </a:defRPr>
            </a:pPr>
            <a:r>
              <a:t>Proposed independent checks</a:t>
            </a:r>
          </a:p>
          <a:p>
            <a:pPr>
              <a:spcAft>
                <a:spcPts val="600"/>
              </a:spcAft>
              <a:defRPr sz="2100" b="0">
                <a:solidFill>
                  <a:srgbClr val="182D43"/>
                </a:solidFill>
                <a:latin typeface="Aptos"/>
              </a:defRPr>
            </a:pPr>
            <a:r>
              <a:t>Stop and residual-data limits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5029200"/>
            <a:ext cx="108813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2200" b="0">
                <a:solidFill>
                  <a:srgbClr val="52657A"/>
                </a:solidFill>
                <a:latin typeface="Aptos"/>
              </a:defRPr>
            </a:pPr>
            <a:r>
              <a:t>Untimed reference slides. The existing core programme and demonstration allocations remain unchanged.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76E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155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176E83"/>
                </a:solidFill>
                <a:latin typeface="Aptos"/>
              </a:defRPr>
            </a:pPr>
            <a:r>
              <a:t>X-M01 / PROPOSED CONTROL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77240"/>
            <a:ext cx="111556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2900" b="1">
                <a:solidFill>
                  <a:srgbClr val="182D43"/>
                </a:solidFill>
                <a:latin typeface="Aptos"/>
              </a:defRPr>
            </a:pPr>
            <a:r>
              <a:t>Name the storage boundary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473952"/>
            <a:ext cx="11155680" cy="10972"/>
          </a:xfrm>
          <a:prstGeom prst="rect">
            <a:avLst/>
          </a:prstGeom>
          <a:solidFill>
            <a:srgbClr val="D4DF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65392"/>
            <a:ext cx="96012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900" b="0">
                <a:solidFill>
                  <a:srgbClr val="52657A"/>
                </a:solidFill>
                <a:latin typeface="Aptos"/>
              </a:defRPr>
            </a:pPr>
            <a:r>
              <a:t>Common mechanism controls | Mechanism reference | 21 Oct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49840" y="6565392"/>
            <a:ext cx="1554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900" b="0">
                <a:solidFill>
                  <a:srgbClr val="52657A"/>
                </a:solidFill>
                <a:latin typeface="Aptos"/>
              </a:defRPr>
            </a:pPr>
            <a:r>
              <a:t>02 / UNTIMED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810512"/>
            <a:ext cx="5486400" cy="1929384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947672"/>
            <a:ext cx="5120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176E83"/>
                </a:solidFill>
                <a:latin typeface="Aptos"/>
              </a:defRPr>
            </a:pPr>
            <a:r>
              <a:t>PROPOSED TEAM CONTROL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313432"/>
            <a:ext cx="5120640" cy="1316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800" b="0">
                <a:solidFill>
                  <a:srgbClr val="182D43"/>
                </a:solidFill>
                <a:latin typeface="Aptos"/>
              </a:defRPr>
            </a:pPr>
            <a:r>
              <a:t>Record whether context is local-machine, repository, Agent Space, individual agent or task-specific. Never infer a portfolio-wide store.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3886200"/>
            <a:ext cx="5486400" cy="2286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4023360"/>
            <a:ext cx="5120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176E83"/>
                </a:solidFill>
                <a:latin typeface="Aptos"/>
              </a:defRPr>
            </a:pPr>
            <a:r>
              <a:t>APPLY THROUGH PRODUCT CONTROLS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389120"/>
            <a:ext cx="5120640" cy="1673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2000" b="0">
                <a:solidFill>
                  <a:srgbClr val="182D43"/>
                </a:solidFill>
                <a:latin typeface="Aptos"/>
              </a:defRPr>
            </a:pPr>
            <a:r>
              <a:t>1. Select the relevant product mechanism.</a:t>
            </a:r>
          </a:p>
          <a:p>
            <a:pPr>
              <a:spcAft>
                <a:spcPts val="600"/>
              </a:spcAft>
              <a:defRPr sz="2000" b="0">
                <a:solidFill>
                  <a:srgbClr val="182D43"/>
                </a:solidFill>
                <a:latin typeface="Aptos"/>
              </a:defRPr>
            </a:pPr>
            <a:r>
              <a:t>2. Record its scope, owner and activation setting.</a:t>
            </a:r>
          </a:p>
          <a:p>
            <a:pPr>
              <a:spcAft>
                <a:spcPts val="600"/>
              </a:spcAft>
              <a:defRPr sz="2000" b="0">
                <a:solidFill>
                  <a:srgbClr val="182D43"/>
                </a:solidFill>
                <a:latin typeface="Aptos"/>
              </a:defRPr>
            </a:pPr>
            <a:r>
              <a:t>3. Run the proposed independent check using approved test inputs.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99632" y="1810512"/>
            <a:ext cx="5486400" cy="1929384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82512" y="1947672"/>
            <a:ext cx="5120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176E83"/>
                </a:solidFill>
                <a:latin typeface="Aptos"/>
              </a:defRPr>
            </a:pPr>
            <a:r>
              <a:t>INDEPENDENT CHECK — PROPOSED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82512" y="2313432"/>
            <a:ext cx="5120640" cy="1316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900" b="0">
                <a:solidFill>
                  <a:srgbClr val="182D43"/>
                </a:solidFill>
                <a:latin typeface="Aptos"/>
              </a:defRPr>
            </a:pPr>
            <a:r>
              <a:t>Compare the configured boundary with independent evidence from the product or target.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99632" y="3886200"/>
            <a:ext cx="5486400" cy="2286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82512" y="4023360"/>
            <a:ext cx="5120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176E83"/>
                </a:solidFill>
                <a:latin typeface="Aptos"/>
              </a:defRPr>
            </a:pPr>
            <a:r>
              <a:t>CONTROL AND LIMITATION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82512" y="4389120"/>
            <a:ext cx="5120640" cy="1673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2000" b="0">
                <a:solidFill>
                  <a:srgbClr val="182D43"/>
                </a:solidFill>
                <a:latin typeface="Aptos"/>
              </a:defRPr>
            </a:pPr>
            <a:r>
              <a:t>A common review process does not create a common runtime, credential set or approval model.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6236208"/>
            <a:ext cx="109728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900" b="0">
                <a:solidFill>
                  <a:srgbClr val="52657A"/>
                </a:solidFill>
                <a:latin typeface="Aptos"/>
              </a:defRPr>
            </a:pPr>
            <a:r>
              <a:t>Official sources: DM, SC, FP · Across the three products; implementation differs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76E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155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176E83"/>
                </a:solidFill>
                <a:latin typeface="Aptos"/>
              </a:defRPr>
            </a:pPr>
            <a:r>
              <a:t>X-M02 / PROPOSED CONTROL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77240"/>
            <a:ext cx="111556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2900" b="1">
                <a:solidFill>
                  <a:srgbClr val="182D43"/>
                </a:solidFill>
                <a:latin typeface="Aptos"/>
              </a:defRPr>
            </a:pPr>
            <a:r>
              <a:t>Separate content from authority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473952"/>
            <a:ext cx="11155680" cy="10972"/>
          </a:xfrm>
          <a:prstGeom prst="rect">
            <a:avLst/>
          </a:prstGeom>
          <a:solidFill>
            <a:srgbClr val="D4DF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65392"/>
            <a:ext cx="96012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900" b="0">
                <a:solidFill>
                  <a:srgbClr val="52657A"/>
                </a:solidFill>
                <a:latin typeface="Aptos"/>
              </a:defRPr>
            </a:pPr>
            <a:r>
              <a:t>Common mechanism controls | Mechanism reference | 21 Oct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49840" y="6565392"/>
            <a:ext cx="1554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900" b="0">
                <a:solidFill>
                  <a:srgbClr val="52657A"/>
                </a:solidFill>
                <a:latin typeface="Aptos"/>
              </a:defRPr>
            </a:pPr>
            <a:r>
              <a:t>03 / UNTIMED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810512"/>
            <a:ext cx="5486400" cy="1929384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947672"/>
            <a:ext cx="5120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176E83"/>
                </a:solidFill>
                <a:latin typeface="Aptos"/>
              </a:defRPr>
            </a:pPr>
            <a:r>
              <a:t>PROPOSED TEAM CONTROL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313432"/>
            <a:ext cx="5120640" cy="1316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800" b="0">
                <a:solidFill>
                  <a:srgbClr val="182D43"/>
                </a:solidFill>
                <a:latin typeface="Aptos"/>
              </a:defRPr>
            </a:pPr>
            <a:r>
              <a:t>Instructions and memory affect what is considered. IAM, application credentials and tool approvals determine what can be accessed or changed.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3886200"/>
            <a:ext cx="5486400" cy="2286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4023360"/>
            <a:ext cx="5120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176E83"/>
                </a:solidFill>
                <a:latin typeface="Aptos"/>
              </a:defRPr>
            </a:pPr>
            <a:r>
              <a:t>APPLY THROUGH PRODUCT CONTROLS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389120"/>
            <a:ext cx="5120640" cy="1673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2000" b="0">
                <a:solidFill>
                  <a:srgbClr val="182D43"/>
                </a:solidFill>
                <a:latin typeface="Aptos"/>
              </a:defRPr>
            </a:pPr>
            <a:r>
              <a:t>1. Select the relevant product mechanism.</a:t>
            </a:r>
          </a:p>
          <a:p>
            <a:pPr>
              <a:spcAft>
                <a:spcPts val="600"/>
              </a:spcAft>
              <a:defRPr sz="2000" b="0">
                <a:solidFill>
                  <a:srgbClr val="182D43"/>
                </a:solidFill>
                <a:latin typeface="Aptos"/>
              </a:defRPr>
            </a:pPr>
            <a:r>
              <a:t>2. Record its scope, owner and activation setting.</a:t>
            </a:r>
          </a:p>
          <a:p>
            <a:pPr>
              <a:spcAft>
                <a:spcPts val="600"/>
              </a:spcAft>
              <a:defRPr sz="2000" b="0">
                <a:solidFill>
                  <a:srgbClr val="182D43"/>
                </a:solidFill>
                <a:latin typeface="Aptos"/>
              </a:defRPr>
            </a:pPr>
            <a:r>
              <a:t>3. Run the proposed independent check using approved test inputs.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99632" y="1810512"/>
            <a:ext cx="5486400" cy="1929384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82512" y="1947672"/>
            <a:ext cx="5120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176E83"/>
                </a:solidFill>
                <a:latin typeface="Aptos"/>
              </a:defRPr>
            </a:pPr>
            <a:r>
              <a:t>INDEPENDENT CHECK — PROPOSED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82512" y="2313432"/>
            <a:ext cx="5120640" cy="1316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900" b="0">
                <a:solidFill>
                  <a:srgbClr val="182D43"/>
                </a:solidFill>
                <a:latin typeface="Aptos"/>
              </a:defRPr>
            </a:pPr>
            <a:r>
              <a:t>Compare the configured boundary with independent evidence from the product or target.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99632" y="3886200"/>
            <a:ext cx="5486400" cy="2286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82512" y="4023360"/>
            <a:ext cx="5120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176E83"/>
                </a:solidFill>
                <a:latin typeface="Aptos"/>
              </a:defRPr>
            </a:pPr>
            <a:r>
              <a:t>CONTROL AND LIMITATION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82512" y="4389120"/>
            <a:ext cx="5120640" cy="1673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2000" b="0">
                <a:solidFill>
                  <a:srgbClr val="182D43"/>
                </a:solidFill>
                <a:latin typeface="Aptos"/>
              </a:defRPr>
            </a:pPr>
            <a:r>
              <a:t>A common review process does not create a common runtime, credential set or approval model.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6236208"/>
            <a:ext cx="109728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900" b="0">
                <a:solidFill>
                  <a:srgbClr val="52657A"/>
                </a:solidFill>
                <a:latin typeface="Aptos"/>
              </a:defRPr>
            </a:pPr>
            <a:r>
              <a:t>Official sources: DA, SA, FG · Across the three products; implementation differs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76E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155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176E83"/>
                </a:solidFill>
                <a:latin typeface="Aptos"/>
              </a:defRPr>
            </a:pPr>
            <a:r>
              <a:t>X-M03 / PROPOSED CONTROL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77240"/>
            <a:ext cx="111556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2900" b="1">
                <a:solidFill>
                  <a:srgbClr val="182D43"/>
                </a:solidFill>
                <a:latin typeface="Aptos"/>
              </a:defRPr>
            </a:pPr>
            <a:r>
              <a:t>Make activation observable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473952"/>
            <a:ext cx="11155680" cy="10972"/>
          </a:xfrm>
          <a:prstGeom prst="rect">
            <a:avLst/>
          </a:prstGeom>
          <a:solidFill>
            <a:srgbClr val="D4DF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65392"/>
            <a:ext cx="96012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900" b="0">
                <a:solidFill>
                  <a:srgbClr val="52657A"/>
                </a:solidFill>
                <a:latin typeface="Aptos"/>
              </a:defRPr>
            </a:pPr>
            <a:r>
              <a:t>Common mechanism controls | Mechanism reference | 21 Oct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49840" y="6565392"/>
            <a:ext cx="1554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900" b="0">
                <a:solidFill>
                  <a:srgbClr val="52657A"/>
                </a:solidFill>
                <a:latin typeface="Aptos"/>
              </a:defRPr>
            </a:pPr>
            <a:r>
              <a:t>04 / UNTIMED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810512"/>
            <a:ext cx="5486400" cy="1929384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947672"/>
            <a:ext cx="5120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176E83"/>
                </a:solidFill>
                <a:latin typeface="Aptos"/>
              </a:defRPr>
            </a:pPr>
            <a:r>
              <a:t>PROPOSED TEAM CONTROL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313432"/>
            <a:ext cx="5120640" cy="1316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800" b="0">
                <a:solidFill>
                  <a:srgbClr val="182D43"/>
                </a:solidFill>
                <a:latin typeface="Aptos"/>
              </a:defRPr>
            </a:pPr>
            <a:r>
              <a:t>Record the selected feature, setting, attachment, client version and first new session or job used to test 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3886200"/>
            <a:ext cx="5486400" cy="2286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4023360"/>
            <a:ext cx="5120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176E83"/>
                </a:solidFill>
                <a:latin typeface="Aptos"/>
              </a:defRPr>
            </a:pPr>
            <a:r>
              <a:t>APPLY THROUGH PRODUCT CONTROLS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389120"/>
            <a:ext cx="5120640" cy="1673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2000" b="0">
                <a:solidFill>
                  <a:srgbClr val="182D43"/>
                </a:solidFill>
                <a:latin typeface="Aptos"/>
              </a:defRPr>
            </a:pPr>
            <a:r>
              <a:t>1. Select the relevant product mechanism.</a:t>
            </a:r>
          </a:p>
          <a:p>
            <a:pPr>
              <a:spcAft>
                <a:spcPts val="600"/>
              </a:spcAft>
              <a:defRPr sz="2000" b="0">
                <a:solidFill>
                  <a:srgbClr val="182D43"/>
                </a:solidFill>
                <a:latin typeface="Aptos"/>
              </a:defRPr>
            </a:pPr>
            <a:r>
              <a:t>2. Record its scope, owner and activation setting.</a:t>
            </a:r>
          </a:p>
          <a:p>
            <a:pPr>
              <a:spcAft>
                <a:spcPts val="600"/>
              </a:spcAft>
              <a:defRPr sz="2000" b="0">
                <a:solidFill>
                  <a:srgbClr val="182D43"/>
                </a:solidFill>
                <a:latin typeface="Aptos"/>
              </a:defRPr>
            </a:pPr>
            <a:r>
              <a:t>3. Run the proposed independent check using approved test inputs.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99632" y="1810512"/>
            <a:ext cx="5486400" cy="1929384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82512" y="1947672"/>
            <a:ext cx="5120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176E83"/>
                </a:solidFill>
                <a:latin typeface="Aptos"/>
              </a:defRPr>
            </a:pPr>
            <a:r>
              <a:t>INDEPENDENT CHECK — PROPOSED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82512" y="2313432"/>
            <a:ext cx="5120640" cy="1316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900" b="0">
                <a:solidFill>
                  <a:srgbClr val="182D43"/>
                </a:solidFill>
                <a:latin typeface="Aptos"/>
              </a:defRPr>
            </a:pPr>
            <a:r>
              <a:t>Compare the configured boundary with independent evidence from the product or target.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99632" y="3886200"/>
            <a:ext cx="5486400" cy="2286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82512" y="4023360"/>
            <a:ext cx="5120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176E83"/>
                </a:solidFill>
                <a:latin typeface="Aptos"/>
              </a:defRPr>
            </a:pPr>
            <a:r>
              <a:t>CONTROL AND LIMITATION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82512" y="4389120"/>
            <a:ext cx="5120640" cy="1673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2000" b="0">
                <a:solidFill>
                  <a:srgbClr val="182D43"/>
                </a:solidFill>
                <a:latin typeface="Aptos"/>
              </a:defRPr>
            </a:pPr>
            <a:r>
              <a:t>A common review process does not create a common runtime, credential set or approval model.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6236208"/>
            <a:ext cx="109728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900" b="0">
                <a:solidFill>
                  <a:srgbClr val="52657A"/>
                </a:solidFill>
                <a:latin typeface="Aptos"/>
              </a:defRPr>
            </a:pPr>
            <a:r>
              <a:t>Official sources: DC, SP, FT · Across the three products; implementation differs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76E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155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176E83"/>
                </a:solidFill>
                <a:latin typeface="Aptos"/>
              </a:defRPr>
            </a:pPr>
            <a:r>
              <a:t>X-M04 / PROPOSED CONTROL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77240"/>
            <a:ext cx="111556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2900" b="1">
                <a:solidFill>
                  <a:srgbClr val="182D43"/>
                </a:solidFill>
                <a:latin typeface="Aptos"/>
              </a:defRPr>
            </a:pPr>
            <a:r>
              <a:t>Validate with independent evidence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473952"/>
            <a:ext cx="11155680" cy="10972"/>
          </a:xfrm>
          <a:prstGeom prst="rect">
            <a:avLst/>
          </a:prstGeom>
          <a:solidFill>
            <a:srgbClr val="D4DF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65392"/>
            <a:ext cx="96012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900" b="0">
                <a:solidFill>
                  <a:srgbClr val="52657A"/>
                </a:solidFill>
                <a:latin typeface="Aptos"/>
              </a:defRPr>
            </a:pPr>
            <a:r>
              <a:t>Common mechanism controls | Mechanism reference | 21 Oct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49840" y="6565392"/>
            <a:ext cx="1554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900" b="0">
                <a:solidFill>
                  <a:srgbClr val="52657A"/>
                </a:solidFill>
                <a:latin typeface="Aptos"/>
              </a:defRPr>
            </a:pPr>
            <a:r>
              <a:t>05 / UNTIMED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810512"/>
            <a:ext cx="5486400" cy="1929384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947672"/>
            <a:ext cx="5120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176E83"/>
                </a:solidFill>
                <a:latin typeface="Aptos"/>
              </a:defRPr>
            </a:pPr>
            <a:r>
              <a:t>PROPOSED TEAM CONTROL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313432"/>
            <a:ext cx="5120640" cy="1316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800" b="0">
                <a:solidFill>
                  <a:srgbClr val="182D43"/>
                </a:solidFill>
                <a:latin typeface="Aptos"/>
              </a:defRPr>
            </a:pPr>
            <a:r>
              <a:t>Use retained context to form a hypothesis, not to prove it. Reconcile with current telemetry, tests, reproduced findings or billing queries.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3886200"/>
            <a:ext cx="5486400" cy="2286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4023360"/>
            <a:ext cx="5120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176E83"/>
                </a:solidFill>
                <a:latin typeface="Aptos"/>
              </a:defRPr>
            </a:pPr>
            <a:r>
              <a:t>APPLY THROUGH PRODUCT CONTROLS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389120"/>
            <a:ext cx="5120640" cy="1673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2000" b="0">
                <a:solidFill>
                  <a:srgbClr val="182D43"/>
                </a:solidFill>
                <a:latin typeface="Aptos"/>
              </a:defRPr>
            </a:pPr>
            <a:r>
              <a:t>1. Select the relevant product mechanism.</a:t>
            </a:r>
          </a:p>
          <a:p>
            <a:pPr>
              <a:spcAft>
                <a:spcPts val="600"/>
              </a:spcAft>
              <a:defRPr sz="2000" b="0">
                <a:solidFill>
                  <a:srgbClr val="182D43"/>
                </a:solidFill>
                <a:latin typeface="Aptos"/>
              </a:defRPr>
            </a:pPr>
            <a:r>
              <a:t>2. Record its scope, owner and activation setting.</a:t>
            </a:r>
          </a:p>
          <a:p>
            <a:pPr>
              <a:spcAft>
                <a:spcPts val="600"/>
              </a:spcAft>
              <a:defRPr sz="2000" b="0">
                <a:solidFill>
                  <a:srgbClr val="182D43"/>
                </a:solidFill>
                <a:latin typeface="Aptos"/>
              </a:defRPr>
            </a:pPr>
            <a:r>
              <a:t>3. Run the proposed independent check using approved test inputs.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99632" y="1810512"/>
            <a:ext cx="5486400" cy="1929384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82512" y="1947672"/>
            <a:ext cx="5120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176E83"/>
                </a:solidFill>
                <a:latin typeface="Aptos"/>
              </a:defRPr>
            </a:pPr>
            <a:r>
              <a:t>INDEPENDENT CHECK — PROPOSED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82512" y="2313432"/>
            <a:ext cx="5120640" cy="1316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900" b="0">
                <a:solidFill>
                  <a:srgbClr val="182D43"/>
                </a:solidFill>
                <a:latin typeface="Aptos"/>
              </a:defRPr>
            </a:pPr>
            <a:r>
              <a:t>Compare the configured boundary with independent evidence from the product or target.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99632" y="3886200"/>
            <a:ext cx="5486400" cy="2286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82512" y="4023360"/>
            <a:ext cx="5120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176E83"/>
                </a:solidFill>
                <a:latin typeface="Aptos"/>
              </a:defRPr>
            </a:pPr>
            <a:r>
              <a:t>CONTROL AND LIMITATION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82512" y="4389120"/>
            <a:ext cx="5120640" cy="1673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2000" b="0">
                <a:solidFill>
                  <a:srgbClr val="182D43"/>
                </a:solidFill>
                <a:latin typeface="Aptos"/>
              </a:defRPr>
            </a:pPr>
            <a:r>
              <a:t>A common review process does not create a common runtime, credential set or approval model.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6236208"/>
            <a:ext cx="109728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900" b="0">
                <a:solidFill>
                  <a:srgbClr val="52657A"/>
                </a:solidFill>
                <a:latin typeface="Aptos"/>
              </a:defRPr>
            </a:pPr>
            <a:r>
              <a:t>Official sources: DM, SG, FD · Across the three products; implementation differs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76E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155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176E83"/>
                </a:solidFill>
                <a:latin typeface="Aptos"/>
              </a:defRPr>
            </a:pPr>
            <a:r>
              <a:t>X-M05 / PROPOSED CONTROL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77240"/>
            <a:ext cx="111556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2900" b="1">
                <a:solidFill>
                  <a:srgbClr val="182D43"/>
                </a:solidFill>
                <a:latin typeface="Aptos"/>
              </a:defRPr>
            </a:pPr>
            <a:r>
              <a:t>Control correction and residual data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473952"/>
            <a:ext cx="11155680" cy="10972"/>
          </a:xfrm>
          <a:prstGeom prst="rect">
            <a:avLst/>
          </a:prstGeom>
          <a:solidFill>
            <a:srgbClr val="D4DF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65392"/>
            <a:ext cx="96012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900" b="0">
                <a:solidFill>
                  <a:srgbClr val="52657A"/>
                </a:solidFill>
                <a:latin typeface="Aptos"/>
              </a:defRPr>
            </a:pPr>
            <a:r>
              <a:t>Common mechanism controls | Mechanism reference | 21 Oct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49840" y="6565392"/>
            <a:ext cx="1554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900" b="0">
                <a:solidFill>
                  <a:srgbClr val="52657A"/>
                </a:solidFill>
                <a:latin typeface="Aptos"/>
              </a:defRPr>
            </a:pPr>
            <a:r>
              <a:t>06 / UNTIMED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810512"/>
            <a:ext cx="5486400" cy="1929384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947672"/>
            <a:ext cx="5120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176E83"/>
                </a:solidFill>
                <a:latin typeface="Aptos"/>
              </a:defRPr>
            </a:pPr>
            <a:r>
              <a:t>PROPOSED TEAM CONTROL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313432"/>
            <a:ext cx="5120640" cy="1316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800" b="0">
                <a:solidFill>
                  <a:srgbClr val="182D43"/>
                </a:solidFill>
                <a:latin typeface="Aptos"/>
              </a:defRPr>
            </a:pPr>
            <a:r>
              <a:t>A disabled trigger, removed attachment, forgotten fact and deleted history are different outcomes. Test the documented control for the actual data category.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3886200"/>
            <a:ext cx="5486400" cy="2286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4023360"/>
            <a:ext cx="5120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176E83"/>
                </a:solidFill>
                <a:latin typeface="Aptos"/>
              </a:defRPr>
            </a:pPr>
            <a:r>
              <a:t>APPLY THROUGH PRODUCT CONTROLS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389120"/>
            <a:ext cx="5120640" cy="1673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2000" b="0">
                <a:solidFill>
                  <a:srgbClr val="182D43"/>
                </a:solidFill>
                <a:latin typeface="Aptos"/>
              </a:defRPr>
            </a:pPr>
            <a:r>
              <a:t>1. Select the relevant product mechanism.</a:t>
            </a:r>
          </a:p>
          <a:p>
            <a:pPr>
              <a:spcAft>
                <a:spcPts val="600"/>
              </a:spcAft>
              <a:defRPr sz="2000" b="0">
                <a:solidFill>
                  <a:srgbClr val="182D43"/>
                </a:solidFill>
                <a:latin typeface="Aptos"/>
              </a:defRPr>
            </a:pPr>
            <a:r>
              <a:t>2. Record its scope, owner and activation setting.</a:t>
            </a:r>
          </a:p>
          <a:p>
            <a:pPr>
              <a:spcAft>
                <a:spcPts val="600"/>
              </a:spcAft>
              <a:defRPr sz="2000" b="0">
                <a:solidFill>
                  <a:srgbClr val="182D43"/>
                </a:solidFill>
                <a:latin typeface="Aptos"/>
              </a:defRPr>
            </a:pPr>
            <a:r>
              <a:t>3. Run the proposed independent check using approved test inputs.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99632" y="1810512"/>
            <a:ext cx="5486400" cy="1929384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82512" y="1947672"/>
            <a:ext cx="5120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176E83"/>
                </a:solidFill>
                <a:latin typeface="Aptos"/>
              </a:defRPr>
            </a:pPr>
            <a:r>
              <a:t>INDEPENDENT CHECK — PROPOSED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82512" y="2313432"/>
            <a:ext cx="5120640" cy="1316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900" b="0">
                <a:solidFill>
                  <a:srgbClr val="182D43"/>
                </a:solidFill>
                <a:latin typeface="Aptos"/>
              </a:defRPr>
            </a:pPr>
            <a:r>
              <a:t>Compare the configured boundary with independent evidence from the product or target.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99632" y="3886200"/>
            <a:ext cx="5486400" cy="2286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82512" y="4023360"/>
            <a:ext cx="5120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176E83"/>
                </a:solidFill>
                <a:latin typeface="Aptos"/>
              </a:defRPr>
            </a:pPr>
            <a:r>
              <a:t>CONTROL AND LIMITATION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82512" y="4389120"/>
            <a:ext cx="5120640" cy="1673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2000" b="0">
                <a:solidFill>
                  <a:srgbClr val="182D43"/>
                </a:solidFill>
                <a:latin typeface="Aptos"/>
              </a:defRPr>
            </a:pPr>
            <a:r>
              <a:t>A common review process does not create a common runtime, credential set or approval model.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6236208"/>
            <a:ext cx="109728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900" b="0">
                <a:solidFill>
                  <a:srgbClr val="52657A"/>
                </a:solidFill>
                <a:latin typeface="Aptos"/>
              </a:defRPr>
            </a:pPr>
            <a:r>
              <a:t>Official sources: DM, ST, FP · Across the three products; implementation differs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76E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155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176E83"/>
                </a:solidFill>
                <a:latin typeface="Aptos"/>
              </a:defRPr>
            </a:pPr>
            <a:r>
              <a:t>X-M06 / PROPOSED CONTROL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77240"/>
            <a:ext cx="111556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2900" b="1">
                <a:solidFill>
                  <a:srgbClr val="182D43"/>
                </a:solidFill>
                <a:latin typeface="Aptos"/>
              </a:defRPr>
            </a:pPr>
            <a:r>
              <a:t>Track documentation changes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473952"/>
            <a:ext cx="11155680" cy="10972"/>
          </a:xfrm>
          <a:prstGeom prst="rect">
            <a:avLst/>
          </a:prstGeom>
          <a:solidFill>
            <a:srgbClr val="D4DF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65392"/>
            <a:ext cx="96012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900" b="0">
                <a:solidFill>
                  <a:srgbClr val="52657A"/>
                </a:solidFill>
                <a:latin typeface="Aptos"/>
              </a:defRPr>
            </a:pPr>
            <a:r>
              <a:t>Common mechanism controls | Mechanism reference | 21 Oct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49840" y="6565392"/>
            <a:ext cx="1554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900" b="0">
                <a:solidFill>
                  <a:srgbClr val="52657A"/>
                </a:solidFill>
                <a:latin typeface="Aptos"/>
              </a:defRPr>
            </a:pPr>
            <a:r>
              <a:t>07 / UNTIMED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810512"/>
            <a:ext cx="5486400" cy="1929384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947672"/>
            <a:ext cx="5120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176E83"/>
                </a:solidFill>
                <a:latin typeface="Aptos"/>
              </a:defRPr>
            </a:pPr>
            <a:r>
              <a:t>PROPOSED TEAM CONTROL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313432"/>
            <a:ext cx="5120640" cy="1316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800" b="0">
                <a:solidFill>
                  <a:srgbClr val="182D43"/>
                </a:solidFill>
                <a:latin typeface="Aptos"/>
              </a:defRPr>
            </a:pPr>
            <a:r>
              <a:t>Store official source, review date, surface and unresolved discrepancy. Treat a changed configuration path or migration as a reason to recheck before rollout.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3886200"/>
            <a:ext cx="5486400" cy="2286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4023360"/>
            <a:ext cx="5120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176E83"/>
                </a:solidFill>
                <a:latin typeface="Aptos"/>
              </a:defRPr>
            </a:pPr>
            <a:r>
              <a:t>APPLY THROUGH PRODUCT CONTROLS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389120"/>
            <a:ext cx="5120640" cy="1673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2000" b="0">
                <a:solidFill>
                  <a:srgbClr val="182D43"/>
                </a:solidFill>
                <a:latin typeface="Aptos"/>
              </a:defRPr>
            </a:pPr>
            <a:r>
              <a:t>1. Select the relevant product mechanism.</a:t>
            </a:r>
          </a:p>
          <a:p>
            <a:pPr>
              <a:spcAft>
                <a:spcPts val="600"/>
              </a:spcAft>
              <a:defRPr sz="2000" b="0">
                <a:solidFill>
                  <a:srgbClr val="182D43"/>
                </a:solidFill>
                <a:latin typeface="Aptos"/>
              </a:defRPr>
            </a:pPr>
            <a:r>
              <a:t>2. Record its scope, owner and activation setting.</a:t>
            </a:r>
          </a:p>
          <a:p>
            <a:pPr>
              <a:spcAft>
                <a:spcPts val="600"/>
              </a:spcAft>
              <a:defRPr sz="2000" b="0">
                <a:solidFill>
                  <a:srgbClr val="182D43"/>
                </a:solidFill>
                <a:latin typeface="Aptos"/>
              </a:defRPr>
            </a:pPr>
            <a:r>
              <a:t>3. Run the proposed independent check using approved test inputs.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99632" y="1810512"/>
            <a:ext cx="5486400" cy="1929384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82512" y="1947672"/>
            <a:ext cx="5120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176E83"/>
                </a:solidFill>
                <a:latin typeface="Aptos"/>
              </a:defRPr>
            </a:pPr>
            <a:r>
              <a:t>INDEPENDENT CHECK — PROPOSED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82512" y="2313432"/>
            <a:ext cx="5120640" cy="1316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900" b="0">
                <a:solidFill>
                  <a:srgbClr val="182D43"/>
                </a:solidFill>
                <a:latin typeface="Aptos"/>
              </a:defRPr>
            </a:pPr>
            <a:r>
              <a:t>Compare the configured boundary with independent evidence from the product or target.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99632" y="3886200"/>
            <a:ext cx="5486400" cy="2286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82512" y="4023360"/>
            <a:ext cx="5120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176E83"/>
                </a:solidFill>
                <a:latin typeface="Aptos"/>
              </a:defRPr>
            </a:pPr>
            <a:r>
              <a:t>CONTROL AND LIMITATION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82512" y="4389120"/>
            <a:ext cx="5120640" cy="1673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2000" b="0">
                <a:solidFill>
                  <a:srgbClr val="182D43"/>
                </a:solidFill>
                <a:latin typeface="Aptos"/>
              </a:defRPr>
            </a:pPr>
            <a:r>
              <a:t>A common review process does not create a common runtime, credential set or approval model.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6236208"/>
            <a:ext cx="109728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900" b="0">
                <a:solidFill>
                  <a:srgbClr val="52657A"/>
                </a:solidFill>
                <a:latin typeface="Aptos"/>
              </a:defRPr>
            </a:pPr>
            <a:r>
              <a:t>Official sources: DL · Across the three products; implementation differs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76E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155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176E83"/>
                </a:solidFill>
                <a:latin typeface="Aptos"/>
              </a:defRPr>
            </a:pPr>
            <a:r>
              <a:t>OFFICIAL DOCUMENTATION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77240"/>
            <a:ext cx="111556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2900" b="1">
                <a:solidFill>
                  <a:srgbClr val="182D43"/>
                </a:solidFill>
                <a:latin typeface="Aptos"/>
              </a:defRPr>
            </a:pPr>
            <a:r>
              <a:t>Evidence and delivery boundary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473952"/>
            <a:ext cx="11155680" cy="10972"/>
          </a:xfrm>
          <a:prstGeom prst="rect">
            <a:avLst/>
          </a:prstGeom>
          <a:solidFill>
            <a:srgbClr val="D4DF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65392"/>
            <a:ext cx="96012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900" b="0">
                <a:solidFill>
                  <a:srgbClr val="52657A"/>
                </a:solidFill>
                <a:latin typeface="Aptos"/>
              </a:defRPr>
            </a:pPr>
            <a:r>
              <a:t>Common mechanism controls | Mechanism reference | 21 Oct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49840" y="6565392"/>
            <a:ext cx="1554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900" b="0">
                <a:solidFill>
                  <a:srgbClr val="52657A"/>
                </a:solidFill>
                <a:latin typeface="Aptos"/>
              </a:defRPr>
            </a:pPr>
            <a:r>
              <a:t>08 / UNTIMED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8288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2400" b="1">
                <a:solidFill>
                  <a:srgbClr val="182D43"/>
                </a:solidFill>
                <a:latin typeface="Aptos"/>
              </a:defRPr>
            </a:pPr>
            <a:r>
              <a:t>Official source register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560320"/>
            <a:ext cx="5394960" cy="2834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300" b="0">
                <a:solidFill>
                  <a:srgbClr val="176E83"/>
                </a:solidFill>
                <a:latin typeface="Aptos"/>
              </a:defRPr>
            </a:pPr>
            <a:r>
              <a:rPr>
                <a:hlinkClick r:id="rId3"/>
              </a:rPr>
              <a:t>[DM] DevOps Agent Memories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63640" y="2560320"/>
            <a:ext cx="5394960" cy="2834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300" b="0">
                <a:solidFill>
                  <a:srgbClr val="176E83"/>
                </a:solidFill>
                <a:latin typeface="Aptos"/>
              </a:defRPr>
            </a:pPr>
            <a:r>
              <a:rPr>
                <a:hlinkClick r:id="rId4"/>
              </a:rPr>
              <a:t>[SC] Create a penetration test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898648"/>
            <a:ext cx="5394960" cy="2834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300" b="0">
                <a:solidFill>
                  <a:srgbClr val="176E83"/>
                </a:solidFill>
                <a:latin typeface="Aptos"/>
              </a:defRPr>
            </a:pPr>
            <a:r>
              <a:rPr>
                <a:hlinkClick r:id="rId5"/>
              </a:rPr>
              <a:t>[FP] Data protection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63640" y="2898648"/>
            <a:ext cx="5394960" cy="2834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300" b="0">
                <a:solidFill>
                  <a:srgbClr val="176E83"/>
                </a:solidFill>
                <a:latin typeface="Aptos"/>
              </a:defRPr>
            </a:pPr>
            <a:r>
              <a:rPr>
                <a:hlinkClick r:id="rId6"/>
              </a:rPr>
              <a:t>[DA] Limiting agent access in an AWS account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3236976"/>
            <a:ext cx="5394960" cy="2834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300" b="0">
                <a:solidFill>
                  <a:srgbClr val="176E83"/>
                </a:solidFill>
                <a:latin typeface="Aptos"/>
              </a:defRPr>
            </a:pPr>
            <a:r>
              <a:rPr>
                <a:hlinkClick r:id="rId7"/>
              </a:rPr>
              <a:t>[SA] Provide authentication credentials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63640" y="3236976"/>
            <a:ext cx="5394960" cy="2834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300" b="0">
                <a:solidFill>
                  <a:srgbClr val="176E83"/>
                </a:solidFill>
                <a:latin typeface="Aptos"/>
              </a:defRPr>
            </a:pPr>
            <a:r>
              <a:rPr>
                <a:hlinkClick r:id="rId8"/>
              </a:rPr>
              <a:t>[FG] Agent guardrail controls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3575303"/>
            <a:ext cx="5394960" cy="2834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300" b="0">
                <a:solidFill>
                  <a:srgbClr val="176E83"/>
                </a:solidFill>
                <a:latin typeface="Aptos"/>
              </a:defRPr>
            </a:pPr>
            <a:r>
              <a:rPr>
                <a:hlinkClick r:id="rId9"/>
              </a:rPr>
              <a:t>[DC] Creating a custom agent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3575303"/>
            <a:ext cx="5394960" cy="2834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300" b="0">
                <a:solidFill>
                  <a:srgbClr val="176E83"/>
                </a:solidFill>
                <a:latin typeface="Aptos"/>
              </a:defRPr>
            </a:pPr>
            <a:r>
              <a:rPr>
                <a:hlinkClick r:id="rId10"/>
              </a:rPr>
              <a:t>[SP] Manage security requirements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3913631"/>
            <a:ext cx="5394960" cy="2834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300" b="0">
                <a:solidFill>
                  <a:srgbClr val="176E83"/>
                </a:solidFill>
                <a:latin typeface="Aptos"/>
              </a:defRPr>
            </a:pPr>
            <a:r>
              <a:rPr>
                <a:hlinkClick r:id="rId11"/>
              </a:rPr>
              <a:t>[FT] Task management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3913631"/>
            <a:ext cx="5394960" cy="2834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300" b="0">
                <a:solidFill>
                  <a:srgbClr val="176E83"/>
                </a:solidFill>
                <a:latin typeface="Aptos"/>
              </a:defRPr>
            </a:pPr>
            <a:r>
              <a:rPr>
                <a:hlinkClick r:id="rId12"/>
              </a:rPr>
              <a:t>[SG] Security considerations and finding validation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4251960"/>
            <a:ext cx="5394960" cy="2834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300" b="0">
                <a:solidFill>
                  <a:srgbClr val="176E83"/>
                </a:solidFill>
                <a:latin typeface="Aptos"/>
              </a:defRPr>
            </a:pPr>
            <a:r>
              <a:rPr>
                <a:hlinkClick r:id="rId13"/>
              </a:rPr>
              <a:t>[FD] Cost inquiry and data-source access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63640" y="4251960"/>
            <a:ext cx="5394960" cy="2834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300" b="0">
                <a:solidFill>
                  <a:srgbClr val="176E83"/>
                </a:solidFill>
                <a:latin typeface="Aptos"/>
              </a:defRPr>
            </a:pPr>
            <a:r>
              <a:rPr>
                <a:hlinkClick r:id="rId14"/>
              </a:rPr>
              <a:t>[ST] Revalidate penetration-test findings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4590288"/>
            <a:ext cx="5394960" cy="2834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300" b="0">
                <a:solidFill>
                  <a:srgbClr val="176E83"/>
                </a:solidFill>
                <a:latin typeface="Aptos"/>
              </a:defRPr>
            </a:pPr>
            <a:r>
              <a:rPr>
                <a:hlinkClick r:id="rId15"/>
              </a:rPr>
              <a:t>[DL] Learned Skills: migration to memory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5897880"/>
            <a:ext cx="1097280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500" b="0">
                <a:solidFill>
                  <a:srgbClr val="52657A"/>
                </a:solidFill>
                <a:latin typeface="Aptos"/>
              </a:defRPr>
            </a:pPr>
            <a:r>
              <a:t>Reviewed 21 October 2026. Proposed exercises were not executed. Consult the full HTML guide for qualifications and source changes.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