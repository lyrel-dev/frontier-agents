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00:00–01:00; allocated 01:00.</a:t>
            </a:r>
          </a:p>
          <a:p/>
          <a:p>
            <a:r>
              <a:t>Open with the operational job, not a claim of full autonomy. A checkout service is failing after a deployment. We want a coherent investigation, a defensible mitigation decision, and a follow-up item that prevents recurrence. Production operations are generally available; release-management features are preview. The examples in this deck are proposed exercises. The demo slots include the operator walkthrough and a prepared-result fallback, not a promise that an agent run completes within the allotted minutes.</a:t>
            </a:r>
          </a:p>
          <a:p/>
          <a:p>
            <a:r>
              <a:t>Official evidence:</a:t>
            </a:r>
          </a:p>
          <a:p>
            <a:r>
              <a:t>D01 — About AWS DevOps Agent: https://docs.aws.amazon.com/devopsagent/latest/userguide/about-aws-devops-agent.html</a:t>
            </a:r>
          </a:p>
          <a:p>
            <a:r>
              <a:t>D14 — AWS DevOps Agent is now generally available: https://aws.amazon.com/about-aws/whats-new/2026/03/aws-devops-agent-generally-available/</a:t>
            </a:r>
          </a:p>
          <a:p>
            <a:r>
              <a:t>D15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01:00–02:30; allocated 01:30.</a:t>
            </a:r>
          </a:p>
          <a:p/>
          <a:p>
            <a:r>
              <a:t>Use the checkout incident as the thread through this presentation. Supply an incident window and the deployment identity before asking for a cause. A production symptom, an agent hypothesis, a mitigation plan, and a verified recovery are different artifacts. The example does not assert that a real incident occurred. The on-call engineer remains responsible for triage and for comparing conclusions with the source systems.</a:t>
            </a:r>
          </a:p>
          <a:p/>
          <a:p>
            <a:r>
              <a:t>Official evidence:</a:t>
            </a:r>
          </a:p>
          <a:p>
            <a:r>
              <a:t>D02 — Production operations: https://docs.aws.amazon.com/devopsagent/latest/userguide/working-with-devops-agent-production-operations-index.html</a:t>
            </a:r>
          </a:p>
          <a:p>
            <a:r>
              <a:t>D03 — Autonomous incident response: https://docs.aws.amazon.com/devopsagent/latest/userguide/production-operations-autonomous-incident-response.html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02:30–04:00; allocated 01:30.</a:t>
            </a:r>
          </a:p>
          <a:p/>
          <a:p>
            <a:r>
              <a:t>The capability map separates incident work, on-demand operational questions, prevention, configured recurring tasks, and release validation. They share application context but differ in invocation and output. A daily summary is a custom-agent configuration, not an automatically provisioned SRE dashboard. Release management is a separate preview track and should not inherit the availability label of production operations.</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a:p>
            <a:r>
              <a:t>D06 — Custom Agents: https://docs.aws.amazon.com/devopsagent/latest/userguide/working-with-devops-agent-custom-agents-index.html</a:t>
            </a:r>
          </a:p>
          <a:p>
            <a:r>
              <a:t>D09 — Release management: https://docs.aws.amazon.com/devopsagent/latest/userguide/working-with-devops-agent-release-management-index.html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04:00–05:30; allocated 01:30.</a:t>
            </a:r>
          </a:p>
          <a:p/>
          <a:p>
            <a:r>
              <a:t>An Agent Space groups the context and integrations used for operational work. It is not an authorization boundary merely because it has a service name. IAM roles and integration permissions establish actual access. For the initial pilot, connect one service and inspect whether its deployment events, logs, and metrics can be read. Do not grant broad writes to compensate for missing read evidence. Private integrations need an explicit network connection; they are not reachable simply because a repository or tool is named in chat.</a:t>
            </a:r>
          </a:p>
          <a:p/>
          <a:p>
            <a:r>
              <a:t>Official evidence:</a:t>
            </a:r>
          </a:p>
          <a:p>
            <a:r>
              <a:t>D01 — About AWS DevOps Agent: https://docs.aws.amazon.com/devopsagent/latest/userguide/about-aws-devops-agent.html</a:t>
            </a:r>
          </a:p>
          <a:p>
            <a:r>
              <a:t>D02 — Production operations: https://docs.aws.amazon.com/devopsagent/latest/userguide/working-with-devops-agent-production-operations-index.html</a:t>
            </a:r>
          </a:p>
          <a:p>
            <a:r>
              <a:t>D34 — Limiting Agent Access in an AWS Account: https://docs.aws.amazon.com/devopsagent/latest/userguide/aws-devops-agent-security-limiting-agent-access-in-an-aws-account.html</a:t>
            </a:r>
          </a:p>
          <a:p>
            <a:r>
              <a:t>D39 — Private connections for integrations: https://docs.aws.amazon.com/devopsagent/latest/userguide/configuring-integrations-and-knowledge-connecting-to-privately-hosted-tools.html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05:30–07:00; allocated 01:30.</a:t>
            </a:r>
          </a:p>
          <a:p/>
          <a:p>
            <a:r>
              <a:t>The agent can start from a manual request or a configured external trigger. As evidence arrives, the operator can steer the investigation toward a hypothesis or data source. That is useful when a dashboard and a deployment suggest different explanations. Ask for the evidence behind a conclusion and for alternatives that remain unresolved. A confident root-cause statement is not sufficient to close an incident.</a:t>
            </a:r>
          </a:p>
          <a:p/>
          <a:p>
            <a:r>
              <a:t>Official evidence:</a:t>
            </a:r>
          </a:p>
          <a:p>
            <a:r>
              <a:t>D03 — Autonomous incident response: https://docs.aws.amazon.com/devopsagent/latest/userguide/production-operations-autonomous-incident-response.html</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07:00–14:00; allocated 07:00.</a:t>
            </a:r>
          </a:p>
          <a:p/>
          <a:p>
            <a:r>
              <a:t>This seven-minute slot demonstrates the investigation workflow and the engineer’s judgment. It does not measure incident-response speed. Start a fresh request only if the environment is ready. The completed-run fallback must contain genuine, sanitized evidence from an authorized rehearsal; a schematic illustration must be labeled as such. No production mutation is required for this demo.</a:t>
            </a:r>
          </a:p>
          <a:p/>
          <a:p>
            <a:r>
              <a:t>Official evidence:</a:t>
            </a:r>
          </a:p>
          <a:p>
            <a:r>
              <a:t>D03 — Autonomous incident response: https://docs.aws.amazon.com/devopsagent/latest/userguide/production-operations-autonomous-incident-response.html</a:t>
            </a:r>
          </a:p>
          <a:p>
            <a:r>
              <a:t>D05 — On Demand DevOps Tasks: https://docs.aws.amazon.com/devopsagent/latest/userguide/working-with-devops-agent-on-demand-devops-tasks.html</a:t>
            </a:r>
          </a:p>
          <a:p/>
          <a:p>
            <a:r>
              <a:t>Preflight: Prepare a sanitized incident snapshot, read access and a completed investigation before presenting.</a:t>
            </a:r>
          </a:p>
          <a:p/>
          <a:p>
            <a:r>
              <a:t>Prompt: Investigate the checkout 5xx increase in the supplied UTC window after the deployment. Cite telemetry and the deployed diff. Separate observed facts, competing hypotheses, and missing data. Propose a mitigation; do not change resources.</a:t>
            </a:r>
          </a:p>
          <a:p/>
          <a:p>
            <a:r>
              <a:t>Runbook:</a:t>
            </a:r>
          </a:p>
          <a:p>
            <a:r>
              <a:t>01:00 — Confirm scope: Open the Agent Space, incident window and deployment reference.</a:t>
            </a:r>
          </a:p>
          <a:p>
            <a:r>
              <a:t>01:30 — Inspect the investigation: Start or open a pre-run investigation; check source coverage.</a:t>
            </a:r>
          </a:p>
          <a:p>
            <a:r>
              <a:t>02:00 — Challenge the leading hypothesis: Compare two source observations and inspect a competing explanation.</a:t>
            </a:r>
          </a:p>
          <a:p>
            <a:r>
              <a:t>01:30 — Review mitigation: Check blast radius, rollback assumptions and missing evidence.</a:t>
            </a:r>
          </a:p>
          <a:p>
            <a:r>
              <a:t>01:00 — Record the handoff: Capture owner, evidence links, next action and verification check.</a:t>
            </a:r>
          </a:p>
          <a:p/>
          <a:p>
            <a:r>
              <a:t>Success: One source-backed hypothesis and one reviewable next action—not an asserted diagnosis.</a:t>
            </a:r>
          </a:p>
          <a:p/>
          <a:p>
            <a:r>
              <a:t>Fallback: After 60 seconds without usable output, use the completed run and inspect its evidence; do not wait for a fresh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14:00–15:15; allocated 01:15.</a:t>
            </a:r>
          </a:p>
          <a:p/>
          <a:p>
            <a:r>
              <a:t>Not every operational task is an incident. The on-demand interface can answer focused questions about service health, resource configuration, recent alarms and investigation history. Ask for a specific period rather than “is everything healthy.” The value is an evidence-linked summary that reduces console navigation. Where a source is unavailable, the answer should state the gap rather than imply coverage.</a:t>
            </a:r>
          </a:p>
          <a:p/>
          <a:p>
            <a:r>
              <a:t>Official evidence:</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15:15–16:30; allocated 01:15.</a:t>
            </a:r>
          </a:p>
          <a:p/>
          <a:p>
            <a:r>
              <a:t>Prevention analyzes investigation history and produces recommendations. It is not a guarantee that failures will disappear. Keep recommendations separate from accepted engineering work: a team must assess relevance, assign ownership and decide how to validate an improvement. Use a known repeat incident to show how the suggested change would make detection earlier or the service more resilient.</a:t>
            </a:r>
          </a:p>
          <a:p/>
          <a:p>
            <a:r>
              <a:t>Official evidence:</a:t>
            </a:r>
          </a:p>
          <a:p>
            <a:r>
              <a:t>D04 — Proactive incident prevention: https://docs.aws.amazon.com/devopsagent/latest/userguide/production-operations-proactive-incident-prevention.html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16:30–17:45; allocated 01:15.</a:t>
            </a:r>
          </a:p>
          <a:p/>
          <a:p>
            <a:r>
              <a:t>A custom agent is a configured workflow. For example, a team can define a daily summary that reads alarms and recent investigations and returns an actionable report. Select only the tools needed for that job. A prompt that says “read only” does not neutralize a write-capable integration. Review the output and invocation record before enabling a recurring schedule.</a:t>
            </a:r>
          </a:p>
          <a:p/>
          <a:p>
            <a:r>
              <a:t>Official evidence:</a:t>
            </a:r>
          </a:p>
          <a:p>
            <a:r>
              <a:t>D06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17:45–19:45; allocated 02:00.</a:t>
            </a:r>
          </a:p>
          <a:p/>
          <a:p>
            <a:r>
              <a:t>Keep the read-oriented investigation path separate from directed actions. Directed actions are disabled by default. Enabling them is only one layer: the relevant account role or third-party tool configuration must also permit the operation, and the operator must approve the concrete action. Review the target, parameters, blast radius and rollback plan. The release-testing write path is a different mechanism; do not assume this approval model protects application endpoints exercised by a test.</a:t>
            </a:r>
          </a:p>
          <a:p/>
          <a:p>
            <a:r>
              <a:t>Official evidence:</a:t>
            </a:r>
          </a:p>
          <a:p>
            <a:r>
              <a:t>D13 — Working with directed actions: https://docs.aws.amazon.com/devopsagent/latest/userguide/working-with-devops-agent-working-with-directed-actions.html</a:t>
            </a:r>
          </a:p>
          <a:p>
            <a:r>
              <a:t>D34 — Limiting Agent Access in an AWS Account: https://docs.aws.amazon.com/devopsagent/latest/userguide/aws-devops-agent-security-limiting-agent-access-in-an-aws-account.html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19:45–21:45; allocated 02:00.</a:t>
            </a:r>
          </a:p>
          <a:p/>
          <a:p>
            <a:r>
              <a:t>Readiness review evaluates a change and can build and test it in a managed verification environment. Active release testing sends traffic to a running application and may perform POST, PUT and DELETE requests. Those operations can trigger real business effects. Use a disposable staging deployment, test identities and disabled external side effects. Both features remain a preview track in the documented Region. A positive review is evidence for the release owner, not a production deployment authorization.</a:t>
            </a:r>
          </a:p>
          <a:p/>
          <a:p>
            <a:r>
              <a:t>Official evidence:</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D11 — Release testing: https://docs.aws.amazon.com/devopsagent/latest/userguide/release-management-release-testing.html</a:t>
            </a:r>
          </a:p>
          <a:p>
            <a:r>
              <a:t>D15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21:45–26:45; allocated 05:00.</a:t>
            </a:r>
          </a:p>
          <a:p/>
          <a:p>
            <a:r>
              <a:t>This five-minute walkthrough demonstrates interpretation rather than a fresh end-to-end run. The reviewed revision must match the displayed diff. Build failures caused by missing private dependencies are setup failures, not proof that the proposed application change is unsafe. Conversely, a skipped verification step is not a pass. Keep the production release decision with the existing owner.</a:t>
            </a:r>
          </a:p>
          <a:p/>
          <a:p>
            <a:r>
              <a:t>Official evidence:</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D15 — Supported Regions: https://docs.aws.amazon.com/devopsagent/latest/userguide/about-aws-devops-agent-supported-regions.html</a:t>
            </a:r>
          </a:p>
          <a:p/>
          <a:p>
            <a:r>
              <a:t>Preflight: Use a connected test repository and a pre-completed readiness review; do not point a test profile at production.</a:t>
            </a:r>
          </a:p>
          <a:p/>
          <a:p>
            <a:r>
              <a:t>Prompt: Review this change for dependency impact, retry amplification, database saturation and rollback viability. Cite affected code and verification evidence. Return risks and missing checks. Do not deploy or promote.</a:t>
            </a:r>
          </a:p>
          <a:p/>
          <a:p>
            <a:r>
              <a:t>Runbook:</a:t>
            </a:r>
          </a:p>
          <a:p>
            <a:r>
              <a:t>00:45 — Select the change: Show the PR/MR and its exact commit.</a:t>
            </a:r>
          </a:p>
          <a:p>
            <a:r>
              <a:t>01:15 — Start or open review: Confirm preview Region and enabled review/verification settings.</a:t>
            </a:r>
          </a:p>
          <a:p>
            <a:r>
              <a:t>01:15 — Inspect risk evidence: Trace a finding to changed code and a dependency.</a:t>
            </a:r>
          </a:p>
          <a:p>
            <a:r>
              <a:t>01:00 — Read verification: Separate a passed check, an unrun check and a failure.</a:t>
            </a:r>
          </a:p>
          <a:p>
            <a:r>
              <a:t>00:45 — Decide the next step: Release owner accepts, requests work or blocks promotion.</a:t>
            </a:r>
          </a:p>
          <a:p/>
          <a:p>
            <a:r>
              <a:t>Success: Findings are tied to the exact change, and unexecuted checks are visible.</a:t>
            </a:r>
          </a:p>
          <a:p/>
          <a:p>
            <a:r>
              <a:t>Fallback: Use the prepared review and code diff if the preview or verification environment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26:45–28:00; allocated 01:15.</a:t>
            </a:r>
          </a:p>
          <a:p/>
          <a:p>
            <a:r>
              <a:t>The documented remote MCP interface brings operational questions into a development environment. This can reduce the copy-and-paste handoff between an on-call engineer and a developer. It does not mean every AWS frontier agent shares one session or identity. Authenticate the client, scope access and preserve links to the original investigation. A2A and other access methods are integration building blocks, not a turnkey four-product orchestrator.</a:t>
            </a:r>
          </a:p>
          <a:p/>
          <a:p>
            <a:r>
              <a:t>Official evidence:</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28:00–29:30; allocated 01:30.</a:t>
            </a:r>
          </a:p>
          <a:p/>
          <a:p>
            <a:r>
              <a:t>The original report included related developer tasks, so keep them visible without attributing them to the wrong product. Repository explanation, scoped code changes and test creation fit Kiro’s documented coding tools. IaC drafting, supplied-build-log diagnosis and runbook writing are composed uses of those tools. They are not native promises of complete infrastructure validation or an automatically connected CI monitor. Validate with the repository’s own tests, linters and infrastructure tooling.</a:t>
            </a:r>
          </a:p>
          <a:p/>
          <a:p>
            <a:r>
              <a:t>Official evidence:</a:t>
            </a:r>
          </a:p>
          <a:p>
            <a:r>
              <a:t>K03 — Working with the agent: https://kiro.dev/docs/web/using-the-agent/</a:t>
            </a:r>
          </a:p>
          <a:p>
            <a:r>
              <a:t>K08 — Specifications: https://kiro.dev/docs/specs/</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29:30–31:00; allocated 01:30.</a:t>
            </a:r>
          </a:p>
          <a:p/>
          <a:p>
            <a:r>
              <a:t>For teams already using Amazon Q Developer, the relevant distinctions are AWS guidance, IDE reviews, GitHub preview workflows and supported transformations. GitHub review triggers differ from other products: subsequent commits do not automatically retrigger a Q review; a new review can be requested explicitly. A language transformation is constrained by its supported source versions, build prerequisites and IDE. These are compatibility decisions, not reasons to represent Q as part of the DevOps Agent runtime.</a:t>
            </a:r>
          </a:p>
          <a:p/>
          <a:p>
            <a:r>
              <a:t>Official evidence:</a:t>
            </a:r>
          </a:p>
          <a:p>
            <a:r>
              <a:t>D23 — What is Amazon Q Developer?: https://docs.aws.amazon.com/amazonq/latest/qdeveloper-ug/what-is.html</a:t>
            </a:r>
          </a:p>
          <a:p>
            <a:r>
              <a:t>D24 — Reviewing code with Amazon Q Developer: https://docs.aws.amazon.com/amazonq/latest/qdeveloper-ug/code-reviews.html</a:t>
            </a:r>
          </a:p>
          <a:p>
            <a:r>
              <a:t>D26 — Reviewing code in GitHub: https://docs.aws.amazon.com/amazonq/latest/qdeveloper-ug/github-code-reviews.html</a:t>
            </a:r>
          </a:p>
          <a:p>
            <a:r>
              <a:t>D27 — Developing features in GitHub: https://docs.aws.amazon.com/amazonq/latest/qdeveloper-ug/github-feature-development.html</a:t>
            </a:r>
          </a:p>
          <a:p>
            <a:r>
              <a:t>D28 — Upgrading Java versions: https://docs.aws.amazon.com/amazonq/latest/qdeveloper-ug/code-transformation.html</a:t>
            </a:r>
          </a:p>
          <a:p>
            <a:r>
              <a:t>D29 — Transforming .NET applications: https://docs.aws.amazon.com/amazonq/latest/qdeveloper-ug/transform-dotnet-IDE.html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31:00–32:30; allocated 01:30.</a:t>
            </a:r>
          </a:p>
          <a:p/>
          <a:p>
            <a:r>
              <a:t>Treat deployment readiness as a team decision. Record the feature’s availability, Agent Space Region, data-source access, mutation paths and stop responsibility. For the first service, leave directed actions off unless a separately reviewed experiment requires them. Put release-preview work in a different pilot lane. The documentation specifies behavior; this checklist is the recommended operating design for the team.</a:t>
            </a:r>
          </a:p>
          <a:p/>
          <a:p>
            <a:r>
              <a:t>Official evidence:</a:t>
            </a:r>
          </a:p>
          <a:p>
            <a:r>
              <a:t>D13 — Working with directed actions: https://docs.aws.amazon.com/devopsagent/latest/userguide/working-with-devops-agent-working-with-directed-actions.html</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32:30–34:00; allocated 01:30.</a:t>
            </a:r>
          </a:p>
          <a:p/>
          <a:p>
            <a:r>
              <a:t>The scorecard is a proposal, not an AWS performance claim. Use the same small set of representative tasks before and during the pilot. Measure how much time an engineer spends reaching an evidence-supported hypothesis, how often conclusions need correction, and whether recommended prevention work is accepted. Count service and integration consumption as well as human review effort. Do not infer production MTTR improvement from a staged demo.</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34:00–35:00; allocated 01:00.</a:t>
            </a:r>
          </a:p>
          <a:p/>
          <a:p>
            <a:r>
              <a:t>Close by asking the team to choose one read-heavy operational workflow and its owner. The agent can help connect evidence and produce useful recommendations, but the engineer remains responsible for the decision and its consequences. Release preview, directed actions and active tests should each be evaluated on their own terms. Questions follow the timed close. The detailed inventory below maps every original capability to the new presentation so no feature disappears during the restructuring.</a:t>
            </a:r>
          </a:p>
          <a:p/>
          <a:p>
            <a:r>
              <a:t>Official evidence:</a:t>
            </a:r>
          </a:p>
          <a:p>
            <a:r>
              <a:t>D03 — Autonomous incident response: https://docs.aws.amazon.com/devopsagent/latest/userguide/production-operations-autonomous-incident-response.html</a:t>
            </a:r>
          </a:p>
          <a:p>
            <a:r>
              <a:t>D13 — Working with directed actions: https://docs.aws.amazon.com/devopsagent/latest/userguide/working-with-devops-agent-working-with-directed-actions.html</a:t>
            </a:r>
          </a:p>
          <a:p>
            <a:r>
              <a:t>D11 — Release testing: https://docs.aws.amazon.com/devopsagent/latest/userguide/release-management-release-testing.html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This appendix is outside the timed session. All source URLs are listed below and in the relevant slide notes. No live workflow or measured benefit is claimed.</a:t>
            </a:r>
          </a:p>
          <a:p/>
          <a:p>
            <a:r>
              <a:t>Official evidence:</a:t>
            </a:r>
          </a:p>
          <a:p>
            <a:r>
              <a:t>D01 — About AWS DevOps Agent: https://docs.aws.amazon.com/devopsagent/latest/userguide/about-aws-devops-agent.html</a:t>
            </a:r>
          </a:p>
          <a:p>
            <a:r>
              <a:t>D02 — Production operations: https://docs.aws.amazon.com/devopsagent/latest/userguide/working-with-devops-agent-production-operations-index.html</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a:p>
            <a:r>
              <a:t>D06 — Custom Agents: https://docs.aws.amazon.com/devopsagent/latest/userguide/working-with-devops-agent-custom-agents-index.html</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D11 — Release testing: https://docs.aws.amazon.com/devopsagent/latest/userguide/release-management-release-testing.html</a:t>
            </a:r>
          </a:p>
          <a:p>
            <a:r>
              <a:t>D13 — Working with directed actions: https://docs.aws.amazon.com/devopsagent/latest/userguide/working-with-devops-agent-working-with-directed-actions.html</a:t>
            </a:r>
          </a:p>
          <a:p>
            <a:r>
              <a:t>D14 — AWS DevOps Agent is now generally available: https://aws.amazon.com/about-aws/whats-new/2026/03/aws-devops-agent-generally-available/</a:t>
            </a:r>
          </a:p>
          <a:p>
            <a:r>
              <a:t>D15 — Supported Regions: https://docs.aws.amazon.com/devopsagent/latest/userguide/about-aws-devops-agent-supported-regions.html</a:t>
            </a:r>
          </a:p>
          <a:p>
            <a:r>
              <a:t>D23 — What is Amazon Q Developer?: https://docs.aws.amazon.com/amazonq/latest/qdeveloper-ug/what-is.html</a:t>
            </a:r>
          </a:p>
          <a:p>
            <a:r>
              <a:t>D24 — Reviewing code with Amazon Q Developer: https://docs.aws.amazon.com/amazonq/latest/qdeveloper-ug/code-reviews.html</a:t>
            </a:r>
          </a:p>
          <a:p>
            <a:r>
              <a:t>D26 — Reviewing code in GitHub: https://docs.aws.amazon.com/amazonq/latest/qdeveloper-ug/github-code-reviews.html</a:t>
            </a:r>
          </a:p>
          <a:p>
            <a:r>
              <a:t>D27 — Developing features in GitHub: https://docs.aws.amazon.com/amazonq/latest/qdeveloper-ug/github-feature-development.html</a:t>
            </a:r>
          </a:p>
          <a:p>
            <a:r>
              <a:t>D28 — Upgrading Java versions: https://docs.aws.amazon.com/amazonq/latest/qdeveloper-ug/code-transformation.html</a:t>
            </a:r>
          </a:p>
          <a:p>
            <a:r>
              <a:t>D29 — Transforming .NET applications: https://docs.aws.amazon.com/amazonq/latest/qdeveloper-ug/transform-dotnet-IDE.html</a:t>
            </a:r>
          </a:p>
          <a:p>
            <a:r>
              <a:t>D34 — Limiting Agent Access in an AWS Account: https://docs.aws.amazon.com/devopsagent/latest/userguide/aws-devops-agent-security-limiting-agent-access-in-an-aws-account.html</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D39 — Private connections for integrations: https://docs.aws.amazon.com/devopsagent/latest/userguide/configuring-integrations-and-knowledge-connecting-to-privately-hosted-tools.html</a:t>
            </a:r>
          </a:p>
          <a:p>
            <a:r>
              <a:t>K03 — Working with the agent: https://kiro.dev/docs/web/using-the-agent/</a:t>
            </a:r>
          </a:p>
          <a:p>
            <a:r>
              <a:t>K08 — Specifications: https://kiro.dev/docs/specs/</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docs.aws.amazon.com/devopsagent/latest/userguide/about-aws-devops-agent.html" TargetMode="External"/><Relationship Id="rId4" Type="http://schemas.openxmlformats.org/officeDocument/2006/relationships/hyperlink" Target="https://docs.aws.amazon.com/devopsagent/latest/userguide/working-with-devops-agent-production-operations-index.html" TargetMode="External"/><Relationship Id="rId5" Type="http://schemas.openxmlformats.org/officeDocument/2006/relationships/hyperlink" Target="https://docs.aws.amazon.com/devopsagent/latest/userguide/production-operations-autonomous-incident-response.html" TargetMode="External"/><Relationship Id="rId6" Type="http://schemas.openxmlformats.org/officeDocument/2006/relationships/hyperlink" Target="https://docs.aws.amazon.com/devopsagent/latest/userguide/production-operations-proactive-incident-prevention.html" TargetMode="External"/><Relationship Id="rId7" Type="http://schemas.openxmlformats.org/officeDocument/2006/relationships/hyperlink" Target="https://docs.aws.amazon.com/devopsagent/latest/userguide/working-with-devops-agent-on-demand-devops-tasks.html" TargetMode="External"/><Relationship Id="rId8" Type="http://schemas.openxmlformats.org/officeDocument/2006/relationships/hyperlink" Target="https://docs.aws.amazon.com/devopsagent/latest/userguide/working-with-devops-agent-custom-agent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DevOps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From a production symptom to an evidence-backed engineering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00:00–01:00</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Investigate → verify → authorize → improve</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35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demos</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12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two demo walkthroughs</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1 service</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recommended pilot scope</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Production operations: GA. Release management: preview; assess each feature and Region separately.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Start with the incident, not the tool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time window, a service boundary, and a change reference make the question answerable.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01:00–02:30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INPUT</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Signal</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Checkout 5xx errors rise after a release.</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CONTEXT</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Service, environment, UTC window, deployment SHA.</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NATIVE</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Investigation</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Correlate telemetry and changes; expose missing evidence.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TEAM</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Decision</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Accept or reject the hypothesis; choose a safe next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Six useful capability families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Choose an operational job first; enable its data and action paths second.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02:30–04:00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Investigate incidents</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Triage related signals and produce findings and mitigation guidance.</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1950" b="1">
                <a:solidFill>
                  <a:srgbClr val="182B43"/>
                </a:solidFill>
                <a:latin typeface="Arial"/>
              </a:defRPr>
            </a:pPr>
            <a:r>
              <a:t>Ask operational questions</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Inspect resources, alarms, health, and prior investigations.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Prevent recurrence</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patterns and prioritize reliability improvements.</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CONFIGURED</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Run custom tasks</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Define a prompt, select tools/skills, and add a schedule.</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 release risk</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Readiness reviews plus optional managed verification.</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Test a deployed release</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Explore a staging web application or REST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Build an Agent Space with useful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one known resource is visible; an out-of-scope test resource is denied.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04:00–05:30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Owned accounts and service topology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Telemetry, repository and deployment integrations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Discover relationships and collect permitted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Connect private tools explicitly when required</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scoped context for investigations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Known evidence coverage and documented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Investigate and steer a live incident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distinguish observed facts, hypotheses, and missing telemetry.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05:30–07:00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Manual incident description, ticket or webhook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Time window, alarm and suspected change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Correlate related incident signals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Collect findings; accept operator steering and feedback</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Investigation timeline and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Candidate cause and proposed mitigation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1 · investigate checkout 5xx errors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a controlled incident snapshot; keep the investigation read-focused.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07:00 allocated  |  07:00–14:00</a:t>
            </a:r>
          </a:p>
        </p:txBody>
      </p:sp>
      <p:sp>
        <p:nvSpPr>
          <p:cNvPr id="9" name="Rounded Rectangle 8"/>
          <p:cNvSpPr/>
          <p:nvPr/>
        </p:nvSpPr>
        <p:spPr>
          <a:xfrm>
            <a:off x="502920" y="2295144"/>
            <a:ext cx="11183112" cy="795528"/>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50592"/>
            <a:ext cx="10789920" cy="475488"/>
          </a:xfrm>
          <a:prstGeom prst="rect">
            <a:avLst/>
          </a:prstGeom>
          <a:noFill/>
        </p:spPr>
        <p:txBody>
          <a:bodyPr wrap="square" lIns="0" rIns="0" tIns="0" bIns="0" anchor="t">
            <a:spAutoFit/>
          </a:bodyPr>
          <a:lstStyle/>
          <a:p>
            <a:pPr>
              <a:lnSpc>
                <a:spcPct val="112000"/>
              </a:lnSpc>
              <a:spcAft>
                <a:spcPts val="300"/>
              </a:spcAft>
              <a:defRPr sz="1400" b="0">
                <a:solidFill>
                  <a:srgbClr val="FFFFFF"/>
                </a:solidFill>
                <a:latin typeface="Arial"/>
              </a:defRPr>
            </a:pPr>
            <a:r>
              <a:t>Investigate the checkout 5xx increase in the supplied UTC window after the deployment. Cite telemetry and the deployed diff. Separate observed facts, competing hypotheses, and missing data. Propose a mitigation; do not change resources.</a:t>
            </a:r>
          </a:p>
        </p:txBody>
      </p:sp>
      <p:sp>
        <p:nvSpPr>
          <p:cNvPr id="11" name="TextBox 10"/>
          <p:cNvSpPr txBox="1"/>
          <p:nvPr/>
        </p:nvSpPr>
        <p:spPr>
          <a:xfrm>
            <a:off x="502920" y="326440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PREFLIGHT</a:t>
            </a:r>
          </a:p>
        </p:txBody>
      </p:sp>
      <p:sp>
        <p:nvSpPr>
          <p:cNvPr id="12" name="TextBox 11"/>
          <p:cNvSpPr txBox="1"/>
          <p:nvPr/>
        </p:nvSpPr>
        <p:spPr>
          <a:xfrm>
            <a:off x="502920" y="3520439"/>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sanitized incident snapshot, read access and a completed investigation before presenting.</a:t>
            </a:r>
          </a:p>
        </p:txBody>
      </p:sp>
      <p:sp>
        <p:nvSpPr>
          <p:cNvPr id="13" name="TextBox 12"/>
          <p:cNvSpPr txBox="1"/>
          <p:nvPr/>
        </p:nvSpPr>
        <p:spPr>
          <a:xfrm>
            <a:off x="502920" y="422452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SUCCESS</a:t>
            </a:r>
          </a:p>
        </p:txBody>
      </p:sp>
      <p:sp>
        <p:nvSpPr>
          <p:cNvPr id="14" name="TextBox 13"/>
          <p:cNvSpPr txBox="1"/>
          <p:nvPr/>
        </p:nvSpPr>
        <p:spPr>
          <a:xfrm>
            <a:off x="502920" y="448056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One source-backed hypothesis and one reviewable next action—not an asserted diagnosis.</a:t>
            </a:r>
          </a:p>
        </p:txBody>
      </p:sp>
      <p:sp>
        <p:nvSpPr>
          <p:cNvPr id="15" name="TextBox 14"/>
          <p:cNvSpPr txBox="1"/>
          <p:nvPr/>
        </p:nvSpPr>
        <p:spPr>
          <a:xfrm>
            <a:off x="502920" y="518464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FALLBACK</a:t>
            </a:r>
          </a:p>
        </p:txBody>
      </p:sp>
      <p:sp>
        <p:nvSpPr>
          <p:cNvPr id="16" name="TextBox 15"/>
          <p:cNvSpPr txBox="1"/>
          <p:nvPr/>
        </p:nvSpPr>
        <p:spPr>
          <a:xfrm>
            <a:off x="502920" y="544068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After 60 seconds without usable output, use the completed run and inspect its evidence; do not wait for a fresh run.</a:t>
            </a:r>
          </a:p>
        </p:txBody>
      </p:sp>
      <p:sp>
        <p:nvSpPr>
          <p:cNvPr id="17" name="Rounded Rectangle 16"/>
          <p:cNvSpPr/>
          <p:nvPr/>
        </p:nvSpPr>
        <p:spPr>
          <a:xfrm>
            <a:off x="4096512" y="324612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35584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19" name="TextBox 18"/>
          <p:cNvSpPr txBox="1"/>
          <p:nvPr/>
        </p:nvSpPr>
        <p:spPr>
          <a:xfrm>
            <a:off x="4937760" y="331927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Confirm scope</a:t>
            </a:r>
          </a:p>
        </p:txBody>
      </p:sp>
      <p:sp>
        <p:nvSpPr>
          <p:cNvPr id="20" name="TextBox 19"/>
          <p:cNvSpPr txBox="1"/>
          <p:nvPr/>
        </p:nvSpPr>
        <p:spPr>
          <a:xfrm>
            <a:off x="4937760" y="3557015"/>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Open the Agent Space, incident window and deployment reference.</a:t>
            </a:r>
          </a:p>
        </p:txBody>
      </p:sp>
      <p:sp>
        <p:nvSpPr>
          <p:cNvPr id="21" name="Rounded Rectangle 20"/>
          <p:cNvSpPr/>
          <p:nvPr/>
        </p:nvSpPr>
        <p:spPr>
          <a:xfrm>
            <a:off x="4096512" y="3834993"/>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3944721"/>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01:30</a:t>
            </a:r>
          </a:p>
        </p:txBody>
      </p:sp>
      <p:sp>
        <p:nvSpPr>
          <p:cNvPr id="23" name="TextBox 22"/>
          <p:cNvSpPr txBox="1"/>
          <p:nvPr/>
        </p:nvSpPr>
        <p:spPr>
          <a:xfrm>
            <a:off x="4937760" y="3908145"/>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investigation</a:t>
            </a:r>
          </a:p>
        </p:txBody>
      </p:sp>
      <p:sp>
        <p:nvSpPr>
          <p:cNvPr id="24" name="TextBox 23"/>
          <p:cNvSpPr txBox="1"/>
          <p:nvPr/>
        </p:nvSpPr>
        <p:spPr>
          <a:xfrm>
            <a:off x="4937760" y="4145889"/>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Start or open a pre-run investigation; check source coverage.</a:t>
            </a:r>
          </a:p>
        </p:txBody>
      </p:sp>
      <p:sp>
        <p:nvSpPr>
          <p:cNvPr id="25" name="Rounded Rectangle 24"/>
          <p:cNvSpPr/>
          <p:nvPr/>
        </p:nvSpPr>
        <p:spPr>
          <a:xfrm>
            <a:off x="4096512" y="4423867"/>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5335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02:00</a:t>
            </a:r>
          </a:p>
        </p:txBody>
      </p:sp>
      <p:sp>
        <p:nvSpPr>
          <p:cNvPr id="27" name="TextBox 26"/>
          <p:cNvSpPr txBox="1"/>
          <p:nvPr/>
        </p:nvSpPr>
        <p:spPr>
          <a:xfrm>
            <a:off x="4937760" y="44970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Challenge the leading hypothesis</a:t>
            </a:r>
          </a:p>
        </p:txBody>
      </p:sp>
      <p:sp>
        <p:nvSpPr>
          <p:cNvPr id="28" name="TextBox 27"/>
          <p:cNvSpPr txBox="1"/>
          <p:nvPr/>
        </p:nvSpPr>
        <p:spPr>
          <a:xfrm>
            <a:off x="4937760" y="4734763"/>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Compare two source observations and inspect a competing explanation.</a:t>
            </a:r>
          </a:p>
        </p:txBody>
      </p:sp>
      <p:sp>
        <p:nvSpPr>
          <p:cNvPr id="29" name="Rounded Rectangle 28"/>
          <p:cNvSpPr/>
          <p:nvPr/>
        </p:nvSpPr>
        <p:spPr>
          <a:xfrm>
            <a:off x="4096512" y="501274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2246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01:30</a:t>
            </a:r>
          </a:p>
        </p:txBody>
      </p:sp>
      <p:sp>
        <p:nvSpPr>
          <p:cNvPr id="31" name="TextBox 30"/>
          <p:cNvSpPr txBox="1"/>
          <p:nvPr/>
        </p:nvSpPr>
        <p:spPr>
          <a:xfrm>
            <a:off x="4937760" y="508589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mitigation</a:t>
            </a:r>
          </a:p>
        </p:txBody>
      </p:sp>
      <p:sp>
        <p:nvSpPr>
          <p:cNvPr id="32" name="TextBox 31"/>
          <p:cNvSpPr txBox="1"/>
          <p:nvPr/>
        </p:nvSpPr>
        <p:spPr>
          <a:xfrm>
            <a:off x="4937760" y="5323636"/>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Check blast radius, rollback assumptions and missing evidence.</a:t>
            </a:r>
          </a:p>
        </p:txBody>
      </p:sp>
      <p:sp>
        <p:nvSpPr>
          <p:cNvPr id="33" name="Rounded Rectangle 32"/>
          <p:cNvSpPr/>
          <p:nvPr/>
        </p:nvSpPr>
        <p:spPr>
          <a:xfrm>
            <a:off x="4096512" y="5601614"/>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11342"/>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35" name="TextBox 34"/>
          <p:cNvSpPr txBox="1"/>
          <p:nvPr/>
        </p:nvSpPr>
        <p:spPr>
          <a:xfrm>
            <a:off x="4937760" y="5674766"/>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Record the handoff</a:t>
            </a:r>
          </a:p>
        </p:txBody>
      </p:sp>
      <p:sp>
        <p:nvSpPr>
          <p:cNvPr id="36" name="TextBox 35"/>
          <p:cNvSpPr txBox="1"/>
          <p:nvPr/>
        </p:nvSpPr>
        <p:spPr>
          <a:xfrm>
            <a:off x="4937760" y="5912510"/>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Capture owner, evidence links, next action and verification 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Answer the daily SRE questions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inspect one cited alarm or resource before sharing the summary.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14:00–15:15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bounded question and time interval</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Resource inventory and operational context</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Query health, alarms and deployment history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Summarize investigations and create report artifacts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Health summary with source context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reusable incident or service-report artifact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Convert repeat incidents into prevention 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Acceptance: an owner and a measurable recurrence or detection check accompany each accepted item.</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15:15–16:30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Recent investigations and recurring symptoms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Team priorities and existing improvement backlog</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Evaluate recurring patterns on demand or on a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Categorize observability, infrastructure, governance and code opportunities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Prioritized improvement recommendations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Implementation context for an owned engineering task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Configure a recurring operational assistant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the selected tools—not the prompt alone—bound access and side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16:30–17:45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system prompt, selected tools and skills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on-demand trigger or configured schedule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a bounded multi-step operational task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Record tool use and outputs for each invocation</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Daily health report or configuration-review artifact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Traceable run history for operator inspection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recommendation is not permission to act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Directed actions have their own enablement, role, tool and approval path.</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17:45–19:45</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ANALYSIS</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Propose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Agent identifies an operation, target and risk.</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CONFIGURATION</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Enable + scope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Agent Space, elevated role and applicable tool controls.</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DECISION</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Approve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Operator approves this operation at execution time.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TEAM CHECK</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Verify</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audit evidence and the resulting service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Release preview has two different execution paths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Managed code verification is not the same as active testing against a deployed application.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19:45–21:45</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 · CODE</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Readiness review</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Connected PR/MR or on-demand change → standards, dependencies and access-control review → findings plus optional build/test evidence.</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 · RUNNING TARGET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Active release testing</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Configured staging URL and test intent → browser or REST exploration → failures, reproduction steps and suggested fixes.</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550" b="1">
                <a:solidFill>
                  <a:srgbClr val="FFFFFF"/>
                </a:solidFill>
                <a:latin typeface="Arial"/>
              </a:defRPr>
            </a:pPr>
            <a:r>
              <a:t>Safety distinction: testing can mutate application data even when infrastructure actions are not enabled.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2 · review a risky release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proposed retry-policy and database-timeout change must produce inspectable release evidence.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05:00 allocated  |  21:45–26:45</a:t>
            </a:r>
          </a:p>
        </p:txBody>
      </p:sp>
      <p:sp>
        <p:nvSpPr>
          <p:cNvPr id="9" name="Rounded Rectangle 8"/>
          <p:cNvSpPr/>
          <p:nvPr/>
        </p:nvSpPr>
        <p:spPr>
          <a:xfrm>
            <a:off x="502920" y="2295144"/>
            <a:ext cx="11183112" cy="795528"/>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50592"/>
            <a:ext cx="10789920" cy="475488"/>
          </a:xfrm>
          <a:prstGeom prst="rect">
            <a:avLst/>
          </a:prstGeom>
          <a:noFill/>
        </p:spPr>
        <p:txBody>
          <a:bodyPr wrap="square" lIns="0" rIns="0" tIns="0" bIns="0" anchor="t">
            <a:spAutoFit/>
          </a:bodyPr>
          <a:lstStyle/>
          <a:p>
            <a:pPr>
              <a:lnSpc>
                <a:spcPct val="112000"/>
              </a:lnSpc>
              <a:spcAft>
                <a:spcPts val="300"/>
              </a:spcAft>
              <a:defRPr sz="1550" b="0">
                <a:solidFill>
                  <a:srgbClr val="FFFFFF"/>
                </a:solidFill>
                <a:latin typeface="Arial"/>
              </a:defRPr>
            </a:pPr>
            <a:r>
              <a:t>Review this change for dependency impact, retry amplification, database saturation and rollback viability. Cite affected code and verification evidence. Return risks and missing checks. Do not deploy or promote.</a:t>
            </a:r>
          </a:p>
        </p:txBody>
      </p:sp>
      <p:sp>
        <p:nvSpPr>
          <p:cNvPr id="11" name="TextBox 10"/>
          <p:cNvSpPr txBox="1"/>
          <p:nvPr/>
        </p:nvSpPr>
        <p:spPr>
          <a:xfrm>
            <a:off x="502920" y="326440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PREFLIGHT</a:t>
            </a:r>
          </a:p>
        </p:txBody>
      </p:sp>
      <p:sp>
        <p:nvSpPr>
          <p:cNvPr id="12" name="TextBox 11"/>
          <p:cNvSpPr txBox="1"/>
          <p:nvPr/>
        </p:nvSpPr>
        <p:spPr>
          <a:xfrm>
            <a:off x="502920" y="3520439"/>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connected test repository and a pre-completed readiness review; do not point a test profile at production.</a:t>
            </a:r>
          </a:p>
        </p:txBody>
      </p:sp>
      <p:sp>
        <p:nvSpPr>
          <p:cNvPr id="13" name="TextBox 12"/>
          <p:cNvSpPr txBox="1"/>
          <p:nvPr/>
        </p:nvSpPr>
        <p:spPr>
          <a:xfrm>
            <a:off x="502920" y="422452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SUCCESS</a:t>
            </a:r>
          </a:p>
        </p:txBody>
      </p:sp>
      <p:sp>
        <p:nvSpPr>
          <p:cNvPr id="14" name="TextBox 13"/>
          <p:cNvSpPr txBox="1"/>
          <p:nvPr/>
        </p:nvSpPr>
        <p:spPr>
          <a:xfrm>
            <a:off x="502920" y="448056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Findings are tied to the exact change, and unexecuted checks are visible.</a:t>
            </a:r>
          </a:p>
        </p:txBody>
      </p:sp>
      <p:sp>
        <p:nvSpPr>
          <p:cNvPr id="15" name="TextBox 14"/>
          <p:cNvSpPr txBox="1"/>
          <p:nvPr/>
        </p:nvSpPr>
        <p:spPr>
          <a:xfrm>
            <a:off x="502920" y="518464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FALLBACK</a:t>
            </a:r>
          </a:p>
        </p:txBody>
      </p:sp>
      <p:sp>
        <p:nvSpPr>
          <p:cNvPr id="16" name="TextBox 15"/>
          <p:cNvSpPr txBox="1"/>
          <p:nvPr/>
        </p:nvSpPr>
        <p:spPr>
          <a:xfrm>
            <a:off x="502920" y="544068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prepared review and code diff if the preview or verification environment is unavailable.</a:t>
            </a:r>
          </a:p>
        </p:txBody>
      </p:sp>
      <p:sp>
        <p:nvSpPr>
          <p:cNvPr id="17" name="Rounded Rectangle 16"/>
          <p:cNvSpPr/>
          <p:nvPr/>
        </p:nvSpPr>
        <p:spPr>
          <a:xfrm>
            <a:off x="4096512" y="324612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35584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00:45</a:t>
            </a:r>
          </a:p>
        </p:txBody>
      </p:sp>
      <p:sp>
        <p:nvSpPr>
          <p:cNvPr id="19" name="TextBox 18"/>
          <p:cNvSpPr txBox="1"/>
          <p:nvPr/>
        </p:nvSpPr>
        <p:spPr>
          <a:xfrm>
            <a:off x="4937760" y="331927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Select the change</a:t>
            </a:r>
          </a:p>
        </p:txBody>
      </p:sp>
      <p:sp>
        <p:nvSpPr>
          <p:cNvPr id="20" name="TextBox 19"/>
          <p:cNvSpPr txBox="1"/>
          <p:nvPr/>
        </p:nvSpPr>
        <p:spPr>
          <a:xfrm>
            <a:off x="4937760" y="3557015"/>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Show the PR/MR and its exact commit.</a:t>
            </a:r>
          </a:p>
        </p:txBody>
      </p:sp>
      <p:sp>
        <p:nvSpPr>
          <p:cNvPr id="21" name="Rounded Rectangle 20"/>
          <p:cNvSpPr/>
          <p:nvPr/>
        </p:nvSpPr>
        <p:spPr>
          <a:xfrm>
            <a:off x="4096512" y="3834993"/>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3944721"/>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01:15</a:t>
            </a:r>
          </a:p>
        </p:txBody>
      </p:sp>
      <p:sp>
        <p:nvSpPr>
          <p:cNvPr id="23" name="TextBox 22"/>
          <p:cNvSpPr txBox="1"/>
          <p:nvPr/>
        </p:nvSpPr>
        <p:spPr>
          <a:xfrm>
            <a:off x="4937760" y="3908145"/>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Start or open review</a:t>
            </a:r>
          </a:p>
        </p:txBody>
      </p:sp>
      <p:sp>
        <p:nvSpPr>
          <p:cNvPr id="24" name="TextBox 23"/>
          <p:cNvSpPr txBox="1"/>
          <p:nvPr/>
        </p:nvSpPr>
        <p:spPr>
          <a:xfrm>
            <a:off x="4937760" y="4145889"/>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Confirm preview Region and enabled review/verification settings.</a:t>
            </a:r>
          </a:p>
        </p:txBody>
      </p:sp>
      <p:sp>
        <p:nvSpPr>
          <p:cNvPr id="25" name="Rounded Rectangle 24"/>
          <p:cNvSpPr/>
          <p:nvPr/>
        </p:nvSpPr>
        <p:spPr>
          <a:xfrm>
            <a:off x="4096512" y="4423867"/>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5335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01:15</a:t>
            </a:r>
          </a:p>
        </p:txBody>
      </p:sp>
      <p:sp>
        <p:nvSpPr>
          <p:cNvPr id="27" name="TextBox 26"/>
          <p:cNvSpPr txBox="1"/>
          <p:nvPr/>
        </p:nvSpPr>
        <p:spPr>
          <a:xfrm>
            <a:off x="4937760" y="44970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risk evidence</a:t>
            </a:r>
          </a:p>
        </p:txBody>
      </p:sp>
      <p:sp>
        <p:nvSpPr>
          <p:cNvPr id="28" name="TextBox 27"/>
          <p:cNvSpPr txBox="1"/>
          <p:nvPr/>
        </p:nvSpPr>
        <p:spPr>
          <a:xfrm>
            <a:off x="4937760" y="4734763"/>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Trace a finding to changed code and a dependency.</a:t>
            </a:r>
          </a:p>
        </p:txBody>
      </p:sp>
      <p:sp>
        <p:nvSpPr>
          <p:cNvPr id="29" name="Rounded Rectangle 28"/>
          <p:cNvSpPr/>
          <p:nvPr/>
        </p:nvSpPr>
        <p:spPr>
          <a:xfrm>
            <a:off x="4096512" y="501274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2246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31" name="TextBox 30"/>
          <p:cNvSpPr txBox="1"/>
          <p:nvPr/>
        </p:nvSpPr>
        <p:spPr>
          <a:xfrm>
            <a:off x="4937760" y="508589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Read verification</a:t>
            </a:r>
          </a:p>
        </p:txBody>
      </p:sp>
      <p:sp>
        <p:nvSpPr>
          <p:cNvPr id="32" name="TextBox 31"/>
          <p:cNvSpPr txBox="1"/>
          <p:nvPr/>
        </p:nvSpPr>
        <p:spPr>
          <a:xfrm>
            <a:off x="4937760" y="5323636"/>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Separate a passed check, an unrun check and a failure.</a:t>
            </a:r>
          </a:p>
        </p:txBody>
      </p:sp>
      <p:sp>
        <p:nvSpPr>
          <p:cNvPr id="33" name="Rounded Rectangle 32"/>
          <p:cNvSpPr/>
          <p:nvPr/>
        </p:nvSpPr>
        <p:spPr>
          <a:xfrm>
            <a:off x="4096512" y="5601614"/>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11342"/>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00:45</a:t>
            </a:r>
          </a:p>
        </p:txBody>
      </p:sp>
      <p:sp>
        <p:nvSpPr>
          <p:cNvPr id="35" name="TextBox 34"/>
          <p:cNvSpPr txBox="1"/>
          <p:nvPr/>
        </p:nvSpPr>
        <p:spPr>
          <a:xfrm>
            <a:off x="4937760" y="5674766"/>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Decide the next step</a:t>
            </a:r>
          </a:p>
        </p:txBody>
      </p:sp>
      <p:sp>
        <p:nvSpPr>
          <p:cNvPr id="36" name="TextBox 35"/>
          <p:cNvSpPr txBox="1"/>
          <p:nvPr/>
        </p:nvSpPr>
        <p:spPr>
          <a:xfrm>
            <a:off x="4937760" y="5912510"/>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Release owner accepts, requests work or blocks promotion.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Bring operational context into the coding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client connectivity does not widen the Agent Space’s permissions.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26:45–28:00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authorized Agent Space and client identity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concrete incident or operational question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 an MCP-capable IDE or CLI to the remote server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Retrieve operational context through the configured interface</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Investigation context next to repository work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reviewable task or change proposal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Separate companion coding work from DevOps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Kiro supports code work; the team still owns CI, IaC and operational correctness.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28:00–29:30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Daily task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acceptance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Understand / change code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Cited code path; small patch</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Inspect scope and runtime behavior</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Generate tests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Test source and execution result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Check meaningful failure cases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Draft IaC / diagnose CI</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Candidate config or diagnosis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Run provider validation and same CI check</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Write operational docs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Runbook or README draft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Rehearse safely; owner signs off</a:t>
                      </a:r>
                    </a:p>
                  </a:txBody>
                  <a:tcPr marL="128016" marR="128016" marT="82296" marB="54864">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Keep Amazon Q Developer in its own lane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Existing guidance, review and transformation workflows are companion services—not DevOps Agent features.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29:30–31:00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Companion 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Documented behavior</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Important qualification</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AWS questions / IDE reviews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Guidance and code findings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 actual source/language support</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GitHub review / feature work</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 or issue-to-PR assistance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Preview; use /q review after later commits</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Java / .NET transformation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Supported upgrade or porting flow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Validate build prerequisites and resulting code</a:t>
                      </a:r>
                    </a:p>
                  </a:txBody>
                  <a:tcPr marL="128016" marR="128016" marT="82296" marB="54864">
                    <a:solidFill>
                      <a:srgbClr val="F1F5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safe starting configuration is intentionally small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Prove the read path before expanding automated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31:00–32:30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SCOPE</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Boundary</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One service, owned accounts and named operators.</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READS</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Evidence</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Known logs, metrics, deployments and repository links.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WRITES</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Effects</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Read baseline; explicit action approval when enabled.</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MATURITY</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Availability</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Production features versus us-east-1 release preview.</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OPERATIONS</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Recovery</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Rollback assumptions and a stop owner.</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QUALITY</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Source checks before escalation or sharing.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Measure accepted engineering outcomes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Pilot success is less effort per verified outcome—not more generated text.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32:30–34:00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Pilot 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What the team does</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Decision evidence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Week 1 · connect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Validate access and a historical incident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Source coverage; baseline effort</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Week 2 · investigate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Repeat bounded incident questions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Verified hypotheses; correction rate</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Week 3 · prevent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 one improvement and one report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test and reviewer effort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Week 4 · decide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Repeat tasks; inspect risk and cost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Expand, revise or stop</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Operate an evidence accelerator—not an authority shortcut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Investigate with context. Gate the effect. Close with independent verification.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34:00–35:00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Start</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One service and a reproducible incident snapshot.</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Keep</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Existing release, approval and incident ownership.</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Require</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Source-backed conclusions and an explicit next 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3"/>
              </a:rPr>
              <a:t>D01  About AWS DevOps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4"/>
              </a:rPr>
              <a:t>D02  Production operations</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5"/>
              </a:rPr>
              <a:t>D03  Autonomous incident response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6"/>
              </a:rPr>
              <a:t>D04  Proactive incident prevention</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7"/>
              </a:rPr>
              <a:t>D05  On Demand DevOps Tasks</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8"/>
              </a:rPr>
              <a:t>D06  Custom Agents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DevOps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