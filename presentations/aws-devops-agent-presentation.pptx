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00:00–01:00; allocated 01:00.</a:t>
            </a:r>
          </a:p>
          <a:p/>
          <a:p>
            <a:r>
              <a:t>Open with the operational job, not a claim of full autonomy. A checkout service is failing after a deployment. We want a coherent investigation, a defensible mitigation decision, and a follow-up item that prevents recurrence. Production operations are generally available; release-management features are preview. The examples in this deck are proposed exercises. The demo slots include the operator walkthrough and a prepared-result fallback, not a promise that an agent run completes within the allotted minutes.</a:t>
            </a:r>
          </a:p>
          <a:p/>
          <a:p>
            <a:r>
              <a:t>Official evidence:</a:t>
            </a:r>
          </a:p>
          <a:p>
            <a:r>
              <a:t>D01 — About AWS DevOps Agent: https://docs.aws.amazon.com/devopsagent/latest/userguide/about-aws-devops-agent.html</a:t>
            </a:r>
          </a:p>
          <a:p>
            <a:r>
              <a:t>D14 — AWS DevOps Agent is now generally available: https://aws.amazon.com/about-aws/whats-new/2026/03/aws-devops-agent-generally-available/</a:t>
            </a:r>
          </a:p>
          <a:p>
            <a:r>
              <a:t>D15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01:00–02:30; allocated 01:30.</a:t>
            </a:r>
          </a:p>
          <a:p/>
          <a:p>
            <a:r>
              <a:t>Use the checkout incident as the thread through this presentation. Supply an incident window and the deployment identity before asking for a cause. A production symptom, an agent hypothesis, a mitigation plan, and a verified recovery are different artifacts. The example does not assert that a real incident occurred. The on-call engineer remains responsible for triage and for comparing conclusions with the source systems.</a:t>
            </a:r>
          </a:p>
          <a:p/>
          <a:p>
            <a:r>
              <a:t>Official evidence:</a:t>
            </a:r>
          </a:p>
          <a:p>
            <a:r>
              <a:t>D02 — Production operations: https://docs.aws.amazon.com/devopsagent/latest/userguide/working-with-devops-agent-production-operations-index.html</a:t>
            </a:r>
          </a:p>
          <a:p>
            <a:r>
              <a:t>D03 — Autonomous incident response: https://docs.aws.amazon.com/devopsagent/latest/userguide/production-operations-autonomous-incident-response.html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02:30–04:00; allocated 01:30.</a:t>
            </a:r>
          </a:p>
          <a:p/>
          <a:p>
            <a:r>
              <a:t>The capability map separates incident work, on-demand operational questions, prevention, configured recurring tasks, and release validation. They share application context but differ in invocation and output. A daily summary is a custom-agent configuration, not an automatically provisioned SRE dashboard. Release management is a separate preview track and should not inherit the availability label of production operations.</a:t>
            </a:r>
          </a:p>
          <a:p/>
          <a:p>
            <a:r>
              <a:t>Official evidence:</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D05 — On Demand DevOps Tasks: https://docs.aws.amazon.com/devopsagent/latest/userguide/working-with-devops-agent-on-demand-devops-tasks.html</a:t>
            </a:r>
          </a:p>
          <a:p>
            <a:r>
              <a:t>D06 — Custom Agents: https://docs.aws.amazon.com/devopsagent/latest/userguide/working-with-devops-agent-custom-agents-index.html</a:t>
            </a:r>
          </a:p>
          <a:p>
            <a:r>
              <a:t>D09 — Release management: https://docs.aws.amazon.com/devopsagent/latest/userguide/working-with-devops-agent-release-management-index.html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04:00–05:30; allocated 01:30.</a:t>
            </a:r>
          </a:p>
          <a:p/>
          <a:p>
            <a:r>
              <a:t>An Agent Space groups the context and integrations used for operational work. It is not an authorization boundary merely because it has a service name. IAM roles and integration permissions establish actual access. For the initial pilot, connect one service and inspect whether its deployment events, logs, and metrics can be read. Do not grant broad writes to compensate for missing read evidence. Private integrations need an explicit network connection; they are not reachable simply because a repository or tool is named in chat.</a:t>
            </a:r>
          </a:p>
          <a:p/>
          <a:p>
            <a:r>
              <a:t>Official evidence:</a:t>
            </a:r>
          </a:p>
          <a:p>
            <a:r>
              <a:t>D01 — About AWS DevOps Agent: https://docs.aws.amazon.com/devopsagent/latest/userguide/about-aws-devops-agent.html</a:t>
            </a:r>
          </a:p>
          <a:p>
            <a:r>
              <a:t>D02 — Production operations: https://docs.aws.amazon.com/devopsagent/latest/userguide/working-with-devops-agent-production-operations-index.html</a:t>
            </a:r>
          </a:p>
          <a:p>
            <a:r>
              <a:t>D34 — Limiting Agent Access in an AWS Account: https://docs.aws.amazon.com/devopsagent/latest/userguide/aws-devops-agent-security-limiting-agent-access-in-an-aws-account.html</a:t>
            </a:r>
          </a:p>
          <a:p>
            <a:r>
              <a:t>D39 — Private connections for integrations: https://docs.aws.amazon.com/devopsagent/latest/userguide/configuring-integrations-and-knowledge-connecting-to-privately-hosted-tools.html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05:30–07:00; allocated 01:30.</a:t>
            </a:r>
          </a:p>
          <a:p/>
          <a:p>
            <a:r>
              <a:t>The agent can start from a manual request or a configured external trigger. As evidence arrives, the operator can steer the investigation toward a hypothesis or data source. That is useful when a dashboard and a deployment suggest different explanations. Ask for the evidence behind a conclusion and for alternatives that remain unresolved. A confident root-cause statement is not sufficient to close an incident.</a:t>
            </a:r>
          </a:p>
          <a:p/>
          <a:p>
            <a:r>
              <a:t>Official evidence:</a:t>
            </a:r>
          </a:p>
          <a:p>
            <a:r>
              <a:t>D03 — Autonomous incident response: https://docs.aws.amazon.com/devopsagent/latest/userguide/production-operations-autonomous-incident-response.html</a:t>
            </a:r>
          </a:p>
          <a:p>
            <a:r>
              <a:t>D05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07:00–14:00; allocated 07:00.</a:t>
            </a:r>
          </a:p>
          <a:p/>
          <a:p>
            <a:r>
              <a:t>This seven-minute slot demonstrates the investigation workflow and the engineer’s judgment. It does not measure incident-response speed. Start a fresh request only if the environment is ready. The completed-run fallback must contain genuine, sanitized evidence from an authorized rehearsal; a schematic illustration must be labeled as such. No production mutation is required for this demo.</a:t>
            </a:r>
          </a:p>
          <a:p/>
          <a:p>
            <a:r>
              <a:t>Official evidence:</a:t>
            </a:r>
          </a:p>
          <a:p>
            <a:r>
              <a:t>D03 — Autonomous incident response: https://docs.aws.amazon.com/devopsagent/latest/userguide/production-operations-autonomous-incident-response.html</a:t>
            </a:r>
          </a:p>
          <a:p>
            <a:r>
              <a:t>D05 — On Demand DevOps Tasks: https://docs.aws.amazon.com/devopsagent/latest/userguide/working-with-devops-agent-on-demand-devops-tasks.html</a:t>
            </a:r>
          </a:p>
          <a:p/>
          <a:p>
            <a:r>
              <a:t>Preflight: Prepare a sanitized incident snapshot, read access and a completed investigation before presenting.</a:t>
            </a:r>
          </a:p>
          <a:p/>
          <a:p>
            <a:r>
              <a:t>Prompt: Investigate the checkout 5xx increase in the supplied UTC window after the deployment. Cite telemetry and the deployed diff. Separate observed facts, competing hypotheses, and missing data. Propose a mitigation; do not change resources.</a:t>
            </a:r>
          </a:p>
          <a:p/>
          <a:p>
            <a:r>
              <a:t>Runbook:</a:t>
            </a:r>
          </a:p>
          <a:p>
            <a:r>
              <a:t>01:00 — Confirm scope: Open the Agent Space, incident window and deployment reference.</a:t>
            </a:r>
          </a:p>
          <a:p>
            <a:r>
              <a:t>01:30 — Inspect the investigation: Start or open a pre-run investigation; check source coverage.</a:t>
            </a:r>
          </a:p>
          <a:p>
            <a:r>
              <a:t>02:00 — Challenge the leading hypothesis: Compare two source observations and inspect a competing explanation.</a:t>
            </a:r>
          </a:p>
          <a:p>
            <a:r>
              <a:t>01:30 — Review mitigation: Check blast radius, rollback assumptions and missing evidence.</a:t>
            </a:r>
          </a:p>
          <a:p>
            <a:r>
              <a:t>01:00 — Record the handoff: Capture owner, evidence links, next action and verification check.</a:t>
            </a:r>
          </a:p>
          <a:p/>
          <a:p>
            <a:r>
              <a:t>Success: One source-backed hypothesis and one reviewable next action—not an asserted diagnosis.</a:t>
            </a:r>
          </a:p>
          <a:p/>
          <a:p>
            <a:r>
              <a:t>Fallback: After 60 seconds without usable output, use the completed run and inspect its evidence; do not wait for a fresh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14:00–15:15; allocated 01:15.</a:t>
            </a:r>
          </a:p>
          <a:p/>
          <a:p>
            <a:r>
              <a:t>Not every operational task is an incident. The on-demand interface can answer focused questions about service health, resource configuration, recent alarms and investigation history. Ask for a specific period rather than “is everything healthy.” The value is an evidence-linked summary that reduces console navigation. Where a source is unavailable, the answer should state the gap rather than imply coverage.</a:t>
            </a:r>
          </a:p>
          <a:p/>
          <a:p>
            <a:r>
              <a:t>Official evidence:</a:t>
            </a:r>
          </a:p>
          <a:p>
            <a:r>
              <a:t>D05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15:15–16:30; allocated 01:15.</a:t>
            </a:r>
          </a:p>
          <a:p/>
          <a:p>
            <a:r>
              <a:t>Prevention analyzes investigation history and produces recommendations. It is not a guarantee that failures will disappear. Keep recommendations separate from accepted engineering work: a team must assess relevance, assign ownership and decide how to validate an improvement. Use a known repeat incident to show how the suggested change would make detection earlier or the service more resilient.</a:t>
            </a:r>
          </a:p>
          <a:p/>
          <a:p>
            <a:r>
              <a:t>Official evidence:</a:t>
            </a:r>
          </a:p>
          <a:p>
            <a:r>
              <a:t>D04 — Proactive incident prevention: https://docs.aws.amazon.com/devopsagent/latest/userguide/production-operations-proactive-incident-prevention.html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16:30–17:45; allocated 01:15.</a:t>
            </a:r>
          </a:p>
          <a:p/>
          <a:p>
            <a:r>
              <a:t>A custom agent is a configured workflow. For example, a team can define a daily summary that reads alarms and recent investigations and returns an actionable report. Select only the tools needed for that job. A prompt that says “read only” does not neutralize a write-capable integration. Review the output and invocation record before enabling a recurring schedule.</a:t>
            </a:r>
          </a:p>
          <a:p/>
          <a:p>
            <a:r>
              <a:t>Official evidence:</a:t>
            </a:r>
          </a:p>
          <a:p>
            <a:r>
              <a:t>D06 — Custom Agents: 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17:45–19:45; allocated 02:00.</a:t>
            </a:r>
          </a:p>
          <a:p/>
          <a:p>
            <a:r>
              <a:t>Keep the read-oriented investigation path separate from directed actions. Directed actions are disabled by default. Enabling them is only one layer: the relevant account role or third-party tool configuration must also permit the operation, and the operator must approve the concrete action. Review the target, parameters, blast radius and rollback plan. The release-testing write path is a different mechanism; do not assume this approval model protects application endpoints exercised by a test.</a:t>
            </a:r>
          </a:p>
          <a:p/>
          <a:p>
            <a:r>
              <a:t>Official evidence:</a:t>
            </a:r>
          </a:p>
          <a:p>
            <a:r>
              <a:t>D13 — Working with directed actions: https://docs.aws.amazon.com/devopsagent/latest/userguide/working-with-devops-agent-working-with-directed-actions.html</a:t>
            </a:r>
          </a:p>
          <a:p>
            <a:r>
              <a:t>D34 — Limiting Agent Access in an AWS Account: https://docs.aws.amazon.com/devopsagent/latest/userguide/aws-devops-agent-security-limiting-agent-access-in-an-aws-account.html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19:45–21:45; allocated 02:00.</a:t>
            </a:r>
          </a:p>
          <a:p/>
          <a:p>
            <a:r>
              <a:t>Readiness review evaluates a change and can build and test it in a managed verification environment. Active release testing sends traffic to a running application and may perform POST, PUT and DELETE requests. Those operations can trigger real business effects. Use a disposable staging deployment, test identities and disabled external side effects. Both features remain a preview track in the documented Region. A positive review is evidence for the release owner, not a production deployment authorization.</a:t>
            </a:r>
          </a:p>
          <a:p/>
          <a:p>
            <a:r>
              <a:t>Official evidence:</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D11 — Release testing: https://docs.aws.amazon.com/devopsagent/latest/userguide/release-management-release-testing.html</a:t>
            </a:r>
          </a:p>
          <a:p>
            <a:r>
              <a:t>D15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21:45–26:45; allocated 05:00.</a:t>
            </a:r>
          </a:p>
          <a:p/>
          <a:p>
            <a:r>
              <a:t>This five-minute walkthrough demonstrates interpretation rather than a fresh end-to-end run. The reviewed revision must match the displayed diff. Build failures caused by missing private dependencies are setup failures, not proof that the proposed application change is unsafe. Conversely, a skipped verification step is not a pass. Keep the production release decision with the existing owner.</a:t>
            </a:r>
          </a:p>
          <a:p/>
          <a:p>
            <a:r>
              <a:t>Official evidence:</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D15 — Supported Regions: https://docs.aws.amazon.com/devopsagent/latest/userguide/about-aws-devops-agent-supported-regions.html</a:t>
            </a:r>
          </a:p>
          <a:p/>
          <a:p>
            <a:r>
              <a:t>Preflight: Use a connected test repository and a pre-completed readiness review; do not point a test profile at production.</a:t>
            </a:r>
          </a:p>
          <a:p/>
          <a:p>
            <a:r>
              <a:t>Prompt: Review this change for dependency impact, retry amplification, database saturation and rollback viability. Cite affected code and verification evidence. Return risks and missing checks. Do not deploy or promote.</a:t>
            </a:r>
          </a:p>
          <a:p/>
          <a:p>
            <a:r>
              <a:t>Runbook:</a:t>
            </a:r>
          </a:p>
          <a:p>
            <a:r>
              <a:t>00:45 — Select the change: Show the PR/MR and its exact commit.</a:t>
            </a:r>
          </a:p>
          <a:p>
            <a:r>
              <a:t>01:15 — Start or open review: Confirm preview Region and enabled review/verification settings.</a:t>
            </a:r>
          </a:p>
          <a:p>
            <a:r>
              <a:t>01:15 — Inspect risk evidence: Trace a finding to changed code and a dependency.</a:t>
            </a:r>
          </a:p>
          <a:p>
            <a:r>
              <a:t>01:00 — Read verification: Separate a passed check, an unrun check and a failure.</a:t>
            </a:r>
          </a:p>
          <a:p>
            <a:r>
              <a:t>00:45 — Decide the next step: Release owner accepts, requests work or blocks promotion.</a:t>
            </a:r>
          </a:p>
          <a:p/>
          <a:p>
            <a:r>
              <a:t>Success: Findings are tied to the exact change, and unexecuted checks are visible.</a:t>
            </a:r>
          </a:p>
          <a:p/>
          <a:p>
            <a:r>
              <a:t>Fallback: Use the prepared review and code diff if the preview or verification environment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26:45–28:00; allocated 01:15.</a:t>
            </a:r>
          </a:p>
          <a:p/>
          <a:p>
            <a:r>
              <a:t>The documented remote MCP interface brings operational questions into a development environment. This can reduce the copy-and-paste handoff between an on-call engineer and a developer. It does not mean every AWS frontier agent shares one session or identity. Authenticate the client, scope access and preserve links to the original investigation. A2A and other access methods are integration building blocks, not a turnkey four-product orchestrator.</a:t>
            </a:r>
          </a:p>
          <a:p/>
          <a:p>
            <a:r>
              <a:t>Official evidence:</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28:00–29:30; allocated 01:30.</a:t>
            </a:r>
          </a:p>
          <a:p/>
          <a:p>
            <a:r>
              <a:t>This is a proposed team procedure using the documented investigation, mitigation and prevention outputs. It is not a native implementation or deployment feature. The receiving engineers decide whether a change is justified and use their existing repository, test and release controls. Preserve the distinction between an observed symptom, a hypothesis, a recommended action and a verified result.</a:t>
            </a:r>
          </a:p>
          <a:p/>
          <a:p>
            <a:r>
              <a:t>Official evidence:</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D13 — Working with directed actions: https://docs.aws.amazon.com/devopsagent/latest/userguide/working-with-devops-agent-working-with-directed-actions.html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29:30–31:00; allocated 01:30.</a:t>
            </a:r>
          </a:p>
          <a:p/>
          <a:p>
            <a:r>
              <a:t>Retain a small closure record with the deployed revision, verification window, observed result and owner. These are proposed team acceptance criteria, not guaranteed product-generated fields. When evidence is missing or the symptom persists, keep the incident open and continue the investigation. The walkthrough does not demonstrate an automated code-change workflow.</a:t>
            </a:r>
          </a:p>
          <a:p/>
          <a:p>
            <a:r>
              <a:t>Official evidence:</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31:00–32:30; allocated 01:30.</a:t>
            </a:r>
          </a:p>
          <a:p/>
          <a:p>
            <a:r>
              <a:t>Treat deployment readiness as a team decision. Record the feature’s availability, Agent Space Region, data-source access, mutation paths and stop responsibility. For the first service, leave directed actions off unless a separately reviewed experiment requires them. Put release-preview work in a different pilot lane. The documentation specifies behavior; this checklist is the recommended operating design for the team.</a:t>
            </a:r>
          </a:p>
          <a:p/>
          <a:p>
            <a:r>
              <a:t>Official evidence:</a:t>
            </a:r>
          </a:p>
          <a:p>
            <a:r>
              <a:t>D13 — Working with directed actions: https://docs.aws.amazon.com/devopsagent/latest/userguide/working-with-devops-agent-working-with-directed-actions.html</a:t>
            </a:r>
          </a:p>
          <a:p>
            <a:r>
              <a:t>D15 — Supported Regions: https://docs.aws.amazon.com/devopsagent/latest/userguide/about-aws-devops-agent-supported-regions.html</a:t>
            </a:r>
          </a:p>
          <a:p>
            <a:r>
              <a:t>D34 — Limiting Agent Access in an AWS Account: https://docs.aws.amazon.com/devopsagent/latest/userguide/aws-devops-agent-security-limiting-agent-access-in-an-aws-account.html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32:30–34:00; allocated 01:30.</a:t>
            </a:r>
          </a:p>
          <a:p/>
          <a:p>
            <a:r>
              <a:t>The scorecard is a proposal, not an AWS performance claim. Use the same small set of representative tasks before and during the pilot. Measure how much time an engineer spends reaching an evidence-supported hypothesis, how often conclusions need correction, and whether recommended prevention work is accepted. Count service and integration consumption as well as human review effort. Do not infer production MTTR improvement from a staged demo.</a:t>
            </a:r>
          </a:p>
          <a:p/>
          <a:p>
            <a:r>
              <a:t>Official evidence:</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D06 — Custom Agents: 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34:00–35:00; allocated 01:00.</a:t>
            </a:r>
          </a:p>
          <a:p/>
          <a:p>
            <a:r>
              <a:t>Close by asking the team to choose one read-heavy operational workflow and its owner. The agent can help connect evidence and produce useful recommendations, but the engineer remains responsible for the decision and its consequences. Release preview, directed actions and active tests should each be evaluated on their own terms. Questions follow the timed close. The detailed inventory below maps every retained capability to the new presentation so no feature disappears during the restructuring.</a:t>
            </a:r>
          </a:p>
          <a:p/>
          <a:p>
            <a:r>
              <a:t>Official evidence:</a:t>
            </a:r>
          </a:p>
          <a:p>
            <a:r>
              <a:t>D03 — Autonomous incident response: https://docs.aws.amazon.com/devopsagent/latest/userguide/production-operations-autonomous-incident-response.html</a:t>
            </a:r>
          </a:p>
          <a:p>
            <a:r>
              <a:t>D13 — Working with directed actions: https://docs.aws.amazon.com/devopsagent/latest/userguide/working-with-devops-agent-working-with-directed-actions.html</a:t>
            </a:r>
          </a:p>
          <a:p>
            <a:r>
              <a:t>D11 — Release testing: https://docs.aws.amazon.com/devopsagent/latest/userguide/release-management-release-testing.html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S02 — Production operations: https://docs.aws.amazon.com/devopsagent/latest/userguide/working-with-devops-agent-production-operations-index.html</a:t>
            </a:r>
          </a:p>
          <a:p>
            <a:r>
              <a:t>S03 — Autonomous incident response: https://docs.aws.amazon.com/devopsagent/latest/userguide/production-operations-autonomous-incident-response.html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S03 — Autonomous incident response: https://docs.aws.amazon.com/devopsagent/latest/userguide/production-operations-autonomous-incident-response.html</a:t>
            </a:r>
          </a:p>
          <a:p>
            <a:r>
              <a:t>S13 — Working with directed actions: https://docs.aws.amazon.com/devopsagent/latest/userguide/working-with-devops-agent-working-with-directed-actions.html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S04 — Proactive incident prevention: https://docs.aws.amazon.com/devopsagent/latest/userguide/production-operations-proactive-incident-prevention.html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S06 — Custom Agents: 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S07 — Accessing DevOps Agent: https://docs.aws.amazon.com/devopsagent/latest/userguide/working-with-devops-agent-accessing-devops-agent-index.html</a:t>
            </a:r>
          </a:p>
          <a:p>
            <a:r>
              <a:t>S08 — Connecting to the DevOps Agent MCP server: https://docs.aws.amazon.com/devopsagent/latest/userguide/connecting-to-devops-agent-remote-servers-connecting-to-the-devops-agent-mcp-server.html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S09 — Release management: https://docs.aws.amazon.com/devopsagent/latest/userguide/working-with-devops-agent-release-management-index.html</a:t>
            </a:r>
          </a:p>
          <a:p>
            <a:r>
              <a:t>S10 — Release readiness code reviews: https://docs.aws.amazon.com/devopsagent/latest/userguide/release-management-release-readiness-code-review.html</a:t>
            </a:r>
          </a:p>
          <a:p>
            <a:r>
              <a:t>S12 — Working with DevOps Agent: https://docs.aws.amazon.com/devopsagent/latest/userguide/working-with-devops-agent.html</a:t>
            </a:r>
          </a:p>
          <a:p>
            <a:r>
              <a:t>S15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S11 — Release testing: https://docs.aws.amazon.com/devopsagent/latest/userguide/release-management-release-testing.html</a:t>
            </a:r>
          </a:p>
          <a:p>
            <a:r>
              <a:t>S15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This appendix is outside the timed session. All source URLs are listed below and in the relevant slide notes. No live workflow or measured benefit is claimed.</a:t>
            </a:r>
          </a:p>
          <a:p/>
          <a:p>
            <a:r>
              <a:t>Official evidence:</a:t>
            </a:r>
          </a:p>
          <a:p>
            <a:r>
              <a:t>D01 — About AWS DevOps Agent: https://docs.aws.amazon.com/devopsagent/latest/userguide/about-aws-devops-agent.html</a:t>
            </a:r>
          </a:p>
          <a:p>
            <a:r>
              <a:t>D02 — Production operations: https://docs.aws.amazon.com/devopsagent/latest/userguide/working-with-devops-agent-production-operations-index.html</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D05 — On Demand DevOps Tasks: https://docs.aws.amazon.com/devopsagent/latest/userguide/working-with-devops-agent-on-demand-devops-tasks.html</a:t>
            </a:r>
          </a:p>
          <a:p>
            <a:r>
              <a:t>D06 — Custom Agents: https://docs.aws.amazon.com/devopsagent/latest/userguide/working-with-devops-agent-custom-agents-index.html</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D11 — Release testing: https://docs.aws.amazon.com/devopsagent/latest/userguide/release-management-release-testing.html</a:t>
            </a:r>
          </a:p>
          <a:p>
            <a:r>
              <a:t>D13 — Working with directed actions: https://docs.aws.amazon.com/devopsagent/latest/userguide/working-with-devops-agent-working-with-directed-actions.html</a:t>
            </a:r>
          </a:p>
          <a:p>
            <a:r>
              <a:t>D14 — AWS DevOps Agent is now generally available: https://aws.amazon.com/about-aws/whats-new/2026/03/aws-devops-agent-generally-available/</a:t>
            </a:r>
          </a:p>
          <a:p>
            <a:r>
              <a:t>D15 — Supported Regions: https://docs.aws.amazon.com/devopsagent/latest/userguide/about-aws-devops-agent-supported-regions.html</a:t>
            </a:r>
          </a:p>
          <a:p>
            <a:r>
              <a:t>D34 — Limiting Agent Access in an AWS Account: https://docs.aws.amazon.com/devopsagent/latest/userguide/aws-devops-agent-security-limiting-agent-access-in-an-aws-account.html</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D39 — Private connections for integrations: https://docs.aws.amazon.com/devopsagent/latest/userguide/configuring-integrations-and-knowledge-connecting-to-privately-hosted-tools.html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cs.aws.amazon.com/devopsagent/latest/userguide/about-aws-devops-agent.html" TargetMode="External"/><Relationship Id="rId4" Type="http://schemas.openxmlformats.org/officeDocument/2006/relationships/hyperlink" Target="https://docs.aws.amazon.com/devopsagent/latest/userguide/working-with-devops-agent-production-operations-index.html" TargetMode="External"/><Relationship Id="rId5" Type="http://schemas.openxmlformats.org/officeDocument/2006/relationships/hyperlink" Target="https://docs.aws.amazon.com/devopsagent/latest/userguide/production-operations-autonomous-incident-response.html" TargetMode="External"/><Relationship Id="rId6" Type="http://schemas.openxmlformats.org/officeDocument/2006/relationships/hyperlink" Target="https://docs.aws.amazon.com/devopsagent/latest/userguide/production-operations-proactive-incident-prevention.html" TargetMode="External"/><Relationship Id="rId7" Type="http://schemas.openxmlformats.org/officeDocument/2006/relationships/hyperlink" Target="https://docs.aws.amazon.com/devopsagent/latest/userguide/working-with-devops-agent-on-demand-devops-tasks.html" TargetMode="External"/><Relationship Id="rId8" Type="http://schemas.openxmlformats.org/officeDocument/2006/relationships/hyperlink" Target="https://docs.aws.amazon.com/devopsagent/latest/userguide/working-with-devops-agent-custom-agent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DevOps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Investigations produce hypotheses and evidence for operational review.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00:00–01:00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D01, D14, D15</a:t>
            </a:r>
          </a:p>
        </p:txBody>
      </p:sp>
      <p:sp>
        <p:nvSpPr>
          <p:cNvPr id="10" name="Rounded Rectangle 9"/>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Investigate → verify → authorize → improve</a:t>
            </a:r>
          </a:p>
        </p:txBody>
      </p:sp>
      <p:sp>
        <p:nvSpPr>
          <p:cNvPr id="12" name="Rounded Rectangle 11"/>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35 min</a:t>
            </a:r>
          </a:p>
        </p:txBody>
      </p:sp>
      <p:sp>
        <p:nvSpPr>
          <p:cNvPr id="14" name="TextBox 13"/>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demos</a:t>
            </a:r>
          </a:p>
        </p:txBody>
      </p:sp>
      <p:sp>
        <p:nvSpPr>
          <p:cNvPr id="15" name="Rounded Rectangle 14"/>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12 min</a:t>
            </a:r>
          </a:p>
        </p:txBody>
      </p:sp>
      <p:sp>
        <p:nvSpPr>
          <p:cNvPr id="17" name="TextBox 16"/>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two demo walkthroughs</a:t>
            </a:r>
          </a:p>
        </p:txBody>
      </p:sp>
      <p:sp>
        <p:nvSpPr>
          <p:cNvPr id="18" name="Rounded Rectangle 17"/>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1 service</a:t>
            </a:r>
          </a:p>
        </p:txBody>
      </p:sp>
      <p:sp>
        <p:nvSpPr>
          <p:cNvPr id="20" name="TextBox 19"/>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recommended pilot scope</a:t>
            </a:r>
          </a:p>
        </p:txBody>
      </p:sp>
      <p:sp>
        <p:nvSpPr>
          <p:cNvPr id="21" name="TextBox 20"/>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Production operations: GA. Release management: preview; assess each feature and Region separately.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Define the incident scope and evidence window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time window, a service boundary, and a change reference make the question answerable.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01:00–02:30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D02, D03</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INPUT</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Signal</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Checkout 5xx errors rise after a release.</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CONTEXT</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Service, environment, UTC window, deployment SHA.</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NATIVE</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Investigation</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Correlate telemetry and changes; expose missing evidence.</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TEAM</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Decision</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Accept or reject the hypothesis; choose a safe next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Operational capability groups and their dependencies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Choose an operational job first; enable its data and action paths second.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02:30–04:00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D04, D05, D06, D09</a:t>
            </a:r>
          </a:p>
        </p:txBody>
      </p:sp>
      <p:sp>
        <p:nvSpPr>
          <p:cNvPr id="10" name="Rounded Rectangle 9"/>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Investigate incidents</a:t>
            </a:r>
          </a:p>
        </p:txBody>
      </p:sp>
      <p:sp>
        <p:nvSpPr>
          <p:cNvPr id="13" name="TextBox 12"/>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Triage related signals and produce findings and mitigation guidance.</a:t>
            </a:r>
          </a:p>
        </p:txBody>
      </p:sp>
      <p:sp>
        <p:nvSpPr>
          <p:cNvPr id="14" name="Rounded Rectangle 13"/>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1950" b="1">
                <a:solidFill>
                  <a:srgbClr val="182B43"/>
                </a:solidFill>
                <a:latin typeface="Arial"/>
              </a:defRPr>
            </a:pPr>
            <a:r>
              <a:t>Ask operational questions</a:t>
            </a:r>
          </a:p>
        </p:txBody>
      </p:sp>
      <p:sp>
        <p:nvSpPr>
          <p:cNvPr id="17" name="TextBox 16"/>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Inspect resources, alarms, health, and prior investigations.</a:t>
            </a:r>
          </a:p>
        </p:txBody>
      </p:sp>
      <p:sp>
        <p:nvSpPr>
          <p:cNvPr id="18" name="Rounded Rectangle 17"/>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Prevent recurrence</a:t>
            </a:r>
          </a:p>
        </p:txBody>
      </p:sp>
      <p:sp>
        <p:nvSpPr>
          <p:cNvPr id="21" name="TextBox 20"/>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patterns and prioritize reliability improvements.</a:t>
            </a:r>
          </a:p>
        </p:txBody>
      </p:sp>
      <p:sp>
        <p:nvSpPr>
          <p:cNvPr id="22" name="Rounded Rectangle 21"/>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CONFIGURED</a:t>
            </a:r>
          </a:p>
        </p:txBody>
      </p:sp>
      <p:sp>
        <p:nvSpPr>
          <p:cNvPr id="24" name="TextBox 23"/>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Run custom tasks</a:t>
            </a:r>
          </a:p>
        </p:txBody>
      </p:sp>
      <p:sp>
        <p:nvSpPr>
          <p:cNvPr id="25" name="TextBox 24"/>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Define a prompt, select tools/skills, and add a schedule.</a:t>
            </a:r>
          </a:p>
        </p:txBody>
      </p:sp>
      <p:sp>
        <p:nvSpPr>
          <p:cNvPr id="26" name="Rounded Rectangle 25"/>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a:t>
            </a:r>
          </a:p>
        </p:txBody>
      </p:sp>
      <p:sp>
        <p:nvSpPr>
          <p:cNvPr id="28" name="TextBox 27"/>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 release risk</a:t>
            </a:r>
          </a:p>
        </p:txBody>
      </p:sp>
      <p:sp>
        <p:nvSpPr>
          <p:cNvPr id="29" name="TextBox 28"/>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Readiness reviews plus optional managed verification.</a:t>
            </a:r>
          </a:p>
        </p:txBody>
      </p:sp>
      <p:sp>
        <p:nvSpPr>
          <p:cNvPr id="30" name="Rounded Rectangle 29"/>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a:t>
            </a:r>
          </a:p>
        </p:txBody>
      </p:sp>
      <p:sp>
        <p:nvSpPr>
          <p:cNvPr id="32" name="TextBox 31"/>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Test a deployed release</a:t>
            </a:r>
          </a:p>
        </p:txBody>
      </p:sp>
      <p:sp>
        <p:nvSpPr>
          <p:cNvPr id="33" name="TextBox 32"/>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Explore a staging web application or REST 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Configure Agent Space data access and scope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one known resource is visible; an out-of-scope test resource is denied.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04:00–05:30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D01, D02, D34, D39</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Owned accounts and service topology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Telemetry, repository and deployment integrations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Discover relationships and collect permitted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Connect private tools explicitly when required</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scoped context for investigations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Known evidence coverage and documented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Investigate a service incident and review hypotheses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distinguish observed facts, hypotheses, and missing telemetry.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05:30–07:00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D05</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Manual incident description, ticket or webhook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Time window, alarm and suspected change</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Correlate related incident signals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Collect findings; accept operator steering and feedback</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Investigation timeline and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Candidate cause and proposed mitigation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1 · investigate checkout 5xx errors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a controlled incident snapshot; keep the investigation read-focused.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07:00 allocated  |  07:00–14:00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D05</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Investigate the checkout 5xx increase in the supplied UTC window after the deployment. Cite telemetry and the deployed diff. Separate observed facts, competing hypotheses, and missing data. Propose a mitigation; do not change resources.</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sanitized incident snapshot, read access and a completed investigation before presenting.</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One source-backed hypothesis and one reviewable next action—not an asserted diagnosis.</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After 60 seconds without usable output, use the completed run and inspect its evidence; do not wait for a fresh run.</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Confirm scope</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Open the Agent Space, incident window and deployment reference.</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01:30</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investigation</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Start or open a pre-run investigation; check source coverage.</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02:00</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Challenge the leading hypothesis</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Compare two source observations and inspect a competing explanation.</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01:30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mitigation</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Check blast radius, rollback assumptions and missing evidence.</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Record the handoff</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Capture owner, evidence links, next action and verification check.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Daily service-health and incident queries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inspect one cited alarm or resource before sharing the summary.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14:00–15:15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D05</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bounded question and time interval</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Resource inventory and operational context</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Query health, alarms and deployment history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Summarize investigations and create report artifacts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Health summary with source context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reusable incident or service-report artifact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Create prevention tasks from investigation history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Acceptance: an owner and a measurable recurrence or detection check accompany each accepted item.</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15:15–16:30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D04</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Recent investigations and recurring symptoms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Team priorities and existing improvement backlog</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Evaluate recurring patterns on demand or on a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Categorize observability, infrastructure, governance and code opportunities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Prioritized improvement recommendations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Implementation context for an owned engineering task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Configure scheduled operational reports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the selected tools—not the prompt alone—bound access and side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16:30–17:45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D06</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system prompt, selected tools and skills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on-demand trigger or configured schedule</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Run a bounded multi-step operational task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Record tool use and outputs for each invocation</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Daily health report or configuration-review artifact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Traceable run history for operator inspection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Mitigation recommendations and action authorization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Directed actions have their own enablement, role, tool and approval path.</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17:45–19:45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D13, D34</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ANALYSIS</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Propose</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Agent identifies an operation, target and risk.</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CONFIGURATION</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Enable + scope</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Agent Space, elevated role and applicable tool controls.</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DECISION</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Approve</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Operator approves this operation at execution time.</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TEAM CHECK</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Verify</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audit evidence and the resulting service 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Release-review and deployed-application testing differ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Managed code verification is not the same as active testing against a deployed application.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19:45–21:45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D09, D10, D11, D15</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 · CODE</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Readiness review</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Connected PR/MR or on-demand change → standards, dependencies and access-control review → findings plus optional build/test evidence.</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 · RUNNING TARGET</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Active release testing</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Configured staging URL and test intent → browser or REST exploration → failures, reproduction steps and suggested fixes.</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550" b="1">
                <a:solidFill>
                  <a:srgbClr val="FFFFFF"/>
                </a:solidFill>
                <a:latin typeface="Arial"/>
              </a:defRPr>
            </a:pPr>
            <a:r>
              <a:t>Safety distinction: testing can mutate application data even when infrastructure actions are not enabled.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2 · review a risky release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proposed retry-policy and database-timeout change must produce inspectable release evidence.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05:00 allocated  |  21:45–26:45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D09, D10, D15</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Review this change for dependency impact, retry amplification, database saturation and rollback viability. Cite affected code and verification evidence. Return risks and missing checks. Do not deploy or promote.</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connected test repository and a pre-completed readiness review; do not point a test profile at production.</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Findings are tied to the exact change, and unexecuted checks are visible.</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prepared review and code diff if the preview or verification environment is unavailable.</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00:45</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Select the change</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the PR/MR and its exact commit.</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01:15</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Start or open review</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Confirm preview Region and enabled review/verification settings.</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01:15</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risk evidence</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Trace a finding to changed code and a dependency.</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Read verification</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Separate a passed check, an unrun check and a failure.</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00:45</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Decide the next step</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Release owner accepts, requests work or blocks promotion.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Access operational context from coding clients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client connectivity does not widen the Agent Space’s permissions.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26:45–28:00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D37, D38</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authorized Agent Space and client identity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concrete incident or operational question</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 an MCP-capable IDE or CLI to the remote server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Retrieve operational context through the configured interface</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Investigation context next to repository work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reviewable task or change proposal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OPERATIONAL HANDOFF</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Translate investigation findings into owned work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proposed engineering handoff does not transfer production authorization.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28:00–29:30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D04, D13</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Operational record</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Receiving team action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Independent acceptance</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Incident evidence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Record resource, revision, UTC window and missing signals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 reviewer can locate and challenge the source evidence</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Mitigation candidate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Choose a safe change and document rollback assumptions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Change owner authorizes the exact effect</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Prevention recommendation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Create a scoped work item with a named owner</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Closure requires a test or other independent evidence</a:t>
                      </a:r>
                    </a:p>
                  </a:txBody>
                  <a:tcPr marL="128016" marR="128016" marT="82296" marB="54864">
                    <a:solidFill>
                      <a:srgbClr val="F1F5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OPERATIONAL HANDOFF</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Verify recovery before closing the incident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Completion is a service-owner decision supported by current telemetry.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29:30–31:00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D04, D05</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Operational record</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Receiving team action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Independent acceptance</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Accepted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Use normal review and delivery controls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The reviewed revision is the one actually deployed</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Recovery record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Compare the original symptom with post-change telemetry</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Errors, latency and relevant business checks are independently reviewed</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Follow-up work</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Assign unresolved risks and prevention tasks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Do not mark untested recommendations as completed</a:t>
                      </a:r>
                    </a:p>
                  </a:txBody>
                  <a:tcPr marL="128016" marR="128016" marT="82296" marB="54864">
                    <a:solidFill>
                      <a:srgbClr val="F1F5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Pilot a single service with scoped read access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Prove the read path before expanding automated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31:00–32:30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D13, D15, D34</a:t>
            </a:r>
          </a:p>
        </p:txBody>
      </p:sp>
      <p:sp>
        <p:nvSpPr>
          <p:cNvPr id="10" name="Rounded Rectangle 9"/>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SCOPE</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Boundary</a:t>
            </a:r>
          </a:p>
        </p:txBody>
      </p:sp>
      <p:sp>
        <p:nvSpPr>
          <p:cNvPr id="13" name="TextBox 12"/>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One service, owned accounts and named operators.</a:t>
            </a:r>
          </a:p>
        </p:txBody>
      </p:sp>
      <p:sp>
        <p:nvSpPr>
          <p:cNvPr id="14" name="Rounded Rectangle 13"/>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READS</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Evidence</a:t>
            </a:r>
          </a:p>
        </p:txBody>
      </p:sp>
      <p:sp>
        <p:nvSpPr>
          <p:cNvPr id="17" name="TextBox 16"/>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550" b="0">
                <a:solidFill>
                  <a:srgbClr val="182B43"/>
                </a:solidFill>
                <a:latin typeface="Arial"/>
              </a:defRPr>
            </a:pPr>
            <a:r>
              <a:t>Known logs, metrics, deployments and repository links.</a:t>
            </a:r>
          </a:p>
        </p:txBody>
      </p:sp>
      <p:sp>
        <p:nvSpPr>
          <p:cNvPr id="18" name="Rounded Rectangle 17"/>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WRITES</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Effects</a:t>
            </a:r>
          </a:p>
        </p:txBody>
      </p:sp>
      <p:sp>
        <p:nvSpPr>
          <p:cNvPr id="21" name="TextBox 20"/>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Read baseline; explicit action approval when enabled.</a:t>
            </a:r>
          </a:p>
        </p:txBody>
      </p:sp>
      <p:sp>
        <p:nvSpPr>
          <p:cNvPr id="22" name="Rounded Rectangle 21"/>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MATURITY</a:t>
            </a:r>
          </a:p>
        </p:txBody>
      </p:sp>
      <p:sp>
        <p:nvSpPr>
          <p:cNvPr id="24" name="TextBox 23"/>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Availability</a:t>
            </a:r>
          </a:p>
        </p:txBody>
      </p:sp>
      <p:sp>
        <p:nvSpPr>
          <p:cNvPr id="25" name="TextBox 24"/>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Production features versus us-east-1 release preview.</a:t>
            </a:r>
          </a:p>
        </p:txBody>
      </p:sp>
      <p:sp>
        <p:nvSpPr>
          <p:cNvPr id="26" name="Rounded Rectangle 25"/>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OPERATIONS</a:t>
            </a:r>
          </a:p>
        </p:txBody>
      </p:sp>
      <p:sp>
        <p:nvSpPr>
          <p:cNvPr id="28" name="TextBox 27"/>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Recovery</a:t>
            </a:r>
          </a:p>
        </p:txBody>
      </p:sp>
      <p:sp>
        <p:nvSpPr>
          <p:cNvPr id="29" name="TextBox 28"/>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Rollback assumptions and a stop owner.</a:t>
            </a:r>
          </a:p>
        </p:txBody>
      </p:sp>
      <p:sp>
        <p:nvSpPr>
          <p:cNvPr id="30" name="Rounded Rectangle 29"/>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QUALITY</a:t>
            </a:r>
          </a:p>
        </p:txBody>
      </p:sp>
      <p:sp>
        <p:nvSpPr>
          <p:cNvPr id="32" name="TextBox 31"/>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a:t>
            </a:r>
          </a:p>
        </p:txBody>
      </p:sp>
      <p:sp>
        <p:nvSpPr>
          <p:cNvPr id="33" name="TextBox 32"/>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Source checks before escalation or sharing.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Pilot metrics require verified engineering results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Measure review effort and rework for independently accepted outcomes.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32:30–34:00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D04, D06</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Pilot 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What the team does</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Decision evidence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Week 1 · connect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Validate access and a historical incident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Source coverage; baseline effort</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Week 2 · investigate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Repeat bounded incident questions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Verified hypotheses; correction rate</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Week 3 · prevent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 one improvement and one report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test and reviewer effort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Week 4 · decide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Repeat tasks; inspect risk and cost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Expand, revise or stop</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Accept outcomes only after verification and authorization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Investigate with context. Gate the effect. Close with independent verification.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34:00–35:00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D13, D11</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Start</a:t>
            </a:r>
          </a:p>
        </p:txBody>
      </p:sp>
      <p:sp>
        <p:nvSpPr>
          <p:cNvPr id="12" name="TextBox 11"/>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One service and a reproducible incident snapshot.</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Keep</a:t>
            </a:r>
          </a:p>
        </p:txBody>
      </p:sp>
      <p:sp>
        <p:nvSpPr>
          <p:cNvPr id="15" name="TextBox 14"/>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Existing release, approval and incident ownership.</a:t>
            </a:r>
          </a:p>
        </p:txBody>
      </p:sp>
      <p:sp>
        <p:nvSpPr>
          <p:cNvPr id="16" name="Rounded Rectangle 15"/>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Require</a:t>
            </a:r>
          </a:p>
        </p:txBody>
      </p:sp>
      <p:sp>
        <p:nvSpPr>
          <p:cNvPr id="18" name="TextBox 17"/>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Source-backed conclusions and an explicit next 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C01 · Incident triage and root-cause investigation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production operations · Native; connected data required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Correlates accessible metrics, logs, traces, code changes, and deployment history using application topology.</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550" b="0">
                <a:solidFill>
                  <a:srgbClr val="182B43"/>
                </a:solidFill>
                <a:latin typeface="Arial"/>
              </a:defRPr>
            </a:pPr>
            <a:r>
              <a:t>Create an Agent Space, connect relevant accounts and telemetry, and grant operator access. Configure alert/ticket triggers for automatic initiation.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Incident timeline linked to deployed changes, telemetry, alternative hypotheses, and missing data.</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Compare timestamps, resource identities, telemetry, and the deployed diff with the investigation evidence.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proposed root cause remains an investigation result to verify, not a guarantee of diagnostic accuracy or complete data coverage.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S02, S03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C02 · Mitigation recommendations and approved actions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operations; actions need opt-in · Recommendation native; execution gated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Incident investigations can present mitigation proposals. Resource-changing directed actions are a separate, explicitly enabled execution path.</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250" b="0">
                <a:solidFill>
                  <a:srgbClr val="182B43"/>
                </a:solidFill>
                <a:latin typeface="Arial"/>
              </a:defRPr>
            </a:pPr>
            <a:r>
              <a:t>Recommendations need investigation context. Execution additionally needs Agent Space opt-in, scoped elevated access or integration configuration, and an authorized approver. Runbooks improve context but are not a universal prerequisite.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Mitigation proposal, affected resources, operator approval record, and observed change effects.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Approve only a specific change after checking affected resources and recovery criteria.</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Do not equate a suggested rollback with permission to execute it. Directed actions require layered enablement and per-action approval; unsupported operations remain excluded.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S03, S13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C03 · On-demand service health</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production operations · Native chat; connected data required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Chat supports resource questions, historical/current health metrics, alarm status, deployment history, and incident insights.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an enabled Agent Space web app with the needed data. Older Agent Spaces may require updated chat permissions.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Timestamped service-status response with the identifiers and data windows queried.</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the reporting window and compare figures with the source dashboards.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Answers depend on accessible telemetry and the selected Agent Space. A health summary is not a replacement for monitoring.</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C04 · Recurring incident prevention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production operations · Native recommendations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Analyzes investigation history to suggest improvements to observability, infrastructure, governance, and application code.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relevant investigation history. Review the Improvements page; assign owners to accepted work.</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Prevention backlog item linked to repeated incidents and a named technical owner.</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the evidence, assign ownership, and measure whether the incident pattern declines.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Recommendations do not automatically implement fixes or guarantee non-recurrence. The documented default evaluation cadence is weekly; manual evaluation is available.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C05 · Scheduled SRE health summaries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setup-dependent · Configured custom agent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Custom agents can generate recurring operational reports using a tailored prompt, selected MCP tools, skills, and attached memory stores.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Configure the agent and schedule, select read-only tools for the pilot, and supply the needed skills and context.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Dated scheduled health report with configured data sources and exceptions.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an initial run, data completeness, thresholds, tool calls, and unexpected findings before scheduling.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daily database report or slow-query check is a configured workflow, not an automatic built-in dashboard. Necessary database/log evidence must be accessible.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C06 · Production context from a coding environment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setup-dependent · Remote integration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MCP-compatible clients can connect to DevOps Agent for operational queries and investigations. A2A is documented separately for agent-to-agent communication.</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Configure a supported client, the remote endpoint, authentication, Agent Space access, and required integrations.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Operational query response with service, time window, and referenced source evidence.</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identity, account/Agent Space scope, source evidence, and permitted operations.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MCP, A2A, and ACP are distinct interfaces. A coding assistant does not gain production visibility merely because it is installed.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S07, S08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C07 · Release risk and readiness review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preview; repository setup</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Reviews changes for internal standards, cross-repository dependency risk, and access-control issues. Managed verification can also build, run, and test changes when enabled.</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Use an Agent Space in us-east-1, connect GitHub/GitLab repositories, enable the relevant repository capabilities, and supply standards as needed.</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Release-readiness findings, reviewed changes, and disposition by the release owner.</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Retain CI, policy checks, peer review, and release authorization.</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This is preview, not a GA release gate. A review recommendation is not proof that a deployment is safe.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S09, S10, S12, S15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C08 · Release QA and integration testing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preview; deployed target required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Generates and executes exploratory UAT/regression plans against deployed web applications and REST APIs.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Configure a deployed test target and test profile, necessary authentication/access, safe test data, and any pipeline trigger. Release management preview requires us-east-1.</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 scope, executed requests, recorded side effects, findings, and application build identifier.</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target safety, test intent, side effects, results, coverage gaps, and cleanup.</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Tests can send real write requests and create, modify, or delete application data. This differs from managed code-review verification; it is not a blanket guarantee of coverage.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S11, S15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3"/>
              </a:rPr>
              <a:t>D01  About AWS DevOps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4"/>
              </a:rPr>
              <a:t>D02  Production operations</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5"/>
              </a:rPr>
              <a:t>D03  Autonomous incident response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6"/>
              </a:rPr>
              <a:t>D04  Proactive incident prevention</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7"/>
              </a:rPr>
              <a:t>D05  On Demand DevOps Tasks</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8"/>
              </a:rPr>
              <a:t>D06  Custom Agents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DevOps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