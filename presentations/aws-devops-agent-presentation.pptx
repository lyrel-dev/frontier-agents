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00:00–01:00; allocated 01:00.</a:t>
            </a:r>
          </a:p>
          <a:p/>
          <a:p>
            <a:r>
              <a:t>Open with the operational job, not a claim of full autonomy. A checkout service is failing after a deployment. We want a coherent investigation, a defensible mitigation decision, and a follow-up item that prevents recurrence. Production operations are generally available; release-management features are preview. The examples in this deck are proposed exercises. The demo slots include the operator walkthrough and a prepared-result fallback, not a promise that an agent run completes within the allotted minutes.</a:t>
            </a:r>
          </a:p>
          <a:p/>
          <a:p>
            <a:r>
              <a:t>Official evidence:</a:t>
            </a:r>
          </a:p>
          <a:p>
            <a:r>
              <a:t>D01 — About AWS DevOps Agent: https://docs.aws.amazon.com/devopsagent/latest/userguide/about-aws-devops-agent.html</a:t>
            </a:r>
          </a:p>
          <a:p>
            <a:r>
              <a:t>D14 — AWS DevOps Agent is now generally available: https://aws.amazon.com/about-aws/whats-new/2026/03/aws-devops-agent-generally-available/</a:t>
            </a:r>
          </a:p>
          <a:p>
            <a:r>
              <a:t>D15 — Supported Regions: https://docs.aws.amazon.com/devopsagent/latest/userguide/about-aws-devops-agent-supported-regions.html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01:00–02:30; allocated 01:30.</a:t>
            </a:r>
          </a:p>
          <a:p/>
          <a:p>
            <a:r>
              <a:t>Use the checkout incident as the thread through this presentation. Supply an incident window and the deployment identity before asking for a cause. A production symptom, an agent hypothesis, a mitigation plan, and a verified recovery are different artifacts. The example does not assert that a real incident occurred. The on-call engineer remains responsible for triage and for comparing conclusions with the source systems.</a:t>
            </a:r>
          </a:p>
          <a:p/>
          <a:p>
            <a:r>
              <a:t>Official evidence:</a:t>
            </a:r>
          </a:p>
          <a:p>
            <a:r>
              <a:t>D02 — Production operations: https://docs.aws.amazon.com/devopsagent/latest/userguide/working-with-devops-agent-production-operations-index.html</a:t>
            </a:r>
          </a:p>
          <a:p>
            <a:r>
              <a:t>D03 — Autonomous incident response: https://docs.aws.amazon.com/devopsagent/latest/userguide/production-operations-autonomous-incident-response.html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02:30–04:00; allocated 01:30.</a:t>
            </a:r>
          </a:p>
          <a:p/>
          <a:p>
            <a:r>
              <a:t>The capability map separates incident work, on-demand operational questions, prevention, configured recurring tasks, and release validation. They share application context but differ in invocation and output. A daily summary is a custom-agent configuration, not an automatically provisioned SRE dashboard. Release management is a separate preview track and should not inherit the availability label of production operations.</a:t>
            </a:r>
          </a:p>
          <a:p/>
          <a:p>
            <a:r>
              <a:t>Official evidence:</a:t>
            </a:r>
          </a:p>
          <a:p>
            <a:r>
              <a:t>D03 — Autonomous incident response: https://docs.aws.amazon.com/devopsagent/latest/userguide/production-operations-autonomous-incident-response.html</a:t>
            </a:r>
          </a:p>
          <a:p>
            <a:r>
              <a:t>D04 — Proactive incident prevention: https://docs.aws.amazon.com/devopsagent/latest/userguide/production-operations-proactive-incident-prevention.html</a:t>
            </a:r>
          </a:p>
          <a:p>
            <a:r>
              <a:t>D05 — On Demand DevOps Tasks: https://docs.aws.amazon.com/devopsagent/latest/userguide/working-with-devops-agent-on-demand-devops-tasks.html</a:t>
            </a:r>
          </a:p>
          <a:p>
            <a:r>
              <a:t>D06 — Custom Agents: https://docs.aws.amazon.com/devopsagent/latest/userguide/working-with-devops-agent-custom-agents-index.html</a:t>
            </a:r>
          </a:p>
          <a:p>
            <a:r>
              <a:t>D09 — Release management: https://docs.aws.amazon.com/devopsagent/latest/userguide/working-with-devops-agent-release-management-index.html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04:00–05:30; allocated 01:30.</a:t>
            </a:r>
          </a:p>
          <a:p/>
          <a:p>
            <a:r>
              <a:t>An Agent Space groups the context and integrations used for operational work. It is not an authorization boundary merely because it has a service name. IAM roles and integration permissions establish actual access. For the initial pilot, connect one service and inspect whether its deployment events, logs, and metrics can be read. Do not grant broad writes to compensate for missing read evidence. Private integrations need an explicit network connection; they are not reachable simply because a repository or tool is named in chat.</a:t>
            </a:r>
          </a:p>
          <a:p/>
          <a:p>
            <a:r>
              <a:t>Official evidence:</a:t>
            </a:r>
          </a:p>
          <a:p>
            <a:r>
              <a:t>D01 — About AWS DevOps Agent: https://docs.aws.amazon.com/devopsagent/latest/userguide/about-aws-devops-agent.html</a:t>
            </a:r>
          </a:p>
          <a:p>
            <a:r>
              <a:t>D02 — Production operations: https://docs.aws.amazon.com/devopsagent/latest/userguide/working-with-devops-agent-production-operations-index.html</a:t>
            </a:r>
          </a:p>
          <a:p>
            <a:r>
              <a:t>D34 — Limiting Agent Access in an AWS Account: https://docs.aws.amazon.com/devopsagent/latest/userguide/aws-devops-agent-security-limiting-agent-access-in-an-aws-account.html</a:t>
            </a:r>
          </a:p>
          <a:p>
            <a:r>
              <a:t>D39 — Private connections for integrations: https://docs.aws.amazon.com/devopsagent/latest/userguide/configuring-integrations-and-knowledge-connecting-to-privately-hosted-tools.html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05:30–07:00; allocated 01:30.</a:t>
            </a:r>
          </a:p>
          <a:p/>
          <a:p>
            <a:r>
              <a:t>The agent can start from a manual request or a configured external trigger. As evidence arrives, the operator can steer the investigation toward a hypothesis or data source. That is useful when a dashboard and a deployment suggest different explanations. Ask for the evidence behind a conclusion and for alternatives that remain unresolved. A confident root-cause statement is not sufficient to close an incident.</a:t>
            </a:r>
          </a:p>
          <a:p/>
          <a:p>
            <a:r>
              <a:t>Official evidence:</a:t>
            </a:r>
          </a:p>
          <a:p>
            <a:r>
              <a:t>D03 — Autonomous incident response: https://docs.aws.amazon.com/devopsagent/latest/userguide/production-operations-autonomous-incident-response.html</a:t>
            </a:r>
          </a:p>
          <a:p>
            <a:r>
              <a:t>D05 — On Demand DevOps Tasks: https://docs.aws.amazon.com/devopsagent/latest/userguide/working-with-devops-agent-on-demand-devops-tasks.html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07:00–14:00; allocated 07:00.</a:t>
            </a:r>
          </a:p>
          <a:p/>
          <a:p>
            <a:r>
              <a:t>This seven-minute slot demonstrates the investigation workflow and the engineer’s judgment. It does not measure incident-response speed. Start a fresh request only if the environment is ready. The completed-run fallback must contain genuine, sanitized evidence from an authorized rehearsal; a schematic illustration must be labeled as such. No production mutation is required for this demo.</a:t>
            </a:r>
          </a:p>
          <a:p/>
          <a:p>
            <a:r>
              <a:t>Official evidence:</a:t>
            </a:r>
          </a:p>
          <a:p>
            <a:r>
              <a:t>D03 — Autonomous incident response: https://docs.aws.amazon.com/devopsagent/latest/userguide/production-operations-autonomous-incident-response.html</a:t>
            </a:r>
          </a:p>
          <a:p>
            <a:r>
              <a:t>D05 — On Demand DevOps Tasks: https://docs.aws.amazon.com/devopsagent/latest/userguide/working-with-devops-agent-on-demand-devops-tasks.html</a:t>
            </a:r>
          </a:p>
          <a:p/>
          <a:p>
            <a:r>
              <a:t>Preflight: Prepare a sanitized incident snapshot, read access and a completed investigation before presenting.</a:t>
            </a:r>
          </a:p>
          <a:p/>
          <a:p>
            <a:r>
              <a:t>Prompt: Investigate the checkout 5xx increase in the supplied UTC window after the deployment. Cite telemetry and the deployed diff. Separate observed facts, competing hypotheses, and missing data. Propose a mitigation; do not change resources.</a:t>
            </a:r>
          </a:p>
          <a:p/>
          <a:p>
            <a:r>
              <a:t>Runbook:</a:t>
            </a:r>
          </a:p>
          <a:p>
            <a:r>
              <a:t>01:00 — Confirm scope: Open the Agent Space, incident window and deployment reference.</a:t>
            </a:r>
          </a:p>
          <a:p>
            <a:r>
              <a:t>01:30 — Inspect the investigation: Start or open a pre-run investigation; check source coverage.</a:t>
            </a:r>
          </a:p>
          <a:p>
            <a:r>
              <a:t>02:00 — Challenge the leading hypothesis: Compare two source observations and inspect a competing explanation.</a:t>
            </a:r>
          </a:p>
          <a:p>
            <a:r>
              <a:t>01:30 — Review mitigation: Check blast radius, rollback assumptions and missing evidence.</a:t>
            </a:r>
          </a:p>
          <a:p>
            <a:r>
              <a:t>01:00 — Record the handoff: Capture owner, evidence links, next action and verification check.</a:t>
            </a:r>
          </a:p>
          <a:p/>
          <a:p>
            <a:r>
              <a:t>Success: One source-backed hypothesis and one reviewable next action—not an asserted diagnosis.</a:t>
            </a:r>
          </a:p>
          <a:p/>
          <a:p>
            <a:r>
              <a:t>Fallback: After 60 seconds without usable output, use the completed run and inspect its evidence; do not wait for a fresh run.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14:00–15:15; allocated 01:15.</a:t>
            </a:r>
          </a:p>
          <a:p/>
          <a:p>
            <a:r>
              <a:t>Not every operational task is an incident. The on-demand interface can answer focused questions about service health, resource configuration, recent alarms and investigation history. Ask for a specific period rather than “is everything healthy.” The value is an evidence-linked summary that reduces console navigation. Where a source is unavailable, the answer should state the gap rather than imply coverage.</a:t>
            </a:r>
          </a:p>
          <a:p/>
          <a:p>
            <a:r>
              <a:t>Official evidence:</a:t>
            </a:r>
          </a:p>
          <a:p>
            <a:r>
              <a:t>D05 — On Demand DevOps Tasks: https://docs.aws.amazon.com/devopsagent/latest/userguide/working-with-devops-agent-on-demand-devops-tasks.html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15:15–16:30; allocated 01:15.</a:t>
            </a:r>
          </a:p>
          <a:p/>
          <a:p>
            <a:r>
              <a:t>Prevention analyzes investigation history and produces recommendations. It is not a guarantee that failures will disappear. Keep recommendations separate from accepted engineering work: a team must assess relevance, assign ownership and decide how to validate an improvement. Use a known repeat incident to show how the suggested change would make detection earlier or the service more resilient.</a:t>
            </a:r>
          </a:p>
          <a:p/>
          <a:p>
            <a:r>
              <a:t>Official evidence:</a:t>
            </a:r>
          </a:p>
          <a:p>
            <a:r>
              <a:t>D04 — Proactive incident prevention: https://docs.aws.amazon.com/devopsagent/latest/userguide/production-operations-proactive-incident-prevention.html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16:30–17:45; allocated 01:15.</a:t>
            </a:r>
          </a:p>
          <a:p/>
          <a:p>
            <a:r>
              <a:t>A custom agent is a configured workflow. For example, a team can define a daily summary that reads alarms and recent investigations and returns an actionable report. Select only the tools needed for that job. A prompt that says “read only” does not neutralize a write-capable integration. Review the output and invocation record before enabling a recurring schedule.</a:t>
            </a:r>
          </a:p>
          <a:p/>
          <a:p>
            <a:r>
              <a:t>Official evidence:</a:t>
            </a:r>
          </a:p>
          <a:p>
            <a:r>
              <a:t>D06 — Custom Agents: https://docs.aws.amazon.com/devopsagent/latest/userguide/working-with-devops-agent-custom-agents-index.html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17:45–19:45; allocated 02:00.</a:t>
            </a:r>
          </a:p>
          <a:p/>
          <a:p>
            <a:r>
              <a:t>Keep the read-oriented investigation path separate from directed actions. Directed actions are disabled by default. Enabling them is only one layer: the relevant account role or third-party tool configuration must also permit the operation, and the operator must approve the concrete action. Review the target, parameters, blast radius and rollback plan. The release-testing write path is a different mechanism; do not assume this approval model protects application endpoints exercised by a test.</a:t>
            </a:r>
          </a:p>
          <a:p/>
          <a:p>
            <a:r>
              <a:t>Official evidence:</a:t>
            </a:r>
          </a:p>
          <a:p>
            <a:r>
              <a:t>D13 — Working with directed actions: https://docs.aws.amazon.com/devopsagent/latest/userguide/working-with-devops-agent-working-with-directed-actions.html</a:t>
            </a:r>
          </a:p>
          <a:p>
            <a:r>
              <a:t>D34 — Limiting Agent Access in an AWS Account: https://docs.aws.amazon.com/devopsagent/latest/userguide/aws-devops-agent-security-limiting-agent-access-in-an-aws-account.html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19:45–21:45; allocated 02:00.</a:t>
            </a:r>
          </a:p>
          <a:p/>
          <a:p>
            <a:r>
              <a:t>Readiness review evaluates a change and can build and test it in a managed verification environment. Active release testing sends traffic to a running application and may perform POST, PUT and DELETE requests. Those operations can trigger real business effects. Use a disposable staging deployment, test identities and disabled external side effects. Both features remain a preview track in the documented Region. A positive review is evidence for the release owner, not a production deployment authorization.</a:t>
            </a:r>
          </a:p>
          <a:p/>
          <a:p>
            <a:r>
              <a:t>Official evidence:</a:t>
            </a:r>
          </a:p>
          <a:p>
            <a:r>
              <a:t>D09 — Release management: https://docs.aws.amazon.com/devopsagent/latest/userguide/working-with-devops-agent-release-management-index.html</a:t>
            </a:r>
          </a:p>
          <a:p>
            <a:r>
              <a:t>D10 — Release readiness code reviews: https://docs.aws.amazon.com/devopsagent/latest/userguide/release-management-release-readiness-code-review.html</a:t>
            </a:r>
          </a:p>
          <a:p>
            <a:r>
              <a:t>D11 — Release testing: https://docs.aws.amazon.com/devopsagent/latest/userguide/release-management-release-testing.html</a:t>
            </a:r>
          </a:p>
          <a:p>
            <a:r>
              <a:t>D15 — Supported Regions: https://docs.aws.amazon.com/devopsagent/latest/userguide/about-aws-devops-agent-supported-regions.html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21:45–26:45; allocated 05:00.</a:t>
            </a:r>
          </a:p>
          <a:p/>
          <a:p>
            <a:r>
              <a:t>This five-minute walkthrough demonstrates interpretation rather than a fresh end-to-end run. The reviewed revision must match the displayed diff. Build failures caused by missing private dependencies are setup failures, not proof that the proposed application change is unsafe. Conversely, a skipped verification step is not a pass. Keep the production release decision with the existing owner.</a:t>
            </a:r>
          </a:p>
          <a:p/>
          <a:p>
            <a:r>
              <a:t>Official evidence:</a:t>
            </a:r>
          </a:p>
          <a:p>
            <a:r>
              <a:t>D09 — Release management: https://docs.aws.amazon.com/devopsagent/latest/userguide/working-with-devops-agent-release-management-index.html</a:t>
            </a:r>
          </a:p>
          <a:p>
            <a:r>
              <a:t>D10 — Release readiness code reviews: https://docs.aws.amazon.com/devopsagent/latest/userguide/release-management-release-readiness-code-review.html</a:t>
            </a:r>
          </a:p>
          <a:p>
            <a:r>
              <a:t>D15 — Supported Regions: https://docs.aws.amazon.com/devopsagent/latest/userguide/about-aws-devops-agent-supported-regions.html</a:t>
            </a:r>
          </a:p>
          <a:p/>
          <a:p>
            <a:r>
              <a:t>Preflight: Use a connected test repository and a pre-completed readiness review; do not point a test profile at production.</a:t>
            </a:r>
          </a:p>
          <a:p/>
          <a:p>
            <a:r>
              <a:t>Prompt: Review this change for dependency impact, retry amplification, database saturation and rollback viability. Cite affected code and verification evidence. Return risks and missing checks. Do not deploy or promote.</a:t>
            </a:r>
          </a:p>
          <a:p/>
          <a:p>
            <a:r>
              <a:t>Runbook:</a:t>
            </a:r>
          </a:p>
          <a:p>
            <a:r>
              <a:t>00:45 — Select the change: Show the PR/MR and its exact commit.</a:t>
            </a:r>
          </a:p>
          <a:p>
            <a:r>
              <a:t>01:15 — Start or open review: Confirm preview Region and enabled review/verification settings.</a:t>
            </a:r>
          </a:p>
          <a:p>
            <a:r>
              <a:t>01:15 — Inspect risk evidence: Trace a finding to changed code and a dependency.</a:t>
            </a:r>
          </a:p>
          <a:p>
            <a:r>
              <a:t>01:00 — Read verification: Separate a passed check, an unrun check and a failure.</a:t>
            </a:r>
          </a:p>
          <a:p>
            <a:r>
              <a:t>00:45 — Decide the next step: Release owner accepts, requests work or blocks promotion.</a:t>
            </a:r>
          </a:p>
          <a:p/>
          <a:p>
            <a:r>
              <a:t>Success: Findings are tied to the exact change, and unexecuted checks are visible.</a:t>
            </a:r>
          </a:p>
          <a:p/>
          <a:p>
            <a:r>
              <a:t>Fallback: Use the prepared review and code diff if the preview or verification environment is unavailable.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26:45–28:00; allocated 01:15.</a:t>
            </a:r>
          </a:p>
          <a:p/>
          <a:p>
            <a:r>
              <a:t>The documented remote MCP interface brings operational questions into a development environment. This can reduce the copy-and-paste handoff between an on-call engineer and a developer. It does not mean every AWS frontier agent shares one session or identity. Authenticate the client, scope access and preserve links to the original investigation. A2A and other access methods are integration building blocks, not a turnkey four-product orchestrator.</a:t>
            </a:r>
          </a:p>
          <a:p/>
          <a:p>
            <a:r>
              <a:t>Official evidence:</a:t>
            </a:r>
          </a:p>
          <a:p>
            <a:r>
              <a:t>D37 — DevOps Agent remote servers: https://docs.aws.amazon.com/devopsagent/latest/userguide/accessing-devops-agent-connecting-to-devops-agent-remote-servers-index.html</a:t>
            </a:r>
          </a:p>
          <a:p>
            <a:r>
              <a:t>D38 — Accessing DevOps Agent: https://docs.aws.amazon.com/devopsagent/latest/userguide/working-with-devops-agent-accessing-devops-agent-index.html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28:00–29:30; allocated 01:30.</a:t>
            </a:r>
          </a:p>
          <a:p/>
          <a:p>
            <a:r>
              <a:t>The original report included related developer tasks, so keep them visible without attributing them to the wrong product. Repository explanation, scoped code changes and test creation fit Kiro’s documented coding tools. IaC drafting, supplied-build-log diagnosis and runbook writing are composed uses of those tools. They are not native promises of complete infrastructure validation or an automatically connected CI monitor. Validate with the repository’s own tests, linters and infrastructure tooling.</a:t>
            </a:r>
          </a:p>
          <a:p/>
          <a:p>
            <a:r>
              <a:t>Official evidence:</a:t>
            </a:r>
          </a:p>
          <a:p>
            <a:r>
              <a:t>K03 — Working with the agent: https://kiro.dev/docs/web/using-the-agent/</a:t>
            </a:r>
          </a:p>
          <a:p>
            <a:r>
              <a:t>K08 — Specifications: https://kiro.dev/docs/specs/</a:t>
            </a:r>
          </a:p>
          <a:p>
            <a:r>
              <a:t>K09 — Built-in tools: https://kiro.dev/docs/tools/</a:t>
            </a:r>
          </a:p>
          <a:p>
            <a:r>
              <a:t>K17 — Hooks: https://kiro.dev/docs/hooks/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29:30–31:00; allocated 01:30.</a:t>
            </a:r>
          </a:p>
          <a:p/>
          <a:p>
            <a:r>
              <a:t>For teams already using Amazon Q Developer, the relevant distinctions are AWS guidance, IDE reviews, GitHub preview workflows and supported transformations. GitHub review triggers differ from other products: subsequent commits do not automatically retrigger a Q review; a new review can be requested explicitly. A language transformation is constrained by its supported source versions, build prerequisites and IDE. These are compatibility decisions, not reasons to represent Q as part of the DevOps Agent runtime.</a:t>
            </a:r>
          </a:p>
          <a:p/>
          <a:p>
            <a:r>
              <a:t>Official evidence:</a:t>
            </a:r>
          </a:p>
          <a:p>
            <a:r>
              <a:t>D23 — What is Amazon Q Developer?: https://docs.aws.amazon.com/amazonq/latest/qdeveloper-ug/what-is.html</a:t>
            </a:r>
          </a:p>
          <a:p>
            <a:r>
              <a:t>D24 — Reviewing code with Amazon Q Developer: https://docs.aws.amazon.com/amazonq/latest/qdeveloper-ug/code-reviews.html</a:t>
            </a:r>
          </a:p>
          <a:p>
            <a:r>
              <a:t>D26 — Reviewing code in GitHub: https://docs.aws.amazon.com/amazonq/latest/qdeveloper-ug/github-code-reviews.html</a:t>
            </a:r>
          </a:p>
          <a:p>
            <a:r>
              <a:t>D27 — Developing features in GitHub: https://docs.aws.amazon.com/amazonq/latest/qdeveloper-ug/github-feature-development.html</a:t>
            </a:r>
          </a:p>
          <a:p>
            <a:r>
              <a:t>D28 — Upgrading Java versions: https://docs.aws.amazon.com/amazonq/latest/qdeveloper-ug/code-transformation.html</a:t>
            </a:r>
          </a:p>
          <a:p>
            <a:r>
              <a:t>D29 — Transforming .NET applications: https://docs.aws.amazon.com/amazonq/latest/qdeveloper-ug/transform-dotnet-IDE.html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31:00–32:30; allocated 01:30.</a:t>
            </a:r>
          </a:p>
          <a:p/>
          <a:p>
            <a:r>
              <a:t>Treat deployment readiness as a team decision. Record the feature’s availability, Agent Space Region, data-source access, mutation paths and stop responsibility. For the first service, leave directed actions off unless a separately reviewed experiment requires them. Put release-preview work in a different pilot lane. The documentation specifies behavior; this checklist is the recommended operating design for the team.</a:t>
            </a:r>
          </a:p>
          <a:p/>
          <a:p>
            <a:r>
              <a:t>Official evidence:</a:t>
            </a:r>
          </a:p>
          <a:p>
            <a:r>
              <a:t>D13 — Working with directed actions: https://docs.aws.amazon.com/devopsagent/latest/userguide/working-with-devops-agent-working-with-directed-actions.html</a:t>
            </a:r>
          </a:p>
          <a:p>
            <a:r>
              <a:t>D15 — Supported Regions: https://docs.aws.amazon.com/devopsagent/latest/userguide/about-aws-devops-agent-supported-regions.html</a:t>
            </a:r>
          </a:p>
          <a:p>
            <a:r>
              <a:t>D34 — Limiting Agent Access in an AWS Account: https://docs.aws.amazon.com/devopsagent/latest/userguide/aws-devops-agent-security-limiting-agent-access-in-an-aws-account.html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32:30–34:00; allocated 01:30.</a:t>
            </a:r>
          </a:p>
          <a:p/>
          <a:p>
            <a:r>
              <a:t>The scorecard is a proposal, not an AWS performance claim. Use the same small set of representative tasks before and during the pilot. Measure how much time an engineer spends reaching an evidence-supported hypothesis, how often conclusions need correction, and whether recommended prevention work is accepted. Count service and integration consumption as well as human review effort. Do not infer production MTTR improvement from a staged demo.</a:t>
            </a:r>
          </a:p>
          <a:p/>
          <a:p>
            <a:r>
              <a:t>Official evidence:</a:t>
            </a:r>
          </a:p>
          <a:p>
            <a:r>
              <a:t>D03 — Autonomous incident response: https://docs.aws.amazon.com/devopsagent/latest/userguide/production-operations-autonomous-incident-response.html</a:t>
            </a:r>
          </a:p>
          <a:p>
            <a:r>
              <a:t>D04 — Proactive incident prevention: https://docs.aws.amazon.com/devopsagent/latest/userguide/production-operations-proactive-incident-prevention.html</a:t>
            </a:r>
          </a:p>
          <a:p>
            <a:r>
              <a:t>D06 — Custom Agents: https://docs.aws.amazon.com/devopsagent/latest/userguide/working-with-devops-agent-custom-agents-index.html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34:00–35:00; allocated 01:00.</a:t>
            </a:r>
          </a:p>
          <a:p/>
          <a:p>
            <a:r>
              <a:t>Close by asking the team to choose one read-heavy operational workflow and its owner. The agent can help connect evidence and produce useful recommendations, but the engineer remains responsible for the decision and its consequences. Release preview, directed actions and active tests should each be evaluated on their own terms. Questions follow the timed close. The detailed inventory below maps every original capability to the new presentation so no feature disappears during the restructuring.</a:t>
            </a:r>
          </a:p>
          <a:p/>
          <a:p>
            <a:r>
              <a:t>Official evidence:</a:t>
            </a:r>
          </a:p>
          <a:p>
            <a:r>
              <a:t>D03 — Autonomous incident response: https://docs.aws.amazon.com/devopsagent/latest/userguide/production-operations-autonomous-incident-response.html</a:t>
            </a:r>
          </a:p>
          <a:p>
            <a:r>
              <a:t>D13 — Working with directed actions: https://docs.aws.amazon.com/devopsagent/latest/userguide/working-with-devops-agent-working-with-directed-actions.html</a:t>
            </a:r>
          </a:p>
          <a:p>
            <a:r>
              <a:t>D11 — Release testing: https://docs.aws.amazon.com/devopsagent/latest/userguide/release-management-release-testing.html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35:00–35:00; allocated 00:00.</a:t>
            </a:r>
          </a:p>
          <a:p/>
          <a:p>
            <a:r>
              <a:t>This appendix is outside the timed session. All source URLs are listed below and in the relevant slide notes. No live workflow or measured benefit is claimed.</a:t>
            </a:r>
          </a:p>
          <a:p/>
          <a:p>
            <a:r>
              <a:t>Official evidence:</a:t>
            </a:r>
          </a:p>
          <a:p>
            <a:r>
              <a:t>D01 — About AWS DevOps Agent: https://docs.aws.amazon.com/devopsagent/latest/userguide/about-aws-devops-agent.html</a:t>
            </a:r>
          </a:p>
          <a:p>
            <a:r>
              <a:t>D02 — Production operations: https://docs.aws.amazon.com/devopsagent/latest/userguide/working-with-devops-agent-production-operations-index.html</a:t>
            </a:r>
          </a:p>
          <a:p>
            <a:r>
              <a:t>D03 — Autonomous incident response: https://docs.aws.amazon.com/devopsagent/latest/userguide/production-operations-autonomous-incident-response.html</a:t>
            </a:r>
          </a:p>
          <a:p>
            <a:r>
              <a:t>D04 — Proactive incident prevention: https://docs.aws.amazon.com/devopsagent/latest/userguide/production-operations-proactive-incident-prevention.html</a:t>
            </a:r>
          </a:p>
          <a:p>
            <a:r>
              <a:t>D05 — On Demand DevOps Tasks: https://docs.aws.amazon.com/devopsagent/latest/userguide/working-with-devops-agent-on-demand-devops-tasks.html</a:t>
            </a:r>
          </a:p>
          <a:p>
            <a:r>
              <a:t>D06 — Custom Agents: https://docs.aws.amazon.com/devopsagent/latest/userguide/working-with-devops-agent-custom-agents-index.html</a:t>
            </a:r>
          </a:p>
          <a:p>
            <a:r>
              <a:t>D09 — Release management: https://docs.aws.amazon.com/devopsagent/latest/userguide/working-with-devops-agent-release-management-index.html</a:t>
            </a:r>
          </a:p>
          <a:p>
            <a:r>
              <a:t>D10 — Release readiness code reviews: https://docs.aws.amazon.com/devopsagent/latest/userguide/release-management-release-readiness-code-review.html</a:t>
            </a:r>
          </a:p>
          <a:p>
            <a:r>
              <a:t>D11 — Release testing: https://docs.aws.amazon.com/devopsagent/latest/userguide/release-management-release-testing.html</a:t>
            </a:r>
          </a:p>
          <a:p>
            <a:r>
              <a:t>D13 — Working with directed actions: https://docs.aws.amazon.com/devopsagent/latest/userguide/working-with-devops-agent-working-with-directed-actions.html</a:t>
            </a:r>
          </a:p>
          <a:p>
            <a:r>
              <a:t>D14 — AWS DevOps Agent is now generally available: https://aws.amazon.com/about-aws/whats-new/2026/03/aws-devops-agent-generally-available/</a:t>
            </a:r>
          </a:p>
          <a:p>
            <a:r>
              <a:t>D15 — Supported Regions: https://docs.aws.amazon.com/devopsagent/latest/userguide/about-aws-devops-agent-supported-regions.html</a:t>
            </a:r>
          </a:p>
          <a:p>
            <a:r>
              <a:t>D23 — What is Amazon Q Developer?: https://docs.aws.amazon.com/amazonq/latest/qdeveloper-ug/what-is.html</a:t>
            </a:r>
          </a:p>
          <a:p>
            <a:r>
              <a:t>D24 — Reviewing code with Amazon Q Developer: https://docs.aws.amazon.com/amazonq/latest/qdeveloper-ug/code-reviews.html</a:t>
            </a:r>
          </a:p>
          <a:p>
            <a:r>
              <a:t>D26 — Reviewing code in GitHub: https://docs.aws.amazon.com/amazonq/latest/qdeveloper-ug/github-code-reviews.html</a:t>
            </a:r>
          </a:p>
          <a:p>
            <a:r>
              <a:t>D27 — Developing features in GitHub: https://docs.aws.amazon.com/amazonq/latest/qdeveloper-ug/github-feature-development.html</a:t>
            </a:r>
          </a:p>
          <a:p>
            <a:r>
              <a:t>D28 — Upgrading Java versions: https://docs.aws.amazon.com/amazonq/latest/qdeveloper-ug/code-transformation.html</a:t>
            </a:r>
          </a:p>
          <a:p>
            <a:r>
              <a:t>D29 — Transforming .NET applications: https://docs.aws.amazon.com/amazonq/latest/qdeveloper-ug/transform-dotnet-IDE.html</a:t>
            </a:r>
          </a:p>
          <a:p>
            <a:r>
              <a:t>D34 — Limiting Agent Access in an AWS Account: https://docs.aws.amazon.com/devopsagent/latest/userguide/aws-devops-agent-security-limiting-agent-access-in-an-aws-account.html</a:t>
            </a:r>
          </a:p>
          <a:p>
            <a:r>
              <a:t>D37 — DevOps Agent remote servers: https://docs.aws.amazon.com/devopsagent/latest/userguide/accessing-devops-agent-connecting-to-devops-agent-remote-servers-index.html</a:t>
            </a:r>
          </a:p>
          <a:p>
            <a:r>
              <a:t>D38 — Accessing DevOps Agent: https://docs.aws.amazon.com/devopsagent/latest/userguide/working-with-devops-agent-accessing-devops-agent-index.html</a:t>
            </a:r>
          </a:p>
          <a:p>
            <a:r>
              <a:t>D39 — Private connections for integrations: https://docs.aws.amazon.com/devopsagent/latest/userguide/configuring-integrations-and-knowledge-connecting-to-privately-hosted-tools.html</a:t>
            </a:r>
          </a:p>
          <a:p>
            <a:r>
              <a:t>K03 — Working with the agent: https://kiro.dev/docs/web/using-the-agent/</a:t>
            </a:r>
          </a:p>
          <a:p>
            <a:r>
              <a:t>K08 — Specifications: https://kiro.dev/docs/specs/</a:t>
            </a:r>
          </a:p>
          <a:p>
            <a:r>
              <a:t>K09 — Built-in tools: https://kiro.dev/docs/tools/</a:t>
            </a:r>
          </a:p>
          <a:p>
            <a:r>
              <a:t>K17 — Hooks: https://kiro.dev/docs/hooks/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hyperlink" Target="https://docs.aws.amazon.com/devopsagent/latest/userguide/about-aws-devops-agent.html" TargetMode="External"/><Relationship Id="rId4" Type="http://schemas.openxmlformats.org/officeDocument/2006/relationships/hyperlink" Target="https://docs.aws.amazon.com/devopsagent/latest/userguide/working-with-devops-agent-production-operations-index.html" TargetMode="External"/><Relationship Id="rId5" Type="http://schemas.openxmlformats.org/officeDocument/2006/relationships/hyperlink" Target="https://docs.aws.amazon.com/devopsagent/latest/userguide/production-operations-autonomous-incident-response.html" TargetMode="External"/><Relationship Id="rId6" Type="http://schemas.openxmlformats.org/officeDocument/2006/relationships/hyperlink" Target="https://docs.aws.amazon.com/devopsagent/latest/userguide/production-operations-proactive-incident-prevention.html" TargetMode="External"/><Relationship Id="rId7" Type="http://schemas.openxmlformats.org/officeDocument/2006/relationships/hyperlink" Target="https://docs.aws.amazon.com/devopsagent/latest/userguide/working-with-devops-agent-on-demand-devops-tasks.html" TargetMode="External"/><Relationship Id="rId8" Type="http://schemas.openxmlformats.org/officeDocument/2006/relationships/hyperlink" Target="https://docs.aws.amazon.com/devopsagent/latest/userguide/working-with-devops-agent-custom-agents-index.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B952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AWS DEVOPS AGENT  /  POSITION</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AWS DevOps Agent</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From a production symptom to an evidence-backed engineering decision.</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 / 18    AWS DevOps Agent</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01:00 allocated  |  00:00–01:00</a:t>
            </a:r>
          </a:p>
        </p:txBody>
      </p:sp>
      <p:sp>
        <p:nvSpPr>
          <p:cNvPr id="9" name="Rounded Rectangle 8"/>
          <p:cNvSpPr/>
          <p:nvPr/>
        </p:nvSpPr>
        <p:spPr>
          <a:xfrm>
            <a:off x="502920" y="2331720"/>
            <a:ext cx="11183112" cy="960120"/>
          </a:xfrm>
          <a:prstGeom prst="roundRect">
            <a:avLst>
              <a:gd name="adj" fmla="val 8000"/>
            </a:avLst>
          </a:prstGeom>
          <a:solidFill>
            <a:srgbClr val="10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596896"/>
            <a:ext cx="10698480" cy="411480"/>
          </a:xfrm>
          <a:prstGeom prst="rect">
            <a:avLst/>
          </a:prstGeom>
          <a:noFill/>
        </p:spPr>
        <p:txBody>
          <a:bodyPr wrap="square" lIns="0" rIns="0" tIns="0" bIns="0" anchor="t">
            <a:spAutoFit/>
          </a:bodyPr>
          <a:lstStyle/>
          <a:p>
            <a:pPr>
              <a:lnSpc>
                <a:spcPct val="112000"/>
              </a:lnSpc>
              <a:spcAft>
                <a:spcPts val="300"/>
              </a:spcAft>
              <a:defRPr sz="2500" b="1">
                <a:solidFill>
                  <a:srgbClr val="FFFFFF"/>
                </a:solidFill>
                <a:latin typeface="Arial"/>
              </a:defRPr>
            </a:pPr>
            <a:r>
              <a:t>Investigate → verify → authorize → improve</a:t>
            </a:r>
          </a:p>
        </p:txBody>
      </p:sp>
      <p:sp>
        <p:nvSpPr>
          <p:cNvPr id="11" name="Rounded Rectangle 10"/>
          <p:cNvSpPr/>
          <p:nvPr/>
        </p:nvSpPr>
        <p:spPr>
          <a:xfrm>
            <a:off x="502920" y="3703320"/>
            <a:ext cx="3611880" cy="1417320"/>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 y="3913632"/>
            <a:ext cx="3200400" cy="530352"/>
          </a:xfrm>
          <a:prstGeom prst="rect">
            <a:avLst/>
          </a:prstGeom>
          <a:noFill/>
        </p:spPr>
        <p:txBody>
          <a:bodyPr wrap="square" lIns="0" rIns="0" tIns="0" bIns="0" anchor="t">
            <a:spAutoFit/>
          </a:bodyPr>
          <a:lstStyle/>
          <a:p>
            <a:pPr>
              <a:lnSpc>
                <a:spcPct val="112000"/>
              </a:lnSpc>
              <a:spcAft>
                <a:spcPts val="300"/>
              </a:spcAft>
              <a:defRPr sz="3450" b="1">
                <a:solidFill>
                  <a:srgbClr val="B95215"/>
                </a:solidFill>
                <a:latin typeface="Arial"/>
              </a:defRPr>
            </a:pPr>
            <a:r>
              <a:t>35 min</a:t>
            </a:r>
          </a:p>
        </p:txBody>
      </p:sp>
      <p:sp>
        <p:nvSpPr>
          <p:cNvPr id="13" name="TextBox 12"/>
          <p:cNvSpPr txBox="1"/>
          <p:nvPr/>
        </p:nvSpPr>
        <p:spPr>
          <a:xfrm>
            <a:off x="704088" y="4553712"/>
            <a:ext cx="3200400" cy="338328"/>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session, including demos</a:t>
            </a:r>
          </a:p>
        </p:txBody>
      </p:sp>
      <p:sp>
        <p:nvSpPr>
          <p:cNvPr id="14" name="Rounded Rectangle 13"/>
          <p:cNvSpPr/>
          <p:nvPr/>
        </p:nvSpPr>
        <p:spPr>
          <a:xfrm>
            <a:off x="4288536" y="3703320"/>
            <a:ext cx="3611880" cy="1417320"/>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9703" y="3913632"/>
            <a:ext cx="3200400" cy="530352"/>
          </a:xfrm>
          <a:prstGeom prst="rect">
            <a:avLst/>
          </a:prstGeom>
          <a:noFill/>
        </p:spPr>
        <p:txBody>
          <a:bodyPr wrap="square" lIns="0" rIns="0" tIns="0" bIns="0" anchor="t">
            <a:spAutoFit/>
          </a:bodyPr>
          <a:lstStyle/>
          <a:p>
            <a:pPr>
              <a:lnSpc>
                <a:spcPct val="112000"/>
              </a:lnSpc>
              <a:spcAft>
                <a:spcPts val="300"/>
              </a:spcAft>
              <a:defRPr sz="3450" b="1">
                <a:solidFill>
                  <a:srgbClr val="B95215"/>
                </a:solidFill>
                <a:latin typeface="Arial"/>
              </a:defRPr>
            </a:pPr>
            <a:r>
              <a:t>12 min</a:t>
            </a:r>
          </a:p>
        </p:txBody>
      </p:sp>
      <p:sp>
        <p:nvSpPr>
          <p:cNvPr id="16" name="TextBox 15"/>
          <p:cNvSpPr txBox="1"/>
          <p:nvPr/>
        </p:nvSpPr>
        <p:spPr>
          <a:xfrm>
            <a:off x="4489703" y="4553712"/>
            <a:ext cx="3200400" cy="338328"/>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two demo walkthroughs</a:t>
            </a:r>
          </a:p>
        </p:txBody>
      </p:sp>
      <p:sp>
        <p:nvSpPr>
          <p:cNvPr id="17" name="Rounded Rectangle 16"/>
          <p:cNvSpPr/>
          <p:nvPr/>
        </p:nvSpPr>
        <p:spPr>
          <a:xfrm>
            <a:off x="8074152" y="3703320"/>
            <a:ext cx="3611880" cy="1417320"/>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75320" y="3913632"/>
            <a:ext cx="3200400" cy="530352"/>
          </a:xfrm>
          <a:prstGeom prst="rect">
            <a:avLst/>
          </a:prstGeom>
          <a:noFill/>
        </p:spPr>
        <p:txBody>
          <a:bodyPr wrap="square" lIns="0" rIns="0" tIns="0" bIns="0" anchor="t">
            <a:spAutoFit/>
          </a:bodyPr>
          <a:lstStyle/>
          <a:p>
            <a:pPr>
              <a:lnSpc>
                <a:spcPct val="112000"/>
              </a:lnSpc>
              <a:spcAft>
                <a:spcPts val="300"/>
              </a:spcAft>
              <a:defRPr sz="3450" b="1">
                <a:solidFill>
                  <a:srgbClr val="B95215"/>
                </a:solidFill>
                <a:latin typeface="Arial"/>
              </a:defRPr>
            </a:pPr>
            <a:r>
              <a:t>1 service</a:t>
            </a:r>
          </a:p>
        </p:txBody>
      </p:sp>
      <p:sp>
        <p:nvSpPr>
          <p:cNvPr id="19" name="TextBox 18"/>
          <p:cNvSpPr txBox="1"/>
          <p:nvPr/>
        </p:nvSpPr>
        <p:spPr>
          <a:xfrm>
            <a:off x="8275320" y="4553712"/>
            <a:ext cx="3200400" cy="338328"/>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recommended pilot scope</a:t>
            </a:r>
          </a:p>
        </p:txBody>
      </p:sp>
      <p:sp>
        <p:nvSpPr>
          <p:cNvPr id="20" name="TextBox 19"/>
          <p:cNvSpPr txBox="1"/>
          <p:nvPr/>
        </p:nvSpPr>
        <p:spPr>
          <a:xfrm>
            <a:off x="521207" y="5504688"/>
            <a:ext cx="11064240" cy="530352"/>
          </a:xfrm>
          <a:prstGeom prst="rect">
            <a:avLst/>
          </a:prstGeom>
          <a:noFill/>
        </p:spPr>
        <p:txBody>
          <a:bodyPr wrap="square" lIns="0" rIns="0" tIns="0" bIns="0" anchor="t">
            <a:spAutoFit/>
          </a:bodyPr>
          <a:lstStyle/>
          <a:p>
            <a:pPr>
              <a:lnSpc>
                <a:spcPct val="112000"/>
              </a:lnSpc>
              <a:spcAft>
                <a:spcPts val="300"/>
              </a:spcAft>
              <a:defRPr sz="1700" b="0">
                <a:solidFill>
                  <a:srgbClr val="55657A"/>
                </a:solidFill>
                <a:latin typeface="Arial"/>
              </a:defRPr>
            </a:pPr>
            <a:r>
              <a:t>Production operations: GA. Release management: preview; assess each feature and Region separately.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B952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AWS DEVOPS AGENT  /  USE CASE</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Start with the incident, not the tool</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A time window, a service boundary, and a change reference make the question answerable.</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02 / 18    AWS DevOps Agent</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01:30 allocated  |  01:00–02:30</a:t>
            </a:r>
          </a:p>
        </p:txBody>
      </p:sp>
      <p:sp>
        <p:nvSpPr>
          <p:cNvPr id="9" name="Rounded Rectangle 8"/>
          <p:cNvSpPr/>
          <p:nvPr/>
        </p:nvSpPr>
        <p:spPr>
          <a:xfrm>
            <a:off x="502920" y="2313432"/>
            <a:ext cx="549097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459736"/>
            <a:ext cx="5161788" cy="201168"/>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INPUT</a:t>
            </a:r>
          </a:p>
        </p:txBody>
      </p:sp>
      <p:sp>
        <p:nvSpPr>
          <p:cNvPr id="11" name="TextBox 10"/>
          <p:cNvSpPr txBox="1"/>
          <p:nvPr/>
        </p:nvSpPr>
        <p:spPr>
          <a:xfrm>
            <a:off x="667512" y="2788920"/>
            <a:ext cx="516178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Signal</a:t>
            </a:r>
          </a:p>
        </p:txBody>
      </p:sp>
      <p:sp>
        <p:nvSpPr>
          <p:cNvPr id="12" name="TextBox 11"/>
          <p:cNvSpPr txBox="1"/>
          <p:nvPr/>
        </p:nvSpPr>
        <p:spPr>
          <a:xfrm>
            <a:off x="667512" y="3392424"/>
            <a:ext cx="5161788" cy="612648"/>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Checkout 5xx errors rise after a release.</a:t>
            </a:r>
          </a:p>
        </p:txBody>
      </p:sp>
      <p:sp>
        <p:nvSpPr>
          <p:cNvPr id="13" name="Rounded Rectangle 12"/>
          <p:cNvSpPr/>
          <p:nvPr/>
        </p:nvSpPr>
        <p:spPr>
          <a:xfrm>
            <a:off x="6195059" y="2313432"/>
            <a:ext cx="549097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9651" y="2459736"/>
            <a:ext cx="5161788" cy="201168"/>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CONTEXT</a:t>
            </a:r>
          </a:p>
        </p:txBody>
      </p:sp>
      <p:sp>
        <p:nvSpPr>
          <p:cNvPr id="15" name="TextBox 14"/>
          <p:cNvSpPr txBox="1"/>
          <p:nvPr/>
        </p:nvSpPr>
        <p:spPr>
          <a:xfrm>
            <a:off x="6359651" y="2788920"/>
            <a:ext cx="516178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Scope</a:t>
            </a:r>
          </a:p>
        </p:txBody>
      </p:sp>
      <p:sp>
        <p:nvSpPr>
          <p:cNvPr id="16" name="TextBox 15"/>
          <p:cNvSpPr txBox="1"/>
          <p:nvPr/>
        </p:nvSpPr>
        <p:spPr>
          <a:xfrm>
            <a:off x="6359651" y="3392424"/>
            <a:ext cx="5161788" cy="612648"/>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Service, environment, UTC window, deployment SHA.</a:t>
            </a:r>
          </a:p>
        </p:txBody>
      </p:sp>
      <p:sp>
        <p:nvSpPr>
          <p:cNvPr id="17" name="Rounded Rectangle 16"/>
          <p:cNvSpPr/>
          <p:nvPr/>
        </p:nvSpPr>
        <p:spPr>
          <a:xfrm>
            <a:off x="502920" y="4352544"/>
            <a:ext cx="549097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 y="4498848"/>
            <a:ext cx="5161788" cy="201168"/>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NATIVE</a:t>
            </a:r>
          </a:p>
        </p:txBody>
      </p:sp>
      <p:sp>
        <p:nvSpPr>
          <p:cNvPr id="19" name="TextBox 18"/>
          <p:cNvSpPr txBox="1"/>
          <p:nvPr/>
        </p:nvSpPr>
        <p:spPr>
          <a:xfrm>
            <a:off x="667512" y="4828031"/>
            <a:ext cx="516178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Investigation</a:t>
            </a:r>
          </a:p>
        </p:txBody>
      </p:sp>
      <p:sp>
        <p:nvSpPr>
          <p:cNvPr id="20" name="TextBox 19"/>
          <p:cNvSpPr txBox="1"/>
          <p:nvPr/>
        </p:nvSpPr>
        <p:spPr>
          <a:xfrm>
            <a:off x="667512" y="5431536"/>
            <a:ext cx="5161788" cy="612648"/>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Correlate telemetry and changes; expose missing evidence.</a:t>
            </a:r>
          </a:p>
        </p:txBody>
      </p:sp>
      <p:sp>
        <p:nvSpPr>
          <p:cNvPr id="21" name="Rounded Rectangle 20"/>
          <p:cNvSpPr/>
          <p:nvPr/>
        </p:nvSpPr>
        <p:spPr>
          <a:xfrm>
            <a:off x="6195059" y="4352544"/>
            <a:ext cx="549097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9651" y="4498848"/>
            <a:ext cx="5161788" cy="201168"/>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TEAM</a:t>
            </a:r>
          </a:p>
        </p:txBody>
      </p:sp>
      <p:sp>
        <p:nvSpPr>
          <p:cNvPr id="23" name="TextBox 22"/>
          <p:cNvSpPr txBox="1"/>
          <p:nvPr/>
        </p:nvSpPr>
        <p:spPr>
          <a:xfrm>
            <a:off x="6359651" y="4828031"/>
            <a:ext cx="516178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Decision</a:t>
            </a:r>
          </a:p>
        </p:txBody>
      </p:sp>
      <p:sp>
        <p:nvSpPr>
          <p:cNvPr id="24" name="TextBox 23"/>
          <p:cNvSpPr txBox="1"/>
          <p:nvPr/>
        </p:nvSpPr>
        <p:spPr>
          <a:xfrm>
            <a:off x="6359651" y="5431536"/>
            <a:ext cx="5161788" cy="612648"/>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Accept or reject the hypothesis; choose a safe next action.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B952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AWS DEVOPS AGENT  /  CAPABILITIES</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Six useful capability families</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Choose an operational job first; enable its data and action paths second.</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03 / 18    AWS DevOps Agent</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01:30 allocated  |  02:30–04:00</a:t>
            </a:r>
          </a:p>
        </p:txBody>
      </p:sp>
      <p:sp>
        <p:nvSpPr>
          <p:cNvPr id="9" name="Rounded Rectangle 8"/>
          <p:cNvSpPr/>
          <p:nvPr/>
        </p:nvSpPr>
        <p:spPr>
          <a:xfrm>
            <a:off x="502920" y="2313432"/>
            <a:ext cx="359359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459736"/>
            <a:ext cx="3264408" cy="201168"/>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PRODUCTION</a:t>
            </a:r>
          </a:p>
        </p:txBody>
      </p:sp>
      <p:sp>
        <p:nvSpPr>
          <p:cNvPr id="11" name="TextBox 10"/>
          <p:cNvSpPr txBox="1"/>
          <p:nvPr/>
        </p:nvSpPr>
        <p:spPr>
          <a:xfrm>
            <a:off x="667512" y="2788920"/>
            <a:ext cx="326440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Investigate incidents</a:t>
            </a:r>
          </a:p>
        </p:txBody>
      </p:sp>
      <p:sp>
        <p:nvSpPr>
          <p:cNvPr id="12" name="TextBox 11"/>
          <p:cNvSpPr txBox="1"/>
          <p:nvPr/>
        </p:nvSpPr>
        <p:spPr>
          <a:xfrm>
            <a:off x="667512" y="3392424"/>
            <a:ext cx="3264408" cy="612648"/>
          </a:xfrm>
          <a:prstGeom prst="rect">
            <a:avLst/>
          </a:prstGeom>
          <a:noFill/>
        </p:spPr>
        <p:txBody>
          <a:bodyPr wrap="square" lIns="0" rIns="0" tIns="0" bIns="0" anchor="t">
            <a:spAutoFit/>
          </a:bodyPr>
          <a:lstStyle/>
          <a:p>
            <a:pPr>
              <a:lnSpc>
                <a:spcPct val="112000"/>
              </a:lnSpc>
              <a:spcAft>
                <a:spcPts val="300"/>
              </a:spcAft>
              <a:defRPr sz="1450" b="0">
                <a:solidFill>
                  <a:srgbClr val="182B43"/>
                </a:solidFill>
                <a:latin typeface="Arial"/>
              </a:defRPr>
            </a:pPr>
            <a:r>
              <a:t>Triage related signals and produce findings and mitigation guidance.</a:t>
            </a:r>
          </a:p>
        </p:txBody>
      </p:sp>
      <p:sp>
        <p:nvSpPr>
          <p:cNvPr id="13" name="Rounded Rectangle 12"/>
          <p:cNvSpPr/>
          <p:nvPr/>
        </p:nvSpPr>
        <p:spPr>
          <a:xfrm>
            <a:off x="4297680" y="2313432"/>
            <a:ext cx="359359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62272" y="2459736"/>
            <a:ext cx="3264408" cy="201168"/>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PRODUCTION</a:t>
            </a:r>
          </a:p>
        </p:txBody>
      </p:sp>
      <p:sp>
        <p:nvSpPr>
          <p:cNvPr id="15" name="TextBox 14"/>
          <p:cNvSpPr txBox="1"/>
          <p:nvPr/>
        </p:nvSpPr>
        <p:spPr>
          <a:xfrm>
            <a:off x="4462272" y="2788920"/>
            <a:ext cx="3264408" cy="502920"/>
          </a:xfrm>
          <a:prstGeom prst="rect">
            <a:avLst/>
          </a:prstGeom>
          <a:noFill/>
        </p:spPr>
        <p:txBody>
          <a:bodyPr wrap="square" lIns="0" rIns="0" tIns="0" bIns="0" anchor="t">
            <a:spAutoFit/>
          </a:bodyPr>
          <a:lstStyle/>
          <a:p>
            <a:pPr>
              <a:lnSpc>
                <a:spcPct val="112000"/>
              </a:lnSpc>
              <a:spcAft>
                <a:spcPts val="300"/>
              </a:spcAft>
              <a:defRPr sz="1950" b="1">
                <a:solidFill>
                  <a:srgbClr val="182B43"/>
                </a:solidFill>
                <a:latin typeface="Arial"/>
              </a:defRPr>
            </a:pPr>
            <a:r>
              <a:t>Ask operational questions</a:t>
            </a:r>
          </a:p>
        </p:txBody>
      </p:sp>
      <p:sp>
        <p:nvSpPr>
          <p:cNvPr id="16" name="TextBox 15"/>
          <p:cNvSpPr txBox="1"/>
          <p:nvPr/>
        </p:nvSpPr>
        <p:spPr>
          <a:xfrm>
            <a:off x="4462272" y="3392424"/>
            <a:ext cx="3264408" cy="612648"/>
          </a:xfrm>
          <a:prstGeom prst="rect">
            <a:avLst/>
          </a:prstGeom>
          <a:noFill/>
        </p:spPr>
        <p:txBody>
          <a:bodyPr wrap="square" lIns="0" rIns="0" tIns="0" bIns="0" anchor="t">
            <a:spAutoFit/>
          </a:bodyPr>
          <a:lstStyle/>
          <a:p>
            <a:pPr>
              <a:lnSpc>
                <a:spcPct val="112000"/>
              </a:lnSpc>
              <a:spcAft>
                <a:spcPts val="300"/>
              </a:spcAft>
              <a:defRPr sz="1500" b="0">
                <a:solidFill>
                  <a:srgbClr val="182B43"/>
                </a:solidFill>
                <a:latin typeface="Arial"/>
              </a:defRPr>
            </a:pPr>
            <a:r>
              <a:t>Inspect resources, alarms, health, and prior investigations.</a:t>
            </a:r>
          </a:p>
        </p:txBody>
      </p:sp>
      <p:sp>
        <p:nvSpPr>
          <p:cNvPr id="17" name="Rounded Rectangle 16"/>
          <p:cNvSpPr/>
          <p:nvPr/>
        </p:nvSpPr>
        <p:spPr>
          <a:xfrm>
            <a:off x="8092440" y="2313432"/>
            <a:ext cx="359359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57032" y="2459736"/>
            <a:ext cx="3264408" cy="201168"/>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PRODUCTION</a:t>
            </a:r>
          </a:p>
        </p:txBody>
      </p:sp>
      <p:sp>
        <p:nvSpPr>
          <p:cNvPr id="19" name="TextBox 18"/>
          <p:cNvSpPr txBox="1"/>
          <p:nvPr/>
        </p:nvSpPr>
        <p:spPr>
          <a:xfrm>
            <a:off x="8257032" y="2788920"/>
            <a:ext cx="326440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Prevent recurrence</a:t>
            </a:r>
          </a:p>
        </p:txBody>
      </p:sp>
      <p:sp>
        <p:nvSpPr>
          <p:cNvPr id="20" name="TextBox 19"/>
          <p:cNvSpPr txBox="1"/>
          <p:nvPr/>
        </p:nvSpPr>
        <p:spPr>
          <a:xfrm>
            <a:off x="8257032" y="3392424"/>
            <a:ext cx="3264408" cy="612648"/>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Review patterns and prioritize reliability improvements.</a:t>
            </a:r>
          </a:p>
        </p:txBody>
      </p:sp>
      <p:sp>
        <p:nvSpPr>
          <p:cNvPr id="21" name="Rounded Rectangle 20"/>
          <p:cNvSpPr/>
          <p:nvPr/>
        </p:nvSpPr>
        <p:spPr>
          <a:xfrm>
            <a:off x="502920" y="4352544"/>
            <a:ext cx="359359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 y="4498848"/>
            <a:ext cx="3264408" cy="201168"/>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CONFIGURED</a:t>
            </a:r>
          </a:p>
        </p:txBody>
      </p:sp>
      <p:sp>
        <p:nvSpPr>
          <p:cNvPr id="23" name="TextBox 22"/>
          <p:cNvSpPr txBox="1"/>
          <p:nvPr/>
        </p:nvSpPr>
        <p:spPr>
          <a:xfrm>
            <a:off x="667512" y="4828031"/>
            <a:ext cx="326440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Run custom tasks</a:t>
            </a:r>
          </a:p>
        </p:txBody>
      </p:sp>
      <p:sp>
        <p:nvSpPr>
          <p:cNvPr id="24" name="TextBox 23"/>
          <p:cNvSpPr txBox="1"/>
          <p:nvPr/>
        </p:nvSpPr>
        <p:spPr>
          <a:xfrm>
            <a:off x="667512" y="5431536"/>
            <a:ext cx="3264408" cy="612648"/>
          </a:xfrm>
          <a:prstGeom prst="rect">
            <a:avLst/>
          </a:prstGeom>
          <a:noFill/>
        </p:spPr>
        <p:txBody>
          <a:bodyPr wrap="square" lIns="0" rIns="0" tIns="0" bIns="0" anchor="t">
            <a:spAutoFit/>
          </a:bodyPr>
          <a:lstStyle/>
          <a:p>
            <a:pPr>
              <a:lnSpc>
                <a:spcPct val="112000"/>
              </a:lnSpc>
              <a:spcAft>
                <a:spcPts val="300"/>
              </a:spcAft>
              <a:defRPr sz="1500" b="0">
                <a:solidFill>
                  <a:srgbClr val="182B43"/>
                </a:solidFill>
                <a:latin typeface="Arial"/>
              </a:defRPr>
            </a:pPr>
            <a:r>
              <a:t>Define a prompt, select tools/skills, and add a schedule.</a:t>
            </a:r>
          </a:p>
        </p:txBody>
      </p:sp>
      <p:sp>
        <p:nvSpPr>
          <p:cNvPr id="25" name="Rounded Rectangle 24"/>
          <p:cNvSpPr/>
          <p:nvPr/>
        </p:nvSpPr>
        <p:spPr>
          <a:xfrm>
            <a:off x="4297680" y="4352544"/>
            <a:ext cx="359359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62272" y="4498848"/>
            <a:ext cx="3264408" cy="201168"/>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PREVIEW</a:t>
            </a:r>
          </a:p>
        </p:txBody>
      </p:sp>
      <p:sp>
        <p:nvSpPr>
          <p:cNvPr id="27" name="TextBox 26"/>
          <p:cNvSpPr txBox="1"/>
          <p:nvPr/>
        </p:nvSpPr>
        <p:spPr>
          <a:xfrm>
            <a:off x="4462272" y="4828031"/>
            <a:ext cx="326440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Review release risk</a:t>
            </a:r>
          </a:p>
        </p:txBody>
      </p:sp>
      <p:sp>
        <p:nvSpPr>
          <p:cNvPr id="28" name="TextBox 27"/>
          <p:cNvSpPr txBox="1"/>
          <p:nvPr/>
        </p:nvSpPr>
        <p:spPr>
          <a:xfrm>
            <a:off x="4462272" y="5431536"/>
            <a:ext cx="3264408" cy="612648"/>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Readiness reviews plus optional managed verification.</a:t>
            </a:r>
          </a:p>
        </p:txBody>
      </p:sp>
      <p:sp>
        <p:nvSpPr>
          <p:cNvPr id="29" name="Rounded Rectangle 28"/>
          <p:cNvSpPr/>
          <p:nvPr/>
        </p:nvSpPr>
        <p:spPr>
          <a:xfrm>
            <a:off x="8092440" y="4352544"/>
            <a:ext cx="359359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57032" y="4498848"/>
            <a:ext cx="3264408" cy="201168"/>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PREVIEW</a:t>
            </a:r>
          </a:p>
        </p:txBody>
      </p:sp>
      <p:sp>
        <p:nvSpPr>
          <p:cNvPr id="31" name="TextBox 30"/>
          <p:cNvSpPr txBox="1"/>
          <p:nvPr/>
        </p:nvSpPr>
        <p:spPr>
          <a:xfrm>
            <a:off x="8257032" y="4828031"/>
            <a:ext cx="326440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Test a deployed release</a:t>
            </a:r>
          </a:p>
        </p:txBody>
      </p:sp>
      <p:sp>
        <p:nvSpPr>
          <p:cNvPr id="32" name="TextBox 31"/>
          <p:cNvSpPr txBox="1"/>
          <p:nvPr/>
        </p:nvSpPr>
        <p:spPr>
          <a:xfrm>
            <a:off x="8257032" y="5431536"/>
            <a:ext cx="3264408" cy="612648"/>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Explore a staging web application or REST API.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B952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AWS DEVOPS AGENT  /  CAPABILITIES</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Build an Agent Space with useful context</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Acceptance: one known resource is visible; an out-of-scope test resource is denied.</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04 / 18    AWS DevOps Agent</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01:30 allocated  |  04:00–05:30</a:t>
            </a:r>
          </a:p>
        </p:txBody>
      </p:sp>
      <p:sp>
        <p:nvSpPr>
          <p:cNvPr id="9" name="Rounded Rectangle 8"/>
          <p:cNvSpPr/>
          <p:nvPr/>
        </p:nvSpPr>
        <p:spPr>
          <a:xfrm>
            <a:off x="502920" y="2313432"/>
            <a:ext cx="3611880"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459736"/>
            <a:ext cx="3282696" cy="201168"/>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01</a:t>
            </a:r>
          </a:p>
        </p:txBody>
      </p:sp>
      <p:sp>
        <p:nvSpPr>
          <p:cNvPr id="11" name="TextBox 10"/>
          <p:cNvSpPr txBox="1"/>
          <p:nvPr/>
        </p:nvSpPr>
        <p:spPr>
          <a:xfrm>
            <a:off x="667512" y="2788920"/>
            <a:ext cx="328269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Inputs</a:t>
            </a:r>
          </a:p>
        </p:txBody>
      </p:sp>
      <p:sp>
        <p:nvSpPr>
          <p:cNvPr id="12" name="TextBox 11"/>
          <p:cNvSpPr txBox="1"/>
          <p:nvPr/>
        </p:nvSpPr>
        <p:spPr>
          <a:xfrm>
            <a:off x="667512" y="3392424"/>
            <a:ext cx="3282696"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Owned accounts and service topology</a:t>
            </a:r>
          </a:p>
          <a:p>
            <a:pPr>
              <a:lnSpc>
                <a:spcPct val="112000"/>
              </a:lnSpc>
              <a:spcAft>
                <a:spcPts val="300"/>
              </a:spcAft>
              <a:defRPr sz="1800" b="0">
                <a:solidFill>
                  <a:srgbClr val="182B43"/>
                </a:solidFill>
                <a:latin typeface="Arial"/>
              </a:defRPr>
            </a:pPr>
          </a:p>
          <a:p>
            <a:pPr>
              <a:lnSpc>
                <a:spcPct val="112000"/>
              </a:lnSpc>
              <a:spcAft>
                <a:spcPts val="300"/>
              </a:spcAft>
              <a:defRPr sz="1800" b="0">
                <a:solidFill>
                  <a:srgbClr val="182B43"/>
                </a:solidFill>
                <a:latin typeface="Arial"/>
              </a:defRPr>
            </a:pPr>
            <a:r>
              <a:t>Telemetry, repository and deployment integrations</a:t>
            </a:r>
          </a:p>
        </p:txBody>
      </p:sp>
      <p:sp>
        <p:nvSpPr>
          <p:cNvPr id="13" name="Rounded Rectangle 12"/>
          <p:cNvSpPr/>
          <p:nvPr/>
        </p:nvSpPr>
        <p:spPr>
          <a:xfrm>
            <a:off x="4288536" y="2313432"/>
            <a:ext cx="3611880"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53127" y="2459736"/>
            <a:ext cx="3282696" cy="201168"/>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02</a:t>
            </a:r>
          </a:p>
        </p:txBody>
      </p:sp>
      <p:sp>
        <p:nvSpPr>
          <p:cNvPr id="15" name="TextBox 14"/>
          <p:cNvSpPr txBox="1"/>
          <p:nvPr/>
        </p:nvSpPr>
        <p:spPr>
          <a:xfrm>
            <a:off x="4453127" y="2788920"/>
            <a:ext cx="328269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Agent work</a:t>
            </a:r>
          </a:p>
        </p:txBody>
      </p:sp>
      <p:sp>
        <p:nvSpPr>
          <p:cNvPr id="16" name="TextBox 15"/>
          <p:cNvSpPr txBox="1"/>
          <p:nvPr/>
        </p:nvSpPr>
        <p:spPr>
          <a:xfrm>
            <a:off x="4453127" y="3392424"/>
            <a:ext cx="3282696"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Discover relationships and collect permitted evidence</a:t>
            </a:r>
          </a:p>
          <a:p>
            <a:pPr>
              <a:lnSpc>
                <a:spcPct val="112000"/>
              </a:lnSpc>
              <a:spcAft>
                <a:spcPts val="300"/>
              </a:spcAft>
              <a:defRPr sz="1800" b="0">
                <a:solidFill>
                  <a:srgbClr val="182B43"/>
                </a:solidFill>
                <a:latin typeface="Arial"/>
              </a:defRPr>
            </a:pPr>
          </a:p>
          <a:p>
            <a:pPr>
              <a:lnSpc>
                <a:spcPct val="112000"/>
              </a:lnSpc>
              <a:spcAft>
                <a:spcPts val="300"/>
              </a:spcAft>
              <a:defRPr sz="1800" b="0">
                <a:solidFill>
                  <a:srgbClr val="182B43"/>
                </a:solidFill>
                <a:latin typeface="Arial"/>
              </a:defRPr>
            </a:pPr>
            <a:r>
              <a:t>Connect private tools explicitly when required</a:t>
            </a:r>
          </a:p>
        </p:txBody>
      </p:sp>
      <p:sp>
        <p:nvSpPr>
          <p:cNvPr id="17" name="Rounded Rectangle 16"/>
          <p:cNvSpPr/>
          <p:nvPr/>
        </p:nvSpPr>
        <p:spPr>
          <a:xfrm>
            <a:off x="8074152" y="2313432"/>
            <a:ext cx="3611880"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38744" y="2459736"/>
            <a:ext cx="3282696" cy="201168"/>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03</a:t>
            </a:r>
          </a:p>
        </p:txBody>
      </p:sp>
      <p:sp>
        <p:nvSpPr>
          <p:cNvPr id="19" name="TextBox 18"/>
          <p:cNvSpPr txBox="1"/>
          <p:nvPr/>
        </p:nvSpPr>
        <p:spPr>
          <a:xfrm>
            <a:off x="8238744" y="2788920"/>
            <a:ext cx="328269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Outputs</a:t>
            </a:r>
          </a:p>
        </p:txBody>
      </p:sp>
      <p:sp>
        <p:nvSpPr>
          <p:cNvPr id="20" name="TextBox 19"/>
          <p:cNvSpPr txBox="1"/>
          <p:nvPr/>
        </p:nvSpPr>
        <p:spPr>
          <a:xfrm>
            <a:off x="8238744" y="3392424"/>
            <a:ext cx="3282696"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A scoped context for investigations</a:t>
            </a:r>
          </a:p>
          <a:p>
            <a:pPr>
              <a:lnSpc>
                <a:spcPct val="112000"/>
              </a:lnSpc>
              <a:spcAft>
                <a:spcPts val="300"/>
              </a:spcAft>
              <a:defRPr sz="1800" b="0">
                <a:solidFill>
                  <a:srgbClr val="182B43"/>
                </a:solidFill>
                <a:latin typeface="Arial"/>
              </a:defRPr>
            </a:pPr>
          </a:p>
          <a:p>
            <a:pPr>
              <a:lnSpc>
                <a:spcPct val="112000"/>
              </a:lnSpc>
              <a:spcAft>
                <a:spcPts val="300"/>
              </a:spcAft>
              <a:defRPr sz="1800" b="0">
                <a:solidFill>
                  <a:srgbClr val="182B43"/>
                </a:solidFill>
                <a:latin typeface="Arial"/>
              </a:defRPr>
            </a:pPr>
            <a:r>
              <a:t>Known evidence coverage and documented gaps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B952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AWS DEVOPS AGENT  /  CAPABILITIES</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Investigate and steer a live incident</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Acceptance: distinguish observed facts, hypotheses, and missing telemetry.</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05 / 18    AWS DevOps Agent</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01:30 allocated  |  05:30–07:00</a:t>
            </a:r>
          </a:p>
        </p:txBody>
      </p:sp>
      <p:sp>
        <p:nvSpPr>
          <p:cNvPr id="9" name="Rounded Rectangle 8"/>
          <p:cNvSpPr/>
          <p:nvPr/>
        </p:nvSpPr>
        <p:spPr>
          <a:xfrm>
            <a:off x="502920" y="2313432"/>
            <a:ext cx="3611880"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459736"/>
            <a:ext cx="3282696" cy="201168"/>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01</a:t>
            </a:r>
          </a:p>
        </p:txBody>
      </p:sp>
      <p:sp>
        <p:nvSpPr>
          <p:cNvPr id="11" name="TextBox 10"/>
          <p:cNvSpPr txBox="1"/>
          <p:nvPr/>
        </p:nvSpPr>
        <p:spPr>
          <a:xfrm>
            <a:off x="667512" y="2788920"/>
            <a:ext cx="328269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Inputs</a:t>
            </a:r>
          </a:p>
        </p:txBody>
      </p:sp>
      <p:sp>
        <p:nvSpPr>
          <p:cNvPr id="12" name="TextBox 11"/>
          <p:cNvSpPr txBox="1"/>
          <p:nvPr/>
        </p:nvSpPr>
        <p:spPr>
          <a:xfrm>
            <a:off x="667512" y="3392424"/>
            <a:ext cx="3282696"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Manual incident description, ticket or webhook</a:t>
            </a:r>
          </a:p>
          <a:p>
            <a:pPr>
              <a:lnSpc>
                <a:spcPct val="112000"/>
              </a:lnSpc>
              <a:spcAft>
                <a:spcPts val="300"/>
              </a:spcAft>
              <a:defRPr sz="1800" b="0">
                <a:solidFill>
                  <a:srgbClr val="182B43"/>
                </a:solidFill>
                <a:latin typeface="Arial"/>
              </a:defRPr>
            </a:pPr>
          </a:p>
          <a:p>
            <a:pPr>
              <a:lnSpc>
                <a:spcPct val="112000"/>
              </a:lnSpc>
              <a:spcAft>
                <a:spcPts val="300"/>
              </a:spcAft>
              <a:defRPr sz="1800" b="0">
                <a:solidFill>
                  <a:srgbClr val="182B43"/>
                </a:solidFill>
                <a:latin typeface="Arial"/>
              </a:defRPr>
            </a:pPr>
            <a:r>
              <a:t>Time window, alarm and suspected change</a:t>
            </a:r>
          </a:p>
        </p:txBody>
      </p:sp>
      <p:sp>
        <p:nvSpPr>
          <p:cNvPr id="13" name="Rounded Rectangle 12"/>
          <p:cNvSpPr/>
          <p:nvPr/>
        </p:nvSpPr>
        <p:spPr>
          <a:xfrm>
            <a:off x="4288536" y="2313432"/>
            <a:ext cx="3611880"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53127" y="2459736"/>
            <a:ext cx="3282696" cy="201168"/>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02</a:t>
            </a:r>
          </a:p>
        </p:txBody>
      </p:sp>
      <p:sp>
        <p:nvSpPr>
          <p:cNvPr id="15" name="TextBox 14"/>
          <p:cNvSpPr txBox="1"/>
          <p:nvPr/>
        </p:nvSpPr>
        <p:spPr>
          <a:xfrm>
            <a:off x="4453127" y="2788920"/>
            <a:ext cx="328269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Agent work</a:t>
            </a:r>
          </a:p>
        </p:txBody>
      </p:sp>
      <p:sp>
        <p:nvSpPr>
          <p:cNvPr id="16" name="TextBox 15"/>
          <p:cNvSpPr txBox="1"/>
          <p:nvPr/>
        </p:nvSpPr>
        <p:spPr>
          <a:xfrm>
            <a:off x="4453127" y="3392424"/>
            <a:ext cx="3282696"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Correlate related incident signals</a:t>
            </a:r>
          </a:p>
          <a:p>
            <a:pPr>
              <a:lnSpc>
                <a:spcPct val="112000"/>
              </a:lnSpc>
              <a:spcAft>
                <a:spcPts val="300"/>
              </a:spcAft>
              <a:defRPr sz="1800" b="0">
                <a:solidFill>
                  <a:srgbClr val="182B43"/>
                </a:solidFill>
                <a:latin typeface="Arial"/>
              </a:defRPr>
            </a:pPr>
          </a:p>
          <a:p>
            <a:pPr>
              <a:lnSpc>
                <a:spcPct val="112000"/>
              </a:lnSpc>
              <a:spcAft>
                <a:spcPts val="300"/>
              </a:spcAft>
              <a:defRPr sz="1800" b="0">
                <a:solidFill>
                  <a:srgbClr val="182B43"/>
                </a:solidFill>
                <a:latin typeface="Arial"/>
              </a:defRPr>
            </a:pPr>
            <a:r>
              <a:t>Collect findings; accept operator steering and feedback</a:t>
            </a:r>
          </a:p>
        </p:txBody>
      </p:sp>
      <p:sp>
        <p:nvSpPr>
          <p:cNvPr id="17" name="Rounded Rectangle 16"/>
          <p:cNvSpPr/>
          <p:nvPr/>
        </p:nvSpPr>
        <p:spPr>
          <a:xfrm>
            <a:off x="8074152" y="2313432"/>
            <a:ext cx="3611880"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38744" y="2459736"/>
            <a:ext cx="3282696" cy="201168"/>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03</a:t>
            </a:r>
          </a:p>
        </p:txBody>
      </p:sp>
      <p:sp>
        <p:nvSpPr>
          <p:cNvPr id="19" name="TextBox 18"/>
          <p:cNvSpPr txBox="1"/>
          <p:nvPr/>
        </p:nvSpPr>
        <p:spPr>
          <a:xfrm>
            <a:off x="8238744" y="2788920"/>
            <a:ext cx="328269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Outputs</a:t>
            </a:r>
          </a:p>
        </p:txBody>
      </p:sp>
      <p:sp>
        <p:nvSpPr>
          <p:cNvPr id="20" name="TextBox 19"/>
          <p:cNvSpPr txBox="1"/>
          <p:nvPr/>
        </p:nvSpPr>
        <p:spPr>
          <a:xfrm>
            <a:off x="8238744" y="3392424"/>
            <a:ext cx="3282696"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Investigation timeline and evidence</a:t>
            </a:r>
          </a:p>
          <a:p>
            <a:pPr>
              <a:lnSpc>
                <a:spcPct val="112000"/>
              </a:lnSpc>
              <a:spcAft>
                <a:spcPts val="300"/>
              </a:spcAft>
              <a:defRPr sz="1800" b="0">
                <a:solidFill>
                  <a:srgbClr val="182B43"/>
                </a:solidFill>
                <a:latin typeface="Arial"/>
              </a:defRPr>
            </a:pPr>
          </a:p>
          <a:p>
            <a:pPr>
              <a:lnSpc>
                <a:spcPct val="112000"/>
              </a:lnSpc>
              <a:spcAft>
                <a:spcPts val="300"/>
              </a:spcAft>
              <a:defRPr sz="1800" b="0">
                <a:solidFill>
                  <a:srgbClr val="182B43"/>
                </a:solidFill>
                <a:latin typeface="Arial"/>
              </a:defRPr>
            </a:pPr>
            <a:r>
              <a:t>Candidate cause and proposed mitigation plan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B952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AWS DEVOPS AGENT  /  DEMONSTRATION</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Demo 1 · investigate checkout 5xx errors</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Use a controlled incident snapshot; keep the investigation read-focused.</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06 / 18    AWS DevOps Agent</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07:00 allocated  |  07:00–14:00</a:t>
            </a:r>
          </a:p>
        </p:txBody>
      </p:sp>
      <p:sp>
        <p:nvSpPr>
          <p:cNvPr id="9" name="Rounded Rectangle 8"/>
          <p:cNvSpPr/>
          <p:nvPr/>
        </p:nvSpPr>
        <p:spPr>
          <a:xfrm>
            <a:off x="502920" y="2295144"/>
            <a:ext cx="11183112" cy="795528"/>
          </a:xfrm>
          <a:prstGeom prst="roundRect">
            <a:avLst>
              <a:gd name="adj" fmla="val 8000"/>
            </a:avLst>
          </a:prstGeom>
          <a:solidFill>
            <a:srgbClr val="10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2450592"/>
            <a:ext cx="10789920" cy="475488"/>
          </a:xfrm>
          <a:prstGeom prst="rect">
            <a:avLst/>
          </a:prstGeom>
          <a:noFill/>
        </p:spPr>
        <p:txBody>
          <a:bodyPr wrap="square" lIns="0" rIns="0" tIns="0" bIns="0" anchor="t">
            <a:spAutoFit/>
          </a:bodyPr>
          <a:lstStyle/>
          <a:p>
            <a:pPr>
              <a:lnSpc>
                <a:spcPct val="112000"/>
              </a:lnSpc>
              <a:spcAft>
                <a:spcPts val="300"/>
              </a:spcAft>
              <a:defRPr sz="1400" b="0">
                <a:solidFill>
                  <a:srgbClr val="FFFFFF"/>
                </a:solidFill>
                <a:latin typeface="Arial"/>
              </a:defRPr>
            </a:pPr>
            <a:r>
              <a:t>Investigate the checkout 5xx increase in the supplied UTC window after the deployment. Cite telemetry and the deployed diff. Separate observed facts, competing hypotheses, and missing data. Propose a mitigation; do not change resources.</a:t>
            </a:r>
          </a:p>
        </p:txBody>
      </p:sp>
      <p:sp>
        <p:nvSpPr>
          <p:cNvPr id="11" name="TextBox 10"/>
          <p:cNvSpPr txBox="1"/>
          <p:nvPr/>
        </p:nvSpPr>
        <p:spPr>
          <a:xfrm>
            <a:off x="502920" y="3264408"/>
            <a:ext cx="3200400" cy="201168"/>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PREFLIGHT</a:t>
            </a:r>
          </a:p>
        </p:txBody>
      </p:sp>
      <p:sp>
        <p:nvSpPr>
          <p:cNvPr id="12" name="TextBox 11"/>
          <p:cNvSpPr txBox="1"/>
          <p:nvPr/>
        </p:nvSpPr>
        <p:spPr>
          <a:xfrm>
            <a:off x="502920" y="3520439"/>
            <a:ext cx="3337560" cy="612648"/>
          </a:xfrm>
          <a:prstGeom prst="rect">
            <a:avLst/>
          </a:prstGeom>
          <a:noFill/>
        </p:spPr>
        <p:txBody>
          <a:bodyPr wrap="square" lIns="0" rIns="0" tIns="0" bIns="0" anchor="t">
            <a:spAutoFit/>
          </a:bodyPr>
          <a:lstStyle/>
          <a:p>
            <a:pPr>
              <a:lnSpc>
                <a:spcPct val="112000"/>
              </a:lnSpc>
              <a:spcAft>
                <a:spcPts val="300"/>
              </a:spcAft>
              <a:defRPr sz="1300" b="0">
                <a:solidFill>
                  <a:srgbClr val="182B43"/>
                </a:solidFill>
                <a:latin typeface="Arial"/>
              </a:defRPr>
            </a:pPr>
            <a:r>
              <a:t>Prepare a sanitized incident snapshot, read access and a completed investigation before presenting.</a:t>
            </a:r>
          </a:p>
        </p:txBody>
      </p:sp>
      <p:sp>
        <p:nvSpPr>
          <p:cNvPr id="13" name="TextBox 12"/>
          <p:cNvSpPr txBox="1"/>
          <p:nvPr/>
        </p:nvSpPr>
        <p:spPr>
          <a:xfrm>
            <a:off x="502920" y="4224528"/>
            <a:ext cx="3200400" cy="201168"/>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SUCCESS</a:t>
            </a:r>
          </a:p>
        </p:txBody>
      </p:sp>
      <p:sp>
        <p:nvSpPr>
          <p:cNvPr id="14" name="TextBox 13"/>
          <p:cNvSpPr txBox="1"/>
          <p:nvPr/>
        </p:nvSpPr>
        <p:spPr>
          <a:xfrm>
            <a:off x="502920" y="4480560"/>
            <a:ext cx="3337560" cy="612648"/>
          </a:xfrm>
          <a:prstGeom prst="rect">
            <a:avLst/>
          </a:prstGeom>
          <a:noFill/>
        </p:spPr>
        <p:txBody>
          <a:bodyPr wrap="square" lIns="0" rIns="0" tIns="0" bIns="0" anchor="t">
            <a:spAutoFit/>
          </a:bodyPr>
          <a:lstStyle/>
          <a:p>
            <a:pPr>
              <a:lnSpc>
                <a:spcPct val="112000"/>
              </a:lnSpc>
              <a:spcAft>
                <a:spcPts val="300"/>
              </a:spcAft>
              <a:defRPr sz="1300" b="0">
                <a:solidFill>
                  <a:srgbClr val="182B43"/>
                </a:solidFill>
                <a:latin typeface="Arial"/>
              </a:defRPr>
            </a:pPr>
            <a:r>
              <a:t>One source-backed hypothesis and one reviewable next action—not an asserted diagnosis.</a:t>
            </a:r>
          </a:p>
        </p:txBody>
      </p:sp>
      <p:sp>
        <p:nvSpPr>
          <p:cNvPr id="15" name="TextBox 14"/>
          <p:cNvSpPr txBox="1"/>
          <p:nvPr/>
        </p:nvSpPr>
        <p:spPr>
          <a:xfrm>
            <a:off x="502920" y="5184648"/>
            <a:ext cx="3200400" cy="201168"/>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FALLBACK</a:t>
            </a:r>
          </a:p>
        </p:txBody>
      </p:sp>
      <p:sp>
        <p:nvSpPr>
          <p:cNvPr id="16" name="TextBox 15"/>
          <p:cNvSpPr txBox="1"/>
          <p:nvPr/>
        </p:nvSpPr>
        <p:spPr>
          <a:xfrm>
            <a:off x="502920" y="5440680"/>
            <a:ext cx="3337560" cy="612648"/>
          </a:xfrm>
          <a:prstGeom prst="rect">
            <a:avLst/>
          </a:prstGeom>
          <a:noFill/>
        </p:spPr>
        <p:txBody>
          <a:bodyPr wrap="square" lIns="0" rIns="0" tIns="0" bIns="0" anchor="t">
            <a:spAutoFit/>
          </a:bodyPr>
          <a:lstStyle/>
          <a:p>
            <a:pPr>
              <a:lnSpc>
                <a:spcPct val="112000"/>
              </a:lnSpc>
              <a:spcAft>
                <a:spcPts val="300"/>
              </a:spcAft>
              <a:defRPr sz="1300" b="0">
                <a:solidFill>
                  <a:srgbClr val="182B43"/>
                </a:solidFill>
                <a:latin typeface="Arial"/>
              </a:defRPr>
            </a:pPr>
            <a:r>
              <a:t>After 60 seconds without usable output, use the completed run and inspect its evidence; do not wait for a fresh run.</a:t>
            </a:r>
          </a:p>
        </p:txBody>
      </p:sp>
      <p:sp>
        <p:nvSpPr>
          <p:cNvPr id="17" name="Rounded Rectangle 16"/>
          <p:cNvSpPr/>
          <p:nvPr/>
        </p:nvSpPr>
        <p:spPr>
          <a:xfrm>
            <a:off x="4096512" y="3246120"/>
            <a:ext cx="7589520" cy="534009"/>
          </a:xfrm>
          <a:prstGeom prst="roundRect">
            <a:avLst>
              <a:gd name="adj" fmla="val 8000"/>
            </a:avLst>
          </a:prstGeom>
          <a:solidFill>
            <a:srgbClr val="F1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33672" y="3355848"/>
            <a:ext cx="594360" cy="256032"/>
          </a:xfrm>
          <a:prstGeom prst="rect">
            <a:avLst/>
          </a:prstGeom>
          <a:noFill/>
        </p:spPr>
        <p:txBody>
          <a:bodyPr wrap="square" lIns="0" rIns="0" tIns="0" bIns="0" anchor="t">
            <a:spAutoFit/>
          </a:bodyPr>
          <a:lstStyle/>
          <a:p>
            <a:pPr>
              <a:lnSpc>
                <a:spcPct val="112000"/>
              </a:lnSpc>
              <a:spcAft>
                <a:spcPts val="300"/>
              </a:spcAft>
              <a:defRPr sz="1300" b="1">
                <a:solidFill>
                  <a:srgbClr val="B95215"/>
                </a:solidFill>
                <a:latin typeface="Arial"/>
              </a:defRPr>
            </a:pPr>
            <a:r>
              <a:t>01:00</a:t>
            </a:r>
          </a:p>
        </p:txBody>
      </p:sp>
      <p:sp>
        <p:nvSpPr>
          <p:cNvPr id="19" name="TextBox 18"/>
          <p:cNvSpPr txBox="1"/>
          <p:nvPr/>
        </p:nvSpPr>
        <p:spPr>
          <a:xfrm>
            <a:off x="4937760" y="3319272"/>
            <a:ext cx="6537960" cy="219456"/>
          </a:xfrm>
          <a:prstGeom prst="rect">
            <a:avLst/>
          </a:prstGeom>
          <a:noFill/>
        </p:spPr>
        <p:txBody>
          <a:bodyPr wrap="square" lIns="0" rIns="0" tIns="0" bIns="0" anchor="t">
            <a:spAutoFit/>
          </a:bodyPr>
          <a:lstStyle/>
          <a:p>
            <a:pPr>
              <a:lnSpc>
                <a:spcPct val="112000"/>
              </a:lnSpc>
              <a:spcAft>
                <a:spcPts val="300"/>
              </a:spcAft>
              <a:defRPr sz="1350" b="1">
                <a:solidFill>
                  <a:srgbClr val="182B43"/>
                </a:solidFill>
                <a:latin typeface="Arial"/>
              </a:defRPr>
            </a:pPr>
            <a:r>
              <a:t>Confirm scope</a:t>
            </a:r>
          </a:p>
        </p:txBody>
      </p:sp>
      <p:sp>
        <p:nvSpPr>
          <p:cNvPr id="20" name="TextBox 19"/>
          <p:cNvSpPr txBox="1"/>
          <p:nvPr/>
        </p:nvSpPr>
        <p:spPr>
          <a:xfrm>
            <a:off x="4937760" y="3557015"/>
            <a:ext cx="6537960" cy="232257"/>
          </a:xfrm>
          <a:prstGeom prst="rect">
            <a:avLst/>
          </a:prstGeom>
          <a:noFill/>
        </p:spPr>
        <p:txBody>
          <a:bodyPr wrap="square" lIns="0" rIns="0" tIns="0" bIns="0" anchor="t">
            <a:spAutoFit/>
          </a:bodyPr>
          <a:lstStyle/>
          <a:p>
            <a:pPr>
              <a:lnSpc>
                <a:spcPct val="112000"/>
              </a:lnSpc>
              <a:spcAft>
                <a:spcPts val="300"/>
              </a:spcAft>
              <a:defRPr sz="1400" b="0">
                <a:solidFill>
                  <a:srgbClr val="182B43"/>
                </a:solidFill>
                <a:latin typeface="Arial"/>
              </a:defRPr>
            </a:pPr>
            <a:r>
              <a:t>Open the Agent Space, incident window and deployment reference.</a:t>
            </a:r>
          </a:p>
        </p:txBody>
      </p:sp>
      <p:sp>
        <p:nvSpPr>
          <p:cNvPr id="21" name="Rounded Rectangle 20"/>
          <p:cNvSpPr/>
          <p:nvPr/>
        </p:nvSpPr>
        <p:spPr>
          <a:xfrm>
            <a:off x="4096512" y="3834993"/>
            <a:ext cx="7589520" cy="534009"/>
          </a:xfrm>
          <a:prstGeom prst="roundRect">
            <a:avLst>
              <a:gd name="adj" fmla="val 8000"/>
            </a:avLst>
          </a:prstGeom>
          <a:solidFill>
            <a:srgbClr val="F1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33672" y="3944721"/>
            <a:ext cx="594360" cy="256032"/>
          </a:xfrm>
          <a:prstGeom prst="rect">
            <a:avLst/>
          </a:prstGeom>
          <a:noFill/>
        </p:spPr>
        <p:txBody>
          <a:bodyPr wrap="square" lIns="0" rIns="0" tIns="0" bIns="0" anchor="t">
            <a:spAutoFit/>
          </a:bodyPr>
          <a:lstStyle/>
          <a:p>
            <a:pPr>
              <a:lnSpc>
                <a:spcPct val="112000"/>
              </a:lnSpc>
              <a:spcAft>
                <a:spcPts val="300"/>
              </a:spcAft>
              <a:defRPr sz="1300" b="1">
                <a:solidFill>
                  <a:srgbClr val="B95215"/>
                </a:solidFill>
                <a:latin typeface="Arial"/>
              </a:defRPr>
            </a:pPr>
            <a:r>
              <a:t>01:30</a:t>
            </a:r>
          </a:p>
        </p:txBody>
      </p:sp>
      <p:sp>
        <p:nvSpPr>
          <p:cNvPr id="23" name="TextBox 22"/>
          <p:cNvSpPr txBox="1"/>
          <p:nvPr/>
        </p:nvSpPr>
        <p:spPr>
          <a:xfrm>
            <a:off x="4937760" y="3908145"/>
            <a:ext cx="6537960" cy="219456"/>
          </a:xfrm>
          <a:prstGeom prst="rect">
            <a:avLst/>
          </a:prstGeom>
          <a:noFill/>
        </p:spPr>
        <p:txBody>
          <a:bodyPr wrap="square" lIns="0" rIns="0" tIns="0" bIns="0" anchor="t">
            <a:spAutoFit/>
          </a:bodyPr>
          <a:lstStyle/>
          <a:p>
            <a:pPr>
              <a:lnSpc>
                <a:spcPct val="112000"/>
              </a:lnSpc>
              <a:spcAft>
                <a:spcPts val="300"/>
              </a:spcAft>
              <a:defRPr sz="1350" b="1">
                <a:solidFill>
                  <a:srgbClr val="182B43"/>
                </a:solidFill>
                <a:latin typeface="Arial"/>
              </a:defRPr>
            </a:pPr>
            <a:r>
              <a:t>Inspect the investigation</a:t>
            </a:r>
          </a:p>
        </p:txBody>
      </p:sp>
      <p:sp>
        <p:nvSpPr>
          <p:cNvPr id="24" name="TextBox 23"/>
          <p:cNvSpPr txBox="1"/>
          <p:nvPr/>
        </p:nvSpPr>
        <p:spPr>
          <a:xfrm>
            <a:off x="4937760" y="4145889"/>
            <a:ext cx="6537960" cy="232257"/>
          </a:xfrm>
          <a:prstGeom prst="rect">
            <a:avLst/>
          </a:prstGeom>
          <a:noFill/>
        </p:spPr>
        <p:txBody>
          <a:bodyPr wrap="square" lIns="0" rIns="0" tIns="0" bIns="0" anchor="t">
            <a:spAutoFit/>
          </a:bodyPr>
          <a:lstStyle/>
          <a:p>
            <a:pPr>
              <a:lnSpc>
                <a:spcPct val="112000"/>
              </a:lnSpc>
              <a:spcAft>
                <a:spcPts val="300"/>
              </a:spcAft>
              <a:defRPr sz="1400" b="0">
                <a:solidFill>
                  <a:srgbClr val="182B43"/>
                </a:solidFill>
                <a:latin typeface="Arial"/>
              </a:defRPr>
            </a:pPr>
            <a:r>
              <a:t>Start or open a pre-run investigation; check source coverage.</a:t>
            </a:r>
          </a:p>
        </p:txBody>
      </p:sp>
      <p:sp>
        <p:nvSpPr>
          <p:cNvPr id="25" name="Rounded Rectangle 24"/>
          <p:cNvSpPr/>
          <p:nvPr/>
        </p:nvSpPr>
        <p:spPr>
          <a:xfrm>
            <a:off x="4096512" y="4423867"/>
            <a:ext cx="7589520" cy="534009"/>
          </a:xfrm>
          <a:prstGeom prst="roundRect">
            <a:avLst>
              <a:gd name="adj" fmla="val 8000"/>
            </a:avLst>
          </a:prstGeom>
          <a:solidFill>
            <a:srgbClr val="F1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233672" y="4533595"/>
            <a:ext cx="594360" cy="256032"/>
          </a:xfrm>
          <a:prstGeom prst="rect">
            <a:avLst/>
          </a:prstGeom>
          <a:noFill/>
        </p:spPr>
        <p:txBody>
          <a:bodyPr wrap="square" lIns="0" rIns="0" tIns="0" bIns="0" anchor="t">
            <a:spAutoFit/>
          </a:bodyPr>
          <a:lstStyle/>
          <a:p>
            <a:pPr>
              <a:lnSpc>
                <a:spcPct val="112000"/>
              </a:lnSpc>
              <a:spcAft>
                <a:spcPts val="300"/>
              </a:spcAft>
              <a:defRPr sz="1300" b="1">
                <a:solidFill>
                  <a:srgbClr val="B95215"/>
                </a:solidFill>
                <a:latin typeface="Arial"/>
              </a:defRPr>
            </a:pPr>
            <a:r>
              <a:t>02:00</a:t>
            </a:r>
          </a:p>
        </p:txBody>
      </p:sp>
      <p:sp>
        <p:nvSpPr>
          <p:cNvPr id="27" name="TextBox 26"/>
          <p:cNvSpPr txBox="1"/>
          <p:nvPr/>
        </p:nvSpPr>
        <p:spPr>
          <a:xfrm>
            <a:off x="4937760" y="4497019"/>
            <a:ext cx="6537960" cy="219456"/>
          </a:xfrm>
          <a:prstGeom prst="rect">
            <a:avLst/>
          </a:prstGeom>
          <a:noFill/>
        </p:spPr>
        <p:txBody>
          <a:bodyPr wrap="square" lIns="0" rIns="0" tIns="0" bIns="0" anchor="t">
            <a:spAutoFit/>
          </a:bodyPr>
          <a:lstStyle/>
          <a:p>
            <a:pPr>
              <a:lnSpc>
                <a:spcPct val="112000"/>
              </a:lnSpc>
              <a:spcAft>
                <a:spcPts val="300"/>
              </a:spcAft>
              <a:defRPr sz="1350" b="1">
                <a:solidFill>
                  <a:srgbClr val="182B43"/>
                </a:solidFill>
                <a:latin typeface="Arial"/>
              </a:defRPr>
            </a:pPr>
            <a:r>
              <a:t>Challenge the leading hypothesis</a:t>
            </a:r>
          </a:p>
        </p:txBody>
      </p:sp>
      <p:sp>
        <p:nvSpPr>
          <p:cNvPr id="28" name="TextBox 27"/>
          <p:cNvSpPr txBox="1"/>
          <p:nvPr/>
        </p:nvSpPr>
        <p:spPr>
          <a:xfrm>
            <a:off x="4937760" y="4734763"/>
            <a:ext cx="6537960" cy="232257"/>
          </a:xfrm>
          <a:prstGeom prst="rect">
            <a:avLst/>
          </a:prstGeom>
          <a:noFill/>
        </p:spPr>
        <p:txBody>
          <a:bodyPr wrap="square" lIns="0" rIns="0" tIns="0" bIns="0" anchor="t">
            <a:spAutoFit/>
          </a:bodyPr>
          <a:lstStyle/>
          <a:p>
            <a:pPr>
              <a:lnSpc>
                <a:spcPct val="112000"/>
              </a:lnSpc>
              <a:spcAft>
                <a:spcPts val="300"/>
              </a:spcAft>
              <a:defRPr sz="1400" b="0">
                <a:solidFill>
                  <a:srgbClr val="182B43"/>
                </a:solidFill>
                <a:latin typeface="Arial"/>
              </a:defRPr>
            </a:pPr>
            <a:r>
              <a:t>Compare two source observations and inspect a competing explanation.</a:t>
            </a:r>
          </a:p>
        </p:txBody>
      </p:sp>
      <p:sp>
        <p:nvSpPr>
          <p:cNvPr id="29" name="Rounded Rectangle 28"/>
          <p:cNvSpPr/>
          <p:nvPr/>
        </p:nvSpPr>
        <p:spPr>
          <a:xfrm>
            <a:off x="4096512" y="5012740"/>
            <a:ext cx="7589520" cy="534009"/>
          </a:xfrm>
          <a:prstGeom prst="roundRect">
            <a:avLst>
              <a:gd name="adj" fmla="val 8000"/>
            </a:avLst>
          </a:prstGeom>
          <a:solidFill>
            <a:srgbClr val="F1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33672" y="5122468"/>
            <a:ext cx="594360" cy="256032"/>
          </a:xfrm>
          <a:prstGeom prst="rect">
            <a:avLst/>
          </a:prstGeom>
          <a:noFill/>
        </p:spPr>
        <p:txBody>
          <a:bodyPr wrap="square" lIns="0" rIns="0" tIns="0" bIns="0" anchor="t">
            <a:spAutoFit/>
          </a:bodyPr>
          <a:lstStyle/>
          <a:p>
            <a:pPr>
              <a:lnSpc>
                <a:spcPct val="112000"/>
              </a:lnSpc>
              <a:spcAft>
                <a:spcPts val="300"/>
              </a:spcAft>
              <a:defRPr sz="1300" b="1">
                <a:solidFill>
                  <a:srgbClr val="B95215"/>
                </a:solidFill>
                <a:latin typeface="Arial"/>
              </a:defRPr>
            </a:pPr>
            <a:r>
              <a:t>01:30</a:t>
            </a:r>
          </a:p>
        </p:txBody>
      </p:sp>
      <p:sp>
        <p:nvSpPr>
          <p:cNvPr id="31" name="TextBox 30"/>
          <p:cNvSpPr txBox="1"/>
          <p:nvPr/>
        </p:nvSpPr>
        <p:spPr>
          <a:xfrm>
            <a:off x="4937760" y="5085892"/>
            <a:ext cx="6537960" cy="219456"/>
          </a:xfrm>
          <a:prstGeom prst="rect">
            <a:avLst/>
          </a:prstGeom>
          <a:noFill/>
        </p:spPr>
        <p:txBody>
          <a:bodyPr wrap="square" lIns="0" rIns="0" tIns="0" bIns="0" anchor="t">
            <a:spAutoFit/>
          </a:bodyPr>
          <a:lstStyle/>
          <a:p>
            <a:pPr>
              <a:lnSpc>
                <a:spcPct val="112000"/>
              </a:lnSpc>
              <a:spcAft>
                <a:spcPts val="300"/>
              </a:spcAft>
              <a:defRPr sz="1350" b="1">
                <a:solidFill>
                  <a:srgbClr val="182B43"/>
                </a:solidFill>
                <a:latin typeface="Arial"/>
              </a:defRPr>
            </a:pPr>
            <a:r>
              <a:t>Review mitigation</a:t>
            </a:r>
          </a:p>
        </p:txBody>
      </p:sp>
      <p:sp>
        <p:nvSpPr>
          <p:cNvPr id="32" name="TextBox 31"/>
          <p:cNvSpPr txBox="1"/>
          <p:nvPr/>
        </p:nvSpPr>
        <p:spPr>
          <a:xfrm>
            <a:off x="4937760" y="5323636"/>
            <a:ext cx="6537960" cy="232257"/>
          </a:xfrm>
          <a:prstGeom prst="rect">
            <a:avLst/>
          </a:prstGeom>
          <a:noFill/>
        </p:spPr>
        <p:txBody>
          <a:bodyPr wrap="square" lIns="0" rIns="0" tIns="0" bIns="0" anchor="t">
            <a:spAutoFit/>
          </a:bodyPr>
          <a:lstStyle/>
          <a:p>
            <a:pPr>
              <a:lnSpc>
                <a:spcPct val="112000"/>
              </a:lnSpc>
              <a:spcAft>
                <a:spcPts val="300"/>
              </a:spcAft>
              <a:defRPr sz="1400" b="0">
                <a:solidFill>
                  <a:srgbClr val="182B43"/>
                </a:solidFill>
                <a:latin typeface="Arial"/>
              </a:defRPr>
            </a:pPr>
            <a:r>
              <a:t>Check blast radius, rollback assumptions and missing evidence.</a:t>
            </a:r>
          </a:p>
        </p:txBody>
      </p:sp>
      <p:sp>
        <p:nvSpPr>
          <p:cNvPr id="33" name="Rounded Rectangle 32"/>
          <p:cNvSpPr/>
          <p:nvPr/>
        </p:nvSpPr>
        <p:spPr>
          <a:xfrm>
            <a:off x="4096512" y="5601614"/>
            <a:ext cx="7589520" cy="534009"/>
          </a:xfrm>
          <a:prstGeom prst="roundRect">
            <a:avLst>
              <a:gd name="adj" fmla="val 8000"/>
            </a:avLst>
          </a:prstGeom>
          <a:solidFill>
            <a:srgbClr val="F1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233672" y="5711342"/>
            <a:ext cx="594360" cy="256032"/>
          </a:xfrm>
          <a:prstGeom prst="rect">
            <a:avLst/>
          </a:prstGeom>
          <a:noFill/>
        </p:spPr>
        <p:txBody>
          <a:bodyPr wrap="square" lIns="0" rIns="0" tIns="0" bIns="0" anchor="t">
            <a:spAutoFit/>
          </a:bodyPr>
          <a:lstStyle/>
          <a:p>
            <a:pPr>
              <a:lnSpc>
                <a:spcPct val="112000"/>
              </a:lnSpc>
              <a:spcAft>
                <a:spcPts val="300"/>
              </a:spcAft>
              <a:defRPr sz="1300" b="1">
                <a:solidFill>
                  <a:srgbClr val="B95215"/>
                </a:solidFill>
                <a:latin typeface="Arial"/>
              </a:defRPr>
            </a:pPr>
            <a:r>
              <a:t>01:00</a:t>
            </a:r>
          </a:p>
        </p:txBody>
      </p:sp>
      <p:sp>
        <p:nvSpPr>
          <p:cNvPr id="35" name="TextBox 34"/>
          <p:cNvSpPr txBox="1"/>
          <p:nvPr/>
        </p:nvSpPr>
        <p:spPr>
          <a:xfrm>
            <a:off x="4937760" y="5674766"/>
            <a:ext cx="6537960" cy="219456"/>
          </a:xfrm>
          <a:prstGeom prst="rect">
            <a:avLst/>
          </a:prstGeom>
          <a:noFill/>
        </p:spPr>
        <p:txBody>
          <a:bodyPr wrap="square" lIns="0" rIns="0" tIns="0" bIns="0" anchor="t">
            <a:spAutoFit/>
          </a:bodyPr>
          <a:lstStyle/>
          <a:p>
            <a:pPr>
              <a:lnSpc>
                <a:spcPct val="112000"/>
              </a:lnSpc>
              <a:spcAft>
                <a:spcPts val="300"/>
              </a:spcAft>
              <a:defRPr sz="1350" b="1">
                <a:solidFill>
                  <a:srgbClr val="182B43"/>
                </a:solidFill>
                <a:latin typeface="Arial"/>
              </a:defRPr>
            </a:pPr>
            <a:r>
              <a:t>Record the handoff</a:t>
            </a:r>
          </a:p>
        </p:txBody>
      </p:sp>
      <p:sp>
        <p:nvSpPr>
          <p:cNvPr id="36" name="TextBox 35"/>
          <p:cNvSpPr txBox="1"/>
          <p:nvPr/>
        </p:nvSpPr>
        <p:spPr>
          <a:xfrm>
            <a:off x="4937760" y="5912510"/>
            <a:ext cx="6537960" cy="232257"/>
          </a:xfrm>
          <a:prstGeom prst="rect">
            <a:avLst/>
          </a:prstGeom>
          <a:noFill/>
        </p:spPr>
        <p:txBody>
          <a:bodyPr wrap="square" lIns="0" rIns="0" tIns="0" bIns="0" anchor="t">
            <a:spAutoFit/>
          </a:bodyPr>
          <a:lstStyle/>
          <a:p>
            <a:pPr>
              <a:lnSpc>
                <a:spcPct val="112000"/>
              </a:lnSpc>
              <a:spcAft>
                <a:spcPts val="300"/>
              </a:spcAft>
              <a:defRPr sz="1400" b="0">
                <a:solidFill>
                  <a:srgbClr val="182B43"/>
                </a:solidFill>
                <a:latin typeface="Arial"/>
              </a:defRPr>
            </a:pPr>
            <a:r>
              <a:t>Capture owner, evidence links, next action and verification check.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B952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AWS DEVOPS AGENT  /  CAPABILITIES</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Answer the daily SRE questions</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Acceptance: inspect one cited alarm or resource before sharing the summary.</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07 / 18    AWS DevOps Agent</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01:15 allocated  |  14:00–15:15</a:t>
            </a:r>
          </a:p>
        </p:txBody>
      </p:sp>
      <p:sp>
        <p:nvSpPr>
          <p:cNvPr id="9" name="Rounded Rectangle 8"/>
          <p:cNvSpPr/>
          <p:nvPr/>
        </p:nvSpPr>
        <p:spPr>
          <a:xfrm>
            <a:off x="502920" y="2313432"/>
            <a:ext cx="3611880"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459736"/>
            <a:ext cx="3282696" cy="201168"/>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01</a:t>
            </a:r>
          </a:p>
        </p:txBody>
      </p:sp>
      <p:sp>
        <p:nvSpPr>
          <p:cNvPr id="11" name="TextBox 10"/>
          <p:cNvSpPr txBox="1"/>
          <p:nvPr/>
        </p:nvSpPr>
        <p:spPr>
          <a:xfrm>
            <a:off x="667512" y="2788920"/>
            <a:ext cx="328269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Inputs</a:t>
            </a:r>
          </a:p>
        </p:txBody>
      </p:sp>
      <p:sp>
        <p:nvSpPr>
          <p:cNvPr id="12" name="TextBox 11"/>
          <p:cNvSpPr txBox="1"/>
          <p:nvPr/>
        </p:nvSpPr>
        <p:spPr>
          <a:xfrm>
            <a:off x="667512" y="3392424"/>
            <a:ext cx="3282696"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A bounded question and time interval</a:t>
            </a:r>
          </a:p>
          <a:p>
            <a:pPr>
              <a:lnSpc>
                <a:spcPct val="112000"/>
              </a:lnSpc>
              <a:spcAft>
                <a:spcPts val="300"/>
              </a:spcAft>
              <a:defRPr sz="1800" b="0">
                <a:solidFill>
                  <a:srgbClr val="182B43"/>
                </a:solidFill>
                <a:latin typeface="Arial"/>
              </a:defRPr>
            </a:pPr>
          </a:p>
          <a:p>
            <a:pPr>
              <a:lnSpc>
                <a:spcPct val="112000"/>
              </a:lnSpc>
              <a:spcAft>
                <a:spcPts val="300"/>
              </a:spcAft>
              <a:defRPr sz="1800" b="0">
                <a:solidFill>
                  <a:srgbClr val="182B43"/>
                </a:solidFill>
                <a:latin typeface="Arial"/>
              </a:defRPr>
            </a:pPr>
            <a:r>
              <a:t>Resource inventory and operational context</a:t>
            </a:r>
          </a:p>
        </p:txBody>
      </p:sp>
      <p:sp>
        <p:nvSpPr>
          <p:cNvPr id="13" name="Rounded Rectangle 12"/>
          <p:cNvSpPr/>
          <p:nvPr/>
        </p:nvSpPr>
        <p:spPr>
          <a:xfrm>
            <a:off x="4288536" y="2313432"/>
            <a:ext cx="3611880"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53127" y="2459736"/>
            <a:ext cx="3282696" cy="201168"/>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02</a:t>
            </a:r>
          </a:p>
        </p:txBody>
      </p:sp>
      <p:sp>
        <p:nvSpPr>
          <p:cNvPr id="15" name="TextBox 14"/>
          <p:cNvSpPr txBox="1"/>
          <p:nvPr/>
        </p:nvSpPr>
        <p:spPr>
          <a:xfrm>
            <a:off x="4453127" y="2788920"/>
            <a:ext cx="328269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Agent work</a:t>
            </a:r>
          </a:p>
        </p:txBody>
      </p:sp>
      <p:sp>
        <p:nvSpPr>
          <p:cNvPr id="16" name="TextBox 15"/>
          <p:cNvSpPr txBox="1"/>
          <p:nvPr/>
        </p:nvSpPr>
        <p:spPr>
          <a:xfrm>
            <a:off x="4453127" y="3392424"/>
            <a:ext cx="3282696"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Query health, alarms and deployment history</a:t>
            </a:r>
          </a:p>
          <a:p>
            <a:pPr>
              <a:lnSpc>
                <a:spcPct val="112000"/>
              </a:lnSpc>
              <a:spcAft>
                <a:spcPts val="300"/>
              </a:spcAft>
              <a:defRPr sz="1800" b="0">
                <a:solidFill>
                  <a:srgbClr val="182B43"/>
                </a:solidFill>
                <a:latin typeface="Arial"/>
              </a:defRPr>
            </a:pPr>
          </a:p>
          <a:p>
            <a:pPr>
              <a:lnSpc>
                <a:spcPct val="112000"/>
              </a:lnSpc>
              <a:spcAft>
                <a:spcPts val="300"/>
              </a:spcAft>
              <a:defRPr sz="1800" b="0">
                <a:solidFill>
                  <a:srgbClr val="182B43"/>
                </a:solidFill>
                <a:latin typeface="Arial"/>
              </a:defRPr>
            </a:pPr>
            <a:r>
              <a:t>Summarize investigations and create report artifacts</a:t>
            </a:r>
          </a:p>
        </p:txBody>
      </p:sp>
      <p:sp>
        <p:nvSpPr>
          <p:cNvPr id="17" name="Rounded Rectangle 16"/>
          <p:cNvSpPr/>
          <p:nvPr/>
        </p:nvSpPr>
        <p:spPr>
          <a:xfrm>
            <a:off x="8074152" y="2313432"/>
            <a:ext cx="3611880"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38744" y="2459736"/>
            <a:ext cx="3282696" cy="201168"/>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03</a:t>
            </a:r>
          </a:p>
        </p:txBody>
      </p:sp>
      <p:sp>
        <p:nvSpPr>
          <p:cNvPr id="19" name="TextBox 18"/>
          <p:cNvSpPr txBox="1"/>
          <p:nvPr/>
        </p:nvSpPr>
        <p:spPr>
          <a:xfrm>
            <a:off x="8238744" y="2788920"/>
            <a:ext cx="328269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Outputs</a:t>
            </a:r>
          </a:p>
        </p:txBody>
      </p:sp>
      <p:sp>
        <p:nvSpPr>
          <p:cNvPr id="20" name="TextBox 19"/>
          <p:cNvSpPr txBox="1"/>
          <p:nvPr/>
        </p:nvSpPr>
        <p:spPr>
          <a:xfrm>
            <a:off x="8238744" y="3392424"/>
            <a:ext cx="3282696"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Health summary with source context</a:t>
            </a:r>
          </a:p>
          <a:p>
            <a:pPr>
              <a:lnSpc>
                <a:spcPct val="112000"/>
              </a:lnSpc>
              <a:spcAft>
                <a:spcPts val="300"/>
              </a:spcAft>
              <a:defRPr sz="1800" b="0">
                <a:solidFill>
                  <a:srgbClr val="182B43"/>
                </a:solidFill>
                <a:latin typeface="Arial"/>
              </a:defRPr>
            </a:pPr>
          </a:p>
          <a:p>
            <a:pPr>
              <a:lnSpc>
                <a:spcPct val="112000"/>
              </a:lnSpc>
              <a:spcAft>
                <a:spcPts val="300"/>
              </a:spcAft>
              <a:defRPr sz="1800" b="0">
                <a:solidFill>
                  <a:srgbClr val="182B43"/>
                </a:solidFill>
                <a:latin typeface="Arial"/>
              </a:defRPr>
            </a:pPr>
            <a:r>
              <a:t>A reusable incident or service-report artifact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B952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AWS DEVOPS AGENT  /  CAPABILITIES</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Convert repeat incidents into prevention work</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700" b="0">
                <a:solidFill>
                  <a:srgbClr val="55657A"/>
                </a:solidFill>
                <a:latin typeface="Arial"/>
              </a:defRPr>
            </a:pPr>
            <a:r>
              <a:t>Acceptance: an owner and a measurable recurrence or detection check accompany each accepted item.</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08 / 18    AWS DevOps Agent</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01:15 allocated  |  15:15–16:30</a:t>
            </a:r>
          </a:p>
        </p:txBody>
      </p:sp>
      <p:sp>
        <p:nvSpPr>
          <p:cNvPr id="9" name="Rounded Rectangle 8"/>
          <p:cNvSpPr/>
          <p:nvPr/>
        </p:nvSpPr>
        <p:spPr>
          <a:xfrm>
            <a:off x="502920" y="2313432"/>
            <a:ext cx="3611880"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459736"/>
            <a:ext cx="3282696" cy="201168"/>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01</a:t>
            </a:r>
          </a:p>
        </p:txBody>
      </p:sp>
      <p:sp>
        <p:nvSpPr>
          <p:cNvPr id="11" name="TextBox 10"/>
          <p:cNvSpPr txBox="1"/>
          <p:nvPr/>
        </p:nvSpPr>
        <p:spPr>
          <a:xfrm>
            <a:off x="667512" y="2788920"/>
            <a:ext cx="328269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Inputs</a:t>
            </a:r>
          </a:p>
        </p:txBody>
      </p:sp>
      <p:sp>
        <p:nvSpPr>
          <p:cNvPr id="12" name="TextBox 11"/>
          <p:cNvSpPr txBox="1"/>
          <p:nvPr/>
        </p:nvSpPr>
        <p:spPr>
          <a:xfrm>
            <a:off x="667512" y="3392424"/>
            <a:ext cx="3282696"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Recent investigations and recurring symptoms</a:t>
            </a:r>
          </a:p>
          <a:p>
            <a:pPr>
              <a:lnSpc>
                <a:spcPct val="112000"/>
              </a:lnSpc>
              <a:spcAft>
                <a:spcPts val="300"/>
              </a:spcAft>
              <a:defRPr sz="1800" b="0">
                <a:solidFill>
                  <a:srgbClr val="182B43"/>
                </a:solidFill>
                <a:latin typeface="Arial"/>
              </a:defRPr>
            </a:pPr>
          </a:p>
          <a:p>
            <a:pPr>
              <a:lnSpc>
                <a:spcPct val="112000"/>
              </a:lnSpc>
              <a:spcAft>
                <a:spcPts val="300"/>
              </a:spcAft>
              <a:defRPr sz="1800" b="0">
                <a:solidFill>
                  <a:srgbClr val="182B43"/>
                </a:solidFill>
                <a:latin typeface="Arial"/>
              </a:defRPr>
            </a:pPr>
            <a:r>
              <a:t>Team priorities and existing improvement backlog</a:t>
            </a:r>
          </a:p>
        </p:txBody>
      </p:sp>
      <p:sp>
        <p:nvSpPr>
          <p:cNvPr id="13" name="Rounded Rectangle 12"/>
          <p:cNvSpPr/>
          <p:nvPr/>
        </p:nvSpPr>
        <p:spPr>
          <a:xfrm>
            <a:off x="4288536" y="2313432"/>
            <a:ext cx="3611880"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53127" y="2459736"/>
            <a:ext cx="3282696" cy="201168"/>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02</a:t>
            </a:r>
          </a:p>
        </p:txBody>
      </p:sp>
      <p:sp>
        <p:nvSpPr>
          <p:cNvPr id="15" name="TextBox 14"/>
          <p:cNvSpPr txBox="1"/>
          <p:nvPr/>
        </p:nvSpPr>
        <p:spPr>
          <a:xfrm>
            <a:off x="4453127" y="2788920"/>
            <a:ext cx="328269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Agent work</a:t>
            </a:r>
          </a:p>
        </p:txBody>
      </p:sp>
      <p:sp>
        <p:nvSpPr>
          <p:cNvPr id="16" name="TextBox 15"/>
          <p:cNvSpPr txBox="1"/>
          <p:nvPr/>
        </p:nvSpPr>
        <p:spPr>
          <a:xfrm>
            <a:off x="4453127" y="3392424"/>
            <a:ext cx="3282696"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Evaluate recurring patterns on demand or on a schedule</a:t>
            </a:r>
          </a:p>
          <a:p>
            <a:pPr>
              <a:lnSpc>
                <a:spcPct val="112000"/>
              </a:lnSpc>
              <a:spcAft>
                <a:spcPts val="300"/>
              </a:spcAft>
              <a:defRPr sz="1800" b="0">
                <a:solidFill>
                  <a:srgbClr val="182B43"/>
                </a:solidFill>
                <a:latin typeface="Arial"/>
              </a:defRPr>
            </a:pPr>
          </a:p>
          <a:p>
            <a:pPr>
              <a:lnSpc>
                <a:spcPct val="112000"/>
              </a:lnSpc>
              <a:spcAft>
                <a:spcPts val="300"/>
              </a:spcAft>
              <a:defRPr sz="1800" b="0">
                <a:solidFill>
                  <a:srgbClr val="182B43"/>
                </a:solidFill>
                <a:latin typeface="Arial"/>
              </a:defRPr>
            </a:pPr>
            <a:r>
              <a:t>Categorize observability, infrastructure, governance and code opportunities</a:t>
            </a:r>
          </a:p>
        </p:txBody>
      </p:sp>
      <p:sp>
        <p:nvSpPr>
          <p:cNvPr id="17" name="Rounded Rectangle 16"/>
          <p:cNvSpPr/>
          <p:nvPr/>
        </p:nvSpPr>
        <p:spPr>
          <a:xfrm>
            <a:off x="8074152" y="2313432"/>
            <a:ext cx="3611880"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38744" y="2459736"/>
            <a:ext cx="3282696" cy="201168"/>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03</a:t>
            </a:r>
          </a:p>
        </p:txBody>
      </p:sp>
      <p:sp>
        <p:nvSpPr>
          <p:cNvPr id="19" name="TextBox 18"/>
          <p:cNvSpPr txBox="1"/>
          <p:nvPr/>
        </p:nvSpPr>
        <p:spPr>
          <a:xfrm>
            <a:off x="8238744" y="2788920"/>
            <a:ext cx="328269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Outputs</a:t>
            </a:r>
          </a:p>
        </p:txBody>
      </p:sp>
      <p:sp>
        <p:nvSpPr>
          <p:cNvPr id="20" name="TextBox 19"/>
          <p:cNvSpPr txBox="1"/>
          <p:nvPr/>
        </p:nvSpPr>
        <p:spPr>
          <a:xfrm>
            <a:off x="8238744" y="3392424"/>
            <a:ext cx="3282696"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Prioritized improvement recommendations</a:t>
            </a:r>
          </a:p>
          <a:p>
            <a:pPr>
              <a:lnSpc>
                <a:spcPct val="112000"/>
              </a:lnSpc>
              <a:spcAft>
                <a:spcPts val="300"/>
              </a:spcAft>
              <a:defRPr sz="1800" b="0">
                <a:solidFill>
                  <a:srgbClr val="182B43"/>
                </a:solidFill>
                <a:latin typeface="Arial"/>
              </a:defRPr>
            </a:pPr>
          </a:p>
          <a:p>
            <a:pPr>
              <a:lnSpc>
                <a:spcPct val="112000"/>
              </a:lnSpc>
              <a:spcAft>
                <a:spcPts val="300"/>
              </a:spcAft>
              <a:defRPr sz="1800" b="0">
                <a:solidFill>
                  <a:srgbClr val="182B43"/>
                </a:solidFill>
                <a:latin typeface="Arial"/>
              </a:defRPr>
            </a:pPr>
            <a:r>
              <a:t>Implementation context for an owned engineering task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B952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AWS DEVOPS AGENT  /  CAPABILITIES</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Configure a recurring operational assistant</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Acceptance: the selected tools—not the prompt alone—bound access and side effects.</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09 / 18    AWS DevOps Agent</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01:15 allocated  |  16:30–17:45</a:t>
            </a:r>
          </a:p>
        </p:txBody>
      </p:sp>
      <p:sp>
        <p:nvSpPr>
          <p:cNvPr id="9" name="Rounded Rectangle 8"/>
          <p:cNvSpPr/>
          <p:nvPr/>
        </p:nvSpPr>
        <p:spPr>
          <a:xfrm>
            <a:off x="502920" y="2313432"/>
            <a:ext cx="3611880"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459736"/>
            <a:ext cx="3282696" cy="201168"/>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01</a:t>
            </a:r>
          </a:p>
        </p:txBody>
      </p:sp>
      <p:sp>
        <p:nvSpPr>
          <p:cNvPr id="11" name="TextBox 10"/>
          <p:cNvSpPr txBox="1"/>
          <p:nvPr/>
        </p:nvSpPr>
        <p:spPr>
          <a:xfrm>
            <a:off x="667512" y="2788920"/>
            <a:ext cx="328269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Inputs</a:t>
            </a:r>
          </a:p>
        </p:txBody>
      </p:sp>
      <p:sp>
        <p:nvSpPr>
          <p:cNvPr id="12" name="TextBox 11"/>
          <p:cNvSpPr txBox="1"/>
          <p:nvPr/>
        </p:nvSpPr>
        <p:spPr>
          <a:xfrm>
            <a:off x="667512" y="3392424"/>
            <a:ext cx="3282696"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A system prompt, selected tools and skills</a:t>
            </a:r>
          </a:p>
          <a:p>
            <a:pPr>
              <a:lnSpc>
                <a:spcPct val="112000"/>
              </a:lnSpc>
              <a:spcAft>
                <a:spcPts val="300"/>
              </a:spcAft>
              <a:defRPr sz="1800" b="0">
                <a:solidFill>
                  <a:srgbClr val="182B43"/>
                </a:solidFill>
                <a:latin typeface="Arial"/>
              </a:defRPr>
            </a:pPr>
          </a:p>
          <a:p>
            <a:pPr>
              <a:lnSpc>
                <a:spcPct val="112000"/>
              </a:lnSpc>
              <a:spcAft>
                <a:spcPts val="300"/>
              </a:spcAft>
              <a:defRPr sz="1800" b="0">
                <a:solidFill>
                  <a:srgbClr val="182B43"/>
                </a:solidFill>
                <a:latin typeface="Arial"/>
              </a:defRPr>
            </a:pPr>
            <a:r>
              <a:t>An on-demand trigger or configured schedule</a:t>
            </a:r>
          </a:p>
        </p:txBody>
      </p:sp>
      <p:sp>
        <p:nvSpPr>
          <p:cNvPr id="13" name="Rounded Rectangle 12"/>
          <p:cNvSpPr/>
          <p:nvPr/>
        </p:nvSpPr>
        <p:spPr>
          <a:xfrm>
            <a:off x="4288536" y="2313432"/>
            <a:ext cx="3611880"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53127" y="2459736"/>
            <a:ext cx="3282696" cy="201168"/>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02</a:t>
            </a:r>
          </a:p>
        </p:txBody>
      </p:sp>
      <p:sp>
        <p:nvSpPr>
          <p:cNvPr id="15" name="TextBox 14"/>
          <p:cNvSpPr txBox="1"/>
          <p:nvPr/>
        </p:nvSpPr>
        <p:spPr>
          <a:xfrm>
            <a:off x="4453127" y="2788920"/>
            <a:ext cx="328269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Agent work</a:t>
            </a:r>
          </a:p>
        </p:txBody>
      </p:sp>
      <p:sp>
        <p:nvSpPr>
          <p:cNvPr id="16" name="TextBox 15"/>
          <p:cNvSpPr txBox="1"/>
          <p:nvPr/>
        </p:nvSpPr>
        <p:spPr>
          <a:xfrm>
            <a:off x="4453127" y="3392424"/>
            <a:ext cx="3282696"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Run a bounded multi-step operational task</a:t>
            </a:r>
          </a:p>
          <a:p>
            <a:pPr>
              <a:lnSpc>
                <a:spcPct val="112000"/>
              </a:lnSpc>
              <a:spcAft>
                <a:spcPts val="300"/>
              </a:spcAft>
              <a:defRPr sz="1800" b="0">
                <a:solidFill>
                  <a:srgbClr val="182B43"/>
                </a:solidFill>
                <a:latin typeface="Arial"/>
              </a:defRPr>
            </a:pPr>
          </a:p>
          <a:p>
            <a:pPr>
              <a:lnSpc>
                <a:spcPct val="112000"/>
              </a:lnSpc>
              <a:spcAft>
                <a:spcPts val="300"/>
              </a:spcAft>
              <a:defRPr sz="1800" b="0">
                <a:solidFill>
                  <a:srgbClr val="182B43"/>
                </a:solidFill>
                <a:latin typeface="Arial"/>
              </a:defRPr>
            </a:pPr>
            <a:r>
              <a:t>Record tool use and outputs for each invocation</a:t>
            </a:r>
          </a:p>
        </p:txBody>
      </p:sp>
      <p:sp>
        <p:nvSpPr>
          <p:cNvPr id="17" name="Rounded Rectangle 16"/>
          <p:cNvSpPr/>
          <p:nvPr/>
        </p:nvSpPr>
        <p:spPr>
          <a:xfrm>
            <a:off x="8074152" y="2313432"/>
            <a:ext cx="3611880"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38744" y="2459736"/>
            <a:ext cx="3282696" cy="201168"/>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03</a:t>
            </a:r>
          </a:p>
        </p:txBody>
      </p:sp>
      <p:sp>
        <p:nvSpPr>
          <p:cNvPr id="19" name="TextBox 18"/>
          <p:cNvSpPr txBox="1"/>
          <p:nvPr/>
        </p:nvSpPr>
        <p:spPr>
          <a:xfrm>
            <a:off x="8238744" y="2788920"/>
            <a:ext cx="328269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Outputs</a:t>
            </a:r>
          </a:p>
        </p:txBody>
      </p:sp>
      <p:sp>
        <p:nvSpPr>
          <p:cNvPr id="20" name="TextBox 19"/>
          <p:cNvSpPr txBox="1"/>
          <p:nvPr/>
        </p:nvSpPr>
        <p:spPr>
          <a:xfrm>
            <a:off x="8238744" y="3392424"/>
            <a:ext cx="3282696"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Daily health report or configuration-review artifact</a:t>
            </a:r>
          </a:p>
          <a:p>
            <a:pPr>
              <a:lnSpc>
                <a:spcPct val="112000"/>
              </a:lnSpc>
              <a:spcAft>
                <a:spcPts val="300"/>
              </a:spcAft>
              <a:defRPr sz="1800" b="0">
                <a:solidFill>
                  <a:srgbClr val="182B43"/>
                </a:solidFill>
                <a:latin typeface="Arial"/>
              </a:defRPr>
            </a:pPr>
          </a:p>
          <a:p>
            <a:pPr>
              <a:lnSpc>
                <a:spcPct val="112000"/>
              </a:lnSpc>
              <a:spcAft>
                <a:spcPts val="300"/>
              </a:spcAft>
              <a:defRPr sz="1800" b="0">
                <a:solidFill>
                  <a:srgbClr val="182B43"/>
                </a:solidFill>
                <a:latin typeface="Arial"/>
              </a:defRPr>
            </a:pPr>
            <a:r>
              <a:t>Traceable run history for operator inspection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B952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AWS DEVOPS AGENT  /  CONTROLS</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A recommendation is not permission to act</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Directed actions have their own enablement, role, tool and approval path.</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10 / 18    AWS DevOps Agent</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02:00 allocated  |  17:45–19:45</a:t>
            </a:r>
          </a:p>
        </p:txBody>
      </p:sp>
      <p:sp>
        <p:nvSpPr>
          <p:cNvPr id="9" name="Rounded Rectangle 8"/>
          <p:cNvSpPr/>
          <p:nvPr/>
        </p:nvSpPr>
        <p:spPr>
          <a:xfrm>
            <a:off x="502920" y="2313432"/>
            <a:ext cx="549097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459736"/>
            <a:ext cx="5161788" cy="201168"/>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ANALYSIS</a:t>
            </a:r>
          </a:p>
        </p:txBody>
      </p:sp>
      <p:sp>
        <p:nvSpPr>
          <p:cNvPr id="11" name="TextBox 10"/>
          <p:cNvSpPr txBox="1"/>
          <p:nvPr/>
        </p:nvSpPr>
        <p:spPr>
          <a:xfrm>
            <a:off x="667512" y="2788920"/>
            <a:ext cx="516178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Propose</a:t>
            </a:r>
          </a:p>
        </p:txBody>
      </p:sp>
      <p:sp>
        <p:nvSpPr>
          <p:cNvPr id="12" name="TextBox 11"/>
          <p:cNvSpPr txBox="1"/>
          <p:nvPr/>
        </p:nvSpPr>
        <p:spPr>
          <a:xfrm>
            <a:off x="667512" y="3392424"/>
            <a:ext cx="5161788" cy="612648"/>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Agent identifies an operation, target and risk.</a:t>
            </a:r>
          </a:p>
        </p:txBody>
      </p:sp>
      <p:sp>
        <p:nvSpPr>
          <p:cNvPr id="13" name="Rounded Rectangle 12"/>
          <p:cNvSpPr/>
          <p:nvPr/>
        </p:nvSpPr>
        <p:spPr>
          <a:xfrm>
            <a:off x="6195059" y="2313432"/>
            <a:ext cx="549097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9651" y="2459736"/>
            <a:ext cx="5161788" cy="201168"/>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CONFIGURATION</a:t>
            </a:r>
          </a:p>
        </p:txBody>
      </p:sp>
      <p:sp>
        <p:nvSpPr>
          <p:cNvPr id="15" name="TextBox 14"/>
          <p:cNvSpPr txBox="1"/>
          <p:nvPr/>
        </p:nvSpPr>
        <p:spPr>
          <a:xfrm>
            <a:off x="6359651" y="2788920"/>
            <a:ext cx="516178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Enable + scope</a:t>
            </a:r>
          </a:p>
        </p:txBody>
      </p:sp>
      <p:sp>
        <p:nvSpPr>
          <p:cNvPr id="16" name="TextBox 15"/>
          <p:cNvSpPr txBox="1"/>
          <p:nvPr/>
        </p:nvSpPr>
        <p:spPr>
          <a:xfrm>
            <a:off x="6359651" y="3392424"/>
            <a:ext cx="5161788" cy="612648"/>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Agent Space, elevated role and applicable tool controls.</a:t>
            </a:r>
          </a:p>
        </p:txBody>
      </p:sp>
      <p:sp>
        <p:nvSpPr>
          <p:cNvPr id="17" name="Rounded Rectangle 16"/>
          <p:cNvSpPr/>
          <p:nvPr/>
        </p:nvSpPr>
        <p:spPr>
          <a:xfrm>
            <a:off x="502920" y="4352544"/>
            <a:ext cx="549097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 y="4498848"/>
            <a:ext cx="5161788" cy="201168"/>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DECISION</a:t>
            </a:r>
          </a:p>
        </p:txBody>
      </p:sp>
      <p:sp>
        <p:nvSpPr>
          <p:cNvPr id="19" name="TextBox 18"/>
          <p:cNvSpPr txBox="1"/>
          <p:nvPr/>
        </p:nvSpPr>
        <p:spPr>
          <a:xfrm>
            <a:off x="667512" y="4828031"/>
            <a:ext cx="516178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Approve</a:t>
            </a:r>
          </a:p>
        </p:txBody>
      </p:sp>
      <p:sp>
        <p:nvSpPr>
          <p:cNvPr id="20" name="TextBox 19"/>
          <p:cNvSpPr txBox="1"/>
          <p:nvPr/>
        </p:nvSpPr>
        <p:spPr>
          <a:xfrm>
            <a:off x="667512" y="5431536"/>
            <a:ext cx="5161788" cy="612648"/>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Operator approves this operation at execution time.</a:t>
            </a:r>
          </a:p>
        </p:txBody>
      </p:sp>
      <p:sp>
        <p:nvSpPr>
          <p:cNvPr id="21" name="Rounded Rectangle 20"/>
          <p:cNvSpPr/>
          <p:nvPr/>
        </p:nvSpPr>
        <p:spPr>
          <a:xfrm>
            <a:off x="6195059" y="4352544"/>
            <a:ext cx="549097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9651" y="4498848"/>
            <a:ext cx="5161788" cy="201168"/>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TEAM CHECK</a:t>
            </a:r>
          </a:p>
        </p:txBody>
      </p:sp>
      <p:sp>
        <p:nvSpPr>
          <p:cNvPr id="23" name="TextBox 22"/>
          <p:cNvSpPr txBox="1"/>
          <p:nvPr/>
        </p:nvSpPr>
        <p:spPr>
          <a:xfrm>
            <a:off x="6359651" y="4828031"/>
            <a:ext cx="516178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Verify</a:t>
            </a:r>
          </a:p>
        </p:txBody>
      </p:sp>
      <p:sp>
        <p:nvSpPr>
          <p:cNvPr id="24" name="TextBox 23"/>
          <p:cNvSpPr txBox="1"/>
          <p:nvPr/>
        </p:nvSpPr>
        <p:spPr>
          <a:xfrm>
            <a:off x="6359651" y="5431536"/>
            <a:ext cx="5161788" cy="612648"/>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Inspect audit evidence and the resulting service state.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B952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AWS DEVOPS AGENT  /  CAPABILITIES</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Release preview has two different execution paths</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Managed code verification is not the same as active testing against a deployed application.</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11 / 18    AWS DevOps Agent</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02:00 allocated  |  19:45–21:45</a:t>
            </a:r>
          </a:p>
        </p:txBody>
      </p:sp>
      <p:sp>
        <p:nvSpPr>
          <p:cNvPr id="9" name="Rounded Rectangle 8"/>
          <p:cNvSpPr/>
          <p:nvPr/>
        </p:nvSpPr>
        <p:spPr>
          <a:xfrm>
            <a:off x="502920" y="2313432"/>
            <a:ext cx="5486400" cy="2971800"/>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459736"/>
            <a:ext cx="5157216" cy="201168"/>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PREVIEW · CODE</a:t>
            </a:r>
          </a:p>
        </p:txBody>
      </p:sp>
      <p:sp>
        <p:nvSpPr>
          <p:cNvPr id="11" name="TextBox 10"/>
          <p:cNvSpPr txBox="1"/>
          <p:nvPr/>
        </p:nvSpPr>
        <p:spPr>
          <a:xfrm>
            <a:off x="667512" y="2788920"/>
            <a:ext cx="515721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Readiness review</a:t>
            </a:r>
          </a:p>
        </p:txBody>
      </p:sp>
      <p:sp>
        <p:nvSpPr>
          <p:cNvPr id="12" name="TextBox 11"/>
          <p:cNvSpPr txBox="1"/>
          <p:nvPr/>
        </p:nvSpPr>
        <p:spPr>
          <a:xfrm>
            <a:off x="667512" y="3392424"/>
            <a:ext cx="5157216" cy="1746504"/>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Connected PR/MR or on-demand change → standards, dependencies and access-control review → findings plus optional build/test evidence.</a:t>
            </a:r>
          </a:p>
        </p:txBody>
      </p:sp>
      <p:sp>
        <p:nvSpPr>
          <p:cNvPr id="13" name="Rounded Rectangle 12"/>
          <p:cNvSpPr/>
          <p:nvPr/>
        </p:nvSpPr>
        <p:spPr>
          <a:xfrm>
            <a:off x="6199632" y="2313432"/>
            <a:ext cx="5486400" cy="2971800"/>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4224" y="2459736"/>
            <a:ext cx="5157216" cy="201168"/>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PREVIEW · RUNNING TARGET</a:t>
            </a:r>
          </a:p>
        </p:txBody>
      </p:sp>
      <p:sp>
        <p:nvSpPr>
          <p:cNvPr id="15" name="TextBox 14"/>
          <p:cNvSpPr txBox="1"/>
          <p:nvPr/>
        </p:nvSpPr>
        <p:spPr>
          <a:xfrm>
            <a:off x="6364224" y="2788920"/>
            <a:ext cx="515721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Active release testing</a:t>
            </a:r>
          </a:p>
        </p:txBody>
      </p:sp>
      <p:sp>
        <p:nvSpPr>
          <p:cNvPr id="16" name="TextBox 15"/>
          <p:cNvSpPr txBox="1"/>
          <p:nvPr/>
        </p:nvSpPr>
        <p:spPr>
          <a:xfrm>
            <a:off x="6364224" y="3392424"/>
            <a:ext cx="5157216" cy="1746504"/>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Configured staging URL and test intent → browser or REST exploration → failures, reproduction steps and suggested fixes.</a:t>
            </a:r>
          </a:p>
        </p:txBody>
      </p:sp>
      <p:sp>
        <p:nvSpPr>
          <p:cNvPr id="17" name="Rounded Rectangle 16"/>
          <p:cNvSpPr/>
          <p:nvPr/>
        </p:nvSpPr>
        <p:spPr>
          <a:xfrm>
            <a:off x="502920" y="5477256"/>
            <a:ext cx="11183112" cy="713232"/>
          </a:xfrm>
          <a:prstGeom prst="roundRect">
            <a:avLst>
              <a:gd name="adj" fmla="val 8000"/>
            </a:avLst>
          </a:prstGeom>
          <a:solidFill>
            <a:srgbClr val="10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088" y="5632704"/>
            <a:ext cx="10771632" cy="402336"/>
          </a:xfrm>
          <a:prstGeom prst="rect">
            <a:avLst/>
          </a:prstGeom>
          <a:noFill/>
        </p:spPr>
        <p:txBody>
          <a:bodyPr wrap="square" lIns="0" rIns="0" tIns="0" bIns="0" anchor="t">
            <a:spAutoFit/>
          </a:bodyPr>
          <a:lstStyle/>
          <a:p>
            <a:pPr>
              <a:lnSpc>
                <a:spcPct val="112000"/>
              </a:lnSpc>
              <a:spcAft>
                <a:spcPts val="300"/>
              </a:spcAft>
              <a:defRPr sz="1550" b="1">
                <a:solidFill>
                  <a:srgbClr val="FFFFFF"/>
                </a:solidFill>
                <a:latin typeface="Arial"/>
              </a:defRPr>
            </a:pPr>
            <a:r>
              <a:t>Safety distinction: testing can mutate application data even when infrastructure actions are not enabled.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B952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AWS DEVOPS AGENT  /  DEMONSTRATION</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Demo 2 · review a risky release</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A proposed retry-policy and database-timeout change must produce inspectable release evidence.</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12 / 18    AWS DevOps Agent</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05:00 allocated  |  21:45–26:45</a:t>
            </a:r>
          </a:p>
        </p:txBody>
      </p:sp>
      <p:sp>
        <p:nvSpPr>
          <p:cNvPr id="9" name="Rounded Rectangle 8"/>
          <p:cNvSpPr/>
          <p:nvPr/>
        </p:nvSpPr>
        <p:spPr>
          <a:xfrm>
            <a:off x="502920" y="2295144"/>
            <a:ext cx="11183112" cy="795528"/>
          </a:xfrm>
          <a:prstGeom prst="roundRect">
            <a:avLst>
              <a:gd name="adj" fmla="val 8000"/>
            </a:avLst>
          </a:prstGeom>
          <a:solidFill>
            <a:srgbClr val="10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2450592"/>
            <a:ext cx="10789920" cy="475488"/>
          </a:xfrm>
          <a:prstGeom prst="rect">
            <a:avLst/>
          </a:prstGeom>
          <a:noFill/>
        </p:spPr>
        <p:txBody>
          <a:bodyPr wrap="square" lIns="0" rIns="0" tIns="0" bIns="0" anchor="t">
            <a:spAutoFit/>
          </a:bodyPr>
          <a:lstStyle/>
          <a:p>
            <a:pPr>
              <a:lnSpc>
                <a:spcPct val="112000"/>
              </a:lnSpc>
              <a:spcAft>
                <a:spcPts val="300"/>
              </a:spcAft>
              <a:defRPr sz="1550" b="0">
                <a:solidFill>
                  <a:srgbClr val="FFFFFF"/>
                </a:solidFill>
                <a:latin typeface="Arial"/>
              </a:defRPr>
            </a:pPr>
            <a:r>
              <a:t>Review this change for dependency impact, retry amplification, database saturation and rollback viability. Cite affected code and verification evidence. Return risks and missing checks. Do not deploy or promote.</a:t>
            </a:r>
          </a:p>
        </p:txBody>
      </p:sp>
      <p:sp>
        <p:nvSpPr>
          <p:cNvPr id="11" name="TextBox 10"/>
          <p:cNvSpPr txBox="1"/>
          <p:nvPr/>
        </p:nvSpPr>
        <p:spPr>
          <a:xfrm>
            <a:off x="502920" y="3264408"/>
            <a:ext cx="3200400" cy="201168"/>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PREFLIGHT</a:t>
            </a:r>
          </a:p>
        </p:txBody>
      </p:sp>
      <p:sp>
        <p:nvSpPr>
          <p:cNvPr id="12" name="TextBox 11"/>
          <p:cNvSpPr txBox="1"/>
          <p:nvPr/>
        </p:nvSpPr>
        <p:spPr>
          <a:xfrm>
            <a:off x="502920" y="3520439"/>
            <a:ext cx="3337560" cy="612648"/>
          </a:xfrm>
          <a:prstGeom prst="rect">
            <a:avLst/>
          </a:prstGeom>
          <a:noFill/>
        </p:spPr>
        <p:txBody>
          <a:bodyPr wrap="square" lIns="0" rIns="0" tIns="0" bIns="0" anchor="t">
            <a:spAutoFit/>
          </a:bodyPr>
          <a:lstStyle/>
          <a:p>
            <a:pPr>
              <a:lnSpc>
                <a:spcPct val="112000"/>
              </a:lnSpc>
              <a:spcAft>
                <a:spcPts val="300"/>
              </a:spcAft>
              <a:defRPr sz="1300" b="0">
                <a:solidFill>
                  <a:srgbClr val="182B43"/>
                </a:solidFill>
                <a:latin typeface="Arial"/>
              </a:defRPr>
            </a:pPr>
            <a:r>
              <a:t>Use a connected test repository and a pre-completed readiness review; do not point a test profile at production.</a:t>
            </a:r>
          </a:p>
        </p:txBody>
      </p:sp>
      <p:sp>
        <p:nvSpPr>
          <p:cNvPr id="13" name="TextBox 12"/>
          <p:cNvSpPr txBox="1"/>
          <p:nvPr/>
        </p:nvSpPr>
        <p:spPr>
          <a:xfrm>
            <a:off x="502920" y="4224528"/>
            <a:ext cx="3200400" cy="201168"/>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SUCCESS</a:t>
            </a:r>
          </a:p>
        </p:txBody>
      </p:sp>
      <p:sp>
        <p:nvSpPr>
          <p:cNvPr id="14" name="TextBox 13"/>
          <p:cNvSpPr txBox="1"/>
          <p:nvPr/>
        </p:nvSpPr>
        <p:spPr>
          <a:xfrm>
            <a:off x="502920" y="4480560"/>
            <a:ext cx="3337560" cy="612648"/>
          </a:xfrm>
          <a:prstGeom prst="rect">
            <a:avLst/>
          </a:prstGeom>
          <a:noFill/>
        </p:spPr>
        <p:txBody>
          <a:bodyPr wrap="square" lIns="0" rIns="0" tIns="0" bIns="0" anchor="t">
            <a:spAutoFit/>
          </a:bodyPr>
          <a:lstStyle/>
          <a:p>
            <a:pPr>
              <a:lnSpc>
                <a:spcPct val="112000"/>
              </a:lnSpc>
              <a:spcAft>
                <a:spcPts val="300"/>
              </a:spcAft>
              <a:defRPr sz="1300" b="0">
                <a:solidFill>
                  <a:srgbClr val="182B43"/>
                </a:solidFill>
                <a:latin typeface="Arial"/>
              </a:defRPr>
            </a:pPr>
            <a:r>
              <a:t>Findings are tied to the exact change, and unexecuted checks are visible.</a:t>
            </a:r>
          </a:p>
        </p:txBody>
      </p:sp>
      <p:sp>
        <p:nvSpPr>
          <p:cNvPr id="15" name="TextBox 14"/>
          <p:cNvSpPr txBox="1"/>
          <p:nvPr/>
        </p:nvSpPr>
        <p:spPr>
          <a:xfrm>
            <a:off x="502920" y="5184648"/>
            <a:ext cx="3200400" cy="201168"/>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FALLBACK</a:t>
            </a:r>
          </a:p>
        </p:txBody>
      </p:sp>
      <p:sp>
        <p:nvSpPr>
          <p:cNvPr id="16" name="TextBox 15"/>
          <p:cNvSpPr txBox="1"/>
          <p:nvPr/>
        </p:nvSpPr>
        <p:spPr>
          <a:xfrm>
            <a:off x="502920" y="5440680"/>
            <a:ext cx="3337560" cy="612648"/>
          </a:xfrm>
          <a:prstGeom prst="rect">
            <a:avLst/>
          </a:prstGeom>
          <a:noFill/>
        </p:spPr>
        <p:txBody>
          <a:bodyPr wrap="square" lIns="0" rIns="0" tIns="0" bIns="0" anchor="t">
            <a:spAutoFit/>
          </a:bodyPr>
          <a:lstStyle/>
          <a:p>
            <a:pPr>
              <a:lnSpc>
                <a:spcPct val="112000"/>
              </a:lnSpc>
              <a:spcAft>
                <a:spcPts val="300"/>
              </a:spcAft>
              <a:defRPr sz="1300" b="0">
                <a:solidFill>
                  <a:srgbClr val="182B43"/>
                </a:solidFill>
                <a:latin typeface="Arial"/>
              </a:defRPr>
            </a:pPr>
            <a:r>
              <a:t>Use the prepared review and code diff if the preview or verification environment is unavailable.</a:t>
            </a:r>
          </a:p>
        </p:txBody>
      </p:sp>
      <p:sp>
        <p:nvSpPr>
          <p:cNvPr id="17" name="Rounded Rectangle 16"/>
          <p:cNvSpPr/>
          <p:nvPr/>
        </p:nvSpPr>
        <p:spPr>
          <a:xfrm>
            <a:off x="4096512" y="3246120"/>
            <a:ext cx="7589520" cy="534009"/>
          </a:xfrm>
          <a:prstGeom prst="roundRect">
            <a:avLst>
              <a:gd name="adj" fmla="val 8000"/>
            </a:avLst>
          </a:prstGeom>
          <a:solidFill>
            <a:srgbClr val="F1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33672" y="3355848"/>
            <a:ext cx="594360" cy="256032"/>
          </a:xfrm>
          <a:prstGeom prst="rect">
            <a:avLst/>
          </a:prstGeom>
          <a:noFill/>
        </p:spPr>
        <p:txBody>
          <a:bodyPr wrap="square" lIns="0" rIns="0" tIns="0" bIns="0" anchor="t">
            <a:spAutoFit/>
          </a:bodyPr>
          <a:lstStyle/>
          <a:p>
            <a:pPr>
              <a:lnSpc>
                <a:spcPct val="112000"/>
              </a:lnSpc>
              <a:spcAft>
                <a:spcPts val="300"/>
              </a:spcAft>
              <a:defRPr sz="1300" b="1">
                <a:solidFill>
                  <a:srgbClr val="B95215"/>
                </a:solidFill>
                <a:latin typeface="Arial"/>
              </a:defRPr>
            </a:pPr>
            <a:r>
              <a:t>00:45</a:t>
            </a:r>
          </a:p>
        </p:txBody>
      </p:sp>
      <p:sp>
        <p:nvSpPr>
          <p:cNvPr id="19" name="TextBox 18"/>
          <p:cNvSpPr txBox="1"/>
          <p:nvPr/>
        </p:nvSpPr>
        <p:spPr>
          <a:xfrm>
            <a:off x="4937760" y="3319272"/>
            <a:ext cx="6537960" cy="219456"/>
          </a:xfrm>
          <a:prstGeom prst="rect">
            <a:avLst/>
          </a:prstGeom>
          <a:noFill/>
        </p:spPr>
        <p:txBody>
          <a:bodyPr wrap="square" lIns="0" rIns="0" tIns="0" bIns="0" anchor="t">
            <a:spAutoFit/>
          </a:bodyPr>
          <a:lstStyle/>
          <a:p>
            <a:pPr>
              <a:lnSpc>
                <a:spcPct val="112000"/>
              </a:lnSpc>
              <a:spcAft>
                <a:spcPts val="300"/>
              </a:spcAft>
              <a:defRPr sz="1350" b="1">
                <a:solidFill>
                  <a:srgbClr val="182B43"/>
                </a:solidFill>
                <a:latin typeface="Arial"/>
              </a:defRPr>
            </a:pPr>
            <a:r>
              <a:t>Select the change</a:t>
            </a:r>
          </a:p>
        </p:txBody>
      </p:sp>
      <p:sp>
        <p:nvSpPr>
          <p:cNvPr id="20" name="TextBox 19"/>
          <p:cNvSpPr txBox="1"/>
          <p:nvPr/>
        </p:nvSpPr>
        <p:spPr>
          <a:xfrm>
            <a:off x="4937760" y="3557015"/>
            <a:ext cx="6537960" cy="232257"/>
          </a:xfrm>
          <a:prstGeom prst="rect">
            <a:avLst/>
          </a:prstGeom>
          <a:noFill/>
        </p:spPr>
        <p:txBody>
          <a:bodyPr wrap="square" lIns="0" rIns="0" tIns="0" bIns="0" anchor="t">
            <a:spAutoFit/>
          </a:bodyPr>
          <a:lstStyle/>
          <a:p>
            <a:pPr>
              <a:lnSpc>
                <a:spcPct val="112000"/>
              </a:lnSpc>
              <a:spcAft>
                <a:spcPts val="300"/>
              </a:spcAft>
              <a:defRPr sz="1400" b="0">
                <a:solidFill>
                  <a:srgbClr val="182B43"/>
                </a:solidFill>
                <a:latin typeface="Arial"/>
              </a:defRPr>
            </a:pPr>
            <a:r>
              <a:t>Show the PR/MR and its exact commit.</a:t>
            </a:r>
          </a:p>
        </p:txBody>
      </p:sp>
      <p:sp>
        <p:nvSpPr>
          <p:cNvPr id="21" name="Rounded Rectangle 20"/>
          <p:cNvSpPr/>
          <p:nvPr/>
        </p:nvSpPr>
        <p:spPr>
          <a:xfrm>
            <a:off x="4096512" y="3834993"/>
            <a:ext cx="7589520" cy="534009"/>
          </a:xfrm>
          <a:prstGeom prst="roundRect">
            <a:avLst>
              <a:gd name="adj" fmla="val 8000"/>
            </a:avLst>
          </a:prstGeom>
          <a:solidFill>
            <a:srgbClr val="F1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33672" y="3944721"/>
            <a:ext cx="594360" cy="256032"/>
          </a:xfrm>
          <a:prstGeom prst="rect">
            <a:avLst/>
          </a:prstGeom>
          <a:noFill/>
        </p:spPr>
        <p:txBody>
          <a:bodyPr wrap="square" lIns="0" rIns="0" tIns="0" bIns="0" anchor="t">
            <a:spAutoFit/>
          </a:bodyPr>
          <a:lstStyle/>
          <a:p>
            <a:pPr>
              <a:lnSpc>
                <a:spcPct val="112000"/>
              </a:lnSpc>
              <a:spcAft>
                <a:spcPts val="300"/>
              </a:spcAft>
              <a:defRPr sz="1300" b="1">
                <a:solidFill>
                  <a:srgbClr val="B95215"/>
                </a:solidFill>
                <a:latin typeface="Arial"/>
              </a:defRPr>
            </a:pPr>
            <a:r>
              <a:t>01:15</a:t>
            </a:r>
          </a:p>
        </p:txBody>
      </p:sp>
      <p:sp>
        <p:nvSpPr>
          <p:cNvPr id="23" name="TextBox 22"/>
          <p:cNvSpPr txBox="1"/>
          <p:nvPr/>
        </p:nvSpPr>
        <p:spPr>
          <a:xfrm>
            <a:off x="4937760" y="3908145"/>
            <a:ext cx="6537960" cy="219456"/>
          </a:xfrm>
          <a:prstGeom prst="rect">
            <a:avLst/>
          </a:prstGeom>
          <a:noFill/>
        </p:spPr>
        <p:txBody>
          <a:bodyPr wrap="square" lIns="0" rIns="0" tIns="0" bIns="0" anchor="t">
            <a:spAutoFit/>
          </a:bodyPr>
          <a:lstStyle/>
          <a:p>
            <a:pPr>
              <a:lnSpc>
                <a:spcPct val="112000"/>
              </a:lnSpc>
              <a:spcAft>
                <a:spcPts val="300"/>
              </a:spcAft>
              <a:defRPr sz="1350" b="1">
                <a:solidFill>
                  <a:srgbClr val="182B43"/>
                </a:solidFill>
                <a:latin typeface="Arial"/>
              </a:defRPr>
            </a:pPr>
            <a:r>
              <a:t>Start or open review</a:t>
            </a:r>
          </a:p>
        </p:txBody>
      </p:sp>
      <p:sp>
        <p:nvSpPr>
          <p:cNvPr id="24" name="TextBox 23"/>
          <p:cNvSpPr txBox="1"/>
          <p:nvPr/>
        </p:nvSpPr>
        <p:spPr>
          <a:xfrm>
            <a:off x="4937760" y="4145889"/>
            <a:ext cx="6537960" cy="232257"/>
          </a:xfrm>
          <a:prstGeom prst="rect">
            <a:avLst/>
          </a:prstGeom>
          <a:noFill/>
        </p:spPr>
        <p:txBody>
          <a:bodyPr wrap="square" lIns="0" rIns="0" tIns="0" bIns="0" anchor="t">
            <a:spAutoFit/>
          </a:bodyPr>
          <a:lstStyle/>
          <a:p>
            <a:pPr>
              <a:lnSpc>
                <a:spcPct val="112000"/>
              </a:lnSpc>
              <a:spcAft>
                <a:spcPts val="300"/>
              </a:spcAft>
              <a:defRPr sz="1400" b="0">
                <a:solidFill>
                  <a:srgbClr val="182B43"/>
                </a:solidFill>
                <a:latin typeface="Arial"/>
              </a:defRPr>
            </a:pPr>
            <a:r>
              <a:t>Confirm preview Region and enabled review/verification settings.</a:t>
            </a:r>
          </a:p>
        </p:txBody>
      </p:sp>
      <p:sp>
        <p:nvSpPr>
          <p:cNvPr id="25" name="Rounded Rectangle 24"/>
          <p:cNvSpPr/>
          <p:nvPr/>
        </p:nvSpPr>
        <p:spPr>
          <a:xfrm>
            <a:off x="4096512" y="4423867"/>
            <a:ext cx="7589520" cy="534009"/>
          </a:xfrm>
          <a:prstGeom prst="roundRect">
            <a:avLst>
              <a:gd name="adj" fmla="val 8000"/>
            </a:avLst>
          </a:prstGeom>
          <a:solidFill>
            <a:srgbClr val="F1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233672" y="4533595"/>
            <a:ext cx="594360" cy="256032"/>
          </a:xfrm>
          <a:prstGeom prst="rect">
            <a:avLst/>
          </a:prstGeom>
          <a:noFill/>
        </p:spPr>
        <p:txBody>
          <a:bodyPr wrap="square" lIns="0" rIns="0" tIns="0" bIns="0" anchor="t">
            <a:spAutoFit/>
          </a:bodyPr>
          <a:lstStyle/>
          <a:p>
            <a:pPr>
              <a:lnSpc>
                <a:spcPct val="112000"/>
              </a:lnSpc>
              <a:spcAft>
                <a:spcPts val="300"/>
              </a:spcAft>
              <a:defRPr sz="1300" b="1">
                <a:solidFill>
                  <a:srgbClr val="B95215"/>
                </a:solidFill>
                <a:latin typeface="Arial"/>
              </a:defRPr>
            </a:pPr>
            <a:r>
              <a:t>01:15</a:t>
            </a:r>
          </a:p>
        </p:txBody>
      </p:sp>
      <p:sp>
        <p:nvSpPr>
          <p:cNvPr id="27" name="TextBox 26"/>
          <p:cNvSpPr txBox="1"/>
          <p:nvPr/>
        </p:nvSpPr>
        <p:spPr>
          <a:xfrm>
            <a:off x="4937760" y="4497019"/>
            <a:ext cx="6537960" cy="219456"/>
          </a:xfrm>
          <a:prstGeom prst="rect">
            <a:avLst/>
          </a:prstGeom>
          <a:noFill/>
        </p:spPr>
        <p:txBody>
          <a:bodyPr wrap="square" lIns="0" rIns="0" tIns="0" bIns="0" anchor="t">
            <a:spAutoFit/>
          </a:bodyPr>
          <a:lstStyle/>
          <a:p>
            <a:pPr>
              <a:lnSpc>
                <a:spcPct val="112000"/>
              </a:lnSpc>
              <a:spcAft>
                <a:spcPts val="300"/>
              </a:spcAft>
              <a:defRPr sz="1350" b="1">
                <a:solidFill>
                  <a:srgbClr val="182B43"/>
                </a:solidFill>
                <a:latin typeface="Arial"/>
              </a:defRPr>
            </a:pPr>
            <a:r>
              <a:t>Inspect risk evidence</a:t>
            </a:r>
          </a:p>
        </p:txBody>
      </p:sp>
      <p:sp>
        <p:nvSpPr>
          <p:cNvPr id="28" name="TextBox 27"/>
          <p:cNvSpPr txBox="1"/>
          <p:nvPr/>
        </p:nvSpPr>
        <p:spPr>
          <a:xfrm>
            <a:off x="4937760" y="4734763"/>
            <a:ext cx="6537960" cy="232257"/>
          </a:xfrm>
          <a:prstGeom prst="rect">
            <a:avLst/>
          </a:prstGeom>
          <a:noFill/>
        </p:spPr>
        <p:txBody>
          <a:bodyPr wrap="square" lIns="0" rIns="0" tIns="0" bIns="0" anchor="t">
            <a:spAutoFit/>
          </a:bodyPr>
          <a:lstStyle/>
          <a:p>
            <a:pPr>
              <a:lnSpc>
                <a:spcPct val="112000"/>
              </a:lnSpc>
              <a:spcAft>
                <a:spcPts val="300"/>
              </a:spcAft>
              <a:defRPr sz="1400" b="0">
                <a:solidFill>
                  <a:srgbClr val="182B43"/>
                </a:solidFill>
                <a:latin typeface="Arial"/>
              </a:defRPr>
            </a:pPr>
            <a:r>
              <a:t>Trace a finding to changed code and a dependency.</a:t>
            </a:r>
          </a:p>
        </p:txBody>
      </p:sp>
      <p:sp>
        <p:nvSpPr>
          <p:cNvPr id="29" name="Rounded Rectangle 28"/>
          <p:cNvSpPr/>
          <p:nvPr/>
        </p:nvSpPr>
        <p:spPr>
          <a:xfrm>
            <a:off x="4096512" y="5012740"/>
            <a:ext cx="7589520" cy="534009"/>
          </a:xfrm>
          <a:prstGeom prst="roundRect">
            <a:avLst>
              <a:gd name="adj" fmla="val 8000"/>
            </a:avLst>
          </a:prstGeom>
          <a:solidFill>
            <a:srgbClr val="F1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33672" y="5122468"/>
            <a:ext cx="594360" cy="256032"/>
          </a:xfrm>
          <a:prstGeom prst="rect">
            <a:avLst/>
          </a:prstGeom>
          <a:noFill/>
        </p:spPr>
        <p:txBody>
          <a:bodyPr wrap="square" lIns="0" rIns="0" tIns="0" bIns="0" anchor="t">
            <a:spAutoFit/>
          </a:bodyPr>
          <a:lstStyle/>
          <a:p>
            <a:pPr>
              <a:lnSpc>
                <a:spcPct val="112000"/>
              </a:lnSpc>
              <a:spcAft>
                <a:spcPts val="300"/>
              </a:spcAft>
              <a:defRPr sz="1300" b="1">
                <a:solidFill>
                  <a:srgbClr val="B95215"/>
                </a:solidFill>
                <a:latin typeface="Arial"/>
              </a:defRPr>
            </a:pPr>
            <a:r>
              <a:t>01:00</a:t>
            </a:r>
          </a:p>
        </p:txBody>
      </p:sp>
      <p:sp>
        <p:nvSpPr>
          <p:cNvPr id="31" name="TextBox 30"/>
          <p:cNvSpPr txBox="1"/>
          <p:nvPr/>
        </p:nvSpPr>
        <p:spPr>
          <a:xfrm>
            <a:off x="4937760" y="5085892"/>
            <a:ext cx="6537960" cy="219456"/>
          </a:xfrm>
          <a:prstGeom prst="rect">
            <a:avLst/>
          </a:prstGeom>
          <a:noFill/>
        </p:spPr>
        <p:txBody>
          <a:bodyPr wrap="square" lIns="0" rIns="0" tIns="0" bIns="0" anchor="t">
            <a:spAutoFit/>
          </a:bodyPr>
          <a:lstStyle/>
          <a:p>
            <a:pPr>
              <a:lnSpc>
                <a:spcPct val="112000"/>
              </a:lnSpc>
              <a:spcAft>
                <a:spcPts val="300"/>
              </a:spcAft>
              <a:defRPr sz="1350" b="1">
                <a:solidFill>
                  <a:srgbClr val="182B43"/>
                </a:solidFill>
                <a:latin typeface="Arial"/>
              </a:defRPr>
            </a:pPr>
            <a:r>
              <a:t>Read verification</a:t>
            </a:r>
          </a:p>
        </p:txBody>
      </p:sp>
      <p:sp>
        <p:nvSpPr>
          <p:cNvPr id="32" name="TextBox 31"/>
          <p:cNvSpPr txBox="1"/>
          <p:nvPr/>
        </p:nvSpPr>
        <p:spPr>
          <a:xfrm>
            <a:off x="4937760" y="5323636"/>
            <a:ext cx="6537960" cy="232257"/>
          </a:xfrm>
          <a:prstGeom prst="rect">
            <a:avLst/>
          </a:prstGeom>
          <a:noFill/>
        </p:spPr>
        <p:txBody>
          <a:bodyPr wrap="square" lIns="0" rIns="0" tIns="0" bIns="0" anchor="t">
            <a:spAutoFit/>
          </a:bodyPr>
          <a:lstStyle/>
          <a:p>
            <a:pPr>
              <a:lnSpc>
                <a:spcPct val="112000"/>
              </a:lnSpc>
              <a:spcAft>
                <a:spcPts val="300"/>
              </a:spcAft>
              <a:defRPr sz="1400" b="0">
                <a:solidFill>
                  <a:srgbClr val="182B43"/>
                </a:solidFill>
                <a:latin typeface="Arial"/>
              </a:defRPr>
            </a:pPr>
            <a:r>
              <a:t>Separate a passed check, an unrun check and a failure.</a:t>
            </a:r>
          </a:p>
        </p:txBody>
      </p:sp>
      <p:sp>
        <p:nvSpPr>
          <p:cNvPr id="33" name="Rounded Rectangle 32"/>
          <p:cNvSpPr/>
          <p:nvPr/>
        </p:nvSpPr>
        <p:spPr>
          <a:xfrm>
            <a:off x="4096512" y="5601614"/>
            <a:ext cx="7589520" cy="534009"/>
          </a:xfrm>
          <a:prstGeom prst="roundRect">
            <a:avLst>
              <a:gd name="adj" fmla="val 8000"/>
            </a:avLst>
          </a:prstGeom>
          <a:solidFill>
            <a:srgbClr val="F1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233672" y="5711342"/>
            <a:ext cx="594360" cy="256032"/>
          </a:xfrm>
          <a:prstGeom prst="rect">
            <a:avLst/>
          </a:prstGeom>
          <a:noFill/>
        </p:spPr>
        <p:txBody>
          <a:bodyPr wrap="square" lIns="0" rIns="0" tIns="0" bIns="0" anchor="t">
            <a:spAutoFit/>
          </a:bodyPr>
          <a:lstStyle/>
          <a:p>
            <a:pPr>
              <a:lnSpc>
                <a:spcPct val="112000"/>
              </a:lnSpc>
              <a:spcAft>
                <a:spcPts val="300"/>
              </a:spcAft>
              <a:defRPr sz="1300" b="1">
                <a:solidFill>
                  <a:srgbClr val="B95215"/>
                </a:solidFill>
                <a:latin typeface="Arial"/>
              </a:defRPr>
            </a:pPr>
            <a:r>
              <a:t>00:45</a:t>
            </a:r>
          </a:p>
        </p:txBody>
      </p:sp>
      <p:sp>
        <p:nvSpPr>
          <p:cNvPr id="35" name="TextBox 34"/>
          <p:cNvSpPr txBox="1"/>
          <p:nvPr/>
        </p:nvSpPr>
        <p:spPr>
          <a:xfrm>
            <a:off x="4937760" y="5674766"/>
            <a:ext cx="6537960" cy="219456"/>
          </a:xfrm>
          <a:prstGeom prst="rect">
            <a:avLst/>
          </a:prstGeom>
          <a:noFill/>
        </p:spPr>
        <p:txBody>
          <a:bodyPr wrap="square" lIns="0" rIns="0" tIns="0" bIns="0" anchor="t">
            <a:spAutoFit/>
          </a:bodyPr>
          <a:lstStyle/>
          <a:p>
            <a:pPr>
              <a:lnSpc>
                <a:spcPct val="112000"/>
              </a:lnSpc>
              <a:spcAft>
                <a:spcPts val="300"/>
              </a:spcAft>
              <a:defRPr sz="1350" b="1">
                <a:solidFill>
                  <a:srgbClr val="182B43"/>
                </a:solidFill>
                <a:latin typeface="Arial"/>
              </a:defRPr>
            </a:pPr>
            <a:r>
              <a:t>Decide the next step</a:t>
            </a:r>
          </a:p>
        </p:txBody>
      </p:sp>
      <p:sp>
        <p:nvSpPr>
          <p:cNvPr id="36" name="TextBox 35"/>
          <p:cNvSpPr txBox="1"/>
          <p:nvPr/>
        </p:nvSpPr>
        <p:spPr>
          <a:xfrm>
            <a:off x="4937760" y="5912510"/>
            <a:ext cx="6537960" cy="232257"/>
          </a:xfrm>
          <a:prstGeom prst="rect">
            <a:avLst/>
          </a:prstGeom>
          <a:noFill/>
        </p:spPr>
        <p:txBody>
          <a:bodyPr wrap="square" lIns="0" rIns="0" tIns="0" bIns="0" anchor="t">
            <a:spAutoFit/>
          </a:bodyPr>
          <a:lstStyle/>
          <a:p>
            <a:pPr>
              <a:lnSpc>
                <a:spcPct val="112000"/>
              </a:lnSpc>
              <a:spcAft>
                <a:spcPts val="300"/>
              </a:spcAft>
              <a:defRPr sz="1400" b="0">
                <a:solidFill>
                  <a:srgbClr val="182B43"/>
                </a:solidFill>
                <a:latin typeface="Arial"/>
              </a:defRPr>
            </a:pPr>
            <a:r>
              <a:t>Release owner accepts, requests work or blocks promotion.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B952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AWS DEVOPS AGENT  /  CAPABILITIES</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Bring operational context into the coding workflow</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Acceptance: client connectivity does not widen the Agent Space’s permissions.</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13 / 18    AWS DevOps Agent</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01:15 allocated  |  26:45–28:00</a:t>
            </a:r>
          </a:p>
        </p:txBody>
      </p:sp>
      <p:sp>
        <p:nvSpPr>
          <p:cNvPr id="9" name="Rounded Rectangle 8"/>
          <p:cNvSpPr/>
          <p:nvPr/>
        </p:nvSpPr>
        <p:spPr>
          <a:xfrm>
            <a:off x="502920" y="2313432"/>
            <a:ext cx="3611880"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459736"/>
            <a:ext cx="3282696" cy="201168"/>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01</a:t>
            </a:r>
          </a:p>
        </p:txBody>
      </p:sp>
      <p:sp>
        <p:nvSpPr>
          <p:cNvPr id="11" name="TextBox 10"/>
          <p:cNvSpPr txBox="1"/>
          <p:nvPr/>
        </p:nvSpPr>
        <p:spPr>
          <a:xfrm>
            <a:off x="667512" y="2788920"/>
            <a:ext cx="328269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Inputs</a:t>
            </a:r>
          </a:p>
        </p:txBody>
      </p:sp>
      <p:sp>
        <p:nvSpPr>
          <p:cNvPr id="12" name="TextBox 11"/>
          <p:cNvSpPr txBox="1"/>
          <p:nvPr/>
        </p:nvSpPr>
        <p:spPr>
          <a:xfrm>
            <a:off x="667512" y="3392424"/>
            <a:ext cx="3282696"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An authorized Agent Space and client identity</a:t>
            </a:r>
          </a:p>
          <a:p>
            <a:pPr>
              <a:lnSpc>
                <a:spcPct val="112000"/>
              </a:lnSpc>
              <a:spcAft>
                <a:spcPts val="300"/>
              </a:spcAft>
              <a:defRPr sz="1800" b="0">
                <a:solidFill>
                  <a:srgbClr val="182B43"/>
                </a:solidFill>
                <a:latin typeface="Arial"/>
              </a:defRPr>
            </a:pPr>
          </a:p>
          <a:p>
            <a:pPr>
              <a:lnSpc>
                <a:spcPct val="112000"/>
              </a:lnSpc>
              <a:spcAft>
                <a:spcPts val="300"/>
              </a:spcAft>
              <a:defRPr sz="1800" b="0">
                <a:solidFill>
                  <a:srgbClr val="182B43"/>
                </a:solidFill>
                <a:latin typeface="Arial"/>
              </a:defRPr>
            </a:pPr>
            <a:r>
              <a:t>A concrete incident or operational question</a:t>
            </a:r>
          </a:p>
        </p:txBody>
      </p:sp>
      <p:sp>
        <p:nvSpPr>
          <p:cNvPr id="13" name="Rounded Rectangle 12"/>
          <p:cNvSpPr/>
          <p:nvPr/>
        </p:nvSpPr>
        <p:spPr>
          <a:xfrm>
            <a:off x="4288536" y="2313432"/>
            <a:ext cx="3611880"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53127" y="2459736"/>
            <a:ext cx="3282696" cy="201168"/>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02</a:t>
            </a:r>
          </a:p>
        </p:txBody>
      </p:sp>
      <p:sp>
        <p:nvSpPr>
          <p:cNvPr id="15" name="TextBox 14"/>
          <p:cNvSpPr txBox="1"/>
          <p:nvPr/>
        </p:nvSpPr>
        <p:spPr>
          <a:xfrm>
            <a:off x="4453127" y="2788920"/>
            <a:ext cx="328269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Agent work</a:t>
            </a:r>
          </a:p>
        </p:txBody>
      </p:sp>
      <p:sp>
        <p:nvSpPr>
          <p:cNvPr id="16" name="TextBox 15"/>
          <p:cNvSpPr txBox="1"/>
          <p:nvPr/>
        </p:nvSpPr>
        <p:spPr>
          <a:xfrm>
            <a:off x="4453127" y="3392424"/>
            <a:ext cx="3282696"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Connect an MCP-capable IDE or CLI to the remote server</a:t>
            </a:r>
          </a:p>
          <a:p>
            <a:pPr>
              <a:lnSpc>
                <a:spcPct val="112000"/>
              </a:lnSpc>
              <a:spcAft>
                <a:spcPts val="300"/>
              </a:spcAft>
              <a:defRPr sz="1800" b="0">
                <a:solidFill>
                  <a:srgbClr val="182B43"/>
                </a:solidFill>
                <a:latin typeface="Arial"/>
              </a:defRPr>
            </a:pPr>
          </a:p>
          <a:p>
            <a:pPr>
              <a:lnSpc>
                <a:spcPct val="112000"/>
              </a:lnSpc>
              <a:spcAft>
                <a:spcPts val="300"/>
              </a:spcAft>
              <a:defRPr sz="1800" b="0">
                <a:solidFill>
                  <a:srgbClr val="182B43"/>
                </a:solidFill>
                <a:latin typeface="Arial"/>
              </a:defRPr>
            </a:pPr>
            <a:r>
              <a:t>Retrieve operational context through the configured interface</a:t>
            </a:r>
          </a:p>
        </p:txBody>
      </p:sp>
      <p:sp>
        <p:nvSpPr>
          <p:cNvPr id="17" name="Rounded Rectangle 16"/>
          <p:cNvSpPr/>
          <p:nvPr/>
        </p:nvSpPr>
        <p:spPr>
          <a:xfrm>
            <a:off x="8074152" y="2313432"/>
            <a:ext cx="3611880"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38744" y="2459736"/>
            <a:ext cx="3282696" cy="201168"/>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03</a:t>
            </a:r>
          </a:p>
        </p:txBody>
      </p:sp>
      <p:sp>
        <p:nvSpPr>
          <p:cNvPr id="19" name="TextBox 18"/>
          <p:cNvSpPr txBox="1"/>
          <p:nvPr/>
        </p:nvSpPr>
        <p:spPr>
          <a:xfrm>
            <a:off x="8238744" y="2788920"/>
            <a:ext cx="328269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Outputs</a:t>
            </a:r>
          </a:p>
        </p:txBody>
      </p:sp>
      <p:sp>
        <p:nvSpPr>
          <p:cNvPr id="20" name="TextBox 19"/>
          <p:cNvSpPr txBox="1"/>
          <p:nvPr/>
        </p:nvSpPr>
        <p:spPr>
          <a:xfrm>
            <a:off x="8238744" y="3392424"/>
            <a:ext cx="3282696"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Investigation context next to repository work</a:t>
            </a:r>
          </a:p>
          <a:p>
            <a:pPr>
              <a:lnSpc>
                <a:spcPct val="112000"/>
              </a:lnSpc>
              <a:spcAft>
                <a:spcPts val="300"/>
              </a:spcAft>
              <a:defRPr sz="1800" b="0">
                <a:solidFill>
                  <a:srgbClr val="182B43"/>
                </a:solidFill>
                <a:latin typeface="Arial"/>
              </a:defRPr>
            </a:pPr>
          </a:p>
          <a:p>
            <a:pPr>
              <a:lnSpc>
                <a:spcPct val="112000"/>
              </a:lnSpc>
              <a:spcAft>
                <a:spcPts val="300"/>
              </a:spcAft>
              <a:defRPr sz="1800" b="0">
                <a:solidFill>
                  <a:srgbClr val="182B43"/>
                </a:solidFill>
                <a:latin typeface="Arial"/>
              </a:defRPr>
            </a:pPr>
            <a:r>
              <a:t>A reviewable task or change proposal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B952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AWS DEVOPS AGENT  /  BOUNDARIES</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Separate companion coding work from DevOps Agent</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Kiro supports code work; the team still owns CI, IaC and operational correctness.</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14 / 18    AWS DevOps Agent</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01:30 allocated  |  28:00–29:30</a:t>
            </a:r>
          </a:p>
        </p:txBody>
      </p:sp>
      <p:graphicFrame>
        <p:nvGraphicFramePr>
          <p:cNvPr id="9" name="Table 8"/>
          <p:cNvGraphicFramePr>
            <a:graphicFrameLocks noGrp="1"/>
          </p:cNvGraphicFramePr>
          <p:nvPr/>
        </p:nvGraphicFramePr>
        <p:xfrm>
          <a:off x="502920" y="2313432"/>
          <a:ext cx="11183112" cy="3858768"/>
        </p:xfrm>
        <a:graphic>
          <a:graphicData uri="http://schemas.openxmlformats.org/drawingml/2006/table">
            <a:tbl>
              <a:tblPr firstRow="1" bandRow="1">
                <a:tableStyleId>{5C22544A-7EE6-4342-B048-85BDC9FD1C3A}</a:tableStyleId>
              </a:tblPr>
              <a:tblGrid>
                <a:gridCol w="3727704"/>
                <a:gridCol w="3727704"/>
                <a:gridCol w="3727704"/>
              </a:tblGrid>
              <a:tr h="771753">
                <a:tc>
                  <a:txBody>
                    <a:bodyPr/>
                    <a:lstStyle/>
                    <a:p>
                      <a:pPr>
                        <a:spcAft>
                          <a:spcPts val="0"/>
                        </a:spcAft>
                        <a:defRPr sz="1600" b="1">
                          <a:solidFill>
                            <a:srgbClr val="FFFFFF"/>
                          </a:solidFill>
                          <a:latin typeface="Arial"/>
                        </a:defRPr>
                      </a:pPr>
                      <a:r>
                        <a:t>Daily task</a:t>
                      </a:r>
                    </a:p>
                  </a:txBody>
                  <a:tcPr marL="128016" marR="128016" marT="82296" marB="54864">
                    <a:solidFill>
                      <a:srgbClr val="10243B"/>
                    </a:solidFill>
                  </a:tcPr>
                </a:tc>
                <a:tc>
                  <a:txBody>
                    <a:bodyPr/>
                    <a:lstStyle/>
                    <a:p>
                      <a:pPr>
                        <a:spcAft>
                          <a:spcPts val="0"/>
                        </a:spcAft>
                        <a:defRPr sz="1600" b="1">
                          <a:solidFill>
                            <a:srgbClr val="FFFFFF"/>
                          </a:solidFill>
                          <a:latin typeface="Arial"/>
                        </a:defRPr>
                      </a:pPr>
                      <a:r>
                        <a:t>Useful output</a:t>
                      </a:r>
                    </a:p>
                  </a:txBody>
                  <a:tcPr marL="128016" marR="128016" marT="82296" marB="54864">
                    <a:solidFill>
                      <a:srgbClr val="10243B"/>
                    </a:solidFill>
                  </a:tcPr>
                </a:tc>
                <a:tc>
                  <a:txBody>
                    <a:bodyPr/>
                    <a:lstStyle/>
                    <a:p>
                      <a:pPr>
                        <a:spcAft>
                          <a:spcPts val="0"/>
                        </a:spcAft>
                        <a:defRPr sz="1600" b="1">
                          <a:solidFill>
                            <a:srgbClr val="FFFFFF"/>
                          </a:solidFill>
                          <a:latin typeface="Arial"/>
                        </a:defRPr>
                      </a:pPr>
                      <a:r>
                        <a:t>Team acceptance</a:t>
                      </a:r>
                    </a:p>
                  </a:txBody>
                  <a:tcPr marL="128016" marR="128016" marT="82296" marB="54864">
                    <a:solidFill>
                      <a:srgbClr val="10243B"/>
                    </a:solidFill>
                  </a:tcPr>
                </a:tc>
              </a:tr>
              <a:tr h="771753">
                <a:tc>
                  <a:txBody>
                    <a:bodyPr/>
                    <a:lstStyle/>
                    <a:p>
                      <a:pPr>
                        <a:spcAft>
                          <a:spcPts val="0"/>
                        </a:spcAft>
                        <a:defRPr sz="1600" b="0">
                          <a:solidFill>
                            <a:srgbClr val="182B43"/>
                          </a:solidFill>
                          <a:latin typeface="Arial"/>
                        </a:defRPr>
                      </a:pPr>
                      <a:r>
                        <a:t>Understand / change code</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Cited code path; small patch</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Inspect scope and runtime behavior</a:t>
                      </a:r>
                    </a:p>
                  </a:txBody>
                  <a:tcPr marL="128016" marR="128016" marT="82296" marB="54864">
                    <a:solidFill>
                      <a:srgbClr val="F1F5F8"/>
                    </a:solidFill>
                  </a:tcPr>
                </a:tc>
              </a:tr>
              <a:tr h="771753">
                <a:tc>
                  <a:txBody>
                    <a:bodyPr/>
                    <a:lstStyle/>
                    <a:p>
                      <a:pPr>
                        <a:spcAft>
                          <a:spcPts val="0"/>
                        </a:spcAft>
                        <a:defRPr sz="1600" b="0">
                          <a:solidFill>
                            <a:srgbClr val="182B43"/>
                          </a:solidFill>
                          <a:latin typeface="Arial"/>
                        </a:defRPr>
                      </a:pPr>
                      <a:r>
                        <a:t>Generate tests</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Test source and execution result</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Check meaningful failure cases</a:t>
                      </a:r>
                    </a:p>
                  </a:txBody>
                  <a:tcPr marL="128016" marR="128016" marT="82296" marB="54864">
                    <a:solidFill>
                      <a:srgbClr val="FFFFFF"/>
                    </a:solidFill>
                  </a:tcPr>
                </a:tc>
              </a:tr>
              <a:tr h="771753">
                <a:tc>
                  <a:txBody>
                    <a:bodyPr/>
                    <a:lstStyle/>
                    <a:p>
                      <a:pPr>
                        <a:spcAft>
                          <a:spcPts val="0"/>
                        </a:spcAft>
                        <a:defRPr sz="1600" b="0">
                          <a:solidFill>
                            <a:srgbClr val="182B43"/>
                          </a:solidFill>
                          <a:latin typeface="Arial"/>
                        </a:defRPr>
                      </a:pPr>
                      <a:r>
                        <a:t>Draft IaC / diagnose CI</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Candidate config or diagnosis</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Run provider validation and same CI check</a:t>
                      </a:r>
                    </a:p>
                  </a:txBody>
                  <a:tcPr marL="128016" marR="128016" marT="82296" marB="54864">
                    <a:solidFill>
                      <a:srgbClr val="F1F5F8"/>
                    </a:solidFill>
                  </a:tcPr>
                </a:tc>
              </a:tr>
              <a:tr h="771756">
                <a:tc>
                  <a:txBody>
                    <a:bodyPr/>
                    <a:lstStyle/>
                    <a:p>
                      <a:pPr>
                        <a:spcAft>
                          <a:spcPts val="0"/>
                        </a:spcAft>
                        <a:defRPr sz="1600" b="0">
                          <a:solidFill>
                            <a:srgbClr val="182B43"/>
                          </a:solidFill>
                          <a:latin typeface="Arial"/>
                        </a:defRPr>
                      </a:pPr>
                      <a:r>
                        <a:t>Write operational docs</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Runbook or README draft</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Rehearse safely; owner signs off</a:t>
                      </a:r>
                    </a:p>
                  </a:txBody>
                  <a:tcPr marL="128016" marR="128016" marT="82296" marB="54864">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B952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AWS DEVOPS AGENT  /  BOUNDARIES</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Keep Amazon Q Developer in its own lane</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600" b="0">
                <a:solidFill>
                  <a:srgbClr val="55657A"/>
                </a:solidFill>
                <a:latin typeface="Arial"/>
              </a:defRPr>
            </a:pPr>
            <a:r>
              <a:t>Existing guidance, review and transformation workflows are companion services—not DevOps Agent features.</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15 / 18    AWS DevOps Agent</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01:30 allocated  |  29:30–31:00</a:t>
            </a:r>
          </a:p>
        </p:txBody>
      </p:sp>
      <p:graphicFrame>
        <p:nvGraphicFramePr>
          <p:cNvPr id="9" name="Table 8"/>
          <p:cNvGraphicFramePr>
            <a:graphicFrameLocks noGrp="1"/>
          </p:cNvGraphicFramePr>
          <p:nvPr/>
        </p:nvGraphicFramePr>
        <p:xfrm>
          <a:off x="502920" y="2313432"/>
          <a:ext cx="11183112" cy="3858768"/>
        </p:xfrm>
        <a:graphic>
          <a:graphicData uri="http://schemas.openxmlformats.org/drawingml/2006/table">
            <a:tbl>
              <a:tblPr firstRow="1" bandRow="1">
                <a:tableStyleId>{5C22544A-7EE6-4342-B048-85BDC9FD1C3A}</a:tableStyleId>
              </a:tblPr>
              <a:tblGrid>
                <a:gridCol w="3727704"/>
                <a:gridCol w="3727704"/>
                <a:gridCol w="3727704"/>
              </a:tblGrid>
              <a:tr h="964692">
                <a:tc>
                  <a:txBody>
                    <a:bodyPr/>
                    <a:lstStyle/>
                    <a:p>
                      <a:pPr>
                        <a:spcAft>
                          <a:spcPts val="0"/>
                        </a:spcAft>
                        <a:defRPr sz="1600" b="1">
                          <a:solidFill>
                            <a:srgbClr val="FFFFFF"/>
                          </a:solidFill>
                          <a:latin typeface="Arial"/>
                        </a:defRPr>
                      </a:pPr>
                      <a:r>
                        <a:t>Companion workflow</a:t>
                      </a:r>
                    </a:p>
                  </a:txBody>
                  <a:tcPr marL="128016" marR="128016" marT="82296" marB="54864">
                    <a:solidFill>
                      <a:srgbClr val="10243B"/>
                    </a:solidFill>
                  </a:tcPr>
                </a:tc>
                <a:tc>
                  <a:txBody>
                    <a:bodyPr/>
                    <a:lstStyle/>
                    <a:p>
                      <a:pPr>
                        <a:spcAft>
                          <a:spcPts val="0"/>
                        </a:spcAft>
                        <a:defRPr sz="1600" b="1">
                          <a:solidFill>
                            <a:srgbClr val="FFFFFF"/>
                          </a:solidFill>
                          <a:latin typeface="Arial"/>
                        </a:defRPr>
                      </a:pPr>
                      <a:r>
                        <a:t>Documented behavior</a:t>
                      </a:r>
                    </a:p>
                  </a:txBody>
                  <a:tcPr marL="128016" marR="128016" marT="82296" marB="54864">
                    <a:solidFill>
                      <a:srgbClr val="10243B"/>
                    </a:solidFill>
                  </a:tcPr>
                </a:tc>
                <a:tc>
                  <a:txBody>
                    <a:bodyPr/>
                    <a:lstStyle/>
                    <a:p>
                      <a:pPr>
                        <a:spcAft>
                          <a:spcPts val="0"/>
                        </a:spcAft>
                        <a:defRPr sz="1600" b="1">
                          <a:solidFill>
                            <a:srgbClr val="FFFFFF"/>
                          </a:solidFill>
                          <a:latin typeface="Arial"/>
                        </a:defRPr>
                      </a:pPr>
                      <a:r>
                        <a:t>Important qualification</a:t>
                      </a:r>
                    </a:p>
                  </a:txBody>
                  <a:tcPr marL="128016" marR="128016" marT="82296" marB="54864">
                    <a:solidFill>
                      <a:srgbClr val="10243B"/>
                    </a:solidFill>
                  </a:tcPr>
                </a:tc>
              </a:tr>
              <a:tr h="964692">
                <a:tc>
                  <a:txBody>
                    <a:bodyPr/>
                    <a:lstStyle/>
                    <a:p>
                      <a:pPr>
                        <a:spcAft>
                          <a:spcPts val="0"/>
                        </a:spcAft>
                        <a:defRPr sz="1600" b="0">
                          <a:solidFill>
                            <a:srgbClr val="182B43"/>
                          </a:solidFill>
                          <a:latin typeface="Arial"/>
                        </a:defRPr>
                      </a:pPr>
                      <a:r>
                        <a:t>AWS questions / IDE reviews</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Guidance and code findings</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Review actual source/language support</a:t>
                      </a:r>
                    </a:p>
                  </a:txBody>
                  <a:tcPr marL="128016" marR="128016" marT="82296" marB="54864">
                    <a:solidFill>
                      <a:srgbClr val="F1F5F8"/>
                    </a:solidFill>
                  </a:tcPr>
                </a:tc>
              </a:tr>
              <a:tr h="964692">
                <a:tc>
                  <a:txBody>
                    <a:bodyPr/>
                    <a:lstStyle/>
                    <a:p>
                      <a:pPr>
                        <a:spcAft>
                          <a:spcPts val="0"/>
                        </a:spcAft>
                        <a:defRPr sz="1600" b="0">
                          <a:solidFill>
                            <a:srgbClr val="182B43"/>
                          </a:solidFill>
                          <a:latin typeface="Arial"/>
                        </a:defRPr>
                      </a:pPr>
                      <a:r>
                        <a:t>GitHub review / feature work</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Review or issue-to-PR assistance</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Preview; use /q review after later commits</a:t>
                      </a:r>
                    </a:p>
                  </a:txBody>
                  <a:tcPr marL="128016" marR="128016" marT="82296" marB="54864">
                    <a:solidFill>
                      <a:srgbClr val="FFFFFF"/>
                    </a:solidFill>
                  </a:tcPr>
                </a:tc>
              </a:tr>
              <a:tr h="964692">
                <a:tc>
                  <a:txBody>
                    <a:bodyPr/>
                    <a:lstStyle/>
                    <a:p>
                      <a:pPr>
                        <a:spcAft>
                          <a:spcPts val="0"/>
                        </a:spcAft>
                        <a:defRPr sz="1600" b="0">
                          <a:solidFill>
                            <a:srgbClr val="182B43"/>
                          </a:solidFill>
                          <a:latin typeface="Arial"/>
                        </a:defRPr>
                      </a:pPr>
                      <a:r>
                        <a:t>Java / .NET transformation</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Supported upgrade or porting flow</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Validate build prerequisites and resulting code</a:t>
                      </a:r>
                    </a:p>
                  </a:txBody>
                  <a:tcPr marL="128016" marR="128016" marT="82296" marB="54864">
                    <a:solidFill>
                      <a:srgbClr val="F1F5F8"/>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B952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AWS DEVOPS AGENT  /  ADOPTION</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A safe starting configuration is intentionally small</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Prove the read path before expanding automated effects.</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16 / 18    AWS DevOps Agent</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01:30 allocated  |  31:00–32:30</a:t>
            </a:r>
          </a:p>
        </p:txBody>
      </p:sp>
      <p:sp>
        <p:nvSpPr>
          <p:cNvPr id="9" name="Rounded Rectangle 8"/>
          <p:cNvSpPr/>
          <p:nvPr/>
        </p:nvSpPr>
        <p:spPr>
          <a:xfrm>
            <a:off x="502920" y="2313432"/>
            <a:ext cx="359359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459736"/>
            <a:ext cx="3264408" cy="201168"/>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SCOPE</a:t>
            </a:r>
          </a:p>
        </p:txBody>
      </p:sp>
      <p:sp>
        <p:nvSpPr>
          <p:cNvPr id="11" name="TextBox 10"/>
          <p:cNvSpPr txBox="1"/>
          <p:nvPr/>
        </p:nvSpPr>
        <p:spPr>
          <a:xfrm>
            <a:off x="667512" y="2788920"/>
            <a:ext cx="326440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Boundary</a:t>
            </a:r>
          </a:p>
        </p:txBody>
      </p:sp>
      <p:sp>
        <p:nvSpPr>
          <p:cNvPr id="12" name="TextBox 11"/>
          <p:cNvSpPr txBox="1"/>
          <p:nvPr/>
        </p:nvSpPr>
        <p:spPr>
          <a:xfrm>
            <a:off x="667512" y="3392424"/>
            <a:ext cx="3264408" cy="612648"/>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One service, owned accounts and named operators.</a:t>
            </a:r>
          </a:p>
        </p:txBody>
      </p:sp>
      <p:sp>
        <p:nvSpPr>
          <p:cNvPr id="13" name="Rounded Rectangle 12"/>
          <p:cNvSpPr/>
          <p:nvPr/>
        </p:nvSpPr>
        <p:spPr>
          <a:xfrm>
            <a:off x="4297680" y="2313432"/>
            <a:ext cx="359359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62272" y="2459736"/>
            <a:ext cx="3264408" cy="201168"/>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READS</a:t>
            </a:r>
          </a:p>
        </p:txBody>
      </p:sp>
      <p:sp>
        <p:nvSpPr>
          <p:cNvPr id="15" name="TextBox 14"/>
          <p:cNvSpPr txBox="1"/>
          <p:nvPr/>
        </p:nvSpPr>
        <p:spPr>
          <a:xfrm>
            <a:off x="4462272" y="2788920"/>
            <a:ext cx="326440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Evidence</a:t>
            </a:r>
          </a:p>
        </p:txBody>
      </p:sp>
      <p:sp>
        <p:nvSpPr>
          <p:cNvPr id="16" name="TextBox 15"/>
          <p:cNvSpPr txBox="1"/>
          <p:nvPr/>
        </p:nvSpPr>
        <p:spPr>
          <a:xfrm>
            <a:off x="4462272" y="3392424"/>
            <a:ext cx="3264408" cy="612648"/>
          </a:xfrm>
          <a:prstGeom prst="rect">
            <a:avLst/>
          </a:prstGeom>
          <a:noFill/>
        </p:spPr>
        <p:txBody>
          <a:bodyPr wrap="square" lIns="0" rIns="0" tIns="0" bIns="0" anchor="t">
            <a:spAutoFit/>
          </a:bodyPr>
          <a:lstStyle/>
          <a:p>
            <a:pPr>
              <a:lnSpc>
                <a:spcPct val="112000"/>
              </a:lnSpc>
              <a:spcAft>
                <a:spcPts val="300"/>
              </a:spcAft>
              <a:defRPr sz="1550" b="0">
                <a:solidFill>
                  <a:srgbClr val="182B43"/>
                </a:solidFill>
                <a:latin typeface="Arial"/>
              </a:defRPr>
            </a:pPr>
            <a:r>
              <a:t>Known logs, metrics, deployments and repository links.</a:t>
            </a:r>
          </a:p>
        </p:txBody>
      </p:sp>
      <p:sp>
        <p:nvSpPr>
          <p:cNvPr id="17" name="Rounded Rectangle 16"/>
          <p:cNvSpPr/>
          <p:nvPr/>
        </p:nvSpPr>
        <p:spPr>
          <a:xfrm>
            <a:off x="8092440" y="2313432"/>
            <a:ext cx="359359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57032" y="2459736"/>
            <a:ext cx="3264408" cy="201168"/>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WRITES</a:t>
            </a:r>
          </a:p>
        </p:txBody>
      </p:sp>
      <p:sp>
        <p:nvSpPr>
          <p:cNvPr id="19" name="TextBox 18"/>
          <p:cNvSpPr txBox="1"/>
          <p:nvPr/>
        </p:nvSpPr>
        <p:spPr>
          <a:xfrm>
            <a:off x="8257032" y="2788920"/>
            <a:ext cx="326440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Effects</a:t>
            </a:r>
          </a:p>
        </p:txBody>
      </p:sp>
      <p:sp>
        <p:nvSpPr>
          <p:cNvPr id="20" name="TextBox 19"/>
          <p:cNvSpPr txBox="1"/>
          <p:nvPr/>
        </p:nvSpPr>
        <p:spPr>
          <a:xfrm>
            <a:off x="8257032" y="3392424"/>
            <a:ext cx="3264408" cy="612648"/>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Read baseline; explicit action approval when enabled.</a:t>
            </a:r>
          </a:p>
        </p:txBody>
      </p:sp>
      <p:sp>
        <p:nvSpPr>
          <p:cNvPr id="21" name="Rounded Rectangle 20"/>
          <p:cNvSpPr/>
          <p:nvPr/>
        </p:nvSpPr>
        <p:spPr>
          <a:xfrm>
            <a:off x="502920" y="4352544"/>
            <a:ext cx="359359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 y="4498848"/>
            <a:ext cx="3264408" cy="201168"/>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MATURITY</a:t>
            </a:r>
          </a:p>
        </p:txBody>
      </p:sp>
      <p:sp>
        <p:nvSpPr>
          <p:cNvPr id="23" name="TextBox 22"/>
          <p:cNvSpPr txBox="1"/>
          <p:nvPr/>
        </p:nvSpPr>
        <p:spPr>
          <a:xfrm>
            <a:off x="667512" y="4828031"/>
            <a:ext cx="326440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Availability</a:t>
            </a:r>
          </a:p>
        </p:txBody>
      </p:sp>
      <p:sp>
        <p:nvSpPr>
          <p:cNvPr id="24" name="TextBox 23"/>
          <p:cNvSpPr txBox="1"/>
          <p:nvPr/>
        </p:nvSpPr>
        <p:spPr>
          <a:xfrm>
            <a:off x="667512" y="5431536"/>
            <a:ext cx="3264408" cy="612648"/>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Production features versus us-east-1 release preview.</a:t>
            </a:r>
          </a:p>
        </p:txBody>
      </p:sp>
      <p:sp>
        <p:nvSpPr>
          <p:cNvPr id="25" name="Rounded Rectangle 24"/>
          <p:cNvSpPr/>
          <p:nvPr/>
        </p:nvSpPr>
        <p:spPr>
          <a:xfrm>
            <a:off x="4297680" y="4352544"/>
            <a:ext cx="359359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62272" y="4498848"/>
            <a:ext cx="3264408" cy="201168"/>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OPERATIONS</a:t>
            </a:r>
          </a:p>
        </p:txBody>
      </p:sp>
      <p:sp>
        <p:nvSpPr>
          <p:cNvPr id="27" name="TextBox 26"/>
          <p:cNvSpPr txBox="1"/>
          <p:nvPr/>
        </p:nvSpPr>
        <p:spPr>
          <a:xfrm>
            <a:off x="4462272" y="4828031"/>
            <a:ext cx="326440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Recovery</a:t>
            </a:r>
          </a:p>
        </p:txBody>
      </p:sp>
      <p:sp>
        <p:nvSpPr>
          <p:cNvPr id="28" name="TextBox 27"/>
          <p:cNvSpPr txBox="1"/>
          <p:nvPr/>
        </p:nvSpPr>
        <p:spPr>
          <a:xfrm>
            <a:off x="4462272" y="5431536"/>
            <a:ext cx="3264408" cy="612648"/>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Rollback assumptions and a stop owner.</a:t>
            </a:r>
          </a:p>
        </p:txBody>
      </p:sp>
      <p:sp>
        <p:nvSpPr>
          <p:cNvPr id="29" name="Rounded Rectangle 28"/>
          <p:cNvSpPr/>
          <p:nvPr/>
        </p:nvSpPr>
        <p:spPr>
          <a:xfrm>
            <a:off x="8092440" y="4352544"/>
            <a:ext cx="359359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57032" y="4498848"/>
            <a:ext cx="3264408" cy="201168"/>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QUALITY</a:t>
            </a:r>
          </a:p>
        </p:txBody>
      </p:sp>
      <p:sp>
        <p:nvSpPr>
          <p:cNvPr id="31" name="TextBox 30"/>
          <p:cNvSpPr txBox="1"/>
          <p:nvPr/>
        </p:nvSpPr>
        <p:spPr>
          <a:xfrm>
            <a:off x="8257032" y="4828031"/>
            <a:ext cx="326440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Review</a:t>
            </a:r>
          </a:p>
        </p:txBody>
      </p:sp>
      <p:sp>
        <p:nvSpPr>
          <p:cNvPr id="32" name="TextBox 31"/>
          <p:cNvSpPr txBox="1"/>
          <p:nvPr/>
        </p:nvSpPr>
        <p:spPr>
          <a:xfrm>
            <a:off x="8257032" y="5431536"/>
            <a:ext cx="3264408" cy="612648"/>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Source checks before escalation or sharing.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B952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AWS DEVOPS AGENT  /  ADOPTION</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Measure accepted engineering outcomes</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Pilot success is less effort per verified outcome—not more generated text.</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17 / 18    AWS DevOps Agent</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01:30 allocated  |  32:30–34:00</a:t>
            </a:r>
          </a:p>
        </p:txBody>
      </p:sp>
      <p:graphicFrame>
        <p:nvGraphicFramePr>
          <p:cNvPr id="9" name="Table 8"/>
          <p:cNvGraphicFramePr>
            <a:graphicFrameLocks noGrp="1"/>
          </p:cNvGraphicFramePr>
          <p:nvPr/>
        </p:nvGraphicFramePr>
        <p:xfrm>
          <a:off x="502920" y="2313432"/>
          <a:ext cx="11183112" cy="3858768"/>
        </p:xfrm>
        <a:graphic>
          <a:graphicData uri="http://schemas.openxmlformats.org/drawingml/2006/table">
            <a:tbl>
              <a:tblPr firstRow="1" bandRow="1">
                <a:tableStyleId>{5C22544A-7EE6-4342-B048-85BDC9FD1C3A}</a:tableStyleId>
              </a:tblPr>
              <a:tblGrid>
                <a:gridCol w="3727704"/>
                <a:gridCol w="3727704"/>
                <a:gridCol w="3727704"/>
              </a:tblGrid>
              <a:tr h="771753">
                <a:tc>
                  <a:txBody>
                    <a:bodyPr/>
                    <a:lstStyle/>
                    <a:p>
                      <a:pPr>
                        <a:spcAft>
                          <a:spcPts val="0"/>
                        </a:spcAft>
                        <a:defRPr sz="1600" b="1">
                          <a:solidFill>
                            <a:srgbClr val="FFFFFF"/>
                          </a:solidFill>
                          <a:latin typeface="Arial"/>
                        </a:defRPr>
                      </a:pPr>
                      <a:r>
                        <a:t>Pilot phase</a:t>
                      </a:r>
                    </a:p>
                  </a:txBody>
                  <a:tcPr marL="128016" marR="128016" marT="82296" marB="54864">
                    <a:solidFill>
                      <a:srgbClr val="10243B"/>
                    </a:solidFill>
                  </a:tcPr>
                </a:tc>
                <a:tc>
                  <a:txBody>
                    <a:bodyPr/>
                    <a:lstStyle/>
                    <a:p>
                      <a:pPr>
                        <a:spcAft>
                          <a:spcPts val="0"/>
                        </a:spcAft>
                        <a:defRPr sz="1600" b="1">
                          <a:solidFill>
                            <a:srgbClr val="FFFFFF"/>
                          </a:solidFill>
                          <a:latin typeface="Arial"/>
                        </a:defRPr>
                      </a:pPr>
                      <a:r>
                        <a:t>What the team does</a:t>
                      </a:r>
                    </a:p>
                  </a:txBody>
                  <a:tcPr marL="128016" marR="128016" marT="82296" marB="54864">
                    <a:solidFill>
                      <a:srgbClr val="10243B"/>
                    </a:solidFill>
                  </a:tcPr>
                </a:tc>
                <a:tc>
                  <a:txBody>
                    <a:bodyPr/>
                    <a:lstStyle/>
                    <a:p>
                      <a:pPr>
                        <a:spcAft>
                          <a:spcPts val="0"/>
                        </a:spcAft>
                        <a:defRPr sz="1600" b="1">
                          <a:solidFill>
                            <a:srgbClr val="FFFFFF"/>
                          </a:solidFill>
                          <a:latin typeface="Arial"/>
                        </a:defRPr>
                      </a:pPr>
                      <a:r>
                        <a:t>Decision evidence</a:t>
                      </a:r>
                    </a:p>
                  </a:txBody>
                  <a:tcPr marL="128016" marR="128016" marT="82296" marB="54864">
                    <a:solidFill>
                      <a:srgbClr val="10243B"/>
                    </a:solidFill>
                  </a:tcPr>
                </a:tc>
              </a:tr>
              <a:tr h="771753">
                <a:tc>
                  <a:txBody>
                    <a:bodyPr/>
                    <a:lstStyle/>
                    <a:p>
                      <a:pPr>
                        <a:spcAft>
                          <a:spcPts val="0"/>
                        </a:spcAft>
                        <a:defRPr sz="1600" b="0">
                          <a:solidFill>
                            <a:srgbClr val="182B43"/>
                          </a:solidFill>
                          <a:latin typeface="Arial"/>
                        </a:defRPr>
                      </a:pPr>
                      <a:r>
                        <a:t>Week 1 · connect</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Validate access and a historical incident</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Source coverage; baseline effort</a:t>
                      </a:r>
                    </a:p>
                  </a:txBody>
                  <a:tcPr marL="128016" marR="128016" marT="82296" marB="54864">
                    <a:solidFill>
                      <a:srgbClr val="F1F5F8"/>
                    </a:solidFill>
                  </a:tcPr>
                </a:tc>
              </a:tr>
              <a:tr h="771753">
                <a:tc>
                  <a:txBody>
                    <a:bodyPr/>
                    <a:lstStyle/>
                    <a:p>
                      <a:pPr>
                        <a:spcAft>
                          <a:spcPts val="0"/>
                        </a:spcAft>
                        <a:defRPr sz="1600" b="0">
                          <a:solidFill>
                            <a:srgbClr val="182B43"/>
                          </a:solidFill>
                          <a:latin typeface="Arial"/>
                        </a:defRPr>
                      </a:pPr>
                      <a:r>
                        <a:t>Week 2 · investigate</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Repeat bounded incident questions</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Verified hypotheses; correction rate</a:t>
                      </a:r>
                    </a:p>
                  </a:txBody>
                  <a:tcPr marL="128016" marR="128016" marT="82296" marB="54864">
                    <a:solidFill>
                      <a:srgbClr val="FFFFFF"/>
                    </a:solidFill>
                  </a:tcPr>
                </a:tc>
              </a:tr>
              <a:tr h="771753">
                <a:tc>
                  <a:txBody>
                    <a:bodyPr/>
                    <a:lstStyle/>
                    <a:p>
                      <a:pPr>
                        <a:spcAft>
                          <a:spcPts val="0"/>
                        </a:spcAft>
                        <a:defRPr sz="1600" b="0">
                          <a:solidFill>
                            <a:srgbClr val="182B43"/>
                          </a:solidFill>
                          <a:latin typeface="Arial"/>
                        </a:defRPr>
                      </a:pPr>
                      <a:r>
                        <a:t>Week 3 · prevent</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Accept one improvement and one report</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Owner, test and reviewer effort</a:t>
                      </a:r>
                    </a:p>
                  </a:txBody>
                  <a:tcPr marL="128016" marR="128016" marT="82296" marB="54864">
                    <a:solidFill>
                      <a:srgbClr val="F1F5F8"/>
                    </a:solidFill>
                  </a:tcPr>
                </a:tc>
              </a:tr>
              <a:tr h="771756">
                <a:tc>
                  <a:txBody>
                    <a:bodyPr/>
                    <a:lstStyle/>
                    <a:p>
                      <a:pPr>
                        <a:spcAft>
                          <a:spcPts val="0"/>
                        </a:spcAft>
                        <a:defRPr sz="1600" b="0">
                          <a:solidFill>
                            <a:srgbClr val="182B43"/>
                          </a:solidFill>
                          <a:latin typeface="Arial"/>
                        </a:defRPr>
                      </a:pPr>
                      <a:r>
                        <a:t>Week 4 · decide</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Repeat tasks; inspect risk and cost</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Expand, revise or stop</a:t>
                      </a:r>
                    </a:p>
                  </a:txBody>
                  <a:tcPr marL="128016" marR="128016" marT="82296" marB="54864">
                    <a:solidFill>
                      <a:srgbClr val="FFFFFF"/>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B952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AWS DEVOPS AGENT  /  CLOSE</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2950" b="1">
                <a:solidFill>
                  <a:srgbClr val="182B43"/>
                </a:solidFill>
                <a:latin typeface="Arial"/>
              </a:defRPr>
            </a:pPr>
            <a:r>
              <a:t>Operate an evidence accelerator—not an authority shortcut</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Investigate with context. Gate the effect. Close with independent verification.</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18 / 18    AWS DevOps Agent</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01:00 allocated  |  34:00–35:00</a:t>
            </a:r>
          </a:p>
        </p:txBody>
      </p:sp>
      <p:sp>
        <p:nvSpPr>
          <p:cNvPr id="9" name="Rounded Rectangle 8"/>
          <p:cNvSpPr/>
          <p:nvPr/>
        </p:nvSpPr>
        <p:spPr>
          <a:xfrm>
            <a:off x="502920" y="2313432"/>
            <a:ext cx="3593592"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496312"/>
            <a:ext cx="326440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Start</a:t>
            </a:r>
          </a:p>
        </p:txBody>
      </p:sp>
      <p:sp>
        <p:nvSpPr>
          <p:cNvPr id="11" name="TextBox 10"/>
          <p:cNvSpPr txBox="1"/>
          <p:nvPr/>
        </p:nvSpPr>
        <p:spPr>
          <a:xfrm>
            <a:off x="667512" y="3099816"/>
            <a:ext cx="3264408" cy="2944368"/>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One service and a reproducible incident snapshot.</a:t>
            </a:r>
          </a:p>
        </p:txBody>
      </p:sp>
      <p:sp>
        <p:nvSpPr>
          <p:cNvPr id="12" name="Rounded Rectangle 11"/>
          <p:cNvSpPr/>
          <p:nvPr/>
        </p:nvSpPr>
        <p:spPr>
          <a:xfrm>
            <a:off x="4297680" y="2313432"/>
            <a:ext cx="3593592"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62272" y="2496312"/>
            <a:ext cx="326440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Keep</a:t>
            </a:r>
          </a:p>
        </p:txBody>
      </p:sp>
      <p:sp>
        <p:nvSpPr>
          <p:cNvPr id="14" name="TextBox 13"/>
          <p:cNvSpPr txBox="1"/>
          <p:nvPr/>
        </p:nvSpPr>
        <p:spPr>
          <a:xfrm>
            <a:off x="4462272" y="3099816"/>
            <a:ext cx="3264408" cy="2944368"/>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Existing release, approval and incident ownership.</a:t>
            </a:r>
          </a:p>
        </p:txBody>
      </p:sp>
      <p:sp>
        <p:nvSpPr>
          <p:cNvPr id="15" name="Rounded Rectangle 14"/>
          <p:cNvSpPr/>
          <p:nvPr/>
        </p:nvSpPr>
        <p:spPr>
          <a:xfrm>
            <a:off x="8092440" y="2313432"/>
            <a:ext cx="3593592"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57032" y="2496312"/>
            <a:ext cx="326440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Require</a:t>
            </a:r>
          </a:p>
        </p:txBody>
      </p:sp>
      <p:sp>
        <p:nvSpPr>
          <p:cNvPr id="17" name="TextBox 16"/>
          <p:cNvSpPr txBox="1"/>
          <p:nvPr/>
        </p:nvSpPr>
        <p:spPr>
          <a:xfrm>
            <a:off x="8257032" y="3099816"/>
            <a:ext cx="3264408" cy="2944368"/>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Source-backed conclusions and an explicit next action.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B952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B95215"/>
                </a:solidFill>
                <a:latin typeface="Arial"/>
              </a:defRPr>
            </a:pPr>
            <a:r>
              <a:t>AWS DEVOPS AGENT  /  UNTIMED APPENDIX</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Official evidence and delivery boundary</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Use the linked product documentation and the complete report source register.</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UNTIMED APPENDIX    AWS DevOps Agent</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Outside the timed session</a:t>
            </a:r>
          </a:p>
        </p:txBody>
      </p:sp>
      <p:sp>
        <p:nvSpPr>
          <p:cNvPr id="9" name="TextBox 8"/>
          <p:cNvSpPr txBox="1"/>
          <p:nvPr/>
        </p:nvSpPr>
        <p:spPr>
          <a:xfrm>
            <a:off x="594360" y="2331720"/>
            <a:ext cx="10927080" cy="320040"/>
          </a:xfrm>
          <a:prstGeom prst="rect">
            <a:avLst/>
          </a:prstGeom>
          <a:noFill/>
        </p:spPr>
        <p:txBody>
          <a:bodyPr wrap="square" lIns="0" rIns="0" tIns="0" bIns="0" anchor="t">
            <a:spAutoFit/>
          </a:bodyPr>
          <a:lstStyle/>
          <a:p>
            <a:pPr>
              <a:lnSpc>
                <a:spcPct val="112000"/>
              </a:lnSpc>
              <a:spcAft>
                <a:spcPts val="300"/>
              </a:spcAft>
              <a:defRPr sz="1800" b="1">
                <a:solidFill>
                  <a:srgbClr val="B95215"/>
                </a:solidFill>
                <a:latin typeface="Arial"/>
              </a:defRPr>
            </a:pPr>
            <a:r>
              <a:rPr>
                <a:hlinkClick r:id="rId3"/>
              </a:rPr>
              <a:t>D01  About AWS DevOps Agent</a:t>
            </a:r>
          </a:p>
        </p:txBody>
      </p:sp>
      <p:sp>
        <p:nvSpPr>
          <p:cNvPr id="10" name="TextBox 9"/>
          <p:cNvSpPr txBox="1"/>
          <p:nvPr/>
        </p:nvSpPr>
        <p:spPr>
          <a:xfrm>
            <a:off x="594360" y="2862072"/>
            <a:ext cx="10927080" cy="320040"/>
          </a:xfrm>
          <a:prstGeom prst="rect">
            <a:avLst/>
          </a:prstGeom>
          <a:noFill/>
        </p:spPr>
        <p:txBody>
          <a:bodyPr wrap="square" lIns="0" rIns="0" tIns="0" bIns="0" anchor="t">
            <a:spAutoFit/>
          </a:bodyPr>
          <a:lstStyle/>
          <a:p>
            <a:pPr>
              <a:lnSpc>
                <a:spcPct val="112000"/>
              </a:lnSpc>
              <a:spcAft>
                <a:spcPts val="300"/>
              </a:spcAft>
              <a:defRPr sz="1800" b="1">
                <a:solidFill>
                  <a:srgbClr val="B95215"/>
                </a:solidFill>
                <a:latin typeface="Arial"/>
              </a:defRPr>
            </a:pPr>
            <a:r>
              <a:rPr>
                <a:hlinkClick r:id="rId4"/>
              </a:rPr>
              <a:t>D02  Production operations</a:t>
            </a:r>
          </a:p>
        </p:txBody>
      </p:sp>
      <p:sp>
        <p:nvSpPr>
          <p:cNvPr id="11" name="TextBox 10"/>
          <p:cNvSpPr txBox="1"/>
          <p:nvPr/>
        </p:nvSpPr>
        <p:spPr>
          <a:xfrm>
            <a:off x="594360" y="3392424"/>
            <a:ext cx="10927080" cy="320040"/>
          </a:xfrm>
          <a:prstGeom prst="rect">
            <a:avLst/>
          </a:prstGeom>
          <a:noFill/>
        </p:spPr>
        <p:txBody>
          <a:bodyPr wrap="square" lIns="0" rIns="0" tIns="0" bIns="0" anchor="t">
            <a:spAutoFit/>
          </a:bodyPr>
          <a:lstStyle/>
          <a:p>
            <a:pPr>
              <a:lnSpc>
                <a:spcPct val="112000"/>
              </a:lnSpc>
              <a:spcAft>
                <a:spcPts val="300"/>
              </a:spcAft>
              <a:defRPr sz="1800" b="1">
                <a:solidFill>
                  <a:srgbClr val="B95215"/>
                </a:solidFill>
                <a:latin typeface="Arial"/>
              </a:defRPr>
            </a:pPr>
            <a:r>
              <a:rPr>
                <a:hlinkClick r:id="rId5"/>
              </a:rPr>
              <a:t>D03  Autonomous incident response</a:t>
            </a:r>
          </a:p>
        </p:txBody>
      </p:sp>
      <p:sp>
        <p:nvSpPr>
          <p:cNvPr id="12" name="TextBox 11"/>
          <p:cNvSpPr txBox="1"/>
          <p:nvPr/>
        </p:nvSpPr>
        <p:spPr>
          <a:xfrm>
            <a:off x="594360" y="3922775"/>
            <a:ext cx="10927080" cy="320040"/>
          </a:xfrm>
          <a:prstGeom prst="rect">
            <a:avLst/>
          </a:prstGeom>
          <a:noFill/>
        </p:spPr>
        <p:txBody>
          <a:bodyPr wrap="square" lIns="0" rIns="0" tIns="0" bIns="0" anchor="t">
            <a:spAutoFit/>
          </a:bodyPr>
          <a:lstStyle/>
          <a:p>
            <a:pPr>
              <a:lnSpc>
                <a:spcPct val="112000"/>
              </a:lnSpc>
              <a:spcAft>
                <a:spcPts val="300"/>
              </a:spcAft>
              <a:defRPr sz="1800" b="1">
                <a:solidFill>
                  <a:srgbClr val="B95215"/>
                </a:solidFill>
                <a:latin typeface="Arial"/>
              </a:defRPr>
            </a:pPr>
            <a:r>
              <a:rPr>
                <a:hlinkClick r:id="rId6"/>
              </a:rPr>
              <a:t>D04  Proactive incident prevention</a:t>
            </a:r>
          </a:p>
        </p:txBody>
      </p:sp>
      <p:sp>
        <p:nvSpPr>
          <p:cNvPr id="13" name="TextBox 12"/>
          <p:cNvSpPr txBox="1"/>
          <p:nvPr/>
        </p:nvSpPr>
        <p:spPr>
          <a:xfrm>
            <a:off x="594360" y="4453127"/>
            <a:ext cx="10927080" cy="320040"/>
          </a:xfrm>
          <a:prstGeom prst="rect">
            <a:avLst/>
          </a:prstGeom>
          <a:noFill/>
        </p:spPr>
        <p:txBody>
          <a:bodyPr wrap="square" lIns="0" rIns="0" tIns="0" bIns="0" anchor="t">
            <a:spAutoFit/>
          </a:bodyPr>
          <a:lstStyle/>
          <a:p>
            <a:pPr>
              <a:lnSpc>
                <a:spcPct val="112000"/>
              </a:lnSpc>
              <a:spcAft>
                <a:spcPts val="300"/>
              </a:spcAft>
              <a:defRPr sz="1800" b="1">
                <a:solidFill>
                  <a:srgbClr val="B95215"/>
                </a:solidFill>
                <a:latin typeface="Arial"/>
              </a:defRPr>
            </a:pPr>
            <a:r>
              <a:rPr>
                <a:hlinkClick r:id="rId7"/>
              </a:rPr>
              <a:t>D05  On Demand DevOps Tasks</a:t>
            </a:r>
          </a:p>
        </p:txBody>
      </p:sp>
      <p:sp>
        <p:nvSpPr>
          <p:cNvPr id="14" name="TextBox 13"/>
          <p:cNvSpPr txBox="1"/>
          <p:nvPr/>
        </p:nvSpPr>
        <p:spPr>
          <a:xfrm>
            <a:off x="594360" y="4983479"/>
            <a:ext cx="10927080" cy="320040"/>
          </a:xfrm>
          <a:prstGeom prst="rect">
            <a:avLst/>
          </a:prstGeom>
          <a:noFill/>
        </p:spPr>
        <p:txBody>
          <a:bodyPr wrap="square" lIns="0" rIns="0" tIns="0" bIns="0" anchor="t">
            <a:spAutoFit/>
          </a:bodyPr>
          <a:lstStyle/>
          <a:p>
            <a:pPr>
              <a:lnSpc>
                <a:spcPct val="112000"/>
              </a:lnSpc>
              <a:spcAft>
                <a:spcPts val="300"/>
              </a:spcAft>
              <a:defRPr sz="1800" b="1">
                <a:solidFill>
                  <a:srgbClr val="B95215"/>
                </a:solidFill>
                <a:latin typeface="Arial"/>
              </a:defRPr>
            </a:pPr>
            <a:r>
              <a:rPr>
                <a:hlinkClick r:id="rId8"/>
              </a:rPr>
              <a:t>D06  Custom Agents</a:t>
            </a:r>
          </a:p>
        </p:txBody>
      </p:sp>
      <p:sp>
        <p:nvSpPr>
          <p:cNvPr id="15" name="TextBox 14"/>
          <p:cNvSpPr txBox="1"/>
          <p:nvPr/>
        </p:nvSpPr>
        <p:spPr>
          <a:xfrm>
            <a:off x="594360" y="5660136"/>
            <a:ext cx="10927080" cy="475488"/>
          </a:xfrm>
          <a:prstGeom prst="rect">
            <a:avLst/>
          </a:prstGeom>
          <a:noFill/>
        </p:spPr>
        <p:txBody>
          <a:bodyPr wrap="square" lIns="0" rIns="0" tIns="0" bIns="0" anchor="t">
            <a:spAutoFit/>
          </a:bodyPr>
          <a:lstStyle/>
          <a:p>
            <a:pPr>
              <a:lnSpc>
                <a:spcPct val="112000"/>
              </a:lnSpc>
              <a:spcAft>
                <a:spcPts val="300"/>
              </a:spcAft>
              <a:defRPr sz="1500" b="0">
                <a:solidFill>
                  <a:srgbClr val="55657A"/>
                </a:solidFill>
                <a:latin typeface="Arial"/>
              </a:defRPr>
            </a:pPr>
            <a:r>
              <a:t>Complete source URLs are embedded in speaker notes. Demo slots include fallback walkthroughs; questions and breaks are additional.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AWS DevOps Agent — engineering field guide</dc:title>
  <dc:subject>Source-aligned publication edition; timed demonstrations and official documentation.</dc:subject>
  <dc:creator>Frontier agents documentation</dc:creator>
  <cp:keywords/>
  <dc:description>Independent synthesis. No live AWS execution or measured benefit is claimed.</dc:description>
  <cp:lastModifiedBy>Steve Canny</cp:lastModifiedBy>
  <cp:revision>1</cp:revision>
  <dcterms:created xsi:type="dcterms:W3CDTF">2013-01-27T09:14:16Z</dcterms:created>
  <dcterms:modified xsi:type="dcterms:W3CDTF">2013-01-27T09:15:58Z</dcterms:modified>
  <cp:category/>
</cp:coreProperties>
</file>