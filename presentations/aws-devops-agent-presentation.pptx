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Investigate, propose, authorize</a:t>
            </a:r>
          </a:p>
          <a:p>
            <a:r>
              <a:t>Time: 0:00–1:00; budget 1:00.</a:t>
            </a:r>
          </a:p>
          <a:p/>
          <a:p>
            <a:r>
              <a:t>Open with the distinction the team must preserve during an incident: analysis can run with read access, a proposal remains advice, and execution needs the appropriate configured and approved path. The guide covers environment inspection, incident operations, reliability recommendations, custom automation and preview release assessment. It does not claim that every account or source is connected, or that the agent replaces the incident commander.</a:t>
            </a:r>
          </a:p>
          <a:p/>
          <a:p>
            <a:r>
              <a:t>OFFICIAL SOURCES</a:t>
            </a:r>
          </a:p>
          <a:p>
            <a:r>
              <a:t>Autonomous incident response</a:t>
            </a:r>
          </a:p>
          <a:p>
            <a:r>
              <a:t>https://docs.aws.amazon.com/devopsagent/latest/userguide/production-operations-autonomous-incident-response.html</a:t>
            </a:r>
          </a:p>
          <a:p>
            <a:r>
              <a:t>Working with directed actions</a:t>
            </a:r>
          </a:p>
          <a:p>
            <a:r>
              <a:t>https://docs.aws.amazon.com/devopsagent/latest/userguide/working-with-devops-agent-working-with-directed-actions.html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Know which object you are configuring</a:t>
            </a:r>
          </a:p>
          <a:p>
            <a:r>
              <a:t>Time: 1:00–3:00; budget 2:00.</a:t>
            </a:r>
          </a:p>
          <a:p/>
          <a:p>
            <a:r>
              <a:t>Use the object model to prevent configuration errors. Registering an integration is not the same as associating it with the operational space. A Chat exchange is not necessarily a formal investigation. A custom agent definition is not an execution result. When someone says the agent knows the environment, ask which retained representation is involved, how recently it was refreshed, and whether the current run could actually read it.</a:t>
            </a:r>
          </a:p>
          <a:p/>
          <a:p>
            <a:r>
              <a:t>OFFICIAL SOURCES</a:t>
            </a:r>
          </a:p>
          <a:p>
            <a:r>
              <a:t>Create an Agent Space</a:t>
            </a:r>
          </a:p>
          <a:p>
            <a:r>
              <a:t>https://docs.aws.amazon.com/devopsagent/latest/userguide/getting-started-with-aws-devops-agent-creating-an-agent-space.html</a:t>
            </a:r>
          </a:p>
          <a:p>
            <a:r>
              <a:t>Custom agents</a:t>
            </a:r>
          </a:p>
          <a:p>
            <a:r>
              <a:t>https://docs.aws.amazon.com/devopsagent/latest/userguide/working-with-devops-agent-custom-agents-index.html</a:t>
            </a:r>
          </a:p>
          <a:p>
            <a:r>
              <a:t>Agent instructions</a:t>
            </a:r>
          </a:p>
          <a:p>
            <a:r>
              <a:t>https://docs.aws.amazon.com/devopsagent/latest/userguide/about-aws-devops-agent-agent-instructions.html</a:t>
            </a:r>
          </a:p>
          <a:p>
            <a:r>
              <a:t>Memories: current stores, refresh and lifecycle</a:t>
            </a:r>
          </a:p>
          <a:p>
            <a:r>
              <a:t>https://docs.aws.amazon.com/devopsagent/latest/userguide/about-aws-devops-agent-devops-agent-memories.html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functional map</a:t>
            </a:r>
          </a:p>
          <a:p>
            <a:r>
              <a:t>Time: 3:00–5:00; budget 2:00.</a:t>
            </a:r>
          </a:p>
          <a:p/>
          <a:p>
            <a:r>
              <a:t>Explain why these areas are separate. Querying a metric is not an incident diagnosis. Creating a recommendation is not deploying it. A recurring health report is a configured task using selected functions, not a universal built-in report. Release readiness examines a change; release testing exercises a running application. The full report provides operation-level inputs and boundaries, so this slide is a map rather than the whole reference.</a:t>
            </a:r>
          </a:p>
          <a:p/>
          <a:p>
            <a:r>
              <a:t>OFFICIAL SOURCES</a:t>
            </a:r>
          </a:p>
          <a:p>
            <a:r>
              <a:t>Autonomous incident response</a:t>
            </a:r>
          </a:p>
          <a:p>
            <a:r>
              <a:t>https://docs.aws.amazon.com/devopsagent/latest/userguide/production-operations-autonomous-incident-response.html</a:t>
            </a:r>
          </a:p>
          <a:p>
            <a:r>
              <a:t>Reviewing investigations</a:t>
            </a:r>
          </a:p>
          <a:p>
            <a:r>
              <a:t>https://docs.aws.amazon.com/devopsagent/latest/userguide/working-with-devops-agent-reviewing-investigations.html</a:t>
            </a:r>
          </a:p>
          <a:p>
            <a:r>
              <a:t>Working with directed actions</a:t>
            </a:r>
          </a:p>
          <a:p>
            <a:r>
              <a:t>https://docs.aws.amazon.com/devopsagent/latest/userguide/working-with-devops-agent-working-with-directed-actions.html</a:t>
            </a:r>
          </a:p>
          <a:p>
            <a:r>
              <a:t>Proactive incident prevention</a:t>
            </a:r>
          </a:p>
          <a:p>
            <a:r>
              <a:t>https://docs.aws.amazon.com/devopsagent/latest/userguide/production-operations-proactive-incident-prevention.html</a:t>
            </a:r>
          </a:p>
          <a:p>
            <a:r>
              <a:t>Custom agents</a:t>
            </a:r>
          </a:p>
          <a:p>
            <a:r>
              <a:t>https://docs.aws.amazon.com/devopsagent/latest/userguide/working-with-devops-agent-custom-agents-index.html</a:t>
            </a:r>
          </a:p>
          <a:p>
            <a:r>
              <a:t>Release management</a:t>
            </a:r>
          </a:p>
          <a:p>
            <a:r>
              <a:t>https://docs.aws.amazon.com/devopsagent/latest/userguide/working-with-devops-agent-release-management-index.html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Accessible evidence is not necessarily inspected evidence</a:t>
            </a:r>
          </a:p>
          <a:p>
            <a:r>
              <a:t>Time: 5:00–7:30; budget 2:30.</a:t>
            </a:r>
          </a:p>
          <a:p/>
          <a:p>
            <a:r>
              <a:t>Take one claimed cause and work backwards. Was the right log group queried? Was the interval correct? Did the result contain the affected resource? Did the source return no records, or did the call fail? Only after those checks should the conclusion be weighed. This is a proposed evidence-review discipline, not a guarantee of how every agent response is formatted. The same discipline applies to a topology map: inspect freshness and identifiers before assuming it describes the current deployment.</a:t>
            </a:r>
          </a:p>
          <a:p/>
          <a:p>
            <a:r>
              <a:t>OFFICIAL SOURCES</a:t>
            </a:r>
          </a:p>
          <a:p>
            <a:r>
              <a:t>On-demand DevOps tasks</a:t>
            </a:r>
          </a:p>
          <a:p>
            <a:r>
              <a:t>https://docs.aws.amazon.com/devopsagent/latest/userguide/working-with-devops-agent-on-demand-devops-tasks.html</a:t>
            </a:r>
          </a:p>
          <a:p>
            <a:r>
              <a:t>Autonomous incident response</a:t>
            </a:r>
          </a:p>
          <a:p>
            <a:r>
              <a:t>https://docs.aws.amazon.com/devopsagent/latest/userguide/production-operations-autonomous-incident-response.html</a:t>
            </a:r>
          </a:p>
          <a:p>
            <a:r>
              <a:t>Connect MCP servers</a:t>
            </a:r>
          </a:p>
          <a:p>
            <a:r>
              <a:t>https://docs.aws.amazon.com/devopsagent/latest/userguide/configuring-integrations-and-knowledge-connecting-mcp-servers.html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Triage and investigation controls have different effects</a:t>
            </a:r>
          </a:p>
          <a:p>
            <a:r>
              <a:t>Time: 7:30–9:30; budget 2:00.</a:t>
            </a:r>
          </a:p>
          <a:p/>
          <a:p>
            <a:r>
              <a:t>The operator should be able to explain why an event was linked or skipped. A maintenance exception is an operational policy that needs exact scope, not a generic request to ignore noise. For an investigation already underway, steering adds information; for an alternative line, a fork preserves the original. These controls manage the analysis lifecycle. They neither silence the originating monitoring system nor confer authority to change resources.</a:t>
            </a:r>
          </a:p>
          <a:p/>
          <a:p>
            <a:r>
              <a:t>OFFICIAL SOURCES</a:t>
            </a:r>
          </a:p>
          <a:p>
            <a:r>
              <a:t>Autonomous incident response</a:t>
            </a:r>
          </a:p>
          <a:p>
            <a:r>
              <a:t>https://docs.aws.amazon.com/devopsagent/latest/userguide/production-operations-autonomous-incident-response.html</a:t>
            </a:r>
          </a:p>
          <a:p>
            <a:r>
              <a:t>What's new: dated behavior and UI changes</a:t>
            </a:r>
          </a:p>
          <a:p>
            <a:r>
              <a:t>https://docs.aws.amazon.com/devopsagent/latest/userguide/whats-new.html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Diagnosis, Review and feedback are different evidence</a:t>
            </a:r>
          </a:p>
          <a:p>
            <a:r>
              <a:t>Time: 9:30–12:00; budget 2:30.</a:t>
            </a:r>
          </a:p>
          <a:p/>
          <a:p>
            <a:r>
              <a:t>A review can assess grounding and completeness, but it is constrained by the same recorded evidence. Explain the special case where Accuracy is not applicable: the grader has no established root cause to compare with. Corrective feedback is a separate operator input. Current documentation connects it to reflections for later investigations, but seeing a reflection is not evidence that a later run retrieved it or reached the right conclusion.</a:t>
            </a:r>
          </a:p>
          <a:p/>
          <a:p>
            <a:r>
              <a:t>OFFICIAL SOURCES</a:t>
            </a:r>
          </a:p>
          <a:p>
            <a:r>
              <a:t>Autonomous incident response</a:t>
            </a:r>
          </a:p>
          <a:p>
            <a:r>
              <a:t>https://docs.aws.amazon.com/devopsagent/latest/userguide/production-operations-autonomous-incident-response.html</a:t>
            </a:r>
          </a:p>
          <a:p>
            <a:r>
              <a:t>Reviewing investigations</a:t>
            </a:r>
          </a:p>
          <a:p>
            <a:r>
              <a:t>https://docs.aws.amazon.com/devopsagent/latest/userguide/working-with-devops-agent-reviewing-investigations.html</a:t>
            </a:r>
          </a:p>
          <a:p>
            <a:r>
              <a:t>What's new: dated behavior and UI changes</a:t>
            </a:r>
          </a:p>
          <a:p>
            <a:r>
              <a:t>https://docs.aws.amazon.com/devopsagent/latest/userguide/whats-new.html</a:t>
            </a:r>
          </a:p>
          <a:p>
            <a:r>
              <a:t>Document history: reflections and memory changes</a:t>
            </a:r>
          </a:p>
          <a:p>
            <a:r>
              <a:t>https://docs.aws.amazon.com/devopsagent/latest/userguide/document-history.html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proposed mitigation has no execution authority</a:t>
            </a:r>
          </a:p>
          <a:p>
            <a:r>
              <a:t>Time: 12:00–14:30; budget 2:30.</a:t>
            </a:r>
          </a:p>
          <a:p/>
          <a:p>
            <a:r>
              <a:t>Walk through the gates in order. A broad role is not permission to skip the Chat approval, and a Chat approval does not override service-level prohibitions. A custom MCP classification is metadata; inspect the backend's real privileges. For the demonstration, do not perform a production change. Show a prepared approval and rejected-action case, then explain the additional recovery metric needed after any actual approved mutation.</a:t>
            </a:r>
          </a:p>
          <a:p/>
          <a:p>
            <a:r>
              <a:t>OFFICIAL SOURCES</a:t>
            </a:r>
          </a:p>
          <a:p>
            <a:r>
              <a:t>Working with directed actions</a:t>
            </a:r>
          </a:p>
          <a:p>
            <a:r>
              <a:t>https://docs.aws.amazon.com/devopsagent/latest/userguide/working-with-devops-agent-working-with-directed-actions.html</a:t>
            </a:r>
          </a:p>
          <a:p>
            <a:r>
              <a:t>Release testing</a:t>
            </a:r>
          </a:p>
          <a:p>
            <a:r>
              <a:t>https://docs.aws.amazon.com/devopsagent/latest/userguide/release-management-release-testing.html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persists after an incident?</a:t>
            </a:r>
          </a:p>
          <a:p>
            <a:r>
              <a:t>Time: 14:30–17:30; budget 3:00.</a:t>
            </a:r>
          </a:p>
          <a:p/>
          <a:p>
            <a:r>
              <a:t>Avoid the phrase learns from everything. Describe an inspectable object instead: its store, content, version and last update. Current documentation maintains learned environment knowledge as memory, while older cached pages describe learned skills. Monitor and tool-use stores have different update cadences. The underlying model-training implementation is not established by these documents. The practical question is whether relevant, accurate context was available and actually used in the later task.</a:t>
            </a:r>
          </a:p>
          <a:p/>
          <a:p>
            <a:r>
              <a:t>OFFICIAL SOURCES</a:t>
            </a:r>
          </a:p>
          <a:p>
            <a:r>
              <a:t>Memories: current stores, refresh and lifecycle</a:t>
            </a:r>
          </a:p>
          <a:p>
            <a:r>
              <a:t>https://docs.aws.amazon.com/devopsagent/latest/userguide/about-aws-devops-agent-devops-agent-memories.html</a:t>
            </a:r>
          </a:p>
          <a:p>
            <a:r>
              <a:t>Learned skills: migration to memory</a:t>
            </a:r>
          </a:p>
          <a:p>
            <a:r>
              <a:t>https://docs.aws.amazon.com/devopsagent/latest/userguide/about-aws-devops-agent-learned-skills.html</a:t>
            </a:r>
          </a:p>
          <a:p>
            <a:r>
              <a:t>Managed agents and Learning history</a:t>
            </a:r>
          </a:p>
          <a:p>
            <a:r>
              <a:t>https://docs.aws.amazon.com/devopsagent/latest/userguide/working-with-devops-agent-managed-agents.html</a:t>
            </a:r>
          </a:p>
          <a:p>
            <a:r>
              <a:t>What's new: dated behavior and UI changes</a:t>
            </a:r>
          </a:p>
          <a:p>
            <a:r>
              <a:t>https://docs.aws.amazon.com/devopsagent/latest/userguide/whats-new.html</a:t>
            </a:r>
          </a:p>
          <a:p>
            <a:r>
              <a:t>Custom agents</a:t>
            </a:r>
          </a:p>
          <a:p>
            <a:r>
              <a:t>https://docs.aws.amazon.com/devopsagent/latest/userguide/working-with-devops-agent-custom-agents-index.html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Enable and verify memory deliberately</a:t>
            </a:r>
          </a:p>
          <a:p>
            <a:r>
              <a:t>Time: 17:30–20:00; budget 2:30.</a:t>
            </a:r>
          </a:p>
          <a:p/>
          <a:p>
            <a:r>
              <a:t>A new custom agent has no memory access until stores are attached. The built-in incident behavior and custom-agent attachments should not be conflated. Demonstrate the proposed verification process with a prepared store: identify what should be recalled, inspect the later run where evidence is visible, and state unverified when the interface does not expose that read. Deactivate misleading context while correcting it; do not delete the incident's source record.</a:t>
            </a:r>
          </a:p>
          <a:p/>
          <a:p>
            <a:r>
              <a:t>OFFICIAL SOURCES</a:t>
            </a:r>
          </a:p>
          <a:p>
            <a:r>
              <a:t>Memories: current stores, refresh and lifecycle</a:t>
            </a:r>
          </a:p>
          <a:p>
            <a:r>
              <a:t>https://docs.aws.amazon.com/devopsagent/latest/userguide/about-aws-devops-agent-devops-agent-memories.html</a:t>
            </a:r>
          </a:p>
          <a:p>
            <a:r>
              <a:t>Managed agents and Learning history</a:t>
            </a:r>
          </a:p>
          <a:p>
            <a:r>
              <a:t>https://docs.aws.amazon.com/devopsagent/latest/userguide/working-with-devops-agent-managed-agents.html</a:t>
            </a:r>
          </a:p>
          <a:p>
            <a:r>
              <a:t>Creating a custom agent</a:t>
            </a:r>
          </a:p>
          <a:p>
            <a:r>
              <a:t>https://docs.aws.amazon.com/devopsagent/latest/userguide/custom-agents-creating-a-custom-agent.html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scheduled report is a configured program of work</a:t>
            </a:r>
          </a:p>
          <a:p>
            <a:r>
              <a:t>Time: 20:00–22:30; budget 2:30.</a:t>
            </a:r>
          </a:p>
          <a:p/>
          <a:p>
            <a:r>
              <a:t>Use the report's configuration-check procedure as an example. A reliable check needs an explicit comparison against an observed field and three possible results: compliant, non-compliant or unknown. Test the unknown case intentionally. Do not create a schedule merely because the agent can produce a plausible report once. Review the selected toolbox and run history; pausing a trigger and cancelling an invocation are separate controls.</a:t>
            </a:r>
          </a:p>
          <a:p/>
          <a:p>
            <a:r>
              <a:t>OFFICIAL SOURCES</a:t>
            </a:r>
          </a:p>
          <a:p>
            <a:r>
              <a:t>Custom agents</a:t>
            </a:r>
          </a:p>
          <a:p>
            <a:r>
              <a:t>https://docs.aws.amazon.com/devopsagent/latest/userguide/working-with-devops-agent-custom-agents-index.html</a:t>
            </a:r>
          </a:p>
          <a:p>
            <a:r>
              <a:t>Creating a custom agent</a:t>
            </a:r>
          </a:p>
          <a:p>
            <a:r>
              <a:t>https://docs.aws.amazon.com/devopsagent/latest/userguide/custom-agents-creating-a-custom-agent.html</a:t>
            </a:r>
          </a:p>
          <a:p>
            <a:r>
              <a:t>Executing custom agents</a:t>
            </a:r>
          </a:p>
          <a:p>
            <a:r>
              <a:t>https://docs.aws.amazon.com/devopsagent/latest/userguide/custom-agents-executing-custom-agents.html</a:t>
            </a:r>
          </a:p>
          <a:p>
            <a:r>
              <a:t>Custom-agent outputs</a:t>
            </a:r>
          </a:p>
          <a:p>
            <a:r>
              <a:t>https://docs.aws.amazon.com/devopsagent/latest/userguide/custom-agents-custom-agent-outputs.html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review and application testing differ</a:t>
            </a:r>
          </a:p>
          <a:p>
            <a:r>
              <a:t>Time: 22:30–25:00; budget 2:30.</a:t>
            </a:r>
          </a:p>
          <a:p/>
          <a:p>
            <a:r>
              <a:t>Both require feature-level availability checks and are documented in us-east-1 during preview. A report saying Block does not automatically stop a pipeline. An application test may send notifications or process payments if the environment allows those effects. Require safe staging data and explicit target authorization. Do not reuse the directed-action approval model as a claim that every application request needs operator confirmation.</a:t>
            </a:r>
          </a:p>
          <a:p/>
          <a:p>
            <a:r>
              <a:t>OFFICIAL SOURCES</a:t>
            </a:r>
          </a:p>
          <a:p>
            <a:r>
              <a:t>Release management</a:t>
            </a:r>
          </a:p>
          <a:p>
            <a:r>
              <a:t>https://docs.aws.amazon.com/devopsagent/latest/userguide/working-with-devops-agent-release-management-index.html</a:t>
            </a:r>
          </a:p>
          <a:p>
            <a:r>
              <a:t>Release readiness code review</a:t>
            </a:r>
          </a:p>
          <a:p>
            <a:r>
              <a:t>https://docs.aws.amazon.com/devopsagent/latest/userguide/release-management-release-readiness-code-review.html</a:t>
            </a:r>
          </a:p>
          <a:p>
            <a:r>
              <a:t>Release testing</a:t>
            </a:r>
          </a:p>
          <a:p>
            <a:r>
              <a:t>https://docs.aws.amazon.com/devopsagent/latest/userguide/release-management-release-testing.html</a:t>
            </a:r>
          </a:p>
          <a:p>
            <a:r>
              <a:t>Feature availability by Region</a:t>
            </a:r>
          </a:p>
          <a:p>
            <a:r>
              <a:t>https://docs.aws.amazon.com/devopsagent/latest/userguide/about-aws-devops-agent-supported-regions.html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Demonstration: challenge a recurring diagnosis</a:t>
            </a:r>
          </a:p>
          <a:p>
            <a:r>
              <a:t>Time: 25:00–33:00; budget 8:00.</a:t>
            </a:r>
          </a:p>
          <a:p/>
          <a:p>
            <a:r>
              <a:t>Follow the five timed steps in the report. The presenter needs a permission-cleared incident record, prior memory, actual source-query output and a prepared mitigation proposal. No live AWS work has been executed for this documentation. If a live environment is available, retain the same decision sequence and switch to prepared evidence rather than waiting for an unbounded run. The audience should see a material claim challenged, not only a successful agent response.</a:t>
            </a:r>
          </a:p>
          <a:p/>
          <a:p>
            <a:r>
              <a:t>1 min — Show the prepared event, build and scope; identify unavailable sources.</a:t>
            </a:r>
          </a:p>
          <a:p>
            <a:r>
              <a:t>2 min — Inspect the stored memory and the current investigation's evidence side by side.</a:t>
            </a:r>
          </a:p>
          <a:p>
            <a:r>
              <a:t>2 min — Challenge one causal claim with a source query; show an alternative explanation.</a:t>
            </a:r>
          </a:p>
          <a:p>
            <a:r>
              <a:t>2 min — Review a mitigation proposal and explain the separate execution approval.</a:t>
            </a:r>
          </a:p>
          <a:p>
            <a:r>
              <a:t>1 min — Show corrective feedback and the evidence needed to claim later recall.</a:t>
            </a:r>
          </a:p>
          <a:p>
            <a:r>
              <a:t>Fallback: Use a clearly labeled prepared investigation export and source-query results. Do not invent a completed agent run during the demonstration.</a:t>
            </a:r>
          </a:p>
          <a:p/>
          <a:p>
            <a:r>
              <a:t>OFFICIAL SOURCES</a:t>
            </a:r>
          </a:p>
          <a:p>
            <a:r>
              <a:t>Autonomous incident response</a:t>
            </a:r>
          </a:p>
          <a:p>
            <a:r>
              <a:t>https://docs.aws.amazon.com/devopsagent/latest/userguide/production-operations-autonomous-incident-response.html</a:t>
            </a:r>
          </a:p>
          <a:p>
            <a:r>
              <a:t>Reviewing investigations</a:t>
            </a:r>
          </a:p>
          <a:p>
            <a:r>
              <a:t>https://docs.aws.amazon.com/devopsagent/latest/userguide/working-with-devops-agent-reviewing-investigations.html</a:t>
            </a:r>
          </a:p>
          <a:p>
            <a:r>
              <a:t>Memories: current stores, refresh and lifecycle</a:t>
            </a:r>
          </a:p>
          <a:p>
            <a:r>
              <a:t>https://docs.aws.amazon.com/devopsagent/latest/userguide/about-aws-devops-agent-devops-agent-memories.html</a:t>
            </a:r>
          </a:p>
          <a:p>
            <a:r>
              <a:t>Working with directed actions</a:t>
            </a:r>
          </a:p>
          <a:p>
            <a:r>
              <a:t>https://docs.aws.amazon.com/devopsagent/latest/userguide/working-with-devops-agent-working-with-directed-actions.html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Operational acceptance is evidence, not fluency</a:t>
            </a:r>
          </a:p>
          <a:p>
            <a:r>
              <a:t>Time: 33:00–35:00; budget 2:00.</a:t>
            </a:r>
          </a:p>
          <a:p/>
          <a:p>
            <a:r>
              <a:t>Close with decisions the team can make immediately: one service scope, one useful investigation procedure, one source-reconciliation check and a separate mutation approval policy. These are proposed adoption controls, not measured outcomes. The detailed report includes configuration, evidence sources and known documentation differences. Questions and any live setup work are outside the timed programme.</a:t>
            </a:r>
          </a:p>
          <a:p/>
          <a:p>
            <a:r>
              <a:t>OFFICIAL SOURCES</a:t>
            </a:r>
          </a:p>
          <a:p>
            <a:r>
              <a:t>Autonomous incident response</a:t>
            </a:r>
          </a:p>
          <a:p>
            <a:r>
              <a:t>https://docs.aws.amazon.com/devopsagent/latest/userguide/production-operations-autonomous-incident-response.html</a:t>
            </a:r>
          </a:p>
          <a:p>
            <a:r>
              <a:t>Working with directed actions</a:t>
            </a:r>
          </a:p>
          <a:p>
            <a:r>
              <a:t>https://docs.aws.amazon.com/devopsagent/latest/userguide/working-with-devops-agent-working-with-directed-actions.html</a:t>
            </a:r>
          </a:p>
          <a:p>
            <a:r>
              <a:t>Executing custom agents</a:t>
            </a:r>
          </a:p>
          <a:p>
            <a:r>
              <a:t>https://docs.aws.amazon.com/devopsagent/latest/userguide/custom-agents-executing-custom-agents.html</a:t>
            </a:r>
          </a:p>
          <a:p>
            <a:r>
              <a:t>Release testing</a:t>
            </a:r>
          </a:p>
          <a:p>
            <a:r>
              <a:t>https://docs.aws.amazon.com/devopsagent/latest/userguide/release-management-release-testing.html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006D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92608"/>
            <a:ext cx="10789920" cy="228600"/>
          </a:xfrm>
          <a:prstGeom prst="rect">
            <a:avLst/>
          </a:prstGeom>
          <a:noFill/>
        </p:spPr>
        <p:txBody>
          <a:bodyPr wrap="square" lIns="0" rIns="0" tIns="0" bIns="0">
            <a:spAutoFit/>
          </a:bodyPr>
          <a:lstStyle/>
          <a:p>
            <a:pPr>
              <a:lnSpc>
                <a:spcPct val="108000"/>
              </a:lnSpc>
              <a:spcAft>
                <a:spcPts val="400"/>
              </a:spcAft>
              <a:defRPr sz="1000" b="1">
                <a:solidFill>
                  <a:srgbClr val="006D76"/>
                </a:solidFill>
                <a:latin typeface="Arial"/>
              </a:defRPr>
            </a:pPr>
            <a:r>
              <a:t>AWS DEVOPS AGENT  /  ENGINEERING REFERENCE</a:t>
            </a:r>
          </a:p>
        </p:txBody>
      </p:sp>
      <p:sp>
        <p:nvSpPr>
          <p:cNvPr id="5" name="TextBox 4"/>
          <p:cNvSpPr txBox="1"/>
          <p:nvPr/>
        </p:nvSpPr>
        <p:spPr>
          <a:xfrm>
            <a:off x="457200" y="713232"/>
            <a:ext cx="11201400" cy="914400"/>
          </a:xfrm>
          <a:prstGeom prst="rect">
            <a:avLst/>
          </a:prstGeom>
          <a:noFill/>
        </p:spPr>
        <p:txBody>
          <a:bodyPr wrap="square" lIns="0" rIns="0" tIns="0" bIns="0">
            <a:spAutoFit/>
          </a:bodyPr>
          <a:lstStyle/>
          <a:p>
            <a:pPr>
              <a:lnSpc>
                <a:spcPct val="108000"/>
              </a:lnSpc>
              <a:spcAft>
                <a:spcPts val="400"/>
              </a:spcAft>
              <a:defRPr sz="2900" b="1">
                <a:solidFill>
                  <a:srgbClr val="182B40"/>
                </a:solidFill>
                <a:latin typeface="Arial"/>
              </a:defRPr>
            </a:pPr>
            <a:r>
              <a:t>Investigate, propose, authorize</a:t>
            </a:r>
          </a:p>
        </p:txBody>
      </p:sp>
      <p:sp>
        <p:nvSpPr>
          <p:cNvPr id="6" name="TextBox 5"/>
          <p:cNvSpPr txBox="1"/>
          <p:nvPr/>
        </p:nvSpPr>
        <p:spPr>
          <a:xfrm>
            <a:off x="457200" y="1773936"/>
            <a:ext cx="11109960" cy="475488"/>
          </a:xfrm>
          <a:prstGeom prst="rect">
            <a:avLst/>
          </a:prstGeom>
          <a:noFill/>
        </p:spPr>
        <p:txBody>
          <a:bodyPr wrap="square" lIns="0" rIns="0" tIns="0" bIns="0">
            <a:spAutoFit/>
          </a:bodyPr>
          <a:lstStyle/>
          <a:p>
            <a:pPr>
              <a:lnSpc>
                <a:spcPct val="108000"/>
              </a:lnSpc>
              <a:spcAft>
                <a:spcPts val="400"/>
              </a:spcAft>
              <a:defRPr sz="1700" b="0">
                <a:solidFill>
                  <a:srgbClr val="006D76"/>
                </a:solidFill>
                <a:latin typeface="Arial"/>
              </a:defRPr>
            </a:pPr>
            <a:r>
              <a:t>These are separate operations, not stages that imply automatic permission to change production.</a:t>
            </a:r>
          </a:p>
        </p:txBody>
      </p:sp>
      <p:sp>
        <p:nvSpPr>
          <p:cNvPr id="7" name="Rectangle 6"/>
          <p:cNvSpPr/>
          <p:nvPr/>
        </p:nvSpPr>
        <p:spPr>
          <a:xfrm>
            <a:off x="457200" y="2514600"/>
            <a:ext cx="3639312" cy="2697480"/>
          </a:xfrm>
          <a:prstGeom prst="rect">
            <a:avLst/>
          </a:prstGeom>
          <a:solidFill>
            <a:srgbClr val="ED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2514600"/>
            <a:ext cx="3639312" cy="64008"/>
          </a:xfrm>
          <a:prstGeom prst="rect">
            <a:avLst/>
          </a:prstGeom>
          <a:solidFill>
            <a:srgbClr val="006D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1792" y="2715768"/>
            <a:ext cx="3310128" cy="274320"/>
          </a:xfrm>
          <a:prstGeom prst="rect">
            <a:avLst/>
          </a:prstGeom>
          <a:noFill/>
        </p:spPr>
        <p:txBody>
          <a:bodyPr wrap="square" lIns="0" rIns="0" tIns="0" bIns="0">
            <a:spAutoFit/>
          </a:bodyPr>
          <a:lstStyle/>
          <a:p>
            <a:pPr>
              <a:lnSpc>
                <a:spcPct val="108000"/>
              </a:lnSpc>
              <a:spcAft>
                <a:spcPts val="400"/>
              </a:spcAft>
              <a:defRPr sz="1200" b="1">
                <a:solidFill>
                  <a:srgbClr val="006D76"/>
                </a:solidFill>
                <a:latin typeface="Arial"/>
              </a:defRPr>
            </a:pPr>
            <a:r>
              <a:t>01</a:t>
            </a:r>
          </a:p>
        </p:txBody>
      </p:sp>
      <p:sp>
        <p:nvSpPr>
          <p:cNvPr id="10" name="TextBox 9"/>
          <p:cNvSpPr txBox="1"/>
          <p:nvPr/>
        </p:nvSpPr>
        <p:spPr>
          <a:xfrm>
            <a:off x="621792" y="3154679"/>
            <a:ext cx="3310128" cy="640080"/>
          </a:xfrm>
          <a:prstGeom prst="rect">
            <a:avLst/>
          </a:prstGeom>
          <a:noFill/>
        </p:spPr>
        <p:txBody>
          <a:bodyPr wrap="square" lIns="0" rIns="0" tIns="0" bIns="0">
            <a:spAutoFit/>
          </a:bodyPr>
          <a:lstStyle/>
          <a:p>
            <a:pPr>
              <a:lnSpc>
                <a:spcPct val="108000"/>
              </a:lnSpc>
              <a:spcAft>
                <a:spcPts val="400"/>
              </a:spcAft>
              <a:defRPr sz="2100" b="1">
                <a:solidFill>
                  <a:srgbClr val="182B40"/>
                </a:solidFill>
                <a:latin typeface="Arial"/>
              </a:defRPr>
            </a:pPr>
            <a:r>
              <a:t>Investigate</a:t>
            </a:r>
          </a:p>
        </p:txBody>
      </p:sp>
      <p:sp>
        <p:nvSpPr>
          <p:cNvPr id="11" name="TextBox 10"/>
          <p:cNvSpPr txBox="1"/>
          <p:nvPr/>
        </p:nvSpPr>
        <p:spPr>
          <a:xfrm>
            <a:off x="621792" y="3858768"/>
            <a:ext cx="3310128" cy="1024128"/>
          </a:xfrm>
          <a:prstGeom prst="rect">
            <a:avLst/>
          </a:prstGeom>
          <a:noFill/>
        </p:spPr>
        <p:txBody>
          <a:bodyPr wrap="square" lIns="0" rIns="0" tIns="0" bIns="0">
            <a:spAutoFit/>
          </a:bodyPr>
          <a:lstStyle/>
          <a:p>
            <a:pPr>
              <a:lnSpc>
                <a:spcPct val="108000"/>
              </a:lnSpc>
              <a:spcAft>
                <a:spcPts val="400"/>
              </a:spcAft>
              <a:defRPr sz="1800" b="0">
                <a:solidFill>
                  <a:srgbClr val="182B40"/>
                </a:solidFill>
                <a:latin typeface="Arial"/>
              </a:defRPr>
            </a:pPr>
            <a:r>
              <a:t>Read connected telemetry and change context.</a:t>
            </a:r>
          </a:p>
        </p:txBody>
      </p:sp>
      <p:sp>
        <p:nvSpPr>
          <p:cNvPr id="12" name="Rectangle 11"/>
          <p:cNvSpPr/>
          <p:nvPr/>
        </p:nvSpPr>
        <p:spPr>
          <a:xfrm>
            <a:off x="4261104" y="2514600"/>
            <a:ext cx="3639312" cy="2697480"/>
          </a:xfrm>
          <a:prstGeom prst="rect">
            <a:avLst/>
          </a:prstGeom>
          <a:solidFill>
            <a:srgbClr val="ED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61104" y="2514600"/>
            <a:ext cx="3639312" cy="64008"/>
          </a:xfrm>
          <a:prstGeom prst="rect">
            <a:avLst/>
          </a:prstGeom>
          <a:solidFill>
            <a:srgbClr val="006D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25696" y="2715768"/>
            <a:ext cx="3310128" cy="274320"/>
          </a:xfrm>
          <a:prstGeom prst="rect">
            <a:avLst/>
          </a:prstGeom>
          <a:noFill/>
        </p:spPr>
        <p:txBody>
          <a:bodyPr wrap="square" lIns="0" rIns="0" tIns="0" bIns="0">
            <a:spAutoFit/>
          </a:bodyPr>
          <a:lstStyle/>
          <a:p>
            <a:pPr>
              <a:lnSpc>
                <a:spcPct val="108000"/>
              </a:lnSpc>
              <a:spcAft>
                <a:spcPts val="400"/>
              </a:spcAft>
              <a:defRPr sz="1200" b="1">
                <a:solidFill>
                  <a:srgbClr val="006D76"/>
                </a:solidFill>
                <a:latin typeface="Arial"/>
              </a:defRPr>
            </a:pPr>
            <a:r>
              <a:t>02</a:t>
            </a:r>
          </a:p>
        </p:txBody>
      </p:sp>
      <p:sp>
        <p:nvSpPr>
          <p:cNvPr id="15" name="TextBox 14"/>
          <p:cNvSpPr txBox="1"/>
          <p:nvPr/>
        </p:nvSpPr>
        <p:spPr>
          <a:xfrm>
            <a:off x="4425696" y="3154679"/>
            <a:ext cx="3310128" cy="640080"/>
          </a:xfrm>
          <a:prstGeom prst="rect">
            <a:avLst/>
          </a:prstGeom>
          <a:noFill/>
        </p:spPr>
        <p:txBody>
          <a:bodyPr wrap="square" lIns="0" rIns="0" tIns="0" bIns="0">
            <a:spAutoFit/>
          </a:bodyPr>
          <a:lstStyle/>
          <a:p>
            <a:pPr>
              <a:lnSpc>
                <a:spcPct val="108000"/>
              </a:lnSpc>
              <a:spcAft>
                <a:spcPts val="400"/>
              </a:spcAft>
              <a:defRPr sz="2100" b="1">
                <a:solidFill>
                  <a:srgbClr val="182B40"/>
                </a:solidFill>
                <a:latin typeface="Arial"/>
              </a:defRPr>
            </a:pPr>
            <a:r>
              <a:t>Propose</a:t>
            </a:r>
          </a:p>
        </p:txBody>
      </p:sp>
      <p:sp>
        <p:nvSpPr>
          <p:cNvPr id="16" name="TextBox 15"/>
          <p:cNvSpPr txBox="1"/>
          <p:nvPr/>
        </p:nvSpPr>
        <p:spPr>
          <a:xfrm>
            <a:off x="4425696" y="3858768"/>
            <a:ext cx="3310128" cy="1024128"/>
          </a:xfrm>
          <a:prstGeom prst="rect">
            <a:avLst/>
          </a:prstGeom>
          <a:noFill/>
        </p:spPr>
        <p:txBody>
          <a:bodyPr wrap="square" lIns="0" rIns="0" tIns="0" bIns="0">
            <a:spAutoFit/>
          </a:bodyPr>
          <a:lstStyle/>
          <a:p>
            <a:pPr>
              <a:lnSpc>
                <a:spcPct val="108000"/>
              </a:lnSpc>
              <a:spcAft>
                <a:spcPts val="400"/>
              </a:spcAft>
              <a:defRPr sz="1800" b="0">
                <a:solidFill>
                  <a:srgbClr val="182B40"/>
                </a:solidFill>
                <a:latin typeface="Arial"/>
              </a:defRPr>
            </a:pPr>
            <a:r>
              <a:t>Produce a diagnosis and mitigation proposal.</a:t>
            </a:r>
          </a:p>
        </p:txBody>
      </p:sp>
      <p:sp>
        <p:nvSpPr>
          <p:cNvPr id="17" name="Rectangle 16"/>
          <p:cNvSpPr/>
          <p:nvPr/>
        </p:nvSpPr>
        <p:spPr>
          <a:xfrm>
            <a:off x="8065008" y="2514600"/>
            <a:ext cx="3639312" cy="2697480"/>
          </a:xfrm>
          <a:prstGeom prst="rect">
            <a:avLst/>
          </a:prstGeom>
          <a:solidFill>
            <a:srgbClr val="ED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65008" y="2514600"/>
            <a:ext cx="3639312" cy="64008"/>
          </a:xfrm>
          <a:prstGeom prst="rect">
            <a:avLst/>
          </a:prstGeom>
          <a:solidFill>
            <a:srgbClr val="006D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0" y="2715768"/>
            <a:ext cx="3310128" cy="274320"/>
          </a:xfrm>
          <a:prstGeom prst="rect">
            <a:avLst/>
          </a:prstGeom>
          <a:noFill/>
        </p:spPr>
        <p:txBody>
          <a:bodyPr wrap="square" lIns="0" rIns="0" tIns="0" bIns="0">
            <a:spAutoFit/>
          </a:bodyPr>
          <a:lstStyle/>
          <a:p>
            <a:pPr>
              <a:lnSpc>
                <a:spcPct val="108000"/>
              </a:lnSpc>
              <a:spcAft>
                <a:spcPts val="400"/>
              </a:spcAft>
              <a:defRPr sz="1200" b="1">
                <a:solidFill>
                  <a:srgbClr val="006D76"/>
                </a:solidFill>
                <a:latin typeface="Arial"/>
              </a:defRPr>
            </a:pPr>
            <a:r>
              <a:t>03</a:t>
            </a:r>
          </a:p>
        </p:txBody>
      </p:sp>
      <p:sp>
        <p:nvSpPr>
          <p:cNvPr id="20" name="TextBox 19"/>
          <p:cNvSpPr txBox="1"/>
          <p:nvPr/>
        </p:nvSpPr>
        <p:spPr>
          <a:xfrm>
            <a:off x="8229600" y="3154679"/>
            <a:ext cx="3310128" cy="640080"/>
          </a:xfrm>
          <a:prstGeom prst="rect">
            <a:avLst/>
          </a:prstGeom>
          <a:noFill/>
        </p:spPr>
        <p:txBody>
          <a:bodyPr wrap="square" lIns="0" rIns="0" tIns="0" bIns="0">
            <a:spAutoFit/>
          </a:bodyPr>
          <a:lstStyle/>
          <a:p>
            <a:pPr>
              <a:lnSpc>
                <a:spcPct val="108000"/>
              </a:lnSpc>
              <a:spcAft>
                <a:spcPts val="400"/>
              </a:spcAft>
              <a:defRPr sz="2100" b="1">
                <a:solidFill>
                  <a:srgbClr val="182B40"/>
                </a:solidFill>
                <a:latin typeface="Arial"/>
              </a:defRPr>
            </a:pPr>
            <a:r>
              <a:t>Authorize</a:t>
            </a:r>
          </a:p>
        </p:txBody>
      </p:sp>
      <p:sp>
        <p:nvSpPr>
          <p:cNvPr id="21" name="TextBox 20"/>
          <p:cNvSpPr txBox="1"/>
          <p:nvPr/>
        </p:nvSpPr>
        <p:spPr>
          <a:xfrm>
            <a:off x="8229600" y="3858768"/>
            <a:ext cx="3310128" cy="1024128"/>
          </a:xfrm>
          <a:prstGeom prst="rect">
            <a:avLst/>
          </a:prstGeom>
          <a:noFill/>
        </p:spPr>
        <p:txBody>
          <a:bodyPr wrap="square" lIns="0" rIns="0" tIns="0" bIns="0">
            <a:spAutoFit/>
          </a:bodyPr>
          <a:lstStyle/>
          <a:p>
            <a:pPr>
              <a:lnSpc>
                <a:spcPct val="108000"/>
              </a:lnSpc>
              <a:spcAft>
                <a:spcPts val="400"/>
              </a:spcAft>
              <a:defRPr sz="1800" b="0">
                <a:solidFill>
                  <a:srgbClr val="182B40"/>
                </a:solidFill>
                <a:latin typeface="Arial"/>
              </a:defRPr>
            </a:pPr>
            <a:r>
              <a:t>Use the separate directed-action gate for an eligible mutation.</a:t>
            </a:r>
          </a:p>
        </p:txBody>
      </p:sp>
      <p:sp>
        <p:nvSpPr>
          <p:cNvPr id="22" name="Rectangle 21"/>
          <p:cNvSpPr/>
          <p:nvPr/>
        </p:nvSpPr>
        <p:spPr>
          <a:xfrm>
            <a:off x="457200" y="6355080"/>
            <a:ext cx="11247120" cy="10972"/>
          </a:xfrm>
          <a:prstGeom prst="rect">
            <a:avLst/>
          </a:prstGeom>
          <a:solidFill>
            <a:srgbClr val="D4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6492240"/>
            <a:ext cx="4572000" cy="201168"/>
          </a:xfrm>
          <a:prstGeom prst="rect">
            <a:avLst/>
          </a:prstGeom>
          <a:noFill/>
        </p:spPr>
        <p:txBody>
          <a:bodyPr wrap="square" lIns="0" rIns="0" tIns="0" bIns="0">
            <a:spAutoFit/>
          </a:bodyPr>
          <a:lstStyle/>
          <a:p>
            <a:pPr>
              <a:lnSpc>
                <a:spcPct val="108000"/>
              </a:lnSpc>
              <a:spcAft>
                <a:spcPts val="400"/>
              </a:spcAft>
              <a:defRPr sz="1000" b="0">
                <a:solidFill>
                  <a:srgbClr val="536477"/>
                </a:solidFill>
                <a:latin typeface="Arial"/>
              </a:defRPr>
            </a:pPr>
            <a:r>
              <a:t>0:00–1:00   |   1:00 allocation</a:t>
            </a:r>
          </a:p>
        </p:txBody>
      </p:sp>
      <p:sp>
        <p:nvSpPr>
          <p:cNvPr id="24" name="TextBox 23"/>
          <p:cNvSpPr txBox="1"/>
          <p:nvPr/>
        </p:nvSpPr>
        <p:spPr>
          <a:xfrm>
            <a:off x="10835640" y="6492240"/>
            <a:ext cx="868680" cy="201168"/>
          </a:xfrm>
          <a:prstGeom prst="rect">
            <a:avLst/>
          </a:prstGeom>
          <a:noFill/>
        </p:spPr>
        <p:txBody>
          <a:bodyPr wrap="square" lIns="0" rIns="0" tIns="0" bIns="0">
            <a:spAutoFit/>
          </a:bodyPr>
          <a:lstStyle/>
          <a:p>
            <a:pPr>
              <a:lnSpc>
                <a:spcPct val="108000"/>
              </a:lnSpc>
              <a:spcAft>
                <a:spcPts val="400"/>
              </a:spcAft>
              <a:defRPr sz="1000" b="0">
                <a:solidFill>
                  <a:srgbClr val="536477"/>
                </a:solidFill>
                <a:latin typeface="Arial"/>
              </a:defRPr>
            </a:pPr>
            <a:r>
              <a:t>01 / 13</a:t>
            </a:r>
          </a:p>
        </p:txBody>
      </p:sp>
      <p:sp>
        <p:nvSpPr>
          <p:cNvPr id="25" name="TextBox 24"/>
          <p:cNvSpPr txBox="1"/>
          <p:nvPr/>
        </p:nvSpPr>
        <p:spPr>
          <a:xfrm>
            <a:off x="4800600" y="6492240"/>
            <a:ext cx="5852160" cy="201168"/>
          </a:xfrm>
          <a:prstGeom prst="rect">
            <a:avLst/>
          </a:prstGeom>
          <a:noFill/>
        </p:spPr>
        <p:txBody>
          <a:bodyPr wrap="square" lIns="0" rIns="0" tIns="0" bIns="0">
            <a:spAutoFit/>
          </a:bodyPr>
          <a:lstStyle/>
          <a:p>
            <a:pPr>
              <a:lnSpc>
                <a:spcPct val="108000"/>
              </a:lnSpc>
              <a:spcAft>
                <a:spcPts val="400"/>
              </a:spcAft>
              <a:defRPr sz="900" b="0">
                <a:solidFill>
                  <a:srgbClr val="536477"/>
                </a:solidFill>
                <a:latin typeface="Arial"/>
              </a:defRPr>
            </a:pPr>
            <a:r>
              <a:t>Sources: incident, actions · full URLs in notes and report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006D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92608"/>
            <a:ext cx="10789920" cy="228600"/>
          </a:xfrm>
          <a:prstGeom prst="rect">
            <a:avLst/>
          </a:prstGeom>
          <a:noFill/>
        </p:spPr>
        <p:txBody>
          <a:bodyPr wrap="square" lIns="0" rIns="0" tIns="0" bIns="0">
            <a:spAutoFit/>
          </a:bodyPr>
          <a:lstStyle/>
          <a:p>
            <a:pPr>
              <a:lnSpc>
                <a:spcPct val="108000"/>
              </a:lnSpc>
              <a:spcAft>
                <a:spcPts val="400"/>
              </a:spcAft>
              <a:defRPr sz="1000" b="1">
                <a:solidFill>
                  <a:srgbClr val="006D76"/>
                </a:solidFill>
                <a:latin typeface="Arial"/>
              </a:defRPr>
            </a:pPr>
            <a:r>
              <a:t>AWS DEVOPS AGENT  /  ENGINEERING REFERENCE</a:t>
            </a:r>
          </a:p>
        </p:txBody>
      </p:sp>
      <p:sp>
        <p:nvSpPr>
          <p:cNvPr id="5" name="TextBox 4"/>
          <p:cNvSpPr txBox="1"/>
          <p:nvPr/>
        </p:nvSpPr>
        <p:spPr>
          <a:xfrm>
            <a:off x="457200" y="713232"/>
            <a:ext cx="11201400" cy="914400"/>
          </a:xfrm>
          <a:prstGeom prst="rect">
            <a:avLst/>
          </a:prstGeom>
          <a:noFill/>
        </p:spPr>
        <p:txBody>
          <a:bodyPr wrap="square" lIns="0" rIns="0" tIns="0" bIns="0">
            <a:spAutoFit/>
          </a:bodyPr>
          <a:lstStyle/>
          <a:p>
            <a:pPr>
              <a:lnSpc>
                <a:spcPct val="108000"/>
              </a:lnSpc>
              <a:spcAft>
                <a:spcPts val="400"/>
              </a:spcAft>
              <a:defRPr sz="2900" b="1">
                <a:solidFill>
                  <a:srgbClr val="182B40"/>
                </a:solidFill>
                <a:latin typeface="Arial"/>
              </a:defRPr>
            </a:pPr>
            <a:r>
              <a:t>Know which object you are configuring</a:t>
            </a:r>
          </a:p>
        </p:txBody>
      </p:sp>
      <p:sp>
        <p:nvSpPr>
          <p:cNvPr id="6" name="TextBox 5"/>
          <p:cNvSpPr txBox="1"/>
          <p:nvPr/>
        </p:nvSpPr>
        <p:spPr>
          <a:xfrm>
            <a:off x="457200" y="1773936"/>
            <a:ext cx="11109960" cy="475488"/>
          </a:xfrm>
          <a:prstGeom prst="rect">
            <a:avLst/>
          </a:prstGeom>
          <a:noFill/>
        </p:spPr>
        <p:txBody>
          <a:bodyPr wrap="square" lIns="0" rIns="0" tIns="0" bIns="0">
            <a:spAutoFit/>
          </a:bodyPr>
          <a:lstStyle/>
          <a:p>
            <a:pPr>
              <a:lnSpc>
                <a:spcPct val="108000"/>
              </a:lnSpc>
              <a:spcAft>
                <a:spcPts val="400"/>
              </a:spcAft>
              <a:defRPr sz="1700" b="0">
                <a:solidFill>
                  <a:srgbClr val="006D76"/>
                </a:solidFill>
                <a:latin typeface="Arial"/>
              </a:defRPr>
            </a:pPr>
            <a:r>
              <a:t>Scope, work, context and execution are not the same object.</a:t>
            </a:r>
          </a:p>
        </p:txBody>
      </p:sp>
      <p:sp>
        <p:nvSpPr>
          <p:cNvPr id="7" name="Rectangle 6"/>
          <p:cNvSpPr/>
          <p:nvPr/>
        </p:nvSpPr>
        <p:spPr>
          <a:xfrm>
            <a:off x="457200" y="2331720"/>
            <a:ext cx="3017520" cy="502920"/>
          </a:xfrm>
          <a:prstGeom prst="rect">
            <a:avLst/>
          </a:prstGeom>
          <a:solidFill>
            <a:srgbClr val="1128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 y="2441448"/>
            <a:ext cx="2761487" cy="356616"/>
          </a:xfrm>
          <a:prstGeom prst="rect">
            <a:avLst/>
          </a:prstGeom>
          <a:noFill/>
        </p:spPr>
        <p:txBody>
          <a:bodyPr wrap="square" lIns="0" rIns="0" tIns="0" bIns="0">
            <a:spAutoFit/>
          </a:bodyPr>
          <a:lstStyle/>
          <a:p>
            <a:pPr>
              <a:lnSpc>
                <a:spcPct val="108000"/>
              </a:lnSpc>
              <a:spcAft>
                <a:spcPts val="400"/>
              </a:spcAft>
              <a:defRPr sz="1500" b="1">
                <a:solidFill>
                  <a:srgbClr val="FFFFFF"/>
                </a:solidFill>
                <a:latin typeface="Arial"/>
              </a:defRPr>
            </a:pPr>
            <a:r>
              <a:t>Object</a:t>
            </a:r>
          </a:p>
        </p:txBody>
      </p:sp>
      <p:sp>
        <p:nvSpPr>
          <p:cNvPr id="9" name="Rectangle 8"/>
          <p:cNvSpPr/>
          <p:nvPr/>
        </p:nvSpPr>
        <p:spPr>
          <a:xfrm>
            <a:off x="3474720" y="2331720"/>
            <a:ext cx="4114800" cy="502920"/>
          </a:xfrm>
          <a:prstGeom prst="rect">
            <a:avLst/>
          </a:prstGeom>
          <a:solidFill>
            <a:srgbClr val="1128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02736" y="2441448"/>
            <a:ext cx="3858768" cy="356616"/>
          </a:xfrm>
          <a:prstGeom prst="rect">
            <a:avLst/>
          </a:prstGeom>
          <a:noFill/>
        </p:spPr>
        <p:txBody>
          <a:bodyPr wrap="square" lIns="0" rIns="0" tIns="0" bIns="0">
            <a:spAutoFit/>
          </a:bodyPr>
          <a:lstStyle/>
          <a:p>
            <a:pPr>
              <a:lnSpc>
                <a:spcPct val="108000"/>
              </a:lnSpc>
              <a:spcAft>
                <a:spcPts val="400"/>
              </a:spcAft>
              <a:defRPr sz="1500" b="1">
                <a:solidFill>
                  <a:srgbClr val="FFFFFF"/>
                </a:solidFill>
                <a:latin typeface="Arial"/>
              </a:defRPr>
            </a:pPr>
            <a:r>
              <a:t>Contains or represents</a:t>
            </a:r>
          </a:p>
        </p:txBody>
      </p:sp>
      <p:sp>
        <p:nvSpPr>
          <p:cNvPr id="11" name="Rectangle 10"/>
          <p:cNvSpPr/>
          <p:nvPr/>
        </p:nvSpPr>
        <p:spPr>
          <a:xfrm>
            <a:off x="7589520" y="2331720"/>
            <a:ext cx="4114800" cy="502920"/>
          </a:xfrm>
          <a:prstGeom prst="rect">
            <a:avLst/>
          </a:prstGeom>
          <a:solidFill>
            <a:srgbClr val="1128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17536" y="2441448"/>
            <a:ext cx="3858768" cy="356616"/>
          </a:xfrm>
          <a:prstGeom prst="rect">
            <a:avLst/>
          </a:prstGeom>
          <a:noFill/>
        </p:spPr>
        <p:txBody>
          <a:bodyPr wrap="square" lIns="0" rIns="0" tIns="0" bIns="0">
            <a:spAutoFit/>
          </a:bodyPr>
          <a:lstStyle/>
          <a:p>
            <a:pPr>
              <a:lnSpc>
                <a:spcPct val="108000"/>
              </a:lnSpc>
              <a:spcAft>
                <a:spcPts val="400"/>
              </a:spcAft>
              <a:defRPr sz="1500" b="1">
                <a:solidFill>
                  <a:srgbClr val="FFFFFF"/>
                </a:solidFill>
                <a:latin typeface="Arial"/>
              </a:defRPr>
            </a:pPr>
            <a:r>
              <a:t>Operator decision</a:t>
            </a:r>
          </a:p>
        </p:txBody>
      </p:sp>
      <p:sp>
        <p:nvSpPr>
          <p:cNvPr id="13" name="Rectangle 12"/>
          <p:cNvSpPr/>
          <p:nvPr/>
        </p:nvSpPr>
        <p:spPr>
          <a:xfrm>
            <a:off x="457200" y="2834639"/>
            <a:ext cx="3017520" cy="806958"/>
          </a:xfrm>
          <a:prstGeom prst="rect">
            <a:avLst/>
          </a:prstGeom>
          <a:solidFill>
            <a:srgbClr val="EDF3F5"/>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85216" y="2953511"/>
            <a:ext cx="2761487" cy="651510"/>
          </a:xfrm>
          <a:prstGeom prst="rect">
            <a:avLst/>
          </a:prstGeom>
          <a:noFill/>
        </p:spPr>
        <p:txBody>
          <a:bodyPr wrap="square" lIns="0" rIns="0" tIns="0" bIns="0">
            <a:spAutoFit/>
          </a:bodyPr>
          <a:lstStyle/>
          <a:p>
            <a:pPr>
              <a:lnSpc>
                <a:spcPct val="108000"/>
              </a:lnSpc>
              <a:spcAft>
                <a:spcPts val="400"/>
              </a:spcAft>
              <a:defRPr sz="1700" b="1">
                <a:solidFill>
                  <a:srgbClr val="182B40"/>
                </a:solidFill>
                <a:latin typeface="Arial"/>
              </a:defRPr>
            </a:pPr>
            <a:r>
              <a:t>Agent Space</a:t>
            </a:r>
          </a:p>
        </p:txBody>
      </p:sp>
      <p:sp>
        <p:nvSpPr>
          <p:cNvPr id="15" name="Rectangle 14"/>
          <p:cNvSpPr/>
          <p:nvPr/>
        </p:nvSpPr>
        <p:spPr>
          <a:xfrm>
            <a:off x="3474720" y="2834639"/>
            <a:ext cx="4114800" cy="806958"/>
          </a:xfrm>
          <a:prstGeom prst="rect">
            <a:avLst/>
          </a:prstGeom>
          <a:solidFill>
            <a:srgbClr val="EDF3F5"/>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2736" y="2953511"/>
            <a:ext cx="3858768" cy="651510"/>
          </a:xfrm>
          <a:prstGeom prst="rect">
            <a:avLst/>
          </a:prstGeom>
          <a:noFill/>
        </p:spPr>
        <p:txBody>
          <a:bodyPr wrap="square" lIns="0" rIns="0" tIns="0" bIns="0">
            <a:spAutoFit/>
          </a:bodyPr>
          <a:lstStyle/>
          <a:p>
            <a:pPr>
              <a:lnSpc>
                <a:spcPct val="108000"/>
              </a:lnSpc>
              <a:spcAft>
                <a:spcPts val="400"/>
              </a:spcAft>
              <a:defRPr sz="1700" b="0">
                <a:solidFill>
                  <a:srgbClr val="182B40"/>
                </a:solidFill>
                <a:latin typeface="Arial"/>
              </a:defRPr>
            </a:pPr>
            <a:r>
              <a:t>Associated accounts, tools and knowledge</a:t>
            </a:r>
          </a:p>
        </p:txBody>
      </p:sp>
      <p:sp>
        <p:nvSpPr>
          <p:cNvPr id="17" name="Rectangle 16"/>
          <p:cNvSpPr/>
          <p:nvPr/>
        </p:nvSpPr>
        <p:spPr>
          <a:xfrm>
            <a:off x="7589520" y="2834639"/>
            <a:ext cx="4114800" cy="806958"/>
          </a:xfrm>
          <a:prstGeom prst="rect">
            <a:avLst/>
          </a:prstGeom>
          <a:solidFill>
            <a:srgbClr val="EDF3F5"/>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17536" y="2953511"/>
            <a:ext cx="3858768" cy="651510"/>
          </a:xfrm>
          <a:prstGeom prst="rect">
            <a:avLst/>
          </a:prstGeom>
          <a:noFill/>
        </p:spPr>
        <p:txBody>
          <a:bodyPr wrap="square" lIns="0" rIns="0" tIns="0" bIns="0">
            <a:spAutoFit/>
          </a:bodyPr>
          <a:lstStyle/>
          <a:p>
            <a:pPr>
              <a:lnSpc>
                <a:spcPct val="108000"/>
              </a:lnSpc>
              <a:spcAft>
                <a:spcPts val="400"/>
              </a:spcAft>
              <a:defRPr sz="1700" b="0">
                <a:solidFill>
                  <a:srgbClr val="182B40"/>
                </a:solidFill>
                <a:latin typeface="Arial"/>
              </a:defRPr>
            </a:pPr>
            <a:r>
              <a:t>Which environment is accessible?</a:t>
            </a:r>
          </a:p>
        </p:txBody>
      </p:sp>
      <p:sp>
        <p:nvSpPr>
          <p:cNvPr id="19" name="Rectangle 18"/>
          <p:cNvSpPr/>
          <p:nvPr/>
        </p:nvSpPr>
        <p:spPr>
          <a:xfrm>
            <a:off x="457200" y="3641598"/>
            <a:ext cx="3017520" cy="806958"/>
          </a:xfrm>
          <a:prstGeom prst="rect">
            <a:avLst/>
          </a:prstGeom>
          <a:solidFill>
            <a:srgbClr val="FFFFFF"/>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85216" y="3760470"/>
            <a:ext cx="2761487" cy="651510"/>
          </a:xfrm>
          <a:prstGeom prst="rect">
            <a:avLst/>
          </a:prstGeom>
          <a:noFill/>
        </p:spPr>
        <p:txBody>
          <a:bodyPr wrap="square" lIns="0" rIns="0" tIns="0" bIns="0">
            <a:spAutoFit/>
          </a:bodyPr>
          <a:lstStyle/>
          <a:p>
            <a:pPr>
              <a:lnSpc>
                <a:spcPct val="108000"/>
              </a:lnSpc>
              <a:spcAft>
                <a:spcPts val="400"/>
              </a:spcAft>
              <a:defRPr sz="1700" b="1">
                <a:solidFill>
                  <a:srgbClr val="182B40"/>
                </a:solidFill>
                <a:latin typeface="Arial"/>
              </a:defRPr>
            </a:pPr>
            <a:r>
              <a:t>Investigation</a:t>
            </a:r>
          </a:p>
        </p:txBody>
      </p:sp>
      <p:sp>
        <p:nvSpPr>
          <p:cNvPr id="21" name="Rectangle 20"/>
          <p:cNvSpPr/>
          <p:nvPr/>
        </p:nvSpPr>
        <p:spPr>
          <a:xfrm>
            <a:off x="3474720" y="3641598"/>
            <a:ext cx="4114800" cy="806958"/>
          </a:xfrm>
          <a:prstGeom prst="rect">
            <a:avLst/>
          </a:prstGeom>
          <a:solidFill>
            <a:srgbClr val="FFFFFF"/>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02736" y="3760470"/>
            <a:ext cx="3858768" cy="651510"/>
          </a:xfrm>
          <a:prstGeom prst="rect">
            <a:avLst/>
          </a:prstGeom>
          <a:noFill/>
        </p:spPr>
        <p:txBody>
          <a:bodyPr wrap="square" lIns="0" rIns="0" tIns="0" bIns="0">
            <a:spAutoFit/>
          </a:bodyPr>
          <a:lstStyle/>
          <a:p>
            <a:pPr>
              <a:lnSpc>
                <a:spcPct val="108000"/>
              </a:lnSpc>
              <a:spcAft>
                <a:spcPts val="400"/>
              </a:spcAft>
              <a:defRPr sz="1700" b="0">
                <a:solidFill>
                  <a:srgbClr val="182B40"/>
                </a:solidFill>
                <a:latin typeface="Arial"/>
              </a:defRPr>
            </a:pPr>
            <a:r>
              <a:t>Incident timeline, evidence and conclusions</a:t>
            </a:r>
          </a:p>
        </p:txBody>
      </p:sp>
      <p:sp>
        <p:nvSpPr>
          <p:cNvPr id="23" name="Rectangle 22"/>
          <p:cNvSpPr/>
          <p:nvPr/>
        </p:nvSpPr>
        <p:spPr>
          <a:xfrm>
            <a:off x="7589520" y="3641598"/>
            <a:ext cx="4114800" cy="806958"/>
          </a:xfrm>
          <a:prstGeom prst="rect">
            <a:avLst/>
          </a:prstGeom>
          <a:solidFill>
            <a:srgbClr val="FFFFFF"/>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717536" y="3760470"/>
            <a:ext cx="3858768" cy="651510"/>
          </a:xfrm>
          <a:prstGeom prst="rect">
            <a:avLst/>
          </a:prstGeom>
          <a:noFill/>
        </p:spPr>
        <p:txBody>
          <a:bodyPr wrap="square" lIns="0" rIns="0" tIns="0" bIns="0">
            <a:spAutoFit/>
          </a:bodyPr>
          <a:lstStyle/>
          <a:p>
            <a:pPr>
              <a:lnSpc>
                <a:spcPct val="108000"/>
              </a:lnSpc>
              <a:spcAft>
                <a:spcPts val="400"/>
              </a:spcAft>
              <a:defRPr sz="1700" b="0">
                <a:solidFill>
                  <a:srgbClr val="182B40"/>
                </a:solidFill>
                <a:latin typeface="Arial"/>
              </a:defRPr>
            </a:pPr>
            <a:r>
              <a:t>Which problem and interval are being analyzed?</a:t>
            </a:r>
          </a:p>
        </p:txBody>
      </p:sp>
      <p:sp>
        <p:nvSpPr>
          <p:cNvPr id="25" name="Rectangle 24"/>
          <p:cNvSpPr/>
          <p:nvPr/>
        </p:nvSpPr>
        <p:spPr>
          <a:xfrm>
            <a:off x="457200" y="4448556"/>
            <a:ext cx="3017520" cy="806958"/>
          </a:xfrm>
          <a:prstGeom prst="rect">
            <a:avLst/>
          </a:prstGeom>
          <a:solidFill>
            <a:srgbClr val="EDF3F5"/>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85216" y="4567428"/>
            <a:ext cx="2761487" cy="651510"/>
          </a:xfrm>
          <a:prstGeom prst="rect">
            <a:avLst/>
          </a:prstGeom>
          <a:noFill/>
        </p:spPr>
        <p:txBody>
          <a:bodyPr wrap="square" lIns="0" rIns="0" tIns="0" bIns="0">
            <a:spAutoFit/>
          </a:bodyPr>
          <a:lstStyle/>
          <a:p>
            <a:pPr>
              <a:lnSpc>
                <a:spcPct val="108000"/>
              </a:lnSpc>
              <a:spcAft>
                <a:spcPts val="400"/>
              </a:spcAft>
              <a:defRPr sz="1700" b="1">
                <a:solidFill>
                  <a:srgbClr val="182B40"/>
                </a:solidFill>
                <a:latin typeface="Arial"/>
              </a:defRPr>
            </a:pPr>
            <a:r>
              <a:t>Custom agent / invocation</a:t>
            </a:r>
          </a:p>
        </p:txBody>
      </p:sp>
      <p:sp>
        <p:nvSpPr>
          <p:cNvPr id="27" name="Rectangle 26"/>
          <p:cNvSpPr/>
          <p:nvPr/>
        </p:nvSpPr>
        <p:spPr>
          <a:xfrm>
            <a:off x="3474720" y="4448556"/>
            <a:ext cx="4114800" cy="806958"/>
          </a:xfrm>
          <a:prstGeom prst="rect">
            <a:avLst/>
          </a:prstGeom>
          <a:solidFill>
            <a:srgbClr val="EDF3F5"/>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02736" y="4567428"/>
            <a:ext cx="3858768" cy="651510"/>
          </a:xfrm>
          <a:prstGeom prst="rect">
            <a:avLst/>
          </a:prstGeom>
          <a:noFill/>
        </p:spPr>
        <p:txBody>
          <a:bodyPr wrap="square" lIns="0" rIns="0" tIns="0" bIns="0">
            <a:spAutoFit/>
          </a:bodyPr>
          <a:lstStyle/>
          <a:p>
            <a:pPr>
              <a:lnSpc>
                <a:spcPct val="108000"/>
              </a:lnSpc>
              <a:spcAft>
                <a:spcPts val="400"/>
              </a:spcAft>
              <a:defRPr sz="1700" b="0">
                <a:solidFill>
                  <a:srgbClr val="182B40"/>
                </a:solidFill>
                <a:latin typeface="Arial"/>
              </a:defRPr>
            </a:pPr>
            <a:r>
              <a:t>Reusable definition / one run</a:t>
            </a:r>
          </a:p>
        </p:txBody>
      </p:sp>
      <p:sp>
        <p:nvSpPr>
          <p:cNvPr id="29" name="Rectangle 28"/>
          <p:cNvSpPr/>
          <p:nvPr/>
        </p:nvSpPr>
        <p:spPr>
          <a:xfrm>
            <a:off x="7589520" y="4448556"/>
            <a:ext cx="4114800" cy="806958"/>
          </a:xfrm>
          <a:prstGeom prst="rect">
            <a:avLst/>
          </a:prstGeom>
          <a:solidFill>
            <a:srgbClr val="EDF3F5"/>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717536" y="4567428"/>
            <a:ext cx="3858768" cy="651510"/>
          </a:xfrm>
          <a:prstGeom prst="rect">
            <a:avLst/>
          </a:prstGeom>
          <a:noFill/>
        </p:spPr>
        <p:txBody>
          <a:bodyPr wrap="square" lIns="0" rIns="0" tIns="0" bIns="0">
            <a:spAutoFit/>
          </a:bodyPr>
          <a:lstStyle/>
          <a:p>
            <a:pPr>
              <a:lnSpc>
                <a:spcPct val="108000"/>
              </a:lnSpc>
              <a:spcAft>
                <a:spcPts val="400"/>
              </a:spcAft>
              <a:defRPr sz="1700" b="0">
                <a:solidFill>
                  <a:srgbClr val="182B40"/>
                </a:solidFill>
                <a:latin typeface="Arial"/>
              </a:defRPr>
            </a:pPr>
            <a:r>
              <a:t>Which tools and context can this run use?</a:t>
            </a:r>
          </a:p>
        </p:txBody>
      </p:sp>
      <p:sp>
        <p:nvSpPr>
          <p:cNvPr id="31" name="Rectangle 30"/>
          <p:cNvSpPr/>
          <p:nvPr/>
        </p:nvSpPr>
        <p:spPr>
          <a:xfrm>
            <a:off x="457200" y="5255514"/>
            <a:ext cx="3017520" cy="806958"/>
          </a:xfrm>
          <a:prstGeom prst="rect">
            <a:avLst/>
          </a:prstGeom>
          <a:solidFill>
            <a:srgbClr val="FFFFFF"/>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85216" y="5374386"/>
            <a:ext cx="2761487" cy="651510"/>
          </a:xfrm>
          <a:prstGeom prst="rect">
            <a:avLst/>
          </a:prstGeom>
          <a:noFill/>
        </p:spPr>
        <p:txBody>
          <a:bodyPr wrap="square" lIns="0" rIns="0" tIns="0" bIns="0">
            <a:spAutoFit/>
          </a:bodyPr>
          <a:lstStyle/>
          <a:p>
            <a:pPr>
              <a:lnSpc>
                <a:spcPct val="108000"/>
              </a:lnSpc>
              <a:spcAft>
                <a:spcPts val="400"/>
              </a:spcAft>
              <a:defRPr sz="1700" b="1">
                <a:solidFill>
                  <a:srgbClr val="182B40"/>
                </a:solidFill>
                <a:latin typeface="Arial"/>
              </a:defRPr>
            </a:pPr>
            <a:r>
              <a:t>Instructions / skill / memory</a:t>
            </a:r>
          </a:p>
        </p:txBody>
      </p:sp>
      <p:sp>
        <p:nvSpPr>
          <p:cNvPr id="33" name="Rectangle 32"/>
          <p:cNvSpPr/>
          <p:nvPr/>
        </p:nvSpPr>
        <p:spPr>
          <a:xfrm>
            <a:off x="3474720" y="5255514"/>
            <a:ext cx="4114800" cy="806958"/>
          </a:xfrm>
          <a:prstGeom prst="rect">
            <a:avLst/>
          </a:prstGeom>
          <a:solidFill>
            <a:srgbClr val="FFFFFF"/>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02736" y="5374386"/>
            <a:ext cx="3858768" cy="651510"/>
          </a:xfrm>
          <a:prstGeom prst="rect">
            <a:avLst/>
          </a:prstGeom>
          <a:noFill/>
        </p:spPr>
        <p:txBody>
          <a:bodyPr wrap="square" lIns="0" rIns="0" tIns="0" bIns="0">
            <a:spAutoFit/>
          </a:bodyPr>
          <a:lstStyle/>
          <a:p>
            <a:pPr>
              <a:lnSpc>
                <a:spcPct val="108000"/>
              </a:lnSpc>
              <a:spcAft>
                <a:spcPts val="400"/>
              </a:spcAft>
              <a:defRPr sz="1700" b="0">
                <a:solidFill>
                  <a:srgbClr val="182B40"/>
                </a:solidFill>
                <a:latin typeface="Arial"/>
              </a:defRPr>
            </a:pPr>
            <a:r>
              <a:t>Standing rules / procedure / retained context</a:t>
            </a:r>
          </a:p>
        </p:txBody>
      </p:sp>
      <p:sp>
        <p:nvSpPr>
          <p:cNvPr id="35" name="Rectangle 34"/>
          <p:cNvSpPr/>
          <p:nvPr/>
        </p:nvSpPr>
        <p:spPr>
          <a:xfrm>
            <a:off x="7589520" y="5255514"/>
            <a:ext cx="4114800" cy="806958"/>
          </a:xfrm>
          <a:prstGeom prst="rect">
            <a:avLst/>
          </a:prstGeom>
          <a:solidFill>
            <a:srgbClr val="FFFFFF"/>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717536" y="5374386"/>
            <a:ext cx="3858768" cy="651510"/>
          </a:xfrm>
          <a:prstGeom prst="rect">
            <a:avLst/>
          </a:prstGeom>
          <a:noFill/>
        </p:spPr>
        <p:txBody>
          <a:bodyPr wrap="square" lIns="0" rIns="0" tIns="0" bIns="0">
            <a:spAutoFit/>
          </a:bodyPr>
          <a:lstStyle/>
          <a:p>
            <a:pPr>
              <a:lnSpc>
                <a:spcPct val="108000"/>
              </a:lnSpc>
              <a:spcAft>
                <a:spcPts val="400"/>
              </a:spcAft>
              <a:defRPr sz="1700" b="0">
                <a:solidFill>
                  <a:srgbClr val="182B40"/>
                </a:solidFill>
                <a:latin typeface="Arial"/>
              </a:defRPr>
            </a:pPr>
            <a:r>
              <a:t>What is always loaded, selected or recalled?</a:t>
            </a:r>
          </a:p>
        </p:txBody>
      </p:sp>
      <p:sp>
        <p:nvSpPr>
          <p:cNvPr id="37" name="Rectangle 36"/>
          <p:cNvSpPr/>
          <p:nvPr/>
        </p:nvSpPr>
        <p:spPr>
          <a:xfrm>
            <a:off x="457200" y="6355080"/>
            <a:ext cx="11247120" cy="10972"/>
          </a:xfrm>
          <a:prstGeom prst="rect">
            <a:avLst/>
          </a:prstGeom>
          <a:solidFill>
            <a:srgbClr val="D4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57200" y="6492240"/>
            <a:ext cx="4572000" cy="201168"/>
          </a:xfrm>
          <a:prstGeom prst="rect">
            <a:avLst/>
          </a:prstGeom>
          <a:noFill/>
        </p:spPr>
        <p:txBody>
          <a:bodyPr wrap="square" lIns="0" rIns="0" tIns="0" bIns="0">
            <a:spAutoFit/>
          </a:bodyPr>
          <a:lstStyle/>
          <a:p>
            <a:pPr>
              <a:lnSpc>
                <a:spcPct val="108000"/>
              </a:lnSpc>
              <a:spcAft>
                <a:spcPts val="400"/>
              </a:spcAft>
              <a:defRPr sz="1000" b="0">
                <a:solidFill>
                  <a:srgbClr val="536477"/>
                </a:solidFill>
                <a:latin typeface="Arial"/>
              </a:defRPr>
            </a:pPr>
            <a:r>
              <a:t>1:00–3:00   |   2:00 allocation</a:t>
            </a:r>
          </a:p>
        </p:txBody>
      </p:sp>
      <p:sp>
        <p:nvSpPr>
          <p:cNvPr id="39" name="TextBox 38"/>
          <p:cNvSpPr txBox="1"/>
          <p:nvPr/>
        </p:nvSpPr>
        <p:spPr>
          <a:xfrm>
            <a:off x="10835640" y="6492240"/>
            <a:ext cx="868680" cy="201168"/>
          </a:xfrm>
          <a:prstGeom prst="rect">
            <a:avLst/>
          </a:prstGeom>
          <a:noFill/>
        </p:spPr>
        <p:txBody>
          <a:bodyPr wrap="square" lIns="0" rIns="0" tIns="0" bIns="0">
            <a:spAutoFit/>
          </a:bodyPr>
          <a:lstStyle/>
          <a:p>
            <a:pPr>
              <a:lnSpc>
                <a:spcPct val="108000"/>
              </a:lnSpc>
              <a:spcAft>
                <a:spcPts val="400"/>
              </a:spcAft>
              <a:defRPr sz="1000" b="0">
                <a:solidFill>
                  <a:srgbClr val="536477"/>
                </a:solidFill>
                <a:latin typeface="Arial"/>
              </a:defRPr>
            </a:pPr>
            <a:r>
              <a:t>02 / 13</a:t>
            </a:r>
          </a:p>
        </p:txBody>
      </p:sp>
      <p:sp>
        <p:nvSpPr>
          <p:cNvPr id="40" name="TextBox 39"/>
          <p:cNvSpPr txBox="1"/>
          <p:nvPr/>
        </p:nvSpPr>
        <p:spPr>
          <a:xfrm>
            <a:off x="4800600" y="6492240"/>
            <a:ext cx="5852160" cy="201168"/>
          </a:xfrm>
          <a:prstGeom prst="rect">
            <a:avLst/>
          </a:prstGeom>
          <a:noFill/>
        </p:spPr>
        <p:txBody>
          <a:bodyPr wrap="square" lIns="0" rIns="0" tIns="0" bIns="0">
            <a:spAutoFit/>
          </a:bodyPr>
          <a:lstStyle/>
          <a:p>
            <a:pPr>
              <a:lnSpc>
                <a:spcPct val="108000"/>
              </a:lnSpc>
              <a:spcAft>
                <a:spcPts val="400"/>
              </a:spcAft>
              <a:defRPr sz="900" b="0">
                <a:solidFill>
                  <a:srgbClr val="536477"/>
                </a:solidFill>
                <a:latin typeface="Arial"/>
              </a:defRPr>
            </a:pPr>
            <a:r>
              <a:t>Sources: create, custom, instructions, memory · full URLs in notes and report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006D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92608"/>
            <a:ext cx="10789920" cy="228600"/>
          </a:xfrm>
          <a:prstGeom prst="rect">
            <a:avLst/>
          </a:prstGeom>
          <a:noFill/>
        </p:spPr>
        <p:txBody>
          <a:bodyPr wrap="square" lIns="0" rIns="0" tIns="0" bIns="0">
            <a:spAutoFit/>
          </a:bodyPr>
          <a:lstStyle/>
          <a:p>
            <a:pPr>
              <a:lnSpc>
                <a:spcPct val="108000"/>
              </a:lnSpc>
              <a:spcAft>
                <a:spcPts val="400"/>
              </a:spcAft>
              <a:defRPr sz="1000" b="1">
                <a:solidFill>
                  <a:srgbClr val="006D76"/>
                </a:solidFill>
                <a:latin typeface="Arial"/>
              </a:defRPr>
            </a:pPr>
            <a:r>
              <a:t>AWS DEVOPS AGENT  /  ENGINEERING REFERENCE</a:t>
            </a:r>
          </a:p>
        </p:txBody>
      </p:sp>
      <p:sp>
        <p:nvSpPr>
          <p:cNvPr id="5" name="TextBox 4"/>
          <p:cNvSpPr txBox="1"/>
          <p:nvPr/>
        </p:nvSpPr>
        <p:spPr>
          <a:xfrm>
            <a:off x="457200" y="713232"/>
            <a:ext cx="11201400" cy="914400"/>
          </a:xfrm>
          <a:prstGeom prst="rect">
            <a:avLst/>
          </a:prstGeom>
          <a:noFill/>
        </p:spPr>
        <p:txBody>
          <a:bodyPr wrap="square" lIns="0" rIns="0" tIns="0" bIns="0">
            <a:spAutoFit/>
          </a:bodyPr>
          <a:lstStyle/>
          <a:p>
            <a:pPr>
              <a:lnSpc>
                <a:spcPct val="108000"/>
              </a:lnSpc>
              <a:spcAft>
                <a:spcPts val="400"/>
              </a:spcAft>
              <a:defRPr sz="2900" b="1">
                <a:solidFill>
                  <a:srgbClr val="182B40"/>
                </a:solidFill>
                <a:latin typeface="Arial"/>
              </a:defRPr>
            </a:pPr>
            <a:r>
              <a:t>The functional map</a:t>
            </a:r>
          </a:p>
        </p:txBody>
      </p:sp>
      <p:sp>
        <p:nvSpPr>
          <p:cNvPr id="6" name="TextBox 5"/>
          <p:cNvSpPr txBox="1"/>
          <p:nvPr/>
        </p:nvSpPr>
        <p:spPr>
          <a:xfrm>
            <a:off x="457200" y="1773936"/>
            <a:ext cx="11109960" cy="475488"/>
          </a:xfrm>
          <a:prstGeom prst="rect">
            <a:avLst/>
          </a:prstGeom>
          <a:noFill/>
        </p:spPr>
        <p:txBody>
          <a:bodyPr wrap="square" lIns="0" rIns="0" tIns="0" bIns="0">
            <a:spAutoFit/>
          </a:bodyPr>
          <a:lstStyle/>
          <a:p>
            <a:pPr>
              <a:lnSpc>
                <a:spcPct val="108000"/>
              </a:lnSpc>
              <a:spcAft>
                <a:spcPts val="400"/>
              </a:spcAft>
              <a:defRPr sz="1700" b="0">
                <a:solidFill>
                  <a:srgbClr val="006D76"/>
                </a:solidFill>
                <a:latin typeface="Arial"/>
              </a:defRPr>
            </a:pPr>
            <a:r>
              <a:t>Group by product responsibility; do not label an example incident as a capability.</a:t>
            </a:r>
          </a:p>
        </p:txBody>
      </p:sp>
      <p:sp>
        <p:nvSpPr>
          <p:cNvPr id="7" name="Rectangle 6"/>
          <p:cNvSpPr/>
          <p:nvPr/>
        </p:nvSpPr>
        <p:spPr>
          <a:xfrm>
            <a:off x="457200" y="2331720"/>
            <a:ext cx="3017520" cy="502920"/>
          </a:xfrm>
          <a:prstGeom prst="rect">
            <a:avLst/>
          </a:prstGeom>
          <a:solidFill>
            <a:srgbClr val="1128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 y="2441448"/>
            <a:ext cx="2761487" cy="356616"/>
          </a:xfrm>
          <a:prstGeom prst="rect">
            <a:avLst/>
          </a:prstGeom>
          <a:noFill/>
        </p:spPr>
        <p:txBody>
          <a:bodyPr wrap="square" lIns="0" rIns="0" tIns="0" bIns="0">
            <a:spAutoFit/>
          </a:bodyPr>
          <a:lstStyle/>
          <a:p>
            <a:pPr>
              <a:lnSpc>
                <a:spcPct val="108000"/>
              </a:lnSpc>
              <a:spcAft>
                <a:spcPts val="400"/>
              </a:spcAft>
              <a:defRPr sz="1500" b="1">
                <a:solidFill>
                  <a:srgbClr val="FFFFFF"/>
                </a:solidFill>
                <a:latin typeface="Arial"/>
              </a:defRPr>
            </a:pPr>
            <a:r>
              <a:t>Area</a:t>
            </a:r>
          </a:p>
        </p:txBody>
      </p:sp>
      <p:sp>
        <p:nvSpPr>
          <p:cNvPr id="9" name="Rectangle 8"/>
          <p:cNvSpPr/>
          <p:nvPr/>
        </p:nvSpPr>
        <p:spPr>
          <a:xfrm>
            <a:off x="3474720" y="2331720"/>
            <a:ext cx="4114800" cy="502920"/>
          </a:xfrm>
          <a:prstGeom prst="rect">
            <a:avLst/>
          </a:prstGeom>
          <a:solidFill>
            <a:srgbClr val="1128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02736" y="2441448"/>
            <a:ext cx="3858768" cy="356616"/>
          </a:xfrm>
          <a:prstGeom prst="rect">
            <a:avLst/>
          </a:prstGeom>
          <a:noFill/>
        </p:spPr>
        <p:txBody>
          <a:bodyPr wrap="square" lIns="0" rIns="0" tIns="0" bIns="0">
            <a:spAutoFit/>
          </a:bodyPr>
          <a:lstStyle/>
          <a:p>
            <a:pPr>
              <a:lnSpc>
                <a:spcPct val="108000"/>
              </a:lnSpc>
              <a:spcAft>
                <a:spcPts val="400"/>
              </a:spcAft>
              <a:defRPr sz="1500" b="1">
                <a:solidFill>
                  <a:srgbClr val="FFFFFF"/>
                </a:solidFill>
                <a:latin typeface="Arial"/>
              </a:defRPr>
            </a:pPr>
            <a:r>
              <a:t>Documented operations</a:t>
            </a:r>
          </a:p>
        </p:txBody>
      </p:sp>
      <p:sp>
        <p:nvSpPr>
          <p:cNvPr id="11" name="Rectangle 10"/>
          <p:cNvSpPr/>
          <p:nvPr/>
        </p:nvSpPr>
        <p:spPr>
          <a:xfrm>
            <a:off x="7589520" y="2331720"/>
            <a:ext cx="4114800" cy="502920"/>
          </a:xfrm>
          <a:prstGeom prst="rect">
            <a:avLst/>
          </a:prstGeom>
          <a:solidFill>
            <a:srgbClr val="1128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17536" y="2441448"/>
            <a:ext cx="3858768" cy="356616"/>
          </a:xfrm>
          <a:prstGeom prst="rect">
            <a:avLst/>
          </a:prstGeom>
          <a:noFill/>
        </p:spPr>
        <p:txBody>
          <a:bodyPr wrap="square" lIns="0" rIns="0" tIns="0" bIns="0">
            <a:spAutoFit/>
          </a:bodyPr>
          <a:lstStyle/>
          <a:p>
            <a:pPr>
              <a:lnSpc>
                <a:spcPct val="108000"/>
              </a:lnSpc>
              <a:spcAft>
                <a:spcPts val="400"/>
              </a:spcAft>
              <a:defRPr sz="1500" b="1">
                <a:solidFill>
                  <a:srgbClr val="FFFFFF"/>
                </a:solidFill>
                <a:latin typeface="Arial"/>
              </a:defRPr>
            </a:pPr>
            <a:r>
              <a:t>Result to inspect</a:t>
            </a:r>
          </a:p>
        </p:txBody>
      </p:sp>
      <p:sp>
        <p:nvSpPr>
          <p:cNvPr id="13" name="Rectangle 12"/>
          <p:cNvSpPr/>
          <p:nvPr/>
        </p:nvSpPr>
        <p:spPr>
          <a:xfrm>
            <a:off x="457200" y="2834639"/>
            <a:ext cx="3017520" cy="645566"/>
          </a:xfrm>
          <a:prstGeom prst="rect">
            <a:avLst/>
          </a:prstGeom>
          <a:solidFill>
            <a:srgbClr val="EDF3F5"/>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85216" y="2953511"/>
            <a:ext cx="2761487" cy="490118"/>
          </a:xfrm>
          <a:prstGeom prst="rect">
            <a:avLst/>
          </a:prstGeom>
          <a:noFill/>
        </p:spPr>
        <p:txBody>
          <a:bodyPr wrap="square" lIns="0" rIns="0" tIns="0" bIns="0">
            <a:spAutoFit/>
          </a:bodyPr>
          <a:lstStyle/>
          <a:p>
            <a:pPr>
              <a:lnSpc>
                <a:spcPct val="108000"/>
              </a:lnSpc>
              <a:spcAft>
                <a:spcPts val="400"/>
              </a:spcAft>
              <a:defRPr sz="1700" b="1">
                <a:solidFill>
                  <a:srgbClr val="182B40"/>
                </a:solidFill>
                <a:latin typeface="Arial"/>
              </a:defRPr>
            </a:pPr>
            <a:r>
              <a:t>Environment</a:t>
            </a:r>
          </a:p>
        </p:txBody>
      </p:sp>
      <p:sp>
        <p:nvSpPr>
          <p:cNvPr id="15" name="Rectangle 14"/>
          <p:cNvSpPr/>
          <p:nvPr/>
        </p:nvSpPr>
        <p:spPr>
          <a:xfrm>
            <a:off x="3474720" y="2834639"/>
            <a:ext cx="4114800" cy="645566"/>
          </a:xfrm>
          <a:prstGeom prst="rect">
            <a:avLst/>
          </a:prstGeom>
          <a:solidFill>
            <a:srgbClr val="EDF3F5"/>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2736" y="2953511"/>
            <a:ext cx="3858768" cy="490118"/>
          </a:xfrm>
          <a:prstGeom prst="rect">
            <a:avLst/>
          </a:prstGeom>
          <a:noFill/>
        </p:spPr>
        <p:txBody>
          <a:bodyPr wrap="square" lIns="0" rIns="0" tIns="0" bIns="0">
            <a:spAutoFit/>
          </a:bodyPr>
          <a:lstStyle/>
          <a:p>
            <a:pPr>
              <a:lnSpc>
                <a:spcPct val="108000"/>
              </a:lnSpc>
              <a:spcAft>
                <a:spcPts val="400"/>
              </a:spcAft>
              <a:defRPr sz="1700" b="0">
                <a:solidFill>
                  <a:srgbClr val="182B40"/>
                </a:solidFill>
                <a:latin typeface="Arial"/>
              </a:defRPr>
            </a:pPr>
            <a:r>
              <a:t>Discover topology; query connected sources</a:t>
            </a:r>
          </a:p>
        </p:txBody>
      </p:sp>
      <p:sp>
        <p:nvSpPr>
          <p:cNvPr id="17" name="Rectangle 16"/>
          <p:cNvSpPr/>
          <p:nvPr/>
        </p:nvSpPr>
        <p:spPr>
          <a:xfrm>
            <a:off x="7589520" y="2834639"/>
            <a:ext cx="4114800" cy="645566"/>
          </a:xfrm>
          <a:prstGeom prst="rect">
            <a:avLst/>
          </a:prstGeom>
          <a:solidFill>
            <a:srgbClr val="EDF3F5"/>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17536" y="2953511"/>
            <a:ext cx="3858768" cy="490118"/>
          </a:xfrm>
          <a:prstGeom prst="rect">
            <a:avLst/>
          </a:prstGeom>
          <a:noFill/>
        </p:spPr>
        <p:txBody>
          <a:bodyPr wrap="square" lIns="0" rIns="0" tIns="0" bIns="0">
            <a:spAutoFit/>
          </a:bodyPr>
          <a:lstStyle/>
          <a:p>
            <a:pPr>
              <a:lnSpc>
                <a:spcPct val="108000"/>
              </a:lnSpc>
              <a:spcAft>
                <a:spcPts val="400"/>
              </a:spcAft>
              <a:defRPr sz="1700" b="0">
                <a:solidFill>
                  <a:srgbClr val="182B40"/>
                </a:solidFill>
                <a:latin typeface="Arial"/>
              </a:defRPr>
            </a:pPr>
            <a:r>
              <a:t>Resource mapping and tool results</a:t>
            </a:r>
          </a:p>
        </p:txBody>
      </p:sp>
      <p:sp>
        <p:nvSpPr>
          <p:cNvPr id="19" name="Rectangle 18"/>
          <p:cNvSpPr/>
          <p:nvPr/>
        </p:nvSpPr>
        <p:spPr>
          <a:xfrm>
            <a:off x="457200" y="3480206"/>
            <a:ext cx="3017520" cy="645566"/>
          </a:xfrm>
          <a:prstGeom prst="rect">
            <a:avLst/>
          </a:prstGeom>
          <a:solidFill>
            <a:srgbClr val="FFFFFF"/>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85216" y="3599078"/>
            <a:ext cx="2761487" cy="490118"/>
          </a:xfrm>
          <a:prstGeom prst="rect">
            <a:avLst/>
          </a:prstGeom>
          <a:noFill/>
        </p:spPr>
        <p:txBody>
          <a:bodyPr wrap="square" lIns="0" rIns="0" tIns="0" bIns="0">
            <a:spAutoFit/>
          </a:bodyPr>
          <a:lstStyle/>
          <a:p>
            <a:pPr>
              <a:lnSpc>
                <a:spcPct val="108000"/>
              </a:lnSpc>
              <a:spcAft>
                <a:spcPts val="400"/>
              </a:spcAft>
              <a:defRPr sz="1700" b="1">
                <a:solidFill>
                  <a:srgbClr val="182B40"/>
                </a:solidFill>
                <a:latin typeface="Arial"/>
              </a:defRPr>
            </a:pPr>
            <a:r>
              <a:t>Incident</a:t>
            </a:r>
          </a:p>
        </p:txBody>
      </p:sp>
      <p:sp>
        <p:nvSpPr>
          <p:cNvPr id="21" name="Rectangle 20"/>
          <p:cNvSpPr/>
          <p:nvPr/>
        </p:nvSpPr>
        <p:spPr>
          <a:xfrm>
            <a:off x="3474720" y="3480206"/>
            <a:ext cx="4114800" cy="645566"/>
          </a:xfrm>
          <a:prstGeom prst="rect">
            <a:avLst/>
          </a:prstGeom>
          <a:solidFill>
            <a:srgbClr val="FFFFFF"/>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02736" y="3599078"/>
            <a:ext cx="3858768" cy="490118"/>
          </a:xfrm>
          <a:prstGeom prst="rect">
            <a:avLst/>
          </a:prstGeom>
          <a:noFill/>
        </p:spPr>
        <p:txBody>
          <a:bodyPr wrap="square" lIns="0" rIns="0" tIns="0" bIns="0">
            <a:spAutoFit/>
          </a:bodyPr>
          <a:lstStyle/>
          <a:p>
            <a:pPr>
              <a:lnSpc>
                <a:spcPct val="108000"/>
              </a:lnSpc>
              <a:spcAft>
                <a:spcPts val="400"/>
              </a:spcAft>
              <a:defRPr sz="1700" b="0">
                <a:solidFill>
                  <a:srgbClr val="182B40"/>
                </a:solidFill>
                <a:latin typeface="Arial"/>
              </a:defRPr>
            </a:pPr>
            <a:r>
              <a:t>Open; triage; investigate; steer/fork; Review</a:t>
            </a:r>
          </a:p>
        </p:txBody>
      </p:sp>
      <p:sp>
        <p:nvSpPr>
          <p:cNvPr id="23" name="Rectangle 22"/>
          <p:cNvSpPr/>
          <p:nvPr/>
        </p:nvSpPr>
        <p:spPr>
          <a:xfrm>
            <a:off x="7589520" y="3480206"/>
            <a:ext cx="4114800" cy="645566"/>
          </a:xfrm>
          <a:prstGeom prst="rect">
            <a:avLst/>
          </a:prstGeom>
          <a:solidFill>
            <a:srgbClr val="FFFFFF"/>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717536" y="3599078"/>
            <a:ext cx="3858768" cy="490118"/>
          </a:xfrm>
          <a:prstGeom prst="rect">
            <a:avLst/>
          </a:prstGeom>
          <a:noFill/>
        </p:spPr>
        <p:txBody>
          <a:bodyPr wrap="square" lIns="0" rIns="0" tIns="0" bIns="0">
            <a:spAutoFit/>
          </a:bodyPr>
          <a:lstStyle/>
          <a:p>
            <a:pPr>
              <a:lnSpc>
                <a:spcPct val="108000"/>
              </a:lnSpc>
              <a:spcAft>
                <a:spcPts val="400"/>
              </a:spcAft>
              <a:defRPr sz="1700" b="0">
                <a:solidFill>
                  <a:srgbClr val="182B40"/>
                </a:solidFill>
                <a:latin typeface="Arial"/>
              </a:defRPr>
            </a:pPr>
            <a:r>
              <a:t>Incident record and separate quality assessment</a:t>
            </a:r>
          </a:p>
        </p:txBody>
      </p:sp>
      <p:sp>
        <p:nvSpPr>
          <p:cNvPr id="25" name="Rectangle 24"/>
          <p:cNvSpPr/>
          <p:nvPr/>
        </p:nvSpPr>
        <p:spPr>
          <a:xfrm>
            <a:off x="457200" y="4125772"/>
            <a:ext cx="3017520" cy="645566"/>
          </a:xfrm>
          <a:prstGeom prst="rect">
            <a:avLst/>
          </a:prstGeom>
          <a:solidFill>
            <a:srgbClr val="EDF3F5"/>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85216" y="4244644"/>
            <a:ext cx="2761487" cy="490118"/>
          </a:xfrm>
          <a:prstGeom prst="rect">
            <a:avLst/>
          </a:prstGeom>
          <a:noFill/>
        </p:spPr>
        <p:txBody>
          <a:bodyPr wrap="square" lIns="0" rIns="0" tIns="0" bIns="0">
            <a:spAutoFit/>
          </a:bodyPr>
          <a:lstStyle/>
          <a:p>
            <a:pPr>
              <a:lnSpc>
                <a:spcPct val="108000"/>
              </a:lnSpc>
              <a:spcAft>
                <a:spcPts val="400"/>
              </a:spcAft>
              <a:defRPr sz="1700" b="1">
                <a:solidFill>
                  <a:srgbClr val="182B40"/>
                </a:solidFill>
                <a:latin typeface="Arial"/>
              </a:defRPr>
            </a:pPr>
            <a:r>
              <a:t>Response</a:t>
            </a:r>
          </a:p>
        </p:txBody>
      </p:sp>
      <p:sp>
        <p:nvSpPr>
          <p:cNvPr id="27" name="Rectangle 26"/>
          <p:cNvSpPr/>
          <p:nvPr/>
        </p:nvSpPr>
        <p:spPr>
          <a:xfrm>
            <a:off x="3474720" y="4125772"/>
            <a:ext cx="4114800" cy="645566"/>
          </a:xfrm>
          <a:prstGeom prst="rect">
            <a:avLst/>
          </a:prstGeom>
          <a:solidFill>
            <a:srgbClr val="EDF3F5"/>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02736" y="4244644"/>
            <a:ext cx="3858768" cy="490118"/>
          </a:xfrm>
          <a:prstGeom prst="rect">
            <a:avLst/>
          </a:prstGeom>
          <a:noFill/>
        </p:spPr>
        <p:txBody>
          <a:bodyPr wrap="square" lIns="0" rIns="0" tIns="0" bIns="0">
            <a:spAutoFit/>
          </a:bodyPr>
          <a:lstStyle/>
          <a:p>
            <a:pPr>
              <a:lnSpc>
                <a:spcPct val="108000"/>
              </a:lnSpc>
              <a:spcAft>
                <a:spcPts val="400"/>
              </a:spcAft>
              <a:defRPr sz="1700" b="0">
                <a:solidFill>
                  <a:srgbClr val="182B40"/>
                </a:solidFill>
                <a:latin typeface="Arial"/>
              </a:defRPr>
            </a:pPr>
            <a:r>
              <a:t>Propose mitigation; approve action; prevention</a:t>
            </a:r>
          </a:p>
        </p:txBody>
      </p:sp>
      <p:sp>
        <p:nvSpPr>
          <p:cNvPr id="29" name="Rectangle 28"/>
          <p:cNvSpPr/>
          <p:nvPr/>
        </p:nvSpPr>
        <p:spPr>
          <a:xfrm>
            <a:off x="7589520" y="4125772"/>
            <a:ext cx="4114800" cy="645566"/>
          </a:xfrm>
          <a:prstGeom prst="rect">
            <a:avLst/>
          </a:prstGeom>
          <a:solidFill>
            <a:srgbClr val="EDF3F5"/>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717536" y="4244644"/>
            <a:ext cx="3858768" cy="490118"/>
          </a:xfrm>
          <a:prstGeom prst="rect">
            <a:avLst/>
          </a:prstGeom>
          <a:noFill/>
        </p:spPr>
        <p:txBody>
          <a:bodyPr wrap="square" lIns="0" rIns="0" tIns="0" bIns="0">
            <a:spAutoFit/>
          </a:bodyPr>
          <a:lstStyle/>
          <a:p>
            <a:pPr>
              <a:lnSpc>
                <a:spcPct val="108000"/>
              </a:lnSpc>
              <a:spcAft>
                <a:spcPts val="400"/>
              </a:spcAft>
              <a:defRPr sz="1700" b="0">
                <a:solidFill>
                  <a:srgbClr val="182B40"/>
                </a:solidFill>
                <a:latin typeface="Arial"/>
              </a:defRPr>
            </a:pPr>
            <a:r>
              <a:t>Proposal, execution record or recommendation</a:t>
            </a:r>
          </a:p>
        </p:txBody>
      </p:sp>
      <p:sp>
        <p:nvSpPr>
          <p:cNvPr id="31" name="Rectangle 30"/>
          <p:cNvSpPr/>
          <p:nvPr/>
        </p:nvSpPr>
        <p:spPr>
          <a:xfrm>
            <a:off x="457200" y="4771339"/>
            <a:ext cx="3017520" cy="645566"/>
          </a:xfrm>
          <a:prstGeom prst="rect">
            <a:avLst/>
          </a:prstGeom>
          <a:solidFill>
            <a:srgbClr val="FFFFFF"/>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85216" y="4890211"/>
            <a:ext cx="2761487" cy="490118"/>
          </a:xfrm>
          <a:prstGeom prst="rect">
            <a:avLst/>
          </a:prstGeom>
          <a:noFill/>
        </p:spPr>
        <p:txBody>
          <a:bodyPr wrap="square" lIns="0" rIns="0" tIns="0" bIns="0">
            <a:spAutoFit/>
          </a:bodyPr>
          <a:lstStyle/>
          <a:p>
            <a:pPr>
              <a:lnSpc>
                <a:spcPct val="108000"/>
              </a:lnSpc>
              <a:spcAft>
                <a:spcPts val="400"/>
              </a:spcAft>
              <a:defRPr sz="1700" b="1">
                <a:solidFill>
                  <a:srgbClr val="182B40"/>
                </a:solidFill>
                <a:latin typeface="Arial"/>
              </a:defRPr>
            </a:pPr>
            <a:r>
              <a:t>Automation</a:t>
            </a:r>
          </a:p>
        </p:txBody>
      </p:sp>
      <p:sp>
        <p:nvSpPr>
          <p:cNvPr id="33" name="Rectangle 32"/>
          <p:cNvSpPr/>
          <p:nvPr/>
        </p:nvSpPr>
        <p:spPr>
          <a:xfrm>
            <a:off x="3474720" y="4771339"/>
            <a:ext cx="4114800" cy="645566"/>
          </a:xfrm>
          <a:prstGeom prst="rect">
            <a:avLst/>
          </a:prstGeom>
          <a:solidFill>
            <a:srgbClr val="FFFFFF"/>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02736" y="4890211"/>
            <a:ext cx="3858768" cy="490118"/>
          </a:xfrm>
          <a:prstGeom prst="rect">
            <a:avLst/>
          </a:prstGeom>
          <a:noFill/>
        </p:spPr>
        <p:txBody>
          <a:bodyPr wrap="square" lIns="0" rIns="0" tIns="0" bIns="0">
            <a:spAutoFit/>
          </a:bodyPr>
          <a:lstStyle/>
          <a:p>
            <a:pPr>
              <a:lnSpc>
                <a:spcPct val="108000"/>
              </a:lnSpc>
              <a:spcAft>
                <a:spcPts val="400"/>
              </a:spcAft>
              <a:defRPr sz="1700" b="0">
                <a:solidFill>
                  <a:srgbClr val="182B40"/>
                </a:solidFill>
                <a:latin typeface="Arial"/>
              </a:defRPr>
            </a:pPr>
            <a:r>
              <a:t>Run a configured custom agent; channel delivery</a:t>
            </a:r>
          </a:p>
        </p:txBody>
      </p:sp>
      <p:sp>
        <p:nvSpPr>
          <p:cNvPr id="35" name="Rectangle 34"/>
          <p:cNvSpPr/>
          <p:nvPr/>
        </p:nvSpPr>
        <p:spPr>
          <a:xfrm>
            <a:off x="7589520" y="4771339"/>
            <a:ext cx="4114800" cy="645566"/>
          </a:xfrm>
          <a:prstGeom prst="rect">
            <a:avLst/>
          </a:prstGeom>
          <a:solidFill>
            <a:srgbClr val="FFFFFF"/>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717536" y="4890211"/>
            <a:ext cx="3858768" cy="490118"/>
          </a:xfrm>
          <a:prstGeom prst="rect">
            <a:avLst/>
          </a:prstGeom>
          <a:noFill/>
        </p:spPr>
        <p:txBody>
          <a:bodyPr wrap="square" lIns="0" rIns="0" tIns="0" bIns="0">
            <a:spAutoFit/>
          </a:bodyPr>
          <a:lstStyle/>
          <a:p>
            <a:pPr>
              <a:lnSpc>
                <a:spcPct val="108000"/>
              </a:lnSpc>
              <a:spcAft>
                <a:spcPts val="400"/>
              </a:spcAft>
              <a:defRPr sz="1700" b="0">
                <a:solidFill>
                  <a:srgbClr val="182B40"/>
                </a:solidFill>
                <a:latin typeface="Arial"/>
              </a:defRPr>
            </a:pPr>
            <a:r>
              <a:t>Invocation trajectory or delivered message</a:t>
            </a:r>
          </a:p>
        </p:txBody>
      </p:sp>
      <p:sp>
        <p:nvSpPr>
          <p:cNvPr id="37" name="Rectangle 36"/>
          <p:cNvSpPr/>
          <p:nvPr/>
        </p:nvSpPr>
        <p:spPr>
          <a:xfrm>
            <a:off x="457200" y="5416905"/>
            <a:ext cx="3017520" cy="645566"/>
          </a:xfrm>
          <a:prstGeom prst="rect">
            <a:avLst/>
          </a:prstGeom>
          <a:solidFill>
            <a:srgbClr val="EDF3F5"/>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85216" y="5535777"/>
            <a:ext cx="2761487" cy="490118"/>
          </a:xfrm>
          <a:prstGeom prst="rect">
            <a:avLst/>
          </a:prstGeom>
          <a:noFill/>
        </p:spPr>
        <p:txBody>
          <a:bodyPr wrap="square" lIns="0" rIns="0" tIns="0" bIns="0">
            <a:spAutoFit/>
          </a:bodyPr>
          <a:lstStyle/>
          <a:p>
            <a:pPr>
              <a:lnSpc>
                <a:spcPct val="108000"/>
              </a:lnSpc>
              <a:spcAft>
                <a:spcPts val="400"/>
              </a:spcAft>
              <a:defRPr sz="1700" b="1">
                <a:solidFill>
                  <a:srgbClr val="182B40"/>
                </a:solidFill>
                <a:latin typeface="Arial"/>
              </a:defRPr>
            </a:pPr>
            <a:r>
              <a:t>Release — preview</a:t>
            </a:r>
          </a:p>
        </p:txBody>
      </p:sp>
      <p:sp>
        <p:nvSpPr>
          <p:cNvPr id="39" name="Rectangle 38"/>
          <p:cNvSpPr/>
          <p:nvPr/>
        </p:nvSpPr>
        <p:spPr>
          <a:xfrm>
            <a:off x="3474720" y="5416905"/>
            <a:ext cx="4114800" cy="645566"/>
          </a:xfrm>
          <a:prstGeom prst="rect">
            <a:avLst/>
          </a:prstGeom>
          <a:solidFill>
            <a:srgbClr val="EDF3F5"/>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02736" y="5535777"/>
            <a:ext cx="3858768" cy="490118"/>
          </a:xfrm>
          <a:prstGeom prst="rect">
            <a:avLst/>
          </a:prstGeom>
          <a:noFill/>
        </p:spPr>
        <p:txBody>
          <a:bodyPr wrap="square" lIns="0" rIns="0" tIns="0" bIns="0">
            <a:spAutoFit/>
          </a:bodyPr>
          <a:lstStyle/>
          <a:p>
            <a:pPr>
              <a:lnSpc>
                <a:spcPct val="108000"/>
              </a:lnSpc>
              <a:spcAft>
                <a:spcPts val="400"/>
              </a:spcAft>
              <a:defRPr sz="1700" b="0">
                <a:solidFill>
                  <a:srgbClr val="182B40"/>
                </a:solidFill>
                <a:latin typeface="Arial"/>
              </a:defRPr>
            </a:pPr>
            <a:r>
              <a:t>Review code; test a running UI/API</a:t>
            </a:r>
          </a:p>
        </p:txBody>
      </p:sp>
      <p:sp>
        <p:nvSpPr>
          <p:cNvPr id="41" name="Rectangle 40"/>
          <p:cNvSpPr/>
          <p:nvPr/>
        </p:nvSpPr>
        <p:spPr>
          <a:xfrm>
            <a:off x="7589520" y="5416905"/>
            <a:ext cx="4114800" cy="645566"/>
          </a:xfrm>
          <a:prstGeom prst="rect">
            <a:avLst/>
          </a:prstGeom>
          <a:solidFill>
            <a:srgbClr val="EDF3F5"/>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717536" y="5535777"/>
            <a:ext cx="3858768" cy="490118"/>
          </a:xfrm>
          <a:prstGeom prst="rect">
            <a:avLst/>
          </a:prstGeom>
          <a:noFill/>
        </p:spPr>
        <p:txBody>
          <a:bodyPr wrap="square" lIns="0" rIns="0" tIns="0" bIns="0">
            <a:spAutoFit/>
          </a:bodyPr>
          <a:lstStyle/>
          <a:p>
            <a:pPr>
              <a:lnSpc>
                <a:spcPct val="108000"/>
              </a:lnSpc>
              <a:spcAft>
                <a:spcPts val="400"/>
              </a:spcAft>
              <a:defRPr sz="1700" b="0">
                <a:solidFill>
                  <a:srgbClr val="182B40"/>
                </a:solidFill>
                <a:latin typeface="Arial"/>
              </a:defRPr>
            </a:pPr>
            <a:r>
              <a:t>Readiness report or executed test evidence</a:t>
            </a:r>
          </a:p>
        </p:txBody>
      </p:sp>
      <p:sp>
        <p:nvSpPr>
          <p:cNvPr id="43" name="Rectangle 42"/>
          <p:cNvSpPr/>
          <p:nvPr/>
        </p:nvSpPr>
        <p:spPr>
          <a:xfrm>
            <a:off x="457200" y="6355080"/>
            <a:ext cx="11247120" cy="10972"/>
          </a:xfrm>
          <a:prstGeom prst="rect">
            <a:avLst/>
          </a:prstGeom>
          <a:solidFill>
            <a:srgbClr val="D4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57200" y="6492240"/>
            <a:ext cx="4572000" cy="201168"/>
          </a:xfrm>
          <a:prstGeom prst="rect">
            <a:avLst/>
          </a:prstGeom>
          <a:noFill/>
        </p:spPr>
        <p:txBody>
          <a:bodyPr wrap="square" lIns="0" rIns="0" tIns="0" bIns="0">
            <a:spAutoFit/>
          </a:bodyPr>
          <a:lstStyle/>
          <a:p>
            <a:pPr>
              <a:lnSpc>
                <a:spcPct val="108000"/>
              </a:lnSpc>
              <a:spcAft>
                <a:spcPts val="400"/>
              </a:spcAft>
              <a:defRPr sz="1000" b="0">
                <a:solidFill>
                  <a:srgbClr val="536477"/>
                </a:solidFill>
                <a:latin typeface="Arial"/>
              </a:defRPr>
            </a:pPr>
            <a:r>
              <a:t>3:00–5:00   |   2:00 allocation</a:t>
            </a:r>
          </a:p>
        </p:txBody>
      </p:sp>
      <p:sp>
        <p:nvSpPr>
          <p:cNvPr id="45" name="TextBox 44"/>
          <p:cNvSpPr txBox="1"/>
          <p:nvPr/>
        </p:nvSpPr>
        <p:spPr>
          <a:xfrm>
            <a:off x="10835640" y="6492240"/>
            <a:ext cx="868680" cy="201168"/>
          </a:xfrm>
          <a:prstGeom prst="rect">
            <a:avLst/>
          </a:prstGeom>
          <a:noFill/>
        </p:spPr>
        <p:txBody>
          <a:bodyPr wrap="square" lIns="0" rIns="0" tIns="0" bIns="0">
            <a:spAutoFit/>
          </a:bodyPr>
          <a:lstStyle/>
          <a:p>
            <a:pPr>
              <a:lnSpc>
                <a:spcPct val="108000"/>
              </a:lnSpc>
              <a:spcAft>
                <a:spcPts val="400"/>
              </a:spcAft>
              <a:defRPr sz="1000" b="0">
                <a:solidFill>
                  <a:srgbClr val="536477"/>
                </a:solidFill>
                <a:latin typeface="Arial"/>
              </a:defRPr>
            </a:pPr>
            <a:r>
              <a:t>03 / 13</a:t>
            </a:r>
          </a:p>
        </p:txBody>
      </p:sp>
      <p:sp>
        <p:nvSpPr>
          <p:cNvPr id="46" name="TextBox 45"/>
          <p:cNvSpPr txBox="1"/>
          <p:nvPr/>
        </p:nvSpPr>
        <p:spPr>
          <a:xfrm>
            <a:off x="4800600" y="6492240"/>
            <a:ext cx="5852160" cy="201168"/>
          </a:xfrm>
          <a:prstGeom prst="rect">
            <a:avLst/>
          </a:prstGeom>
          <a:noFill/>
        </p:spPr>
        <p:txBody>
          <a:bodyPr wrap="square" lIns="0" rIns="0" tIns="0" bIns="0">
            <a:spAutoFit/>
          </a:bodyPr>
          <a:lstStyle/>
          <a:p>
            <a:pPr>
              <a:lnSpc>
                <a:spcPct val="108000"/>
              </a:lnSpc>
              <a:spcAft>
                <a:spcPts val="400"/>
              </a:spcAft>
              <a:defRPr sz="900" b="0">
                <a:solidFill>
                  <a:srgbClr val="536477"/>
                </a:solidFill>
                <a:latin typeface="Arial"/>
              </a:defRPr>
            </a:pPr>
            <a:r>
              <a:t>Sources: incident, review, actions, prevention, custom, release · full URLs in notes and report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006D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92608"/>
            <a:ext cx="10789920" cy="228600"/>
          </a:xfrm>
          <a:prstGeom prst="rect">
            <a:avLst/>
          </a:prstGeom>
          <a:noFill/>
        </p:spPr>
        <p:txBody>
          <a:bodyPr wrap="square" lIns="0" rIns="0" tIns="0" bIns="0">
            <a:spAutoFit/>
          </a:bodyPr>
          <a:lstStyle/>
          <a:p>
            <a:pPr>
              <a:lnSpc>
                <a:spcPct val="108000"/>
              </a:lnSpc>
              <a:spcAft>
                <a:spcPts val="400"/>
              </a:spcAft>
              <a:defRPr sz="1000" b="1">
                <a:solidFill>
                  <a:srgbClr val="006D76"/>
                </a:solidFill>
                <a:latin typeface="Arial"/>
              </a:defRPr>
            </a:pPr>
            <a:r>
              <a:t>AWS DEVOPS AGENT  /  ENGINEERING REFERENCE</a:t>
            </a:r>
          </a:p>
        </p:txBody>
      </p:sp>
      <p:sp>
        <p:nvSpPr>
          <p:cNvPr id="5" name="TextBox 4"/>
          <p:cNvSpPr txBox="1"/>
          <p:nvPr/>
        </p:nvSpPr>
        <p:spPr>
          <a:xfrm>
            <a:off x="457200" y="713232"/>
            <a:ext cx="11201400" cy="914400"/>
          </a:xfrm>
          <a:prstGeom prst="rect">
            <a:avLst/>
          </a:prstGeom>
          <a:noFill/>
        </p:spPr>
        <p:txBody>
          <a:bodyPr wrap="square" lIns="0" rIns="0" tIns="0" bIns="0">
            <a:spAutoFit/>
          </a:bodyPr>
          <a:lstStyle/>
          <a:p>
            <a:pPr>
              <a:lnSpc>
                <a:spcPct val="108000"/>
              </a:lnSpc>
              <a:spcAft>
                <a:spcPts val="400"/>
              </a:spcAft>
              <a:defRPr sz="2900" b="1">
                <a:solidFill>
                  <a:srgbClr val="182B40"/>
                </a:solidFill>
                <a:latin typeface="Arial"/>
              </a:defRPr>
            </a:pPr>
            <a:r>
              <a:t>Accessible evidence is not necessarily inspected evidence</a:t>
            </a:r>
          </a:p>
        </p:txBody>
      </p:sp>
      <p:sp>
        <p:nvSpPr>
          <p:cNvPr id="6" name="TextBox 5"/>
          <p:cNvSpPr txBox="1"/>
          <p:nvPr/>
        </p:nvSpPr>
        <p:spPr>
          <a:xfrm>
            <a:off x="457200" y="1773936"/>
            <a:ext cx="11109960" cy="475488"/>
          </a:xfrm>
          <a:prstGeom prst="rect">
            <a:avLst/>
          </a:prstGeom>
          <a:noFill/>
        </p:spPr>
        <p:txBody>
          <a:bodyPr wrap="square" lIns="0" rIns="0" tIns="0" bIns="0">
            <a:spAutoFit/>
          </a:bodyPr>
          <a:lstStyle/>
          <a:p>
            <a:pPr>
              <a:lnSpc>
                <a:spcPct val="108000"/>
              </a:lnSpc>
              <a:spcAft>
                <a:spcPts val="400"/>
              </a:spcAft>
              <a:defRPr sz="1700" b="0">
                <a:solidFill>
                  <a:srgbClr val="006D76"/>
                </a:solidFill>
                <a:latin typeface="Arial"/>
              </a:defRPr>
            </a:pPr>
            <a:r>
              <a:t>Trace a material conclusion back through the query, source and permission boundary.</a:t>
            </a:r>
          </a:p>
        </p:txBody>
      </p:sp>
      <p:sp>
        <p:nvSpPr>
          <p:cNvPr id="7" name="Rectangle 6"/>
          <p:cNvSpPr/>
          <p:nvPr/>
        </p:nvSpPr>
        <p:spPr>
          <a:xfrm>
            <a:off x="457200" y="2514600"/>
            <a:ext cx="2688336" cy="2697480"/>
          </a:xfrm>
          <a:prstGeom prst="rect">
            <a:avLst/>
          </a:prstGeom>
          <a:solidFill>
            <a:srgbClr val="ED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2514600"/>
            <a:ext cx="2688336" cy="64008"/>
          </a:xfrm>
          <a:prstGeom prst="rect">
            <a:avLst/>
          </a:prstGeom>
          <a:solidFill>
            <a:srgbClr val="006D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1792" y="2715768"/>
            <a:ext cx="2359152" cy="274320"/>
          </a:xfrm>
          <a:prstGeom prst="rect">
            <a:avLst/>
          </a:prstGeom>
          <a:noFill/>
        </p:spPr>
        <p:txBody>
          <a:bodyPr wrap="square" lIns="0" rIns="0" tIns="0" bIns="0">
            <a:spAutoFit/>
          </a:bodyPr>
          <a:lstStyle/>
          <a:p>
            <a:pPr>
              <a:lnSpc>
                <a:spcPct val="108000"/>
              </a:lnSpc>
              <a:spcAft>
                <a:spcPts val="400"/>
              </a:spcAft>
              <a:defRPr sz="1200" b="1">
                <a:solidFill>
                  <a:srgbClr val="006D76"/>
                </a:solidFill>
                <a:latin typeface="Arial"/>
              </a:defRPr>
            </a:pPr>
            <a:r>
              <a:t>01</a:t>
            </a:r>
          </a:p>
        </p:txBody>
      </p:sp>
      <p:sp>
        <p:nvSpPr>
          <p:cNvPr id="10" name="TextBox 9"/>
          <p:cNvSpPr txBox="1"/>
          <p:nvPr/>
        </p:nvSpPr>
        <p:spPr>
          <a:xfrm>
            <a:off x="621792" y="3154679"/>
            <a:ext cx="2359152" cy="640080"/>
          </a:xfrm>
          <a:prstGeom prst="rect">
            <a:avLst/>
          </a:prstGeom>
          <a:noFill/>
        </p:spPr>
        <p:txBody>
          <a:bodyPr wrap="square" lIns="0" rIns="0" tIns="0" bIns="0">
            <a:spAutoFit/>
          </a:bodyPr>
          <a:lstStyle/>
          <a:p>
            <a:pPr>
              <a:lnSpc>
                <a:spcPct val="108000"/>
              </a:lnSpc>
              <a:spcAft>
                <a:spcPts val="400"/>
              </a:spcAft>
              <a:defRPr sz="2100" b="1">
                <a:solidFill>
                  <a:srgbClr val="182B40"/>
                </a:solidFill>
                <a:latin typeface="Arial"/>
              </a:defRPr>
            </a:pPr>
            <a:r>
              <a:t>Scope</a:t>
            </a:r>
          </a:p>
        </p:txBody>
      </p:sp>
      <p:sp>
        <p:nvSpPr>
          <p:cNvPr id="11" name="TextBox 10"/>
          <p:cNvSpPr txBox="1"/>
          <p:nvPr/>
        </p:nvSpPr>
        <p:spPr>
          <a:xfrm>
            <a:off x="621792" y="3858768"/>
            <a:ext cx="2359152" cy="1024128"/>
          </a:xfrm>
          <a:prstGeom prst="rect">
            <a:avLst/>
          </a:prstGeom>
          <a:noFill/>
        </p:spPr>
        <p:txBody>
          <a:bodyPr wrap="square" lIns="0" rIns="0" tIns="0" bIns="0">
            <a:spAutoFit/>
          </a:bodyPr>
          <a:lstStyle/>
          <a:p>
            <a:pPr>
              <a:lnSpc>
                <a:spcPct val="108000"/>
              </a:lnSpc>
              <a:spcAft>
                <a:spcPts val="400"/>
              </a:spcAft>
              <a:defRPr sz="1800" b="0">
                <a:solidFill>
                  <a:srgbClr val="182B40"/>
                </a:solidFill>
                <a:latin typeface="Arial"/>
              </a:defRPr>
            </a:pPr>
            <a:r>
              <a:t>Alarm/resource ID; account; region; UTC interval</a:t>
            </a:r>
          </a:p>
        </p:txBody>
      </p:sp>
      <p:sp>
        <p:nvSpPr>
          <p:cNvPr id="12" name="Rectangle 11"/>
          <p:cNvSpPr/>
          <p:nvPr/>
        </p:nvSpPr>
        <p:spPr>
          <a:xfrm>
            <a:off x="3310128" y="2514600"/>
            <a:ext cx="2688336" cy="2697480"/>
          </a:xfrm>
          <a:prstGeom prst="rect">
            <a:avLst/>
          </a:prstGeom>
          <a:solidFill>
            <a:srgbClr val="ED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10128" y="2514600"/>
            <a:ext cx="2688336" cy="64008"/>
          </a:xfrm>
          <a:prstGeom prst="rect">
            <a:avLst/>
          </a:prstGeom>
          <a:solidFill>
            <a:srgbClr val="006D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474720" y="2715768"/>
            <a:ext cx="2359152" cy="274320"/>
          </a:xfrm>
          <a:prstGeom prst="rect">
            <a:avLst/>
          </a:prstGeom>
          <a:noFill/>
        </p:spPr>
        <p:txBody>
          <a:bodyPr wrap="square" lIns="0" rIns="0" tIns="0" bIns="0">
            <a:spAutoFit/>
          </a:bodyPr>
          <a:lstStyle/>
          <a:p>
            <a:pPr>
              <a:lnSpc>
                <a:spcPct val="108000"/>
              </a:lnSpc>
              <a:spcAft>
                <a:spcPts val="400"/>
              </a:spcAft>
              <a:defRPr sz="1200" b="1">
                <a:solidFill>
                  <a:srgbClr val="006D76"/>
                </a:solidFill>
                <a:latin typeface="Arial"/>
              </a:defRPr>
            </a:pPr>
            <a:r>
              <a:t>02</a:t>
            </a:r>
          </a:p>
        </p:txBody>
      </p:sp>
      <p:sp>
        <p:nvSpPr>
          <p:cNvPr id="15" name="TextBox 14"/>
          <p:cNvSpPr txBox="1"/>
          <p:nvPr/>
        </p:nvSpPr>
        <p:spPr>
          <a:xfrm>
            <a:off x="3474720" y="3154679"/>
            <a:ext cx="2359152" cy="640080"/>
          </a:xfrm>
          <a:prstGeom prst="rect">
            <a:avLst/>
          </a:prstGeom>
          <a:noFill/>
        </p:spPr>
        <p:txBody>
          <a:bodyPr wrap="square" lIns="0" rIns="0" tIns="0" bIns="0">
            <a:spAutoFit/>
          </a:bodyPr>
          <a:lstStyle/>
          <a:p>
            <a:pPr>
              <a:lnSpc>
                <a:spcPct val="108000"/>
              </a:lnSpc>
              <a:spcAft>
                <a:spcPts val="400"/>
              </a:spcAft>
              <a:defRPr sz="2100" b="1">
                <a:solidFill>
                  <a:srgbClr val="182B40"/>
                </a:solidFill>
                <a:latin typeface="Arial"/>
              </a:defRPr>
            </a:pPr>
            <a:r>
              <a:t>Access</a:t>
            </a:r>
          </a:p>
        </p:txBody>
      </p:sp>
      <p:sp>
        <p:nvSpPr>
          <p:cNvPr id="16" name="TextBox 15"/>
          <p:cNvSpPr txBox="1"/>
          <p:nvPr/>
        </p:nvSpPr>
        <p:spPr>
          <a:xfrm>
            <a:off x="3474720" y="3858768"/>
            <a:ext cx="2359152" cy="1024128"/>
          </a:xfrm>
          <a:prstGeom prst="rect">
            <a:avLst/>
          </a:prstGeom>
          <a:noFill/>
        </p:spPr>
        <p:txBody>
          <a:bodyPr wrap="square" lIns="0" rIns="0" tIns="0" bIns="0">
            <a:spAutoFit/>
          </a:bodyPr>
          <a:lstStyle/>
          <a:p>
            <a:pPr>
              <a:lnSpc>
                <a:spcPct val="108000"/>
              </a:lnSpc>
              <a:spcAft>
                <a:spcPts val="400"/>
              </a:spcAft>
              <a:defRPr sz="1800" b="0">
                <a:solidFill>
                  <a:srgbClr val="182B40"/>
                </a:solidFill>
                <a:latin typeface="Arial"/>
              </a:defRPr>
            </a:pPr>
            <a:r>
              <a:t>Associated integration and effective role permissions</a:t>
            </a:r>
          </a:p>
        </p:txBody>
      </p:sp>
      <p:sp>
        <p:nvSpPr>
          <p:cNvPr id="17" name="Rectangle 16"/>
          <p:cNvSpPr/>
          <p:nvPr/>
        </p:nvSpPr>
        <p:spPr>
          <a:xfrm>
            <a:off x="6163056" y="2514600"/>
            <a:ext cx="2688336" cy="2697480"/>
          </a:xfrm>
          <a:prstGeom prst="rect">
            <a:avLst/>
          </a:prstGeom>
          <a:solidFill>
            <a:srgbClr val="ED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63056" y="2514600"/>
            <a:ext cx="2688336" cy="64008"/>
          </a:xfrm>
          <a:prstGeom prst="rect">
            <a:avLst/>
          </a:prstGeom>
          <a:solidFill>
            <a:srgbClr val="006D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27648" y="2715768"/>
            <a:ext cx="2359152" cy="274320"/>
          </a:xfrm>
          <a:prstGeom prst="rect">
            <a:avLst/>
          </a:prstGeom>
          <a:noFill/>
        </p:spPr>
        <p:txBody>
          <a:bodyPr wrap="square" lIns="0" rIns="0" tIns="0" bIns="0">
            <a:spAutoFit/>
          </a:bodyPr>
          <a:lstStyle/>
          <a:p>
            <a:pPr>
              <a:lnSpc>
                <a:spcPct val="108000"/>
              </a:lnSpc>
              <a:spcAft>
                <a:spcPts val="400"/>
              </a:spcAft>
              <a:defRPr sz="1200" b="1">
                <a:solidFill>
                  <a:srgbClr val="006D76"/>
                </a:solidFill>
                <a:latin typeface="Arial"/>
              </a:defRPr>
            </a:pPr>
            <a:r>
              <a:t>03</a:t>
            </a:r>
          </a:p>
        </p:txBody>
      </p:sp>
      <p:sp>
        <p:nvSpPr>
          <p:cNvPr id="20" name="TextBox 19"/>
          <p:cNvSpPr txBox="1"/>
          <p:nvPr/>
        </p:nvSpPr>
        <p:spPr>
          <a:xfrm>
            <a:off x="6327648" y="3154679"/>
            <a:ext cx="2359152" cy="640080"/>
          </a:xfrm>
          <a:prstGeom prst="rect">
            <a:avLst/>
          </a:prstGeom>
          <a:noFill/>
        </p:spPr>
        <p:txBody>
          <a:bodyPr wrap="square" lIns="0" rIns="0" tIns="0" bIns="0">
            <a:spAutoFit/>
          </a:bodyPr>
          <a:lstStyle/>
          <a:p>
            <a:pPr>
              <a:lnSpc>
                <a:spcPct val="108000"/>
              </a:lnSpc>
              <a:spcAft>
                <a:spcPts val="400"/>
              </a:spcAft>
              <a:defRPr sz="2100" b="1">
                <a:solidFill>
                  <a:srgbClr val="182B40"/>
                </a:solidFill>
                <a:latin typeface="Arial"/>
              </a:defRPr>
            </a:pPr>
            <a:r>
              <a:t>Observation</a:t>
            </a:r>
          </a:p>
        </p:txBody>
      </p:sp>
      <p:sp>
        <p:nvSpPr>
          <p:cNvPr id="21" name="TextBox 20"/>
          <p:cNvSpPr txBox="1"/>
          <p:nvPr/>
        </p:nvSpPr>
        <p:spPr>
          <a:xfrm>
            <a:off x="6327648" y="3858768"/>
            <a:ext cx="2359152" cy="1024128"/>
          </a:xfrm>
          <a:prstGeom prst="rect">
            <a:avLst/>
          </a:prstGeom>
          <a:noFill/>
        </p:spPr>
        <p:txBody>
          <a:bodyPr wrap="square" lIns="0" rIns="0" tIns="0" bIns="0">
            <a:spAutoFit/>
          </a:bodyPr>
          <a:lstStyle/>
          <a:p>
            <a:pPr>
              <a:lnSpc>
                <a:spcPct val="108000"/>
              </a:lnSpc>
              <a:spcAft>
                <a:spcPts val="400"/>
              </a:spcAft>
              <a:defRPr sz="1800" b="0">
                <a:solidFill>
                  <a:srgbClr val="182B40"/>
                </a:solidFill>
                <a:latin typeface="Arial"/>
              </a:defRPr>
            </a:pPr>
            <a:r>
              <a:t>Actual tool query, returned timestamps and identifiers</a:t>
            </a:r>
          </a:p>
        </p:txBody>
      </p:sp>
      <p:sp>
        <p:nvSpPr>
          <p:cNvPr id="22" name="Rectangle 21"/>
          <p:cNvSpPr/>
          <p:nvPr/>
        </p:nvSpPr>
        <p:spPr>
          <a:xfrm>
            <a:off x="9015984" y="2514600"/>
            <a:ext cx="2688336" cy="2697480"/>
          </a:xfrm>
          <a:prstGeom prst="rect">
            <a:avLst/>
          </a:prstGeom>
          <a:solidFill>
            <a:srgbClr val="ED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015984" y="2514600"/>
            <a:ext cx="2688336" cy="64008"/>
          </a:xfrm>
          <a:prstGeom prst="rect">
            <a:avLst/>
          </a:prstGeom>
          <a:solidFill>
            <a:srgbClr val="006D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80576" y="2715768"/>
            <a:ext cx="2359152" cy="274320"/>
          </a:xfrm>
          <a:prstGeom prst="rect">
            <a:avLst/>
          </a:prstGeom>
          <a:noFill/>
        </p:spPr>
        <p:txBody>
          <a:bodyPr wrap="square" lIns="0" rIns="0" tIns="0" bIns="0">
            <a:spAutoFit/>
          </a:bodyPr>
          <a:lstStyle/>
          <a:p>
            <a:pPr>
              <a:lnSpc>
                <a:spcPct val="108000"/>
              </a:lnSpc>
              <a:spcAft>
                <a:spcPts val="400"/>
              </a:spcAft>
              <a:defRPr sz="1200" b="1">
                <a:solidFill>
                  <a:srgbClr val="006D76"/>
                </a:solidFill>
                <a:latin typeface="Arial"/>
              </a:defRPr>
            </a:pPr>
            <a:r>
              <a:t>04</a:t>
            </a:r>
          </a:p>
        </p:txBody>
      </p:sp>
      <p:sp>
        <p:nvSpPr>
          <p:cNvPr id="25" name="TextBox 24"/>
          <p:cNvSpPr txBox="1"/>
          <p:nvPr/>
        </p:nvSpPr>
        <p:spPr>
          <a:xfrm>
            <a:off x="9180576" y="3154679"/>
            <a:ext cx="2359152" cy="640080"/>
          </a:xfrm>
          <a:prstGeom prst="rect">
            <a:avLst/>
          </a:prstGeom>
          <a:noFill/>
        </p:spPr>
        <p:txBody>
          <a:bodyPr wrap="square" lIns="0" rIns="0" tIns="0" bIns="0">
            <a:spAutoFit/>
          </a:bodyPr>
          <a:lstStyle/>
          <a:p>
            <a:pPr>
              <a:lnSpc>
                <a:spcPct val="108000"/>
              </a:lnSpc>
              <a:spcAft>
                <a:spcPts val="400"/>
              </a:spcAft>
              <a:defRPr sz="2100" b="1">
                <a:solidFill>
                  <a:srgbClr val="182B40"/>
                </a:solidFill>
                <a:latin typeface="Arial"/>
              </a:defRPr>
            </a:pPr>
            <a:r>
              <a:t>Conclusion</a:t>
            </a:r>
          </a:p>
        </p:txBody>
      </p:sp>
      <p:sp>
        <p:nvSpPr>
          <p:cNvPr id="26" name="TextBox 25"/>
          <p:cNvSpPr txBox="1"/>
          <p:nvPr/>
        </p:nvSpPr>
        <p:spPr>
          <a:xfrm>
            <a:off x="9180576" y="3858768"/>
            <a:ext cx="2359152" cy="1024128"/>
          </a:xfrm>
          <a:prstGeom prst="rect">
            <a:avLst/>
          </a:prstGeom>
          <a:noFill/>
        </p:spPr>
        <p:txBody>
          <a:bodyPr wrap="square" lIns="0" rIns="0" tIns="0" bIns="0">
            <a:spAutoFit/>
          </a:bodyPr>
          <a:lstStyle/>
          <a:p>
            <a:pPr>
              <a:lnSpc>
                <a:spcPct val="108000"/>
              </a:lnSpc>
              <a:spcAft>
                <a:spcPts val="400"/>
              </a:spcAft>
              <a:defRPr sz="1800" b="0">
                <a:solidFill>
                  <a:srgbClr val="182B40"/>
                </a:solidFill>
                <a:latin typeface="Arial"/>
              </a:defRPr>
            </a:pPr>
            <a:r>
              <a:t>Hypothesis supported by the current result</a:t>
            </a:r>
          </a:p>
        </p:txBody>
      </p:sp>
      <p:sp>
        <p:nvSpPr>
          <p:cNvPr id="27" name="Rectangle 26"/>
          <p:cNvSpPr/>
          <p:nvPr/>
        </p:nvSpPr>
        <p:spPr>
          <a:xfrm>
            <a:off x="457200" y="5715000"/>
            <a:ext cx="11247120" cy="429768"/>
          </a:xfrm>
          <a:prstGeom prst="rect">
            <a:avLst/>
          </a:prstGeom>
          <a:solidFill>
            <a:srgbClr val="1128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4360" y="5797296"/>
            <a:ext cx="10972800" cy="274320"/>
          </a:xfrm>
          <a:prstGeom prst="rect">
            <a:avLst/>
          </a:prstGeom>
          <a:noFill/>
        </p:spPr>
        <p:txBody>
          <a:bodyPr wrap="square" lIns="0" rIns="0" tIns="0" bIns="0">
            <a:spAutoFit/>
          </a:bodyPr>
          <a:lstStyle/>
          <a:p>
            <a:pPr>
              <a:lnSpc>
                <a:spcPct val="108000"/>
              </a:lnSpc>
              <a:spcAft>
                <a:spcPts val="400"/>
              </a:spcAft>
              <a:defRPr sz="1200" b="1">
                <a:solidFill>
                  <a:srgbClr val="FFFFFF"/>
                </a:solidFill>
                <a:latin typeface="Arial"/>
              </a:defRPr>
            </a:pPr>
            <a:r>
              <a:t>Denied access, missing data and a genuine empty query result must remain distinct.</a:t>
            </a:r>
          </a:p>
        </p:txBody>
      </p:sp>
      <p:sp>
        <p:nvSpPr>
          <p:cNvPr id="29" name="Rectangle 28"/>
          <p:cNvSpPr/>
          <p:nvPr/>
        </p:nvSpPr>
        <p:spPr>
          <a:xfrm>
            <a:off x="457200" y="6355080"/>
            <a:ext cx="11247120" cy="10972"/>
          </a:xfrm>
          <a:prstGeom prst="rect">
            <a:avLst/>
          </a:prstGeom>
          <a:solidFill>
            <a:srgbClr val="D4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7200" y="6492240"/>
            <a:ext cx="4572000" cy="201168"/>
          </a:xfrm>
          <a:prstGeom prst="rect">
            <a:avLst/>
          </a:prstGeom>
          <a:noFill/>
        </p:spPr>
        <p:txBody>
          <a:bodyPr wrap="square" lIns="0" rIns="0" tIns="0" bIns="0">
            <a:spAutoFit/>
          </a:bodyPr>
          <a:lstStyle/>
          <a:p>
            <a:pPr>
              <a:lnSpc>
                <a:spcPct val="108000"/>
              </a:lnSpc>
              <a:spcAft>
                <a:spcPts val="400"/>
              </a:spcAft>
              <a:defRPr sz="1000" b="0">
                <a:solidFill>
                  <a:srgbClr val="536477"/>
                </a:solidFill>
                <a:latin typeface="Arial"/>
              </a:defRPr>
            </a:pPr>
            <a:r>
              <a:t>5:00–7:30   |   2:30 allocation</a:t>
            </a:r>
          </a:p>
        </p:txBody>
      </p:sp>
      <p:sp>
        <p:nvSpPr>
          <p:cNvPr id="31" name="TextBox 30"/>
          <p:cNvSpPr txBox="1"/>
          <p:nvPr/>
        </p:nvSpPr>
        <p:spPr>
          <a:xfrm>
            <a:off x="10835640" y="6492240"/>
            <a:ext cx="868680" cy="201168"/>
          </a:xfrm>
          <a:prstGeom prst="rect">
            <a:avLst/>
          </a:prstGeom>
          <a:noFill/>
        </p:spPr>
        <p:txBody>
          <a:bodyPr wrap="square" lIns="0" rIns="0" tIns="0" bIns="0">
            <a:spAutoFit/>
          </a:bodyPr>
          <a:lstStyle/>
          <a:p>
            <a:pPr>
              <a:lnSpc>
                <a:spcPct val="108000"/>
              </a:lnSpc>
              <a:spcAft>
                <a:spcPts val="400"/>
              </a:spcAft>
              <a:defRPr sz="1000" b="0">
                <a:solidFill>
                  <a:srgbClr val="536477"/>
                </a:solidFill>
                <a:latin typeface="Arial"/>
              </a:defRPr>
            </a:pPr>
            <a:r>
              <a:t>04 / 13</a:t>
            </a:r>
          </a:p>
        </p:txBody>
      </p:sp>
      <p:sp>
        <p:nvSpPr>
          <p:cNvPr id="32" name="TextBox 31"/>
          <p:cNvSpPr txBox="1"/>
          <p:nvPr/>
        </p:nvSpPr>
        <p:spPr>
          <a:xfrm>
            <a:off x="4800600" y="6492240"/>
            <a:ext cx="5852160" cy="201168"/>
          </a:xfrm>
          <a:prstGeom prst="rect">
            <a:avLst/>
          </a:prstGeom>
          <a:noFill/>
        </p:spPr>
        <p:txBody>
          <a:bodyPr wrap="square" lIns="0" rIns="0" tIns="0" bIns="0">
            <a:spAutoFit/>
          </a:bodyPr>
          <a:lstStyle/>
          <a:p>
            <a:pPr>
              <a:lnSpc>
                <a:spcPct val="108000"/>
              </a:lnSpc>
              <a:spcAft>
                <a:spcPts val="400"/>
              </a:spcAft>
              <a:defRPr sz="900" b="0">
                <a:solidFill>
                  <a:srgbClr val="536477"/>
                </a:solidFill>
                <a:latin typeface="Arial"/>
              </a:defRPr>
            </a:pPr>
            <a:r>
              <a:t>Sources: ondemand, incident, mcp · full URLs in notes and report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006D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92608"/>
            <a:ext cx="10789920" cy="228600"/>
          </a:xfrm>
          <a:prstGeom prst="rect">
            <a:avLst/>
          </a:prstGeom>
          <a:noFill/>
        </p:spPr>
        <p:txBody>
          <a:bodyPr wrap="square" lIns="0" rIns="0" tIns="0" bIns="0">
            <a:spAutoFit/>
          </a:bodyPr>
          <a:lstStyle/>
          <a:p>
            <a:pPr>
              <a:lnSpc>
                <a:spcPct val="108000"/>
              </a:lnSpc>
              <a:spcAft>
                <a:spcPts val="400"/>
              </a:spcAft>
              <a:defRPr sz="1000" b="1">
                <a:solidFill>
                  <a:srgbClr val="006D76"/>
                </a:solidFill>
                <a:latin typeface="Arial"/>
              </a:defRPr>
            </a:pPr>
            <a:r>
              <a:t>AWS DEVOPS AGENT  /  ENGINEERING REFERENCE</a:t>
            </a:r>
          </a:p>
        </p:txBody>
      </p:sp>
      <p:sp>
        <p:nvSpPr>
          <p:cNvPr id="5" name="TextBox 4"/>
          <p:cNvSpPr txBox="1"/>
          <p:nvPr/>
        </p:nvSpPr>
        <p:spPr>
          <a:xfrm>
            <a:off x="457200" y="713232"/>
            <a:ext cx="11201400" cy="914400"/>
          </a:xfrm>
          <a:prstGeom prst="rect">
            <a:avLst/>
          </a:prstGeom>
          <a:noFill/>
        </p:spPr>
        <p:txBody>
          <a:bodyPr wrap="square" lIns="0" rIns="0" tIns="0" bIns="0">
            <a:spAutoFit/>
          </a:bodyPr>
          <a:lstStyle/>
          <a:p>
            <a:pPr>
              <a:lnSpc>
                <a:spcPct val="108000"/>
              </a:lnSpc>
              <a:spcAft>
                <a:spcPts val="400"/>
              </a:spcAft>
              <a:defRPr sz="2900" b="1">
                <a:solidFill>
                  <a:srgbClr val="182B40"/>
                </a:solidFill>
                <a:latin typeface="Arial"/>
              </a:defRPr>
            </a:pPr>
            <a:r>
              <a:t>Triage and investigation controls have different effects</a:t>
            </a:r>
          </a:p>
        </p:txBody>
      </p:sp>
      <p:sp>
        <p:nvSpPr>
          <p:cNvPr id="6" name="TextBox 5"/>
          <p:cNvSpPr txBox="1"/>
          <p:nvPr/>
        </p:nvSpPr>
        <p:spPr>
          <a:xfrm>
            <a:off x="457200" y="1773936"/>
            <a:ext cx="11109960" cy="475488"/>
          </a:xfrm>
          <a:prstGeom prst="rect">
            <a:avLst/>
          </a:prstGeom>
          <a:noFill/>
        </p:spPr>
        <p:txBody>
          <a:bodyPr wrap="square" lIns="0" rIns="0" tIns="0" bIns="0">
            <a:spAutoFit/>
          </a:bodyPr>
          <a:lstStyle/>
          <a:p>
            <a:pPr>
              <a:lnSpc>
                <a:spcPct val="108000"/>
              </a:lnSpc>
              <a:spcAft>
                <a:spcPts val="400"/>
              </a:spcAft>
              <a:defRPr sz="1700" b="0">
                <a:solidFill>
                  <a:srgbClr val="006D76"/>
                </a:solidFill>
                <a:latin typeface="Arial"/>
              </a:defRPr>
            </a:pPr>
            <a:r>
              <a:t>Choose the control that changes the intended object, not merely the visible conversation.</a:t>
            </a:r>
          </a:p>
        </p:txBody>
      </p:sp>
      <p:sp>
        <p:nvSpPr>
          <p:cNvPr id="7" name="Rectangle 6"/>
          <p:cNvSpPr/>
          <p:nvPr/>
        </p:nvSpPr>
        <p:spPr>
          <a:xfrm>
            <a:off x="457200" y="2331720"/>
            <a:ext cx="3017520" cy="502920"/>
          </a:xfrm>
          <a:prstGeom prst="rect">
            <a:avLst/>
          </a:prstGeom>
          <a:solidFill>
            <a:srgbClr val="1128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 y="2441448"/>
            <a:ext cx="2761487" cy="356616"/>
          </a:xfrm>
          <a:prstGeom prst="rect">
            <a:avLst/>
          </a:prstGeom>
          <a:noFill/>
        </p:spPr>
        <p:txBody>
          <a:bodyPr wrap="square" lIns="0" rIns="0" tIns="0" bIns="0">
            <a:spAutoFit/>
          </a:bodyPr>
          <a:lstStyle/>
          <a:p>
            <a:pPr>
              <a:lnSpc>
                <a:spcPct val="108000"/>
              </a:lnSpc>
              <a:spcAft>
                <a:spcPts val="400"/>
              </a:spcAft>
              <a:defRPr sz="1500" b="1">
                <a:solidFill>
                  <a:srgbClr val="FFFFFF"/>
                </a:solidFill>
                <a:latin typeface="Arial"/>
              </a:defRPr>
            </a:pPr>
            <a:r>
              <a:t>Control</a:t>
            </a:r>
          </a:p>
        </p:txBody>
      </p:sp>
      <p:sp>
        <p:nvSpPr>
          <p:cNvPr id="9" name="Rectangle 8"/>
          <p:cNvSpPr/>
          <p:nvPr/>
        </p:nvSpPr>
        <p:spPr>
          <a:xfrm>
            <a:off x="3474720" y="2331720"/>
            <a:ext cx="4114800" cy="502920"/>
          </a:xfrm>
          <a:prstGeom prst="rect">
            <a:avLst/>
          </a:prstGeom>
          <a:solidFill>
            <a:srgbClr val="1128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02736" y="2441448"/>
            <a:ext cx="3858768" cy="356616"/>
          </a:xfrm>
          <a:prstGeom prst="rect">
            <a:avLst/>
          </a:prstGeom>
          <a:noFill/>
        </p:spPr>
        <p:txBody>
          <a:bodyPr wrap="square" lIns="0" rIns="0" tIns="0" bIns="0">
            <a:spAutoFit/>
          </a:bodyPr>
          <a:lstStyle/>
          <a:p>
            <a:pPr>
              <a:lnSpc>
                <a:spcPct val="108000"/>
              </a:lnSpc>
              <a:spcAft>
                <a:spcPts val="400"/>
              </a:spcAft>
              <a:defRPr sz="1500" b="1">
                <a:solidFill>
                  <a:srgbClr val="FFFFFF"/>
                </a:solidFill>
                <a:latin typeface="Arial"/>
              </a:defRPr>
            </a:pPr>
            <a:r>
              <a:t>Effect</a:t>
            </a:r>
          </a:p>
        </p:txBody>
      </p:sp>
      <p:sp>
        <p:nvSpPr>
          <p:cNvPr id="11" name="Rectangle 10"/>
          <p:cNvSpPr/>
          <p:nvPr/>
        </p:nvSpPr>
        <p:spPr>
          <a:xfrm>
            <a:off x="7589520" y="2331720"/>
            <a:ext cx="4114800" cy="502920"/>
          </a:xfrm>
          <a:prstGeom prst="rect">
            <a:avLst/>
          </a:prstGeom>
          <a:solidFill>
            <a:srgbClr val="1128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17536" y="2441448"/>
            <a:ext cx="3858768" cy="356616"/>
          </a:xfrm>
          <a:prstGeom prst="rect">
            <a:avLst/>
          </a:prstGeom>
          <a:noFill/>
        </p:spPr>
        <p:txBody>
          <a:bodyPr wrap="square" lIns="0" rIns="0" tIns="0" bIns="0">
            <a:spAutoFit/>
          </a:bodyPr>
          <a:lstStyle/>
          <a:p>
            <a:pPr>
              <a:lnSpc>
                <a:spcPct val="108000"/>
              </a:lnSpc>
              <a:spcAft>
                <a:spcPts val="400"/>
              </a:spcAft>
              <a:defRPr sz="1500" b="1">
                <a:solidFill>
                  <a:srgbClr val="FFFFFF"/>
                </a:solidFill>
                <a:latin typeface="Arial"/>
              </a:defRPr>
            </a:pPr>
            <a:r>
              <a:t>Failure to avoid</a:t>
            </a:r>
          </a:p>
        </p:txBody>
      </p:sp>
      <p:sp>
        <p:nvSpPr>
          <p:cNvPr id="13" name="Rectangle 12"/>
          <p:cNvSpPr/>
          <p:nvPr/>
        </p:nvSpPr>
        <p:spPr>
          <a:xfrm>
            <a:off x="457200" y="2834639"/>
            <a:ext cx="3017520" cy="806958"/>
          </a:xfrm>
          <a:prstGeom prst="rect">
            <a:avLst/>
          </a:prstGeom>
          <a:solidFill>
            <a:srgbClr val="EDF3F5"/>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85216" y="2953511"/>
            <a:ext cx="2761487" cy="651510"/>
          </a:xfrm>
          <a:prstGeom prst="rect">
            <a:avLst/>
          </a:prstGeom>
          <a:noFill/>
        </p:spPr>
        <p:txBody>
          <a:bodyPr wrap="square" lIns="0" rIns="0" tIns="0" bIns="0">
            <a:spAutoFit/>
          </a:bodyPr>
          <a:lstStyle/>
          <a:p>
            <a:pPr>
              <a:lnSpc>
                <a:spcPct val="108000"/>
              </a:lnSpc>
              <a:spcAft>
                <a:spcPts val="400"/>
              </a:spcAft>
              <a:defRPr sz="1700" b="1">
                <a:solidFill>
                  <a:srgbClr val="182B40"/>
                </a:solidFill>
                <a:latin typeface="Arial"/>
              </a:defRPr>
            </a:pPr>
            <a:r>
              <a:t>Proceed</a:t>
            </a:r>
          </a:p>
        </p:txBody>
      </p:sp>
      <p:sp>
        <p:nvSpPr>
          <p:cNvPr id="15" name="Rectangle 14"/>
          <p:cNvSpPr/>
          <p:nvPr/>
        </p:nvSpPr>
        <p:spPr>
          <a:xfrm>
            <a:off x="3474720" y="2834639"/>
            <a:ext cx="4114800" cy="806958"/>
          </a:xfrm>
          <a:prstGeom prst="rect">
            <a:avLst/>
          </a:prstGeom>
          <a:solidFill>
            <a:srgbClr val="EDF3F5"/>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2736" y="2953511"/>
            <a:ext cx="3858768" cy="651510"/>
          </a:xfrm>
          <a:prstGeom prst="rect">
            <a:avLst/>
          </a:prstGeom>
          <a:noFill/>
        </p:spPr>
        <p:txBody>
          <a:bodyPr wrap="square" lIns="0" rIns="0" tIns="0" bIns="0">
            <a:spAutoFit/>
          </a:bodyPr>
          <a:lstStyle/>
          <a:p>
            <a:pPr>
              <a:lnSpc>
                <a:spcPct val="108000"/>
              </a:lnSpc>
              <a:spcAft>
                <a:spcPts val="400"/>
              </a:spcAft>
              <a:defRPr sz="1700" b="0">
                <a:solidFill>
                  <a:srgbClr val="182B40"/>
                </a:solidFill>
                <a:latin typeface="Arial"/>
              </a:defRPr>
            </a:pPr>
            <a:r>
              <a:t>Start a new investigation</a:t>
            </a:r>
          </a:p>
        </p:txBody>
      </p:sp>
      <p:sp>
        <p:nvSpPr>
          <p:cNvPr id="17" name="Rectangle 16"/>
          <p:cNvSpPr/>
          <p:nvPr/>
        </p:nvSpPr>
        <p:spPr>
          <a:xfrm>
            <a:off x="7589520" y="2834639"/>
            <a:ext cx="4114800" cy="806958"/>
          </a:xfrm>
          <a:prstGeom prst="rect">
            <a:avLst/>
          </a:prstGeom>
          <a:solidFill>
            <a:srgbClr val="EDF3F5"/>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17536" y="2953511"/>
            <a:ext cx="3858768" cy="651510"/>
          </a:xfrm>
          <a:prstGeom prst="rect">
            <a:avLst/>
          </a:prstGeom>
          <a:noFill/>
        </p:spPr>
        <p:txBody>
          <a:bodyPr wrap="square" lIns="0" rIns="0" tIns="0" bIns="0">
            <a:spAutoFit/>
          </a:bodyPr>
          <a:lstStyle/>
          <a:p>
            <a:pPr>
              <a:lnSpc>
                <a:spcPct val="108000"/>
              </a:lnSpc>
              <a:spcAft>
                <a:spcPts val="400"/>
              </a:spcAft>
              <a:defRPr sz="1700" b="0">
                <a:solidFill>
                  <a:srgbClr val="182B40"/>
                </a:solidFill>
                <a:latin typeface="Arial"/>
              </a:defRPr>
            </a:pPr>
            <a:r>
              <a:t>Assuming a repeated alarm always has the old cause</a:t>
            </a:r>
          </a:p>
        </p:txBody>
      </p:sp>
      <p:sp>
        <p:nvSpPr>
          <p:cNvPr id="19" name="Rectangle 18"/>
          <p:cNvSpPr/>
          <p:nvPr/>
        </p:nvSpPr>
        <p:spPr>
          <a:xfrm>
            <a:off x="457200" y="3641598"/>
            <a:ext cx="3017520" cy="806958"/>
          </a:xfrm>
          <a:prstGeom prst="rect">
            <a:avLst/>
          </a:prstGeom>
          <a:solidFill>
            <a:srgbClr val="FFFFFF"/>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85216" y="3760470"/>
            <a:ext cx="2761487" cy="651510"/>
          </a:xfrm>
          <a:prstGeom prst="rect">
            <a:avLst/>
          </a:prstGeom>
          <a:noFill/>
        </p:spPr>
        <p:txBody>
          <a:bodyPr wrap="square" lIns="0" rIns="0" tIns="0" bIns="0">
            <a:spAutoFit/>
          </a:bodyPr>
          <a:lstStyle/>
          <a:p>
            <a:pPr>
              <a:lnSpc>
                <a:spcPct val="108000"/>
              </a:lnSpc>
              <a:spcAft>
                <a:spcPts val="400"/>
              </a:spcAft>
              <a:defRPr sz="1700" b="1">
                <a:solidFill>
                  <a:srgbClr val="182B40"/>
                </a:solidFill>
                <a:latin typeface="Arial"/>
              </a:defRPr>
            </a:pPr>
            <a:r>
              <a:t>Link / unlink</a:t>
            </a:r>
          </a:p>
        </p:txBody>
      </p:sp>
      <p:sp>
        <p:nvSpPr>
          <p:cNvPr id="21" name="Rectangle 20"/>
          <p:cNvSpPr/>
          <p:nvPr/>
        </p:nvSpPr>
        <p:spPr>
          <a:xfrm>
            <a:off x="3474720" y="3641598"/>
            <a:ext cx="4114800" cy="806958"/>
          </a:xfrm>
          <a:prstGeom prst="rect">
            <a:avLst/>
          </a:prstGeom>
          <a:solidFill>
            <a:srgbClr val="FFFFFF"/>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02736" y="3760470"/>
            <a:ext cx="3858768" cy="651510"/>
          </a:xfrm>
          <a:prstGeom prst="rect">
            <a:avLst/>
          </a:prstGeom>
          <a:noFill/>
        </p:spPr>
        <p:txBody>
          <a:bodyPr wrap="square" lIns="0" rIns="0" tIns="0" bIns="0">
            <a:spAutoFit/>
          </a:bodyPr>
          <a:lstStyle/>
          <a:p>
            <a:pPr>
              <a:lnSpc>
                <a:spcPct val="108000"/>
              </a:lnSpc>
              <a:spcAft>
                <a:spcPts val="400"/>
              </a:spcAft>
              <a:defRPr sz="1700" b="0">
                <a:solidFill>
                  <a:srgbClr val="182B40"/>
                </a:solidFill>
                <a:latin typeface="Arial"/>
              </a:defRPr>
            </a:pPr>
            <a:r>
              <a:t>Combine with, or separate from, related work</a:t>
            </a:r>
          </a:p>
        </p:txBody>
      </p:sp>
      <p:sp>
        <p:nvSpPr>
          <p:cNvPr id="23" name="Rectangle 22"/>
          <p:cNvSpPr/>
          <p:nvPr/>
        </p:nvSpPr>
        <p:spPr>
          <a:xfrm>
            <a:off x="7589520" y="3641598"/>
            <a:ext cx="4114800" cy="806958"/>
          </a:xfrm>
          <a:prstGeom prst="rect">
            <a:avLst/>
          </a:prstGeom>
          <a:solidFill>
            <a:srgbClr val="FFFFFF"/>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717536" y="3760470"/>
            <a:ext cx="3858768" cy="651510"/>
          </a:xfrm>
          <a:prstGeom prst="rect">
            <a:avLst/>
          </a:prstGeom>
          <a:noFill/>
        </p:spPr>
        <p:txBody>
          <a:bodyPr wrap="square" lIns="0" rIns="0" tIns="0" bIns="0">
            <a:spAutoFit/>
          </a:bodyPr>
          <a:lstStyle/>
          <a:p>
            <a:pPr>
              <a:lnSpc>
                <a:spcPct val="108000"/>
              </a:lnSpc>
              <a:spcAft>
                <a:spcPts val="400"/>
              </a:spcAft>
              <a:defRPr sz="1700" b="0">
                <a:solidFill>
                  <a:srgbClr val="182B40"/>
                </a:solidFill>
                <a:latin typeface="Arial"/>
              </a:defRPr>
            </a:pPr>
            <a:r>
              <a:t>Treating temporal proximity as proof of common cause</a:t>
            </a:r>
          </a:p>
        </p:txBody>
      </p:sp>
      <p:sp>
        <p:nvSpPr>
          <p:cNvPr id="25" name="Rectangle 24"/>
          <p:cNvSpPr/>
          <p:nvPr/>
        </p:nvSpPr>
        <p:spPr>
          <a:xfrm>
            <a:off x="457200" y="4448556"/>
            <a:ext cx="3017520" cy="806958"/>
          </a:xfrm>
          <a:prstGeom prst="rect">
            <a:avLst/>
          </a:prstGeom>
          <a:solidFill>
            <a:srgbClr val="EDF3F5"/>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85216" y="4567428"/>
            <a:ext cx="2761487" cy="651510"/>
          </a:xfrm>
          <a:prstGeom prst="rect">
            <a:avLst/>
          </a:prstGeom>
          <a:noFill/>
        </p:spPr>
        <p:txBody>
          <a:bodyPr wrap="square" lIns="0" rIns="0" tIns="0" bIns="0">
            <a:spAutoFit/>
          </a:bodyPr>
          <a:lstStyle/>
          <a:p>
            <a:pPr>
              <a:lnSpc>
                <a:spcPct val="108000"/>
              </a:lnSpc>
              <a:spcAft>
                <a:spcPts val="400"/>
              </a:spcAft>
              <a:defRPr sz="1700" b="1">
                <a:solidFill>
                  <a:srgbClr val="182B40"/>
                </a:solidFill>
                <a:latin typeface="Arial"/>
              </a:defRPr>
            </a:pPr>
            <a:r>
              <a:t>Skip / unskip</a:t>
            </a:r>
          </a:p>
        </p:txBody>
      </p:sp>
      <p:sp>
        <p:nvSpPr>
          <p:cNvPr id="27" name="Rectangle 26"/>
          <p:cNvSpPr/>
          <p:nvPr/>
        </p:nvSpPr>
        <p:spPr>
          <a:xfrm>
            <a:off x="3474720" y="4448556"/>
            <a:ext cx="4114800" cy="806958"/>
          </a:xfrm>
          <a:prstGeom prst="rect">
            <a:avLst/>
          </a:prstGeom>
          <a:solidFill>
            <a:srgbClr val="EDF3F5"/>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02736" y="4567428"/>
            <a:ext cx="3858768" cy="651510"/>
          </a:xfrm>
          <a:prstGeom prst="rect">
            <a:avLst/>
          </a:prstGeom>
          <a:noFill/>
        </p:spPr>
        <p:txBody>
          <a:bodyPr wrap="square" lIns="0" rIns="0" tIns="0" bIns="0">
            <a:spAutoFit/>
          </a:bodyPr>
          <a:lstStyle/>
          <a:p>
            <a:pPr>
              <a:lnSpc>
                <a:spcPct val="108000"/>
              </a:lnSpc>
              <a:spcAft>
                <a:spcPts val="400"/>
              </a:spcAft>
              <a:defRPr sz="1700" b="0">
                <a:solidFill>
                  <a:srgbClr val="182B40"/>
                </a:solidFill>
                <a:latin typeface="Arial"/>
              </a:defRPr>
            </a:pPr>
            <a:r>
              <a:t>Suppress, or restore, investigation of an event</a:t>
            </a:r>
          </a:p>
        </p:txBody>
      </p:sp>
      <p:sp>
        <p:nvSpPr>
          <p:cNvPr id="29" name="Rectangle 28"/>
          <p:cNvSpPr/>
          <p:nvPr/>
        </p:nvSpPr>
        <p:spPr>
          <a:xfrm>
            <a:off x="7589520" y="4448556"/>
            <a:ext cx="4114800" cy="806958"/>
          </a:xfrm>
          <a:prstGeom prst="rect">
            <a:avLst/>
          </a:prstGeom>
          <a:solidFill>
            <a:srgbClr val="EDF3F5"/>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717536" y="4567428"/>
            <a:ext cx="3858768" cy="651510"/>
          </a:xfrm>
          <a:prstGeom prst="rect">
            <a:avLst/>
          </a:prstGeom>
          <a:noFill/>
        </p:spPr>
        <p:txBody>
          <a:bodyPr wrap="square" lIns="0" rIns="0" tIns="0" bIns="0">
            <a:spAutoFit/>
          </a:bodyPr>
          <a:lstStyle/>
          <a:p>
            <a:pPr>
              <a:lnSpc>
                <a:spcPct val="108000"/>
              </a:lnSpc>
              <a:spcAft>
                <a:spcPts val="400"/>
              </a:spcAft>
              <a:defRPr sz="1700" b="0">
                <a:solidFill>
                  <a:srgbClr val="182B40"/>
                </a:solidFill>
                <a:latin typeface="Arial"/>
              </a:defRPr>
            </a:pPr>
            <a:r>
              <a:t>Suppressing critical alerts with a broad maintenance rule</a:t>
            </a:r>
          </a:p>
        </p:txBody>
      </p:sp>
      <p:sp>
        <p:nvSpPr>
          <p:cNvPr id="31" name="Rectangle 30"/>
          <p:cNvSpPr/>
          <p:nvPr/>
        </p:nvSpPr>
        <p:spPr>
          <a:xfrm>
            <a:off x="457200" y="5255514"/>
            <a:ext cx="3017520" cy="806958"/>
          </a:xfrm>
          <a:prstGeom prst="rect">
            <a:avLst/>
          </a:prstGeom>
          <a:solidFill>
            <a:srgbClr val="FFFFFF"/>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85216" y="5374386"/>
            <a:ext cx="2761487" cy="651510"/>
          </a:xfrm>
          <a:prstGeom prst="rect">
            <a:avLst/>
          </a:prstGeom>
          <a:noFill/>
        </p:spPr>
        <p:txBody>
          <a:bodyPr wrap="square" lIns="0" rIns="0" tIns="0" bIns="0">
            <a:spAutoFit/>
          </a:bodyPr>
          <a:lstStyle/>
          <a:p>
            <a:pPr>
              <a:lnSpc>
                <a:spcPct val="108000"/>
              </a:lnSpc>
              <a:spcAft>
                <a:spcPts val="400"/>
              </a:spcAft>
              <a:defRPr sz="1700" b="1">
                <a:solidFill>
                  <a:srgbClr val="182B40"/>
                </a:solidFill>
                <a:latin typeface="Arial"/>
              </a:defRPr>
            </a:pPr>
            <a:r>
              <a:t>Steer / resume / fork</a:t>
            </a:r>
          </a:p>
        </p:txBody>
      </p:sp>
      <p:sp>
        <p:nvSpPr>
          <p:cNvPr id="33" name="Rectangle 32"/>
          <p:cNvSpPr/>
          <p:nvPr/>
        </p:nvSpPr>
        <p:spPr>
          <a:xfrm>
            <a:off x="3474720" y="5255514"/>
            <a:ext cx="4114800" cy="806958"/>
          </a:xfrm>
          <a:prstGeom prst="rect">
            <a:avLst/>
          </a:prstGeom>
          <a:solidFill>
            <a:srgbClr val="FFFFFF"/>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02736" y="5374386"/>
            <a:ext cx="3858768" cy="651510"/>
          </a:xfrm>
          <a:prstGeom prst="rect">
            <a:avLst/>
          </a:prstGeom>
          <a:noFill/>
        </p:spPr>
        <p:txBody>
          <a:bodyPr wrap="square" lIns="0" rIns="0" tIns="0" bIns="0">
            <a:spAutoFit/>
          </a:bodyPr>
          <a:lstStyle/>
          <a:p>
            <a:pPr>
              <a:lnSpc>
                <a:spcPct val="108000"/>
              </a:lnSpc>
              <a:spcAft>
                <a:spcPts val="400"/>
              </a:spcAft>
              <a:defRPr sz="1700" b="0">
                <a:solidFill>
                  <a:srgbClr val="182B40"/>
                </a:solidFill>
                <a:latin typeface="Arial"/>
              </a:defRPr>
            </a:pPr>
            <a:r>
              <a:t>Redirect, continue or branch the analysis</a:t>
            </a:r>
          </a:p>
        </p:txBody>
      </p:sp>
      <p:sp>
        <p:nvSpPr>
          <p:cNvPr id="35" name="Rectangle 34"/>
          <p:cNvSpPr/>
          <p:nvPr/>
        </p:nvSpPr>
        <p:spPr>
          <a:xfrm>
            <a:off x="7589520" y="5255514"/>
            <a:ext cx="4114800" cy="806958"/>
          </a:xfrm>
          <a:prstGeom prst="rect">
            <a:avLst/>
          </a:prstGeom>
          <a:solidFill>
            <a:srgbClr val="FFFFFF"/>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717536" y="5374386"/>
            <a:ext cx="3858768" cy="651510"/>
          </a:xfrm>
          <a:prstGeom prst="rect">
            <a:avLst/>
          </a:prstGeom>
          <a:noFill/>
        </p:spPr>
        <p:txBody>
          <a:bodyPr wrap="square" lIns="0" rIns="0" tIns="0" bIns="0">
            <a:spAutoFit/>
          </a:bodyPr>
          <a:lstStyle/>
          <a:p>
            <a:pPr>
              <a:lnSpc>
                <a:spcPct val="108000"/>
              </a:lnSpc>
              <a:spcAft>
                <a:spcPts val="400"/>
              </a:spcAft>
              <a:defRPr sz="1700" b="0">
                <a:solidFill>
                  <a:srgbClr val="182B40"/>
                </a:solidFill>
                <a:latin typeface="Arial"/>
              </a:defRPr>
            </a:pPr>
            <a:r>
              <a:t>Losing the original hypothesis and evidence trail</a:t>
            </a:r>
          </a:p>
        </p:txBody>
      </p:sp>
      <p:sp>
        <p:nvSpPr>
          <p:cNvPr id="37" name="Rectangle 36"/>
          <p:cNvSpPr/>
          <p:nvPr/>
        </p:nvSpPr>
        <p:spPr>
          <a:xfrm>
            <a:off x="457200" y="6355080"/>
            <a:ext cx="11247120" cy="10972"/>
          </a:xfrm>
          <a:prstGeom prst="rect">
            <a:avLst/>
          </a:prstGeom>
          <a:solidFill>
            <a:srgbClr val="D4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57200" y="6492240"/>
            <a:ext cx="4572000" cy="201168"/>
          </a:xfrm>
          <a:prstGeom prst="rect">
            <a:avLst/>
          </a:prstGeom>
          <a:noFill/>
        </p:spPr>
        <p:txBody>
          <a:bodyPr wrap="square" lIns="0" rIns="0" tIns="0" bIns="0">
            <a:spAutoFit/>
          </a:bodyPr>
          <a:lstStyle/>
          <a:p>
            <a:pPr>
              <a:lnSpc>
                <a:spcPct val="108000"/>
              </a:lnSpc>
              <a:spcAft>
                <a:spcPts val="400"/>
              </a:spcAft>
              <a:defRPr sz="1000" b="0">
                <a:solidFill>
                  <a:srgbClr val="536477"/>
                </a:solidFill>
                <a:latin typeface="Arial"/>
              </a:defRPr>
            </a:pPr>
            <a:r>
              <a:t>7:30–9:30   |   2:00 allocation</a:t>
            </a:r>
          </a:p>
        </p:txBody>
      </p:sp>
      <p:sp>
        <p:nvSpPr>
          <p:cNvPr id="39" name="TextBox 38"/>
          <p:cNvSpPr txBox="1"/>
          <p:nvPr/>
        </p:nvSpPr>
        <p:spPr>
          <a:xfrm>
            <a:off x="10835640" y="6492240"/>
            <a:ext cx="868680" cy="201168"/>
          </a:xfrm>
          <a:prstGeom prst="rect">
            <a:avLst/>
          </a:prstGeom>
          <a:noFill/>
        </p:spPr>
        <p:txBody>
          <a:bodyPr wrap="square" lIns="0" rIns="0" tIns="0" bIns="0">
            <a:spAutoFit/>
          </a:bodyPr>
          <a:lstStyle/>
          <a:p>
            <a:pPr>
              <a:lnSpc>
                <a:spcPct val="108000"/>
              </a:lnSpc>
              <a:spcAft>
                <a:spcPts val="400"/>
              </a:spcAft>
              <a:defRPr sz="1000" b="0">
                <a:solidFill>
                  <a:srgbClr val="536477"/>
                </a:solidFill>
                <a:latin typeface="Arial"/>
              </a:defRPr>
            </a:pPr>
            <a:r>
              <a:t>05 / 13</a:t>
            </a:r>
          </a:p>
        </p:txBody>
      </p:sp>
      <p:sp>
        <p:nvSpPr>
          <p:cNvPr id="40" name="TextBox 39"/>
          <p:cNvSpPr txBox="1"/>
          <p:nvPr/>
        </p:nvSpPr>
        <p:spPr>
          <a:xfrm>
            <a:off x="4800600" y="6492240"/>
            <a:ext cx="5852160" cy="201168"/>
          </a:xfrm>
          <a:prstGeom prst="rect">
            <a:avLst/>
          </a:prstGeom>
          <a:noFill/>
        </p:spPr>
        <p:txBody>
          <a:bodyPr wrap="square" lIns="0" rIns="0" tIns="0" bIns="0">
            <a:spAutoFit/>
          </a:bodyPr>
          <a:lstStyle/>
          <a:p>
            <a:pPr>
              <a:lnSpc>
                <a:spcPct val="108000"/>
              </a:lnSpc>
              <a:spcAft>
                <a:spcPts val="400"/>
              </a:spcAft>
              <a:defRPr sz="900" b="0">
                <a:solidFill>
                  <a:srgbClr val="536477"/>
                </a:solidFill>
                <a:latin typeface="Arial"/>
              </a:defRPr>
            </a:pPr>
            <a:r>
              <a:t>Sources: incident, history · full URLs in notes and report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006D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92608"/>
            <a:ext cx="10789920" cy="228600"/>
          </a:xfrm>
          <a:prstGeom prst="rect">
            <a:avLst/>
          </a:prstGeom>
          <a:noFill/>
        </p:spPr>
        <p:txBody>
          <a:bodyPr wrap="square" lIns="0" rIns="0" tIns="0" bIns="0">
            <a:spAutoFit/>
          </a:bodyPr>
          <a:lstStyle/>
          <a:p>
            <a:pPr>
              <a:lnSpc>
                <a:spcPct val="108000"/>
              </a:lnSpc>
              <a:spcAft>
                <a:spcPts val="400"/>
              </a:spcAft>
              <a:defRPr sz="1000" b="1">
                <a:solidFill>
                  <a:srgbClr val="006D76"/>
                </a:solidFill>
                <a:latin typeface="Arial"/>
              </a:defRPr>
            </a:pPr>
            <a:r>
              <a:t>AWS DEVOPS AGENT  /  ENGINEERING REFERENCE</a:t>
            </a:r>
          </a:p>
        </p:txBody>
      </p:sp>
      <p:sp>
        <p:nvSpPr>
          <p:cNvPr id="5" name="TextBox 4"/>
          <p:cNvSpPr txBox="1"/>
          <p:nvPr/>
        </p:nvSpPr>
        <p:spPr>
          <a:xfrm>
            <a:off x="457200" y="713232"/>
            <a:ext cx="11201400" cy="914400"/>
          </a:xfrm>
          <a:prstGeom prst="rect">
            <a:avLst/>
          </a:prstGeom>
          <a:noFill/>
        </p:spPr>
        <p:txBody>
          <a:bodyPr wrap="square" lIns="0" rIns="0" tIns="0" bIns="0">
            <a:spAutoFit/>
          </a:bodyPr>
          <a:lstStyle/>
          <a:p>
            <a:pPr>
              <a:lnSpc>
                <a:spcPct val="108000"/>
              </a:lnSpc>
              <a:spcAft>
                <a:spcPts val="400"/>
              </a:spcAft>
              <a:defRPr sz="2900" b="1">
                <a:solidFill>
                  <a:srgbClr val="182B40"/>
                </a:solidFill>
                <a:latin typeface="Arial"/>
              </a:defRPr>
            </a:pPr>
            <a:r>
              <a:t>Diagnosis, Review and feedback are different evidence</a:t>
            </a:r>
          </a:p>
        </p:txBody>
      </p:sp>
      <p:sp>
        <p:nvSpPr>
          <p:cNvPr id="6" name="TextBox 5"/>
          <p:cNvSpPr txBox="1"/>
          <p:nvPr/>
        </p:nvSpPr>
        <p:spPr>
          <a:xfrm>
            <a:off x="457200" y="1773936"/>
            <a:ext cx="11109960" cy="475488"/>
          </a:xfrm>
          <a:prstGeom prst="rect">
            <a:avLst/>
          </a:prstGeom>
          <a:noFill/>
        </p:spPr>
        <p:txBody>
          <a:bodyPr wrap="square" lIns="0" rIns="0" tIns="0" bIns="0">
            <a:spAutoFit/>
          </a:bodyPr>
          <a:lstStyle/>
          <a:p>
            <a:pPr>
              <a:lnSpc>
                <a:spcPct val="108000"/>
              </a:lnSpc>
              <a:spcAft>
                <a:spcPts val="400"/>
              </a:spcAft>
              <a:defRPr sz="1700" b="0">
                <a:solidFill>
                  <a:srgbClr val="006D76"/>
                </a:solidFill>
                <a:latin typeface="Arial"/>
              </a:defRPr>
            </a:pPr>
            <a:r>
              <a:t>A quality assessment reads the record; it does not rerun the incident against the environment.</a:t>
            </a:r>
          </a:p>
        </p:txBody>
      </p:sp>
      <p:sp>
        <p:nvSpPr>
          <p:cNvPr id="7" name="Rectangle 6"/>
          <p:cNvSpPr/>
          <p:nvPr/>
        </p:nvSpPr>
        <p:spPr>
          <a:xfrm>
            <a:off x="457200" y="2331720"/>
            <a:ext cx="3017520" cy="502920"/>
          </a:xfrm>
          <a:prstGeom prst="rect">
            <a:avLst/>
          </a:prstGeom>
          <a:solidFill>
            <a:srgbClr val="1128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 y="2441448"/>
            <a:ext cx="2761487" cy="356616"/>
          </a:xfrm>
          <a:prstGeom prst="rect">
            <a:avLst/>
          </a:prstGeom>
          <a:noFill/>
        </p:spPr>
        <p:txBody>
          <a:bodyPr wrap="square" lIns="0" rIns="0" tIns="0" bIns="0">
            <a:spAutoFit/>
          </a:bodyPr>
          <a:lstStyle/>
          <a:p>
            <a:pPr>
              <a:lnSpc>
                <a:spcPct val="108000"/>
              </a:lnSpc>
              <a:spcAft>
                <a:spcPts val="400"/>
              </a:spcAft>
              <a:defRPr sz="1500" b="1">
                <a:solidFill>
                  <a:srgbClr val="FFFFFF"/>
                </a:solidFill>
                <a:latin typeface="Arial"/>
              </a:defRPr>
            </a:pPr>
            <a:r>
              <a:t>Operation</a:t>
            </a:r>
          </a:p>
        </p:txBody>
      </p:sp>
      <p:sp>
        <p:nvSpPr>
          <p:cNvPr id="9" name="Rectangle 8"/>
          <p:cNvSpPr/>
          <p:nvPr/>
        </p:nvSpPr>
        <p:spPr>
          <a:xfrm>
            <a:off x="3474720" y="2331720"/>
            <a:ext cx="4114800" cy="502920"/>
          </a:xfrm>
          <a:prstGeom prst="rect">
            <a:avLst/>
          </a:prstGeom>
          <a:solidFill>
            <a:srgbClr val="1128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02736" y="2441448"/>
            <a:ext cx="3858768" cy="356616"/>
          </a:xfrm>
          <a:prstGeom prst="rect">
            <a:avLst/>
          </a:prstGeom>
          <a:noFill/>
        </p:spPr>
        <p:txBody>
          <a:bodyPr wrap="square" lIns="0" rIns="0" tIns="0" bIns="0">
            <a:spAutoFit/>
          </a:bodyPr>
          <a:lstStyle/>
          <a:p>
            <a:pPr>
              <a:lnSpc>
                <a:spcPct val="108000"/>
              </a:lnSpc>
              <a:spcAft>
                <a:spcPts val="400"/>
              </a:spcAft>
              <a:defRPr sz="1500" b="1">
                <a:solidFill>
                  <a:srgbClr val="FFFFFF"/>
                </a:solidFill>
                <a:latin typeface="Arial"/>
              </a:defRPr>
            </a:pPr>
            <a:r>
              <a:t>Produces</a:t>
            </a:r>
          </a:p>
        </p:txBody>
      </p:sp>
      <p:sp>
        <p:nvSpPr>
          <p:cNvPr id="11" name="Rectangle 10"/>
          <p:cNvSpPr/>
          <p:nvPr/>
        </p:nvSpPr>
        <p:spPr>
          <a:xfrm>
            <a:off x="7589520" y="2331720"/>
            <a:ext cx="4114800" cy="502920"/>
          </a:xfrm>
          <a:prstGeom prst="rect">
            <a:avLst/>
          </a:prstGeom>
          <a:solidFill>
            <a:srgbClr val="1128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17536" y="2441448"/>
            <a:ext cx="3858768" cy="356616"/>
          </a:xfrm>
          <a:prstGeom prst="rect">
            <a:avLst/>
          </a:prstGeom>
          <a:noFill/>
        </p:spPr>
        <p:txBody>
          <a:bodyPr wrap="square" lIns="0" rIns="0" tIns="0" bIns="0">
            <a:spAutoFit/>
          </a:bodyPr>
          <a:lstStyle/>
          <a:p>
            <a:pPr>
              <a:lnSpc>
                <a:spcPct val="108000"/>
              </a:lnSpc>
              <a:spcAft>
                <a:spcPts val="400"/>
              </a:spcAft>
              <a:defRPr sz="1500" b="1">
                <a:solidFill>
                  <a:srgbClr val="FFFFFF"/>
                </a:solidFill>
                <a:latin typeface="Arial"/>
              </a:defRPr>
            </a:pPr>
            <a:r>
              <a:t>Does not establish</a:t>
            </a:r>
          </a:p>
        </p:txBody>
      </p:sp>
      <p:sp>
        <p:nvSpPr>
          <p:cNvPr id="13" name="Rectangle 12"/>
          <p:cNvSpPr/>
          <p:nvPr/>
        </p:nvSpPr>
        <p:spPr>
          <a:xfrm>
            <a:off x="457200" y="2834639"/>
            <a:ext cx="3017520" cy="929640"/>
          </a:xfrm>
          <a:prstGeom prst="rect">
            <a:avLst/>
          </a:prstGeom>
          <a:solidFill>
            <a:srgbClr val="EDF3F5"/>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85216" y="2953511"/>
            <a:ext cx="2761487" cy="774191"/>
          </a:xfrm>
          <a:prstGeom prst="rect">
            <a:avLst/>
          </a:prstGeom>
          <a:noFill/>
        </p:spPr>
        <p:txBody>
          <a:bodyPr wrap="square" lIns="0" rIns="0" tIns="0" bIns="0">
            <a:spAutoFit/>
          </a:bodyPr>
          <a:lstStyle/>
          <a:p>
            <a:pPr>
              <a:lnSpc>
                <a:spcPct val="108000"/>
              </a:lnSpc>
              <a:spcAft>
                <a:spcPts val="400"/>
              </a:spcAft>
              <a:defRPr sz="1700" b="1">
                <a:solidFill>
                  <a:srgbClr val="182B40"/>
                </a:solidFill>
                <a:latin typeface="Arial"/>
              </a:defRPr>
            </a:pPr>
            <a:r>
              <a:t>Investigation</a:t>
            </a:r>
          </a:p>
        </p:txBody>
      </p:sp>
      <p:sp>
        <p:nvSpPr>
          <p:cNvPr id="15" name="Rectangle 14"/>
          <p:cNvSpPr/>
          <p:nvPr/>
        </p:nvSpPr>
        <p:spPr>
          <a:xfrm>
            <a:off x="3474720" y="2834639"/>
            <a:ext cx="4114800" cy="929640"/>
          </a:xfrm>
          <a:prstGeom prst="rect">
            <a:avLst/>
          </a:prstGeom>
          <a:solidFill>
            <a:srgbClr val="EDF3F5"/>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2736" y="2953511"/>
            <a:ext cx="3858768" cy="774191"/>
          </a:xfrm>
          <a:prstGeom prst="rect">
            <a:avLst/>
          </a:prstGeom>
          <a:noFill/>
        </p:spPr>
        <p:txBody>
          <a:bodyPr wrap="square" lIns="0" rIns="0" tIns="0" bIns="0">
            <a:spAutoFit/>
          </a:bodyPr>
          <a:lstStyle/>
          <a:p>
            <a:pPr>
              <a:lnSpc>
                <a:spcPct val="108000"/>
              </a:lnSpc>
              <a:spcAft>
                <a:spcPts val="400"/>
              </a:spcAft>
              <a:defRPr sz="1700" b="0">
                <a:solidFill>
                  <a:srgbClr val="182B40"/>
                </a:solidFill>
                <a:latin typeface="Arial"/>
              </a:defRPr>
            </a:pPr>
            <a:r>
              <a:t>Findings and a root-cause explanation</a:t>
            </a:r>
          </a:p>
        </p:txBody>
      </p:sp>
      <p:sp>
        <p:nvSpPr>
          <p:cNvPr id="17" name="Rectangle 16"/>
          <p:cNvSpPr/>
          <p:nvPr/>
        </p:nvSpPr>
        <p:spPr>
          <a:xfrm>
            <a:off x="7589520" y="2834639"/>
            <a:ext cx="4114800" cy="929640"/>
          </a:xfrm>
          <a:prstGeom prst="rect">
            <a:avLst/>
          </a:prstGeom>
          <a:solidFill>
            <a:srgbClr val="EDF3F5"/>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17536" y="2953511"/>
            <a:ext cx="3858768" cy="774191"/>
          </a:xfrm>
          <a:prstGeom prst="rect">
            <a:avLst/>
          </a:prstGeom>
          <a:noFill/>
        </p:spPr>
        <p:txBody>
          <a:bodyPr wrap="square" lIns="0" rIns="0" tIns="0" bIns="0">
            <a:spAutoFit/>
          </a:bodyPr>
          <a:lstStyle/>
          <a:p>
            <a:pPr>
              <a:lnSpc>
                <a:spcPct val="108000"/>
              </a:lnSpc>
              <a:spcAft>
                <a:spcPts val="400"/>
              </a:spcAft>
              <a:defRPr sz="1700" b="0">
                <a:solidFill>
                  <a:srgbClr val="182B40"/>
                </a:solidFill>
                <a:latin typeface="Arial"/>
              </a:defRPr>
            </a:pPr>
            <a:r>
              <a:t>Correctness without source evidence</a:t>
            </a:r>
          </a:p>
        </p:txBody>
      </p:sp>
      <p:sp>
        <p:nvSpPr>
          <p:cNvPr id="19" name="Rectangle 18"/>
          <p:cNvSpPr/>
          <p:nvPr/>
        </p:nvSpPr>
        <p:spPr>
          <a:xfrm>
            <a:off x="457200" y="3764279"/>
            <a:ext cx="3017520" cy="929640"/>
          </a:xfrm>
          <a:prstGeom prst="rect">
            <a:avLst/>
          </a:prstGeom>
          <a:solidFill>
            <a:srgbClr val="FFFFFF"/>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85216" y="3883151"/>
            <a:ext cx="2761487" cy="774191"/>
          </a:xfrm>
          <a:prstGeom prst="rect">
            <a:avLst/>
          </a:prstGeom>
          <a:noFill/>
        </p:spPr>
        <p:txBody>
          <a:bodyPr wrap="square" lIns="0" rIns="0" tIns="0" bIns="0">
            <a:spAutoFit/>
          </a:bodyPr>
          <a:lstStyle/>
          <a:p>
            <a:pPr>
              <a:lnSpc>
                <a:spcPct val="108000"/>
              </a:lnSpc>
              <a:spcAft>
                <a:spcPts val="400"/>
              </a:spcAft>
              <a:defRPr sz="1700" b="1">
                <a:solidFill>
                  <a:srgbClr val="182B40"/>
                </a:solidFill>
                <a:latin typeface="Arial"/>
              </a:defRPr>
            </a:pPr>
            <a:r>
              <a:t>Review</a:t>
            </a:r>
          </a:p>
        </p:txBody>
      </p:sp>
      <p:sp>
        <p:nvSpPr>
          <p:cNvPr id="21" name="Rectangle 20"/>
          <p:cNvSpPr/>
          <p:nvPr/>
        </p:nvSpPr>
        <p:spPr>
          <a:xfrm>
            <a:off x="3474720" y="3764279"/>
            <a:ext cx="4114800" cy="929640"/>
          </a:xfrm>
          <a:prstGeom prst="rect">
            <a:avLst/>
          </a:prstGeom>
          <a:solidFill>
            <a:srgbClr val="FFFFFF"/>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02736" y="3883151"/>
            <a:ext cx="3858768" cy="774191"/>
          </a:xfrm>
          <a:prstGeom prst="rect">
            <a:avLst/>
          </a:prstGeom>
          <a:noFill/>
        </p:spPr>
        <p:txBody>
          <a:bodyPr wrap="square" lIns="0" rIns="0" tIns="0" bIns="0">
            <a:spAutoFit/>
          </a:bodyPr>
          <a:lstStyle/>
          <a:p>
            <a:pPr>
              <a:lnSpc>
                <a:spcPct val="108000"/>
              </a:lnSpc>
              <a:spcAft>
                <a:spcPts val="400"/>
              </a:spcAft>
              <a:defRPr sz="1700" b="0">
                <a:solidFill>
                  <a:srgbClr val="182B40"/>
                </a:solidFill>
                <a:latin typeface="Arial"/>
              </a:defRPr>
            </a:pPr>
            <a:r>
              <a:t>Helpful/not-helpful and criterion-level assessments</a:t>
            </a:r>
          </a:p>
        </p:txBody>
      </p:sp>
      <p:sp>
        <p:nvSpPr>
          <p:cNvPr id="23" name="Rectangle 22"/>
          <p:cNvSpPr/>
          <p:nvPr/>
        </p:nvSpPr>
        <p:spPr>
          <a:xfrm>
            <a:off x="7589520" y="3764279"/>
            <a:ext cx="4114800" cy="929640"/>
          </a:xfrm>
          <a:prstGeom prst="rect">
            <a:avLst/>
          </a:prstGeom>
          <a:solidFill>
            <a:srgbClr val="FFFFFF"/>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717536" y="3883151"/>
            <a:ext cx="3858768" cy="774191"/>
          </a:xfrm>
          <a:prstGeom prst="rect">
            <a:avLst/>
          </a:prstGeom>
          <a:noFill/>
        </p:spPr>
        <p:txBody>
          <a:bodyPr wrap="square" lIns="0" rIns="0" tIns="0" bIns="0">
            <a:spAutoFit/>
          </a:bodyPr>
          <a:lstStyle/>
          <a:p>
            <a:pPr>
              <a:lnSpc>
                <a:spcPct val="108000"/>
              </a:lnSpc>
              <a:spcAft>
                <a:spcPts val="400"/>
              </a:spcAft>
              <a:defRPr sz="1700" b="0">
                <a:solidFill>
                  <a:srgbClr val="182B40"/>
                </a:solidFill>
                <a:latin typeface="Arial"/>
              </a:defRPr>
            </a:pPr>
            <a:r>
              <a:t>Independent runtime verification</a:t>
            </a:r>
          </a:p>
        </p:txBody>
      </p:sp>
      <p:sp>
        <p:nvSpPr>
          <p:cNvPr id="25" name="Rectangle 24"/>
          <p:cNvSpPr/>
          <p:nvPr/>
        </p:nvSpPr>
        <p:spPr>
          <a:xfrm>
            <a:off x="457200" y="4693920"/>
            <a:ext cx="3017520" cy="929640"/>
          </a:xfrm>
          <a:prstGeom prst="rect">
            <a:avLst/>
          </a:prstGeom>
          <a:solidFill>
            <a:srgbClr val="EDF3F5"/>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85216" y="4812791"/>
            <a:ext cx="2761487" cy="774191"/>
          </a:xfrm>
          <a:prstGeom prst="rect">
            <a:avLst/>
          </a:prstGeom>
          <a:noFill/>
        </p:spPr>
        <p:txBody>
          <a:bodyPr wrap="square" lIns="0" rIns="0" tIns="0" bIns="0">
            <a:spAutoFit/>
          </a:bodyPr>
          <a:lstStyle/>
          <a:p>
            <a:pPr>
              <a:lnSpc>
                <a:spcPct val="108000"/>
              </a:lnSpc>
              <a:spcAft>
                <a:spcPts val="400"/>
              </a:spcAft>
              <a:defRPr sz="1700" b="1">
                <a:solidFill>
                  <a:srgbClr val="182B40"/>
                </a:solidFill>
                <a:latin typeface="Arial"/>
              </a:defRPr>
            </a:pPr>
            <a:r>
              <a:t>Corrective feedback</a:t>
            </a:r>
          </a:p>
        </p:txBody>
      </p:sp>
      <p:sp>
        <p:nvSpPr>
          <p:cNvPr id="27" name="Rectangle 26"/>
          <p:cNvSpPr/>
          <p:nvPr/>
        </p:nvSpPr>
        <p:spPr>
          <a:xfrm>
            <a:off x="3474720" y="4693920"/>
            <a:ext cx="4114800" cy="929640"/>
          </a:xfrm>
          <a:prstGeom prst="rect">
            <a:avLst/>
          </a:prstGeom>
          <a:solidFill>
            <a:srgbClr val="EDF3F5"/>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02736" y="4812791"/>
            <a:ext cx="3858768" cy="774191"/>
          </a:xfrm>
          <a:prstGeom prst="rect">
            <a:avLst/>
          </a:prstGeom>
          <a:noFill/>
        </p:spPr>
        <p:txBody>
          <a:bodyPr wrap="square" lIns="0" rIns="0" tIns="0" bIns="0">
            <a:spAutoFit/>
          </a:bodyPr>
          <a:lstStyle/>
          <a:p>
            <a:pPr>
              <a:lnSpc>
                <a:spcPct val="108000"/>
              </a:lnSpc>
              <a:spcAft>
                <a:spcPts val="400"/>
              </a:spcAft>
              <a:defRPr sz="1700" b="0">
                <a:solidFill>
                  <a:srgbClr val="182B40"/>
                </a:solidFill>
                <a:latin typeface="Arial"/>
              </a:defRPr>
            </a:pPr>
            <a:r>
              <a:t>A recorded correction; documented reflections</a:t>
            </a:r>
          </a:p>
        </p:txBody>
      </p:sp>
      <p:sp>
        <p:nvSpPr>
          <p:cNvPr id="29" name="Rectangle 28"/>
          <p:cNvSpPr/>
          <p:nvPr/>
        </p:nvSpPr>
        <p:spPr>
          <a:xfrm>
            <a:off x="7589520" y="4693920"/>
            <a:ext cx="4114800" cy="929640"/>
          </a:xfrm>
          <a:prstGeom prst="rect">
            <a:avLst/>
          </a:prstGeom>
          <a:solidFill>
            <a:srgbClr val="EDF3F5"/>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717536" y="4812791"/>
            <a:ext cx="3858768" cy="774191"/>
          </a:xfrm>
          <a:prstGeom prst="rect">
            <a:avLst/>
          </a:prstGeom>
          <a:noFill/>
        </p:spPr>
        <p:txBody>
          <a:bodyPr wrap="square" lIns="0" rIns="0" tIns="0" bIns="0">
            <a:spAutoFit/>
          </a:bodyPr>
          <a:lstStyle/>
          <a:p>
            <a:pPr>
              <a:lnSpc>
                <a:spcPct val="108000"/>
              </a:lnSpc>
              <a:spcAft>
                <a:spcPts val="400"/>
              </a:spcAft>
              <a:defRPr sz="1700" b="0">
                <a:solidFill>
                  <a:srgbClr val="182B40"/>
                </a:solidFill>
                <a:latin typeface="Arial"/>
              </a:defRPr>
            </a:pPr>
            <a:r>
              <a:t>A measured accuracy improvement from one submission</a:t>
            </a:r>
          </a:p>
        </p:txBody>
      </p:sp>
      <p:sp>
        <p:nvSpPr>
          <p:cNvPr id="31" name="Rectangle 30"/>
          <p:cNvSpPr/>
          <p:nvPr/>
        </p:nvSpPr>
        <p:spPr>
          <a:xfrm>
            <a:off x="457200" y="5715000"/>
            <a:ext cx="11247120" cy="429768"/>
          </a:xfrm>
          <a:prstGeom prst="rect">
            <a:avLst/>
          </a:prstGeom>
          <a:solidFill>
            <a:srgbClr val="1128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94360" y="5797296"/>
            <a:ext cx="10972800" cy="274320"/>
          </a:xfrm>
          <a:prstGeom prst="rect">
            <a:avLst/>
          </a:prstGeom>
          <a:noFill/>
        </p:spPr>
        <p:txBody>
          <a:bodyPr wrap="square" lIns="0" rIns="0" tIns="0" bIns="0">
            <a:spAutoFit/>
          </a:bodyPr>
          <a:lstStyle/>
          <a:p>
            <a:pPr>
              <a:lnSpc>
                <a:spcPct val="108000"/>
              </a:lnSpc>
              <a:spcAft>
                <a:spcPts val="400"/>
              </a:spcAft>
              <a:defRPr sz="1200" b="1">
                <a:solidFill>
                  <a:srgbClr val="FFFFFF"/>
                </a:solidFill>
                <a:latin typeface="Arial"/>
              </a:defRPr>
            </a:pPr>
            <a:r>
              <a:t>Review Accuracy can be not applicable when no reference diagnosis exists on the linked incident.</a:t>
            </a:r>
          </a:p>
        </p:txBody>
      </p:sp>
      <p:sp>
        <p:nvSpPr>
          <p:cNvPr id="33" name="Rectangle 32"/>
          <p:cNvSpPr/>
          <p:nvPr/>
        </p:nvSpPr>
        <p:spPr>
          <a:xfrm>
            <a:off x="457200" y="6355080"/>
            <a:ext cx="11247120" cy="10972"/>
          </a:xfrm>
          <a:prstGeom prst="rect">
            <a:avLst/>
          </a:prstGeom>
          <a:solidFill>
            <a:srgbClr val="D4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57200" y="6492240"/>
            <a:ext cx="4572000" cy="201168"/>
          </a:xfrm>
          <a:prstGeom prst="rect">
            <a:avLst/>
          </a:prstGeom>
          <a:noFill/>
        </p:spPr>
        <p:txBody>
          <a:bodyPr wrap="square" lIns="0" rIns="0" tIns="0" bIns="0">
            <a:spAutoFit/>
          </a:bodyPr>
          <a:lstStyle/>
          <a:p>
            <a:pPr>
              <a:lnSpc>
                <a:spcPct val="108000"/>
              </a:lnSpc>
              <a:spcAft>
                <a:spcPts val="400"/>
              </a:spcAft>
              <a:defRPr sz="1000" b="0">
                <a:solidFill>
                  <a:srgbClr val="536477"/>
                </a:solidFill>
                <a:latin typeface="Arial"/>
              </a:defRPr>
            </a:pPr>
            <a:r>
              <a:t>9:30–12:00   |   2:30 allocation</a:t>
            </a:r>
          </a:p>
        </p:txBody>
      </p:sp>
      <p:sp>
        <p:nvSpPr>
          <p:cNvPr id="35" name="TextBox 34"/>
          <p:cNvSpPr txBox="1"/>
          <p:nvPr/>
        </p:nvSpPr>
        <p:spPr>
          <a:xfrm>
            <a:off x="10835640" y="6492240"/>
            <a:ext cx="868680" cy="201168"/>
          </a:xfrm>
          <a:prstGeom prst="rect">
            <a:avLst/>
          </a:prstGeom>
          <a:noFill/>
        </p:spPr>
        <p:txBody>
          <a:bodyPr wrap="square" lIns="0" rIns="0" tIns="0" bIns="0">
            <a:spAutoFit/>
          </a:bodyPr>
          <a:lstStyle/>
          <a:p>
            <a:pPr>
              <a:lnSpc>
                <a:spcPct val="108000"/>
              </a:lnSpc>
              <a:spcAft>
                <a:spcPts val="400"/>
              </a:spcAft>
              <a:defRPr sz="1000" b="0">
                <a:solidFill>
                  <a:srgbClr val="536477"/>
                </a:solidFill>
                <a:latin typeface="Arial"/>
              </a:defRPr>
            </a:pPr>
            <a:r>
              <a:t>06 / 13</a:t>
            </a:r>
          </a:p>
        </p:txBody>
      </p:sp>
      <p:sp>
        <p:nvSpPr>
          <p:cNvPr id="36" name="TextBox 35"/>
          <p:cNvSpPr txBox="1"/>
          <p:nvPr/>
        </p:nvSpPr>
        <p:spPr>
          <a:xfrm>
            <a:off x="4800600" y="6492240"/>
            <a:ext cx="5852160" cy="201168"/>
          </a:xfrm>
          <a:prstGeom prst="rect">
            <a:avLst/>
          </a:prstGeom>
          <a:noFill/>
        </p:spPr>
        <p:txBody>
          <a:bodyPr wrap="square" lIns="0" rIns="0" tIns="0" bIns="0">
            <a:spAutoFit/>
          </a:bodyPr>
          <a:lstStyle/>
          <a:p>
            <a:pPr>
              <a:lnSpc>
                <a:spcPct val="108000"/>
              </a:lnSpc>
              <a:spcAft>
                <a:spcPts val="400"/>
              </a:spcAft>
              <a:defRPr sz="900" b="0">
                <a:solidFill>
                  <a:srgbClr val="536477"/>
                </a:solidFill>
                <a:latin typeface="Arial"/>
              </a:defRPr>
            </a:pPr>
            <a:r>
              <a:t>Sources: incident, review, history, doc-history · full URLs in notes and report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006D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92608"/>
            <a:ext cx="10789920" cy="228600"/>
          </a:xfrm>
          <a:prstGeom prst="rect">
            <a:avLst/>
          </a:prstGeom>
          <a:noFill/>
        </p:spPr>
        <p:txBody>
          <a:bodyPr wrap="square" lIns="0" rIns="0" tIns="0" bIns="0">
            <a:spAutoFit/>
          </a:bodyPr>
          <a:lstStyle/>
          <a:p>
            <a:pPr>
              <a:lnSpc>
                <a:spcPct val="108000"/>
              </a:lnSpc>
              <a:spcAft>
                <a:spcPts val="400"/>
              </a:spcAft>
              <a:defRPr sz="1000" b="1">
                <a:solidFill>
                  <a:srgbClr val="006D76"/>
                </a:solidFill>
                <a:latin typeface="Arial"/>
              </a:defRPr>
            </a:pPr>
            <a:r>
              <a:t>AWS DEVOPS AGENT  /  ENGINEERING REFERENCE</a:t>
            </a:r>
          </a:p>
        </p:txBody>
      </p:sp>
      <p:sp>
        <p:nvSpPr>
          <p:cNvPr id="5" name="TextBox 4"/>
          <p:cNvSpPr txBox="1"/>
          <p:nvPr/>
        </p:nvSpPr>
        <p:spPr>
          <a:xfrm>
            <a:off x="457200" y="713232"/>
            <a:ext cx="11201400" cy="914400"/>
          </a:xfrm>
          <a:prstGeom prst="rect">
            <a:avLst/>
          </a:prstGeom>
          <a:noFill/>
        </p:spPr>
        <p:txBody>
          <a:bodyPr wrap="square" lIns="0" rIns="0" tIns="0" bIns="0">
            <a:spAutoFit/>
          </a:bodyPr>
          <a:lstStyle/>
          <a:p>
            <a:pPr>
              <a:lnSpc>
                <a:spcPct val="108000"/>
              </a:lnSpc>
              <a:spcAft>
                <a:spcPts val="400"/>
              </a:spcAft>
              <a:defRPr sz="2900" b="1">
                <a:solidFill>
                  <a:srgbClr val="182B40"/>
                </a:solidFill>
                <a:latin typeface="Arial"/>
              </a:defRPr>
            </a:pPr>
            <a:r>
              <a:t>A proposed mitigation has no execution authority</a:t>
            </a:r>
          </a:p>
        </p:txBody>
      </p:sp>
      <p:sp>
        <p:nvSpPr>
          <p:cNvPr id="6" name="TextBox 5"/>
          <p:cNvSpPr txBox="1"/>
          <p:nvPr/>
        </p:nvSpPr>
        <p:spPr>
          <a:xfrm>
            <a:off x="457200" y="1773936"/>
            <a:ext cx="11109960" cy="475488"/>
          </a:xfrm>
          <a:prstGeom prst="rect">
            <a:avLst/>
          </a:prstGeom>
          <a:noFill/>
        </p:spPr>
        <p:txBody>
          <a:bodyPr wrap="square" lIns="0" rIns="0" tIns="0" bIns="0">
            <a:spAutoFit/>
          </a:bodyPr>
          <a:lstStyle/>
          <a:p>
            <a:pPr>
              <a:lnSpc>
                <a:spcPct val="108000"/>
              </a:lnSpc>
              <a:spcAft>
                <a:spcPts val="400"/>
              </a:spcAft>
              <a:defRPr sz="1700" b="0">
                <a:solidFill>
                  <a:srgbClr val="006D76"/>
                </a:solidFill>
                <a:latin typeface="Arial"/>
              </a:defRPr>
            </a:pPr>
            <a:r>
              <a:t>Directed actions add a controlled mutation path; they do not remove the need to verify recovery.</a:t>
            </a:r>
          </a:p>
        </p:txBody>
      </p:sp>
      <p:sp>
        <p:nvSpPr>
          <p:cNvPr id="7" name="Rectangle 6"/>
          <p:cNvSpPr/>
          <p:nvPr/>
        </p:nvSpPr>
        <p:spPr>
          <a:xfrm>
            <a:off x="457200" y="2514600"/>
            <a:ext cx="2688336" cy="2697480"/>
          </a:xfrm>
          <a:prstGeom prst="rect">
            <a:avLst/>
          </a:prstGeom>
          <a:solidFill>
            <a:srgbClr val="ED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2514600"/>
            <a:ext cx="2688336" cy="64008"/>
          </a:xfrm>
          <a:prstGeom prst="rect">
            <a:avLst/>
          </a:prstGeom>
          <a:solidFill>
            <a:srgbClr val="006D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1792" y="2715768"/>
            <a:ext cx="2359152" cy="274320"/>
          </a:xfrm>
          <a:prstGeom prst="rect">
            <a:avLst/>
          </a:prstGeom>
          <a:noFill/>
        </p:spPr>
        <p:txBody>
          <a:bodyPr wrap="square" lIns="0" rIns="0" tIns="0" bIns="0">
            <a:spAutoFit/>
          </a:bodyPr>
          <a:lstStyle/>
          <a:p>
            <a:pPr>
              <a:lnSpc>
                <a:spcPct val="108000"/>
              </a:lnSpc>
              <a:spcAft>
                <a:spcPts val="400"/>
              </a:spcAft>
              <a:defRPr sz="1200" b="1">
                <a:solidFill>
                  <a:srgbClr val="006D76"/>
                </a:solidFill>
                <a:latin typeface="Arial"/>
              </a:defRPr>
            </a:pPr>
            <a:r>
              <a:t>01</a:t>
            </a:r>
          </a:p>
        </p:txBody>
      </p:sp>
      <p:sp>
        <p:nvSpPr>
          <p:cNvPr id="10" name="TextBox 9"/>
          <p:cNvSpPr txBox="1"/>
          <p:nvPr/>
        </p:nvSpPr>
        <p:spPr>
          <a:xfrm>
            <a:off x="621792" y="3154679"/>
            <a:ext cx="2359152" cy="640080"/>
          </a:xfrm>
          <a:prstGeom prst="rect">
            <a:avLst/>
          </a:prstGeom>
          <a:noFill/>
        </p:spPr>
        <p:txBody>
          <a:bodyPr wrap="square" lIns="0" rIns="0" tIns="0" bIns="0">
            <a:spAutoFit/>
          </a:bodyPr>
          <a:lstStyle/>
          <a:p>
            <a:pPr>
              <a:lnSpc>
                <a:spcPct val="108000"/>
              </a:lnSpc>
              <a:spcAft>
                <a:spcPts val="400"/>
              </a:spcAft>
              <a:defRPr sz="2100" b="1">
                <a:solidFill>
                  <a:srgbClr val="182B40"/>
                </a:solidFill>
                <a:latin typeface="Arial"/>
              </a:defRPr>
            </a:pPr>
            <a:r>
              <a:t>Enable</a:t>
            </a:r>
          </a:p>
        </p:txBody>
      </p:sp>
      <p:sp>
        <p:nvSpPr>
          <p:cNvPr id="11" name="TextBox 10"/>
          <p:cNvSpPr txBox="1"/>
          <p:nvPr/>
        </p:nvSpPr>
        <p:spPr>
          <a:xfrm>
            <a:off x="621792" y="3858768"/>
            <a:ext cx="2359152" cy="1024128"/>
          </a:xfrm>
          <a:prstGeom prst="rect">
            <a:avLst/>
          </a:prstGeom>
          <a:noFill/>
        </p:spPr>
        <p:txBody>
          <a:bodyPr wrap="square" lIns="0" rIns="0" tIns="0" bIns="0">
            <a:spAutoFit/>
          </a:bodyPr>
          <a:lstStyle/>
          <a:p>
            <a:pPr>
              <a:lnSpc>
                <a:spcPct val="108000"/>
              </a:lnSpc>
              <a:spcAft>
                <a:spcPts val="400"/>
              </a:spcAft>
              <a:defRPr sz="1800" b="0">
                <a:solidFill>
                  <a:srgbClr val="182B40"/>
                </a:solidFill>
                <a:latin typeface="Arial"/>
              </a:defRPr>
            </a:pPr>
            <a:r>
              <a:t>Agent Space directed-action opt-in</a:t>
            </a:r>
          </a:p>
        </p:txBody>
      </p:sp>
      <p:sp>
        <p:nvSpPr>
          <p:cNvPr id="12" name="Rectangle 11"/>
          <p:cNvSpPr/>
          <p:nvPr/>
        </p:nvSpPr>
        <p:spPr>
          <a:xfrm>
            <a:off x="3310128" y="2514600"/>
            <a:ext cx="2688336" cy="2697480"/>
          </a:xfrm>
          <a:prstGeom prst="rect">
            <a:avLst/>
          </a:prstGeom>
          <a:solidFill>
            <a:srgbClr val="ED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10128" y="2514600"/>
            <a:ext cx="2688336" cy="64008"/>
          </a:xfrm>
          <a:prstGeom prst="rect">
            <a:avLst/>
          </a:prstGeom>
          <a:solidFill>
            <a:srgbClr val="006D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474720" y="2715768"/>
            <a:ext cx="2359152" cy="274320"/>
          </a:xfrm>
          <a:prstGeom prst="rect">
            <a:avLst/>
          </a:prstGeom>
          <a:noFill/>
        </p:spPr>
        <p:txBody>
          <a:bodyPr wrap="square" lIns="0" rIns="0" tIns="0" bIns="0">
            <a:spAutoFit/>
          </a:bodyPr>
          <a:lstStyle/>
          <a:p>
            <a:pPr>
              <a:lnSpc>
                <a:spcPct val="108000"/>
              </a:lnSpc>
              <a:spcAft>
                <a:spcPts val="400"/>
              </a:spcAft>
              <a:defRPr sz="1200" b="1">
                <a:solidFill>
                  <a:srgbClr val="006D76"/>
                </a:solidFill>
                <a:latin typeface="Arial"/>
              </a:defRPr>
            </a:pPr>
            <a:r>
              <a:t>02</a:t>
            </a:r>
          </a:p>
        </p:txBody>
      </p:sp>
      <p:sp>
        <p:nvSpPr>
          <p:cNvPr id="15" name="TextBox 14"/>
          <p:cNvSpPr txBox="1"/>
          <p:nvPr/>
        </p:nvSpPr>
        <p:spPr>
          <a:xfrm>
            <a:off x="3474720" y="3154679"/>
            <a:ext cx="2359152" cy="640080"/>
          </a:xfrm>
          <a:prstGeom prst="rect">
            <a:avLst/>
          </a:prstGeom>
          <a:noFill/>
        </p:spPr>
        <p:txBody>
          <a:bodyPr wrap="square" lIns="0" rIns="0" tIns="0" bIns="0">
            <a:spAutoFit/>
          </a:bodyPr>
          <a:lstStyle/>
          <a:p>
            <a:pPr>
              <a:lnSpc>
                <a:spcPct val="108000"/>
              </a:lnSpc>
              <a:spcAft>
                <a:spcPts val="400"/>
              </a:spcAft>
              <a:defRPr sz="2100" b="1">
                <a:solidFill>
                  <a:srgbClr val="182B40"/>
                </a:solidFill>
                <a:latin typeface="Arial"/>
              </a:defRPr>
            </a:pPr>
            <a:r>
              <a:t>Scope</a:t>
            </a:r>
          </a:p>
        </p:txBody>
      </p:sp>
      <p:sp>
        <p:nvSpPr>
          <p:cNvPr id="16" name="TextBox 15"/>
          <p:cNvSpPr txBox="1"/>
          <p:nvPr/>
        </p:nvSpPr>
        <p:spPr>
          <a:xfrm>
            <a:off x="3474720" y="3858768"/>
            <a:ext cx="2359152" cy="1024128"/>
          </a:xfrm>
          <a:prstGeom prst="rect">
            <a:avLst/>
          </a:prstGeom>
          <a:noFill/>
        </p:spPr>
        <p:txBody>
          <a:bodyPr wrap="square" lIns="0" rIns="0" tIns="0" bIns="0">
            <a:spAutoFit/>
          </a:bodyPr>
          <a:lstStyle/>
          <a:p>
            <a:pPr>
              <a:lnSpc>
                <a:spcPct val="108000"/>
              </a:lnSpc>
              <a:spcAft>
                <a:spcPts val="400"/>
              </a:spcAft>
              <a:defRPr sz="1800" b="0">
                <a:solidFill>
                  <a:srgbClr val="182B40"/>
                </a:solidFill>
                <a:latin typeface="Arial"/>
              </a:defRPr>
            </a:pPr>
            <a:r>
              <a:t>Registered elevated account role or allowed mutating tool</a:t>
            </a:r>
          </a:p>
        </p:txBody>
      </p:sp>
      <p:sp>
        <p:nvSpPr>
          <p:cNvPr id="17" name="Rectangle 16"/>
          <p:cNvSpPr/>
          <p:nvPr/>
        </p:nvSpPr>
        <p:spPr>
          <a:xfrm>
            <a:off x="6163056" y="2514600"/>
            <a:ext cx="2688336" cy="2697480"/>
          </a:xfrm>
          <a:prstGeom prst="rect">
            <a:avLst/>
          </a:prstGeom>
          <a:solidFill>
            <a:srgbClr val="ED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63056" y="2514600"/>
            <a:ext cx="2688336" cy="64008"/>
          </a:xfrm>
          <a:prstGeom prst="rect">
            <a:avLst/>
          </a:prstGeom>
          <a:solidFill>
            <a:srgbClr val="006D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27648" y="2715768"/>
            <a:ext cx="2359152" cy="274320"/>
          </a:xfrm>
          <a:prstGeom prst="rect">
            <a:avLst/>
          </a:prstGeom>
          <a:noFill/>
        </p:spPr>
        <p:txBody>
          <a:bodyPr wrap="square" lIns="0" rIns="0" tIns="0" bIns="0">
            <a:spAutoFit/>
          </a:bodyPr>
          <a:lstStyle/>
          <a:p>
            <a:pPr>
              <a:lnSpc>
                <a:spcPct val="108000"/>
              </a:lnSpc>
              <a:spcAft>
                <a:spcPts val="400"/>
              </a:spcAft>
              <a:defRPr sz="1200" b="1">
                <a:solidFill>
                  <a:srgbClr val="006D76"/>
                </a:solidFill>
                <a:latin typeface="Arial"/>
              </a:defRPr>
            </a:pPr>
            <a:r>
              <a:t>03</a:t>
            </a:r>
          </a:p>
        </p:txBody>
      </p:sp>
      <p:sp>
        <p:nvSpPr>
          <p:cNvPr id="20" name="TextBox 19"/>
          <p:cNvSpPr txBox="1"/>
          <p:nvPr/>
        </p:nvSpPr>
        <p:spPr>
          <a:xfrm>
            <a:off x="6327648" y="3154679"/>
            <a:ext cx="2359152" cy="640080"/>
          </a:xfrm>
          <a:prstGeom prst="rect">
            <a:avLst/>
          </a:prstGeom>
          <a:noFill/>
        </p:spPr>
        <p:txBody>
          <a:bodyPr wrap="square" lIns="0" rIns="0" tIns="0" bIns="0">
            <a:spAutoFit/>
          </a:bodyPr>
          <a:lstStyle/>
          <a:p>
            <a:pPr>
              <a:lnSpc>
                <a:spcPct val="108000"/>
              </a:lnSpc>
              <a:spcAft>
                <a:spcPts val="400"/>
              </a:spcAft>
              <a:defRPr sz="2100" b="1">
                <a:solidFill>
                  <a:srgbClr val="182B40"/>
                </a:solidFill>
                <a:latin typeface="Arial"/>
              </a:defRPr>
            </a:pPr>
            <a:r>
              <a:t>Approve</a:t>
            </a:r>
          </a:p>
        </p:txBody>
      </p:sp>
      <p:sp>
        <p:nvSpPr>
          <p:cNvPr id="21" name="TextBox 20"/>
          <p:cNvSpPr txBox="1"/>
          <p:nvPr/>
        </p:nvSpPr>
        <p:spPr>
          <a:xfrm>
            <a:off x="6327648" y="3858768"/>
            <a:ext cx="2359152" cy="1024128"/>
          </a:xfrm>
          <a:prstGeom prst="rect">
            <a:avLst/>
          </a:prstGeom>
          <a:noFill/>
        </p:spPr>
        <p:txBody>
          <a:bodyPr wrap="square" lIns="0" rIns="0" tIns="0" bIns="0">
            <a:spAutoFit/>
          </a:bodyPr>
          <a:lstStyle/>
          <a:p>
            <a:pPr>
              <a:lnSpc>
                <a:spcPct val="108000"/>
              </a:lnSpc>
              <a:spcAft>
                <a:spcPts val="400"/>
              </a:spcAft>
              <a:defRPr sz="1800" b="0">
                <a:solidFill>
                  <a:srgbClr val="182B40"/>
                </a:solidFill>
                <a:latin typeface="Arial"/>
              </a:defRPr>
            </a:pPr>
            <a:r>
              <a:t>Individual operation, parameters and target in Chat</a:t>
            </a:r>
          </a:p>
        </p:txBody>
      </p:sp>
      <p:sp>
        <p:nvSpPr>
          <p:cNvPr id="22" name="Rectangle 21"/>
          <p:cNvSpPr/>
          <p:nvPr/>
        </p:nvSpPr>
        <p:spPr>
          <a:xfrm>
            <a:off x="9015984" y="2514600"/>
            <a:ext cx="2688336" cy="2697480"/>
          </a:xfrm>
          <a:prstGeom prst="rect">
            <a:avLst/>
          </a:prstGeom>
          <a:solidFill>
            <a:srgbClr val="ED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015984" y="2514600"/>
            <a:ext cx="2688336" cy="64008"/>
          </a:xfrm>
          <a:prstGeom prst="rect">
            <a:avLst/>
          </a:prstGeom>
          <a:solidFill>
            <a:srgbClr val="006D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80576" y="2715768"/>
            <a:ext cx="2359152" cy="274320"/>
          </a:xfrm>
          <a:prstGeom prst="rect">
            <a:avLst/>
          </a:prstGeom>
          <a:noFill/>
        </p:spPr>
        <p:txBody>
          <a:bodyPr wrap="square" lIns="0" rIns="0" tIns="0" bIns="0">
            <a:spAutoFit/>
          </a:bodyPr>
          <a:lstStyle/>
          <a:p>
            <a:pPr>
              <a:lnSpc>
                <a:spcPct val="108000"/>
              </a:lnSpc>
              <a:spcAft>
                <a:spcPts val="400"/>
              </a:spcAft>
              <a:defRPr sz="1200" b="1">
                <a:solidFill>
                  <a:srgbClr val="006D76"/>
                </a:solidFill>
                <a:latin typeface="Arial"/>
              </a:defRPr>
            </a:pPr>
            <a:r>
              <a:t>04</a:t>
            </a:r>
          </a:p>
        </p:txBody>
      </p:sp>
      <p:sp>
        <p:nvSpPr>
          <p:cNvPr id="25" name="TextBox 24"/>
          <p:cNvSpPr txBox="1"/>
          <p:nvPr/>
        </p:nvSpPr>
        <p:spPr>
          <a:xfrm>
            <a:off x="9180576" y="3154679"/>
            <a:ext cx="2359152" cy="640080"/>
          </a:xfrm>
          <a:prstGeom prst="rect">
            <a:avLst/>
          </a:prstGeom>
          <a:noFill/>
        </p:spPr>
        <p:txBody>
          <a:bodyPr wrap="square" lIns="0" rIns="0" tIns="0" bIns="0">
            <a:spAutoFit/>
          </a:bodyPr>
          <a:lstStyle/>
          <a:p>
            <a:pPr>
              <a:lnSpc>
                <a:spcPct val="108000"/>
              </a:lnSpc>
              <a:spcAft>
                <a:spcPts val="400"/>
              </a:spcAft>
              <a:defRPr sz="2100" b="1">
                <a:solidFill>
                  <a:srgbClr val="182B40"/>
                </a:solidFill>
                <a:latin typeface="Arial"/>
              </a:defRPr>
            </a:pPr>
            <a:r>
              <a:t>Observe</a:t>
            </a:r>
          </a:p>
        </p:txBody>
      </p:sp>
      <p:sp>
        <p:nvSpPr>
          <p:cNvPr id="26" name="TextBox 25"/>
          <p:cNvSpPr txBox="1"/>
          <p:nvPr/>
        </p:nvSpPr>
        <p:spPr>
          <a:xfrm>
            <a:off x="9180576" y="3858768"/>
            <a:ext cx="2359152" cy="1024128"/>
          </a:xfrm>
          <a:prstGeom prst="rect">
            <a:avLst/>
          </a:prstGeom>
          <a:noFill/>
        </p:spPr>
        <p:txBody>
          <a:bodyPr wrap="square" lIns="0" rIns="0" tIns="0" bIns="0">
            <a:spAutoFit/>
          </a:bodyPr>
          <a:lstStyle/>
          <a:p>
            <a:pPr>
              <a:lnSpc>
                <a:spcPct val="108000"/>
              </a:lnSpc>
              <a:spcAft>
                <a:spcPts val="400"/>
              </a:spcAft>
              <a:defRPr sz="1800" b="0">
                <a:solidFill>
                  <a:srgbClr val="182B40"/>
                </a:solidFill>
                <a:latin typeface="Arial"/>
              </a:defRPr>
            </a:pPr>
            <a:r>
              <a:t>API result, audit event and independent service state</a:t>
            </a:r>
          </a:p>
        </p:txBody>
      </p:sp>
      <p:sp>
        <p:nvSpPr>
          <p:cNvPr id="27" name="Rectangle 26"/>
          <p:cNvSpPr/>
          <p:nvPr/>
        </p:nvSpPr>
        <p:spPr>
          <a:xfrm>
            <a:off x="457200" y="5715000"/>
            <a:ext cx="11247120" cy="429768"/>
          </a:xfrm>
          <a:prstGeom prst="rect">
            <a:avLst/>
          </a:prstGeom>
          <a:solidFill>
            <a:srgbClr val="1128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4360" y="5797296"/>
            <a:ext cx="10972800" cy="274320"/>
          </a:xfrm>
          <a:prstGeom prst="rect">
            <a:avLst/>
          </a:prstGeom>
          <a:noFill/>
        </p:spPr>
        <p:txBody>
          <a:bodyPr wrap="square" lIns="0" rIns="0" tIns="0" bIns="0">
            <a:spAutoFit/>
          </a:bodyPr>
          <a:lstStyle/>
          <a:p>
            <a:pPr>
              <a:lnSpc>
                <a:spcPct val="108000"/>
              </a:lnSpc>
              <a:spcAft>
                <a:spcPts val="400"/>
              </a:spcAft>
              <a:defRPr sz="1200" b="1">
                <a:solidFill>
                  <a:srgbClr val="FFFFFF"/>
                </a:solidFill>
                <a:latin typeface="Arial"/>
              </a:defRPr>
            </a:pPr>
            <a:r>
              <a:t>Release testing sends application writes through a different execution path.</a:t>
            </a:r>
          </a:p>
        </p:txBody>
      </p:sp>
      <p:sp>
        <p:nvSpPr>
          <p:cNvPr id="29" name="Rectangle 28"/>
          <p:cNvSpPr/>
          <p:nvPr/>
        </p:nvSpPr>
        <p:spPr>
          <a:xfrm>
            <a:off x="457200" y="6355080"/>
            <a:ext cx="11247120" cy="10972"/>
          </a:xfrm>
          <a:prstGeom prst="rect">
            <a:avLst/>
          </a:prstGeom>
          <a:solidFill>
            <a:srgbClr val="D4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7200" y="6492240"/>
            <a:ext cx="4572000" cy="201168"/>
          </a:xfrm>
          <a:prstGeom prst="rect">
            <a:avLst/>
          </a:prstGeom>
          <a:noFill/>
        </p:spPr>
        <p:txBody>
          <a:bodyPr wrap="square" lIns="0" rIns="0" tIns="0" bIns="0">
            <a:spAutoFit/>
          </a:bodyPr>
          <a:lstStyle/>
          <a:p>
            <a:pPr>
              <a:lnSpc>
                <a:spcPct val="108000"/>
              </a:lnSpc>
              <a:spcAft>
                <a:spcPts val="400"/>
              </a:spcAft>
              <a:defRPr sz="1000" b="0">
                <a:solidFill>
                  <a:srgbClr val="536477"/>
                </a:solidFill>
                <a:latin typeface="Arial"/>
              </a:defRPr>
            </a:pPr>
            <a:r>
              <a:t>12:00–14:30   |   2:30 allocation</a:t>
            </a:r>
          </a:p>
        </p:txBody>
      </p:sp>
      <p:sp>
        <p:nvSpPr>
          <p:cNvPr id="31" name="TextBox 30"/>
          <p:cNvSpPr txBox="1"/>
          <p:nvPr/>
        </p:nvSpPr>
        <p:spPr>
          <a:xfrm>
            <a:off x="10835640" y="6492240"/>
            <a:ext cx="868680" cy="201168"/>
          </a:xfrm>
          <a:prstGeom prst="rect">
            <a:avLst/>
          </a:prstGeom>
          <a:noFill/>
        </p:spPr>
        <p:txBody>
          <a:bodyPr wrap="square" lIns="0" rIns="0" tIns="0" bIns="0">
            <a:spAutoFit/>
          </a:bodyPr>
          <a:lstStyle/>
          <a:p>
            <a:pPr>
              <a:lnSpc>
                <a:spcPct val="108000"/>
              </a:lnSpc>
              <a:spcAft>
                <a:spcPts val="400"/>
              </a:spcAft>
              <a:defRPr sz="1000" b="0">
                <a:solidFill>
                  <a:srgbClr val="536477"/>
                </a:solidFill>
                <a:latin typeface="Arial"/>
              </a:defRPr>
            </a:pPr>
            <a:r>
              <a:t>07 / 13</a:t>
            </a:r>
          </a:p>
        </p:txBody>
      </p:sp>
      <p:sp>
        <p:nvSpPr>
          <p:cNvPr id="32" name="TextBox 31"/>
          <p:cNvSpPr txBox="1"/>
          <p:nvPr/>
        </p:nvSpPr>
        <p:spPr>
          <a:xfrm>
            <a:off x="4800600" y="6492240"/>
            <a:ext cx="5852160" cy="201168"/>
          </a:xfrm>
          <a:prstGeom prst="rect">
            <a:avLst/>
          </a:prstGeom>
          <a:noFill/>
        </p:spPr>
        <p:txBody>
          <a:bodyPr wrap="square" lIns="0" rIns="0" tIns="0" bIns="0">
            <a:spAutoFit/>
          </a:bodyPr>
          <a:lstStyle/>
          <a:p>
            <a:pPr>
              <a:lnSpc>
                <a:spcPct val="108000"/>
              </a:lnSpc>
              <a:spcAft>
                <a:spcPts val="400"/>
              </a:spcAft>
              <a:defRPr sz="900" b="0">
                <a:solidFill>
                  <a:srgbClr val="536477"/>
                </a:solidFill>
                <a:latin typeface="Arial"/>
              </a:defRPr>
            </a:pPr>
            <a:r>
              <a:t>Sources: actions, release-test · full URLs in notes and report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006D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92608"/>
            <a:ext cx="10789920" cy="228600"/>
          </a:xfrm>
          <a:prstGeom prst="rect">
            <a:avLst/>
          </a:prstGeom>
          <a:noFill/>
        </p:spPr>
        <p:txBody>
          <a:bodyPr wrap="square" lIns="0" rIns="0" tIns="0" bIns="0">
            <a:spAutoFit/>
          </a:bodyPr>
          <a:lstStyle/>
          <a:p>
            <a:pPr>
              <a:lnSpc>
                <a:spcPct val="108000"/>
              </a:lnSpc>
              <a:spcAft>
                <a:spcPts val="400"/>
              </a:spcAft>
              <a:defRPr sz="1000" b="1">
                <a:solidFill>
                  <a:srgbClr val="006D76"/>
                </a:solidFill>
                <a:latin typeface="Arial"/>
              </a:defRPr>
            </a:pPr>
            <a:r>
              <a:t>AWS DEVOPS AGENT  /  ENGINEERING REFERENCE</a:t>
            </a:r>
          </a:p>
        </p:txBody>
      </p:sp>
      <p:sp>
        <p:nvSpPr>
          <p:cNvPr id="5" name="TextBox 4"/>
          <p:cNvSpPr txBox="1"/>
          <p:nvPr/>
        </p:nvSpPr>
        <p:spPr>
          <a:xfrm>
            <a:off x="457200" y="713232"/>
            <a:ext cx="11201400" cy="914400"/>
          </a:xfrm>
          <a:prstGeom prst="rect">
            <a:avLst/>
          </a:prstGeom>
          <a:noFill/>
        </p:spPr>
        <p:txBody>
          <a:bodyPr wrap="square" lIns="0" rIns="0" tIns="0" bIns="0">
            <a:spAutoFit/>
          </a:bodyPr>
          <a:lstStyle/>
          <a:p>
            <a:pPr>
              <a:lnSpc>
                <a:spcPct val="108000"/>
              </a:lnSpc>
              <a:spcAft>
                <a:spcPts val="400"/>
              </a:spcAft>
              <a:defRPr sz="2900" b="1">
                <a:solidFill>
                  <a:srgbClr val="182B40"/>
                </a:solidFill>
                <a:latin typeface="Arial"/>
              </a:defRPr>
            </a:pPr>
            <a:r>
              <a:t>What persists after an incident?</a:t>
            </a:r>
          </a:p>
        </p:txBody>
      </p:sp>
      <p:sp>
        <p:nvSpPr>
          <p:cNvPr id="6" name="TextBox 5"/>
          <p:cNvSpPr txBox="1"/>
          <p:nvPr/>
        </p:nvSpPr>
        <p:spPr>
          <a:xfrm>
            <a:off x="457200" y="1773936"/>
            <a:ext cx="11109960" cy="475488"/>
          </a:xfrm>
          <a:prstGeom prst="rect">
            <a:avLst/>
          </a:prstGeom>
          <a:noFill/>
        </p:spPr>
        <p:txBody>
          <a:bodyPr wrap="square" lIns="0" rIns="0" tIns="0" bIns="0">
            <a:spAutoFit/>
          </a:bodyPr>
          <a:lstStyle/>
          <a:p>
            <a:pPr>
              <a:lnSpc>
                <a:spcPct val="108000"/>
              </a:lnSpc>
              <a:spcAft>
                <a:spcPts val="400"/>
              </a:spcAft>
              <a:defRPr sz="1700" b="0">
                <a:solidFill>
                  <a:srgbClr val="006D76"/>
                </a:solidFill>
                <a:latin typeface="Arial"/>
              </a:defRPr>
            </a:pPr>
            <a:r>
              <a:t>Retained context, generated environment knowledge and correction records have distinct lifecycles.</a:t>
            </a:r>
          </a:p>
        </p:txBody>
      </p:sp>
      <p:sp>
        <p:nvSpPr>
          <p:cNvPr id="7" name="Rectangle 6"/>
          <p:cNvSpPr/>
          <p:nvPr/>
        </p:nvSpPr>
        <p:spPr>
          <a:xfrm>
            <a:off x="457200" y="2331720"/>
            <a:ext cx="3017520" cy="502920"/>
          </a:xfrm>
          <a:prstGeom prst="rect">
            <a:avLst/>
          </a:prstGeom>
          <a:solidFill>
            <a:srgbClr val="1128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 y="2441448"/>
            <a:ext cx="2761487" cy="356616"/>
          </a:xfrm>
          <a:prstGeom prst="rect">
            <a:avLst/>
          </a:prstGeom>
          <a:noFill/>
        </p:spPr>
        <p:txBody>
          <a:bodyPr wrap="square" lIns="0" rIns="0" tIns="0" bIns="0">
            <a:spAutoFit/>
          </a:bodyPr>
          <a:lstStyle/>
          <a:p>
            <a:pPr>
              <a:lnSpc>
                <a:spcPct val="108000"/>
              </a:lnSpc>
              <a:spcAft>
                <a:spcPts val="400"/>
              </a:spcAft>
              <a:defRPr sz="1500" b="1">
                <a:solidFill>
                  <a:srgbClr val="FFFFFF"/>
                </a:solidFill>
                <a:latin typeface="Arial"/>
              </a:defRPr>
            </a:pPr>
            <a:r>
              <a:t>Knowledge</a:t>
            </a:r>
          </a:p>
        </p:txBody>
      </p:sp>
      <p:sp>
        <p:nvSpPr>
          <p:cNvPr id="9" name="Rectangle 8"/>
          <p:cNvSpPr/>
          <p:nvPr/>
        </p:nvSpPr>
        <p:spPr>
          <a:xfrm>
            <a:off x="3474720" y="2331720"/>
            <a:ext cx="4114800" cy="502920"/>
          </a:xfrm>
          <a:prstGeom prst="rect">
            <a:avLst/>
          </a:prstGeom>
          <a:solidFill>
            <a:srgbClr val="1128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02736" y="2441448"/>
            <a:ext cx="3858768" cy="356616"/>
          </a:xfrm>
          <a:prstGeom prst="rect">
            <a:avLst/>
          </a:prstGeom>
          <a:noFill/>
        </p:spPr>
        <p:txBody>
          <a:bodyPr wrap="square" lIns="0" rIns="0" tIns="0" bIns="0">
            <a:spAutoFit/>
          </a:bodyPr>
          <a:lstStyle/>
          <a:p>
            <a:pPr>
              <a:lnSpc>
                <a:spcPct val="108000"/>
              </a:lnSpc>
              <a:spcAft>
                <a:spcPts val="400"/>
              </a:spcAft>
              <a:defRPr sz="1500" b="1">
                <a:solidFill>
                  <a:srgbClr val="FFFFFF"/>
                </a:solidFill>
                <a:latin typeface="Arial"/>
              </a:defRPr>
            </a:pPr>
            <a:r>
              <a:t>Origin</a:t>
            </a:r>
          </a:p>
        </p:txBody>
      </p:sp>
      <p:sp>
        <p:nvSpPr>
          <p:cNvPr id="11" name="Rectangle 10"/>
          <p:cNvSpPr/>
          <p:nvPr/>
        </p:nvSpPr>
        <p:spPr>
          <a:xfrm>
            <a:off x="7589520" y="2331720"/>
            <a:ext cx="4114800" cy="502920"/>
          </a:xfrm>
          <a:prstGeom prst="rect">
            <a:avLst/>
          </a:prstGeom>
          <a:solidFill>
            <a:srgbClr val="1128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17536" y="2441448"/>
            <a:ext cx="3858768" cy="356616"/>
          </a:xfrm>
          <a:prstGeom prst="rect">
            <a:avLst/>
          </a:prstGeom>
          <a:noFill/>
        </p:spPr>
        <p:txBody>
          <a:bodyPr wrap="square" lIns="0" rIns="0" tIns="0" bIns="0">
            <a:spAutoFit/>
          </a:bodyPr>
          <a:lstStyle/>
          <a:p>
            <a:pPr>
              <a:lnSpc>
                <a:spcPct val="108000"/>
              </a:lnSpc>
              <a:spcAft>
                <a:spcPts val="400"/>
              </a:spcAft>
              <a:defRPr sz="1500" b="1">
                <a:solidFill>
                  <a:srgbClr val="FFFFFF"/>
                </a:solidFill>
                <a:latin typeface="Arial"/>
              </a:defRPr>
            </a:pPr>
            <a:r>
              <a:t>Meaning for a later run</a:t>
            </a:r>
          </a:p>
        </p:txBody>
      </p:sp>
      <p:sp>
        <p:nvSpPr>
          <p:cNvPr id="13" name="Rectangle 12"/>
          <p:cNvSpPr/>
          <p:nvPr/>
        </p:nvSpPr>
        <p:spPr>
          <a:xfrm>
            <a:off x="457200" y="2834639"/>
            <a:ext cx="3017520" cy="806958"/>
          </a:xfrm>
          <a:prstGeom prst="rect">
            <a:avLst/>
          </a:prstGeom>
          <a:solidFill>
            <a:srgbClr val="EDF3F5"/>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85216" y="2953511"/>
            <a:ext cx="2761487" cy="651510"/>
          </a:xfrm>
          <a:prstGeom prst="rect">
            <a:avLst/>
          </a:prstGeom>
          <a:noFill/>
        </p:spPr>
        <p:txBody>
          <a:bodyPr wrap="square" lIns="0" rIns="0" tIns="0" bIns="0">
            <a:spAutoFit/>
          </a:bodyPr>
          <a:lstStyle/>
          <a:p>
            <a:pPr>
              <a:lnSpc>
                <a:spcPct val="108000"/>
              </a:lnSpc>
              <a:spcAft>
                <a:spcPts val="400"/>
              </a:spcAft>
              <a:defRPr sz="1700" b="1">
                <a:solidFill>
                  <a:srgbClr val="182B40"/>
                </a:solidFill>
                <a:latin typeface="Arial"/>
              </a:defRPr>
            </a:pPr>
            <a:r>
              <a:t>Monitor memory</a:t>
            </a:r>
          </a:p>
        </p:txBody>
      </p:sp>
      <p:sp>
        <p:nvSpPr>
          <p:cNvPr id="15" name="Rectangle 14"/>
          <p:cNvSpPr/>
          <p:nvPr/>
        </p:nvSpPr>
        <p:spPr>
          <a:xfrm>
            <a:off x="3474720" y="2834639"/>
            <a:ext cx="4114800" cy="806958"/>
          </a:xfrm>
          <a:prstGeom prst="rect">
            <a:avLst/>
          </a:prstGeom>
          <a:solidFill>
            <a:srgbClr val="EDF3F5"/>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2736" y="2953511"/>
            <a:ext cx="3858768" cy="651510"/>
          </a:xfrm>
          <a:prstGeom prst="rect">
            <a:avLst/>
          </a:prstGeom>
          <a:noFill/>
        </p:spPr>
        <p:txBody>
          <a:bodyPr wrap="square" lIns="0" rIns="0" tIns="0" bIns="0">
            <a:spAutoFit/>
          </a:bodyPr>
          <a:lstStyle/>
          <a:p>
            <a:pPr>
              <a:lnSpc>
                <a:spcPct val="108000"/>
              </a:lnSpc>
              <a:spcAft>
                <a:spcPts val="400"/>
              </a:spcAft>
              <a:defRPr sz="1700" b="0">
                <a:solidFill>
                  <a:srgbClr val="182B40"/>
                </a:solidFill>
                <a:latin typeface="Arial"/>
              </a:defRPr>
            </a:pPr>
            <a:r>
              <a:t>Recurring causes from recent investigations</a:t>
            </a:r>
          </a:p>
        </p:txBody>
      </p:sp>
      <p:sp>
        <p:nvSpPr>
          <p:cNvPr id="17" name="Rectangle 16"/>
          <p:cNvSpPr/>
          <p:nvPr/>
        </p:nvSpPr>
        <p:spPr>
          <a:xfrm>
            <a:off x="7589520" y="2834639"/>
            <a:ext cx="4114800" cy="806958"/>
          </a:xfrm>
          <a:prstGeom prst="rect">
            <a:avLst/>
          </a:prstGeom>
          <a:solidFill>
            <a:srgbClr val="EDF3F5"/>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17536" y="2953511"/>
            <a:ext cx="3858768" cy="651510"/>
          </a:xfrm>
          <a:prstGeom prst="rect">
            <a:avLst/>
          </a:prstGeom>
          <a:noFill/>
        </p:spPr>
        <p:txBody>
          <a:bodyPr wrap="square" lIns="0" rIns="0" tIns="0" bIns="0">
            <a:spAutoFit/>
          </a:bodyPr>
          <a:lstStyle/>
          <a:p>
            <a:pPr>
              <a:lnSpc>
                <a:spcPct val="108000"/>
              </a:lnSpc>
              <a:spcAft>
                <a:spcPts val="400"/>
              </a:spcAft>
              <a:defRPr sz="1700" b="0">
                <a:solidFill>
                  <a:srgbClr val="182B40"/>
                </a:solidFill>
                <a:latin typeface="Arial"/>
              </a:defRPr>
            </a:pPr>
            <a:r>
              <a:t>A historical hypothesis to test against current telemetry</a:t>
            </a:r>
          </a:p>
        </p:txBody>
      </p:sp>
      <p:sp>
        <p:nvSpPr>
          <p:cNvPr id="19" name="Rectangle 18"/>
          <p:cNvSpPr/>
          <p:nvPr/>
        </p:nvSpPr>
        <p:spPr>
          <a:xfrm>
            <a:off x="457200" y="3641598"/>
            <a:ext cx="3017520" cy="806958"/>
          </a:xfrm>
          <a:prstGeom prst="rect">
            <a:avLst/>
          </a:prstGeom>
          <a:solidFill>
            <a:srgbClr val="FFFFFF"/>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85216" y="3760470"/>
            <a:ext cx="2761487" cy="651510"/>
          </a:xfrm>
          <a:prstGeom prst="rect">
            <a:avLst/>
          </a:prstGeom>
          <a:noFill/>
        </p:spPr>
        <p:txBody>
          <a:bodyPr wrap="square" lIns="0" rIns="0" tIns="0" bIns="0">
            <a:spAutoFit/>
          </a:bodyPr>
          <a:lstStyle/>
          <a:p>
            <a:pPr>
              <a:lnSpc>
                <a:spcPct val="108000"/>
              </a:lnSpc>
              <a:spcAft>
                <a:spcPts val="400"/>
              </a:spcAft>
              <a:defRPr sz="1700" b="1">
                <a:solidFill>
                  <a:srgbClr val="182B40"/>
                </a:solidFill>
                <a:latin typeface="Arial"/>
              </a:defRPr>
            </a:pPr>
            <a:r>
              <a:t>Reflections</a:t>
            </a:r>
          </a:p>
        </p:txBody>
      </p:sp>
      <p:sp>
        <p:nvSpPr>
          <p:cNvPr id="21" name="Rectangle 20"/>
          <p:cNvSpPr/>
          <p:nvPr/>
        </p:nvSpPr>
        <p:spPr>
          <a:xfrm>
            <a:off x="3474720" y="3641598"/>
            <a:ext cx="4114800" cy="806958"/>
          </a:xfrm>
          <a:prstGeom prst="rect">
            <a:avLst/>
          </a:prstGeom>
          <a:solidFill>
            <a:srgbClr val="FFFFFF"/>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02736" y="3760470"/>
            <a:ext cx="3858768" cy="651510"/>
          </a:xfrm>
          <a:prstGeom prst="rect">
            <a:avLst/>
          </a:prstGeom>
          <a:noFill/>
        </p:spPr>
        <p:txBody>
          <a:bodyPr wrap="square" lIns="0" rIns="0" tIns="0" bIns="0">
            <a:spAutoFit/>
          </a:bodyPr>
          <a:lstStyle/>
          <a:p>
            <a:pPr>
              <a:lnSpc>
                <a:spcPct val="108000"/>
              </a:lnSpc>
              <a:spcAft>
                <a:spcPts val="400"/>
              </a:spcAft>
              <a:defRPr sz="1700" b="0">
                <a:solidFill>
                  <a:srgbClr val="182B40"/>
                </a:solidFill>
                <a:latin typeface="Arial"/>
              </a:defRPr>
            </a:pPr>
            <a:r>
              <a:t>Corrective feedback on a failed investigation</a:t>
            </a:r>
          </a:p>
        </p:txBody>
      </p:sp>
      <p:sp>
        <p:nvSpPr>
          <p:cNvPr id="23" name="Rectangle 22"/>
          <p:cNvSpPr/>
          <p:nvPr/>
        </p:nvSpPr>
        <p:spPr>
          <a:xfrm>
            <a:off x="7589520" y="3641598"/>
            <a:ext cx="4114800" cy="806958"/>
          </a:xfrm>
          <a:prstGeom prst="rect">
            <a:avLst/>
          </a:prstGeom>
          <a:solidFill>
            <a:srgbClr val="FFFFFF"/>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717536" y="3760470"/>
            <a:ext cx="3858768" cy="651510"/>
          </a:xfrm>
          <a:prstGeom prst="rect">
            <a:avLst/>
          </a:prstGeom>
          <a:noFill/>
        </p:spPr>
        <p:txBody>
          <a:bodyPr wrap="square" lIns="0" rIns="0" tIns="0" bIns="0">
            <a:spAutoFit/>
          </a:bodyPr>
          <a:lstStyle/>
          <a:p>
            <a:pPr>
              <a:lnSpc>
                <a:spcPct val="108000"/>
              </a:lnSpc>
              <a:spcAft>
                <a:spcPts val="400"/>
              </a:spcAft>
              <a:defRPr sz="1700" b="0">
                <a:solidFill>
                  <a:srgbClr val="182B40"/>
                </a:solidFill>
                <a:latin typeface="Arial"/>
              </a:defRPr>
            </a:pPr>
            <a:r>
              <a:t>A lesson associated with the monitor, not proof of recall</a:t>
            </a:r>
          </a:p>
        </p:txBody>
      </p:sp>
      <p:sp>
        <p:nvSpPr>
          <p:cNvPr id="25" name="Rectangle 24"/>
          <p:cNvSpPr/>
          <p:nvPr/>
        </p:nvSpPr>
        <p:spPr>
          <a:xfrm>
            <a:off x="457200" y="4448556"/>
            <a:ext cx="3017520" cy="806958"/>
          </a:xfrm>
          <a:prstGeom prst="rect">
            <a:avLst/>
          </a:prstGeom>
          <a:solidFill>
            <a:srgbClr val="EDF3F5"/>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85216" y="4567428"/>
            <a:ext cx="2761487" cy="651510"/>
          </a:xfrm>
          <a:prstGeom prst="rect">
            <a:avLst/>
          </a:prstGeom>
          <a:noFill/>
        </p:spPr>
        <p:txBody>
          <a:bodyPr wrap="square" lIns="0" rIns="0" tIns="0" bIns="0">
            <a:spAutoFit/>
          </a:bodyPr>
          <a:lstStyle/>
          <a:p>
            <a:pPr>
              <a:lnSpc>
                <a:spcPct val="108000"/>
              </a:lnSpc>
              <a:spcAft>
                <a:spcPts val="400"/>
              </a:spcAft>
              <a:defRPr sz="1700" b="1">
                <a:solidFill>
                  <a:srgbClr val="182B40"/>
                </a:solidFill>
                <a:latin typeface="Arial"/>
              </a:defRPr>
            </a:pPr>
            <a:r>
              <a:t>Environment/tool-use knowledge</a:t>
            </a:r>
          </a:p>
        </p:txBody>
      </p:sp>
      <p:sp>
        <p:nvSpPr>
          <p:cNvPr id="27" name="Rectangle 26"/>
          <p:cNvSpPr/>
          <p:nvPr/>
        </p:nvSpPr>
        <p:spPr>
          <a:xfrm>
            <a:off x="3474720" y="4448556"/>
            <a:ext cx="4114800" cy="806958"/>
          </a:xfrm>
          <a:prstGeom prst="rect">
            <a:avLst/>
          </a:prstGeom>
          <a:solidFill>
            <a:srgbClr val="EDF3F5"/>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02736" y="4567428"/>
            <a:ext cx="3858768" cy="651510"/>
          </a:xfrm>
          <a:prstGeom prst="rect">
            <a:avLst/>
          </a:prstGeom>
          <a:noFill/>
        </p:spPr>
        <p:txBody>
          <a:bodyPr wrap="square" lIns="0" rIns="0" tIns="0" bIns="0">
            <a:spAutoFit/>
          </a:bodyPr>
          <a:lstStyle/>
          <a:p>
            <a:pPr>
              <a:lnSpc>
                <a:spcPct val="108000"/>
              </a:lnSpc>
              <a:spcAft>
                <a:spcPts val="400"/>
              </a:spcAft>
              <a:defRPr sz="1700" b="0">
                <a:solidFill>
                  <a:srgbClr val="182B40"/>
                </a:solidFill>
                <a:latin typeface="Arial"/>
              </a:defRPr>
            </a:pPr>
            <a:r>
              <a:t>Managed learning and refresh</a:t>
            </a:r>
          </a:p>
        </p:txBody>
      </p:sp>
      <p:sp>
        <p:nvSpPr>
          <p:cNvPr id="29" name="Rectangle 28"/>
          <p:cNvSpPr/>
          <p:nvPr/>
        </p:nvSpPr>
        <p:spPr>
          <a:xfrm>
            <a:off x="7589520" y="4448556"/>
            <a:ext cx="4114800" cy="806958"/>
          </a:xfrm>
          <a:prstGeom prst="rect">
            <a:avLst/>
          </a:prstGeom>
          <a:solidFill>
            <a:srgbClr val="EDF3F5"/>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717536" y="4567428"/>
            <a:ext cx="3858768" cy="651510"/>
          </a:xfrm>
          <a:prstGeom prst="rect">
            <a:avLst/>
          </a:prstGeom>
          <a:noFill/>
        </p:spPr>
        <p:txBody>
          <a:bodyPr wrap="square" lIns="0" rIns="0" tIns="0" bIns="0">
            <a:spAutoFit/>
          </a:bodyPr>
          <a:lstStyle/>
          <a:p>
            <a:pPr>
              <a:lnSpc>
                <a:spcPct val="108000"/>
              </a:lnSpc>
              <a:spcAft>
                <a:spcPts val="400"/>
              </a:spcAft>
              <a:defRPr sz="1700" b="0">
                <a:solidFill>
                  <a:srgbClr val="182B40"/>
                </a:solidFill>
                <a:latin typeface="Arial"/>
              </a:defRPr>
            </a:pPr>
            <a:r>
              <a:t>Derived context with a timestamp and update conditions</a:t>
            </a:r>
          </a:p>
        </p:txBody>
      </p:sp>
      <p:sp>
        <p:nvSpPr>
          <p:cNvPr id="31" name="Rectangle 30"/>
          <p:cNvSpPr/>
          <p:nvPr/>
        </p:nvSpPr>
        <p:spPr>
          <a:xfrm>
            <a:off x="457200" y="5255514"/>
            <a:ext cx="3017520" cy="806958"/>
          </a:xfrm>
          <a:prstGeom prst="rect">
            <a:avLst/>
          </a:prstGeom>
          <a:solidFill>
            <a:srgbClr val="FFFFFF"/>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85216" y="5374386"/>
            <a:ext cx="2761487" cy="651510"/>
          </a:xfrm>
          <a:prstGeom prst="rect">
            <a:avLst/>
          </a:prstGeom>
          <a:noFill/>
        </p:spPr>
        <p:txBody>
          <a:bodyPr wrap="square" lIns="0" rIns="0" tIns="0" bIns="0">
            <a:spAutoFit/>
          </a:bodyPr>
          <a:lstStyle/>
          <a:p>
            <a:pPr>
              <a:lnSpc>
                <a:spcPct val="108000"/>
              </a:lnSpc>
              <a:spcAft>
                <a:spcPts val="400"/>
              </a:spcAft>
              <a:defRPr sz="1700" b="1">
                <a:solidFill>
                  <a:srgbClr val="182B40"/>
                </a:solidFill>
                <a:latin typeface="Arial"/>
              </a:defRPr>
            </a:pPr>
            <a:r>
              <a:t>Custom store</a:t>
            </a:r>
          </a:p>
        </p:txBody>
      </p:sp>
      <p:sp>
        <p:nvSpPr>
          <p:cNvPr id="33" name="Rectangle 32"/>
          <p:cNvSpPr/>
          <p:nvPr/>
        </p:nvSpPr>
        <p:spPr>
          <a:xfrm>
            <a:off x="3474720" y="5255514"/>
            <a:ext cx="4114800" cy="806958"/>
          </a:xfrm>
          <a:prstGeom prst="rect">
            <a:avLst/>
          </a:prstGeom>
          <a:solidFill>
            <a:srgbClr val="FFFFFF"/>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02736" y="5374386"/>
            <a:ext cx="3858768" cy="651510"/>
          </a:xfrm>
          <a:prstGeom prst="rect">
            <a:avLst/>
          </a:prstGeom>
          <a:noFill/>
        </p:spPr>
        <p:txBody>
          <a:bodyPr wrap="square" lIns="0" rIns="0" tIns="0" bIns="0">
            <a:spAutoFit/>
          </a:bodyPr>
          <a:lstStyle/>
          <a:p>
            <a:pPr>
              <a:lnSpc>
                <a:spcPct val="108000"/>
              </a:lnSpc>
              <a:spcAft>
                <a:spcPts val="400"/>
              </a:spcAft>
              <a:defRPr sz="1700" b="0">
                <a:solidFill>
                  <a:srgbClr val="182B40"/>
                </a:solidFill>
                <a:latin typeface="Arial"/>
              </a:defRPr>
            </a:pPr>
            <a:r>
              <a:t>Operator or permitted custom-agent writes</a:t>
            </a:r>
          </a:p>
        </p:txBody>
      </p:sp>
      <p:sp>
        <p:nvSpPr>
          <p:cNvPr id="35" name="Rectangle 34"/>
          <p:cNvSpPr/>
          <p:nvPr/>
        </p:nvSpPr>
        <p:spPr>
          <a:xfrm>
            <a:off x="7589520" y="5255514"/>
            <a:ext cx="4114800" cy="806958"/>
          </a:xfrm>
          <a:prstGeom prst="rect">
            <a:avLst/>
          </a:prstGeom>
          <a:solidFill>
            <a:srgbClr val="FFFFFF"/>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717536" y="5374386"/>
            <a:ext cx="3858768" cy="651510"/>
          </a:xfrm>
          <a:prstGeom prst="rect">
            <a:avLst/>
          </a:prstGeom>
          <a:noFill/>
        </p:spPr>
        <p:txBody>
          <a:bodyPr wrap="square" lIns="0" rIns="0" tIns="0" bIns="0">
            <a:spAutoFit/>
          </a:bodyPr>
          <a:lstStyle/>
          <a:p>
            <a:pPr>
              <a:lnSpc>
                <a:spcPct val="108000"/>
              </a:lnSpc>
              <a:spcAft>
                <a:spcPts val="400"/>
              </a:spcAft>
              <a:defRPr sz="1700" b="0">
                <a:solidFill>
                  <a:srgbClr val="182B40"/>
                </a:solidFill>
                <a:latin typeface="Arial"/>
              </a:defRPr>
            </a:pPr>
            <a:r>
              <a:t>Only useful when described, active and attached as needed</a:t>
            </a:r>
          </a:p>
        </p:txBody>
      </p:sp>
      <p:sp>
        <p:nvSpPr>
          <p:cNvPr id="37" name="Rectangle 36"/>
          <p:cNvSpPr/>
          <p:nvPr/>
        </p:nvSpPr>
        <p:spPr>
          <a:xfrm>
            <a:off x="457200" y="6355080"/>
            <a:ext cx="11247120" cy="10972"/>
          </a:xfrm>
          <a:prstGeom prst="rect">
            <a:avLst/>
          </a:prstGeom>
          <a:solidFill>
            <a:srgbClr val="D4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57200" y="6492240"/>
            <a:ext cx="4572000" cy="201168"/>
          </a:xfrm>
          <a:prstGeom prst="rect">
            <a:avLst/>
          </a:prstGeom>
          <a:noFill/>
        </p:spPr>
        <p:txBody>
          <a:bodyPr wrap="square" lIns="0" rIns="0" tIns="0" bIns="0">
            <a:spAutoFit/>
          </a:bodyPr>
          <a:lstStyle/>
          <a:p>
            <a:pPr>
              <a:lnSpc>
                <a:spcPct val="108000"/>
              </a:lnSpc>
              <a:spcAft>
                <a:spcPts val="400"/>
              </a:spcAft>
              <a:defRPr sz="1000" b="0">
                <a:solidFill>
                  <a:srgbClr val="536477"/>
                </a:solidFill>
                <a:latin typeface="Arial"/>
              </a:defRPr>
            </a:pPr>
            <a:r>
              <a:t>14:30–17:30   |   3:00 allocation</a:t>
            </a:r>
          </a:p>
        </p:txBody>
      </p:sp>
      <p:sp>
        <p:nvSpPr>
          <p:cNvPr id="39" name="TextBox 38"/>
          <p:cNvSpPr txBox="1"/>
          <p:nvPr/>
        </p:nvSpPr>
        <p:spPr>
          <a:xfrm>
            <a:off x="10835640" y="6492240"/>
            <a:ext cx="868680" cy="201168"/>
          </a:xfrm>
          <a:prstGeom prst="rect">
            <a:avLst/>
          </a:prstGeom>
          <a:noFill/>
        </p:spPr>
        <p:txBody>
          <a:bodyPr wrap="square" lIns="0" rIns="0" tIns="0" bIns="0">
            <a:spAutoFit/>
          </a:bodyPr>
          <a:lstStyle/>
          <a:p>
            <a:pPr>
              <a:lnSpc>
                <a:spcPct val="108000"/>
              </a:lnSpc>
              <a:spcAft>
                <a:spcPts val="400"/>
              </a:spcAft>
              <a:defRPr sz="1000" b="0">
                <a:solidFill>
                  <a:srgbClr val="536477"/>
                </a:solidFill>
                <a:latin typeface="Arial"/>
              </a:defRPr>
            </a:pPr>
            <a:r>
              <a:t>08 / 13</a:t>
            </a:r>
          </a:p>
        </p:txBody>
      </p:sp>
      <p:sp>
        <p:nvSpPr>
          <p:cNvPr id="40" name="TextBox 39"/>
          <p:cNvSpPr txBox="1"/>
          <p:nvPr/>
        </p:nvSpPr>
        <p:spPr>
          <a:xfrm>
            <a:off x="4800600" y="6492240"/>
            <a:ext cx="5852160" cy="201168"/>
          </a:xfrm>
          <a:prstGeom prst="rect">
            <a:avLst/>
          </a:prstGeom>
          <a:noFill/>
        </p:spPr>
        <p:txBody>
          <a:bodyPr wrap="square" lIns="0" rIns="0" tIns="0" bIns="0">
            <a:spAutoFit/>
          </a:bodyPr>
          <a:lstStyle/>
          <a:p>
            <a:pPr>
              <a:lnSpc>
                <a:spcPct val="108000"/>
              </a:lnSpc>
              <a:spcAft>
                <a:spcPts val="400"/>
              </a:spcAft>
              <a:defRPr sz="900" b="0">
                <a:solidFill>
                  <a:srgbClr val="536477"/>
                </a:solidFill>
                <a:latin typeface="Arial"/>
              </a:defRPr>
            </a:pPr>
            <a:r>
              <a:t>Sources: memory, learned, managed, history, custom · full URLs in notes and report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006D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92608"/>
            <a:ext cx="10789920" cy="228600"/>
          </a:xfrm>
          <a:prstGeom prst="rect">
            <a:avLst/>
          </a:prstGeom>
          <a:noFill/>
        </p:spPr>
        <p:txBody>
          <a:bodyPr wrap="square" lIns="0" rIns="0" tIns="0" bIns="0">
            <a:spAutoFit/>
          </a:bodyPr>
          <a:lstStyle/>
          <a:p>
            <a:pPr>
              <a:lnSpc>
                <a:spcPct val="108000"/>
              </a:lnSpc>
              <a:spcAft>
                <a:spcPts val="400"/>
              </a:spcAft>
              <a:defRPr sz="1000" b="1">
                <a:solidFill>
                  <a:srgbClr val="006D76"/>
                </a:solidFill>
                <a:latin typeface="Arial"/>
              </a:defRPr>
            </a:pPr>
            <a:r>
              <a:t>AWS DEVOPS AGENT  /  ENGINEERING REFERENCE</a:t>
            </a:r>
          </a:p>
        </p:txBody>
      </p:sp>
      <p:sp>
        <p:nvSpPr>
          <p:cNvPr id="5" name="TextBox 4"/>
          <p:cNvSpPr txBox="1"/>
          <p:nvPr/>
        </p:nvSpPr>
        <p:spPr>
          <a:xfrm>
            <a:off x="457200" y="713232"/>
            <a:ext cx="11201400" cy="914400"/>
          </a:xfrm>
          <a:prstGeom prst="rect">
            <a:avLst/>
          </a:prstGeom>
          <a:noFill/>
        </p:spPr>
        <p:txBody>
          <a:bodyPr wrap="square" lIns="0" rIns="0" tIns="0" bIns="0">
            <a:spAutoFit/>
          </a:bodyPr>
          <a:lstStyle/>
          <a:p>
            <a:pPr>
              <a:lnSpc>
                <a:spcPct val="108000"/>
              </a:lnSpc>
              <a:spcAft>
                <a:spcPts val="400"/>
              </a:spcAft>
              <a:defRPr sz="2900" b="1">
                <a:solidFill>
                  <a:srgbClr val="182B40"/>
                </a:solidFill>
                <a:latin typeface="Arial"/>
              </a:defRPr>
            </a:pPr>
            <a:r>
              <a:t>Enable and verify memory deliberately</a:t>
            </a:r>
          </a:p>
        </p:txBody>
      </p:sp>
      <p:sp>
        <p:nvSpPr>
          <p:cNvPr id="6" name="TextBox 5"/>
          <p:cNvSpPr txBox="1"/>
          <p:nvPr/>
        </p:nvSpPr>
        <p:spPr>
          <a:xfrm>
            <a:off x="457200" y="1773936"/>
            <a:ext cx="11109960" cy="475488"/>
          </a:xfrm>
          <a:prstGeom prst="rect">
            <a:avLst/>
          </a:prstGeom>
          <a:noFill/>
        </p:spPr>
        <p:txBody>
          <a:bodyPr wrap="square" lIns="0" rIns="0" tIns="0" bIns="0">
            <a:spAutoFit/>
          </a:bodyPr>
          <a:lstStyle/>
          <a:p>
            <a:pPr>
              <a:lnSpc>
                <a:spcPct val="108000"/>
              </a:lnSpc>
              <a:spcAft>
                <a:spcPts val="400"/>
              </a:spcAft>
              <a:defRPr sz="1700" b="0">
                <a:solidFill>
                  <a:srgbClr val="006D76"/>
                </a:solidFill>
                <a:latin typeface="Arial"/>
              </a:defRPr>
            </a:pPr>
            <a:r>
              <a:t>Presence, activation, retrieval and correctness are four different checks.</a:t>
            </a:r>
          </a:p>
        </p:txBody>
      </p:sp>
      <p:sp>
        <p:nvSpPr>
          <p:cNvPr id="7" name="Rectangle 6"/>
          <p:cNvSpPr/>
          <p:nvPr/>
        </p:nvSpPr>
        <p:spPr>
          <a:xfrm>
            <a:off x="457200" y="2514600"/>
            <a:ext cx="2688336" cy="2697480"/>
          </a:xfrm>
          <a:prstGeom prst="rect">
            <a:avLst/>
          </a:prstGeom>
          <a:solidFill>
            <a:srgbClr val="ED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2514600"/>
            <a:ext cx="2688336" cy="64008"/>
          </a:xfrm>
          <a:prstGeom prst="rect">
            <a:avLst/>
          </a:prstGeom>
          <a:solidFill>
            <a:srgbClr val="006D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1792" y="2715768"/>
            <a:ext cx="2359152" cy="274320"/>
          </a:xfrm>
          <a:prstGeom prst="rect">
            <a:avLst/>
          </a:prstGeom>
          <a:noFill/>
        </p:spPr>
        <p:txBody>
          <a:bodyPr wrap="square" lIns="0" rIns="0" tIns="0" bIns="0">
            <a:spAutoFit/>
          </a:bodyPr>
          <a:lstStyle/>
          <a:p>
            <a:pPr>
              <a:lnSpc>
                <a:spcPct val="108000"/>
              </a:lnSpc>
              <a:spcAft>
                <a:spcPts val="400"/>
              </a:spcAft>
              <a:defRPr sz="1200" b="1">
                <a:solidFill>
                  <a:srgbClr val="006D76"/>
                </a:solidFill>
                <a:latin typeface="Arial"/>
              </a:defRPr>
            </a:pPr>
            <a:r>
              <a:t>01</a:t>
            </a:r>
          </a:p>
        </p:txBody>
      </p:sp>
      <p:sp>
        <p:nvSpPr>
          <p:cNvPr id="10" name="TextBox 9"/>
          <p:cNvSpPr txBox="1"/>
          <p:nvPr/>
        </p:nvSpPr>
        <p:spPr>
          <a:xfrm>
            <a:off x="621792" y="3154679"/>
            <a:ext cx="2359152" cy="640080"/>
          </a:xfrm>
          <a:prstGeom prst="rect">
            <a:avLst/>
          </a:prstGeom>
          <a:noFill/>
        </p:spPr>
        <p:txBody>
          <a:bodyPr wrap="square" lIns="0" rIns="0" tIns="0" bIns="0">
            <a:spAutoFit/>
          </a:bodyPr>
          <a:lstStyle/>
          <a:p>
            <a:pPr>
              <a:lnSpc>
                <a:spcPct val="108000"/>
              </a:lnSpc>
              <a:spcAft>
                <a:spcPts val="400"/>
              </a:spcAft>
              <a:defRPr sz="2100" b="1">
                <a:solidFill>
                  <a:srgbClr val="182B40"/>
                </a:solidFill>
                <a:latin typeface="Arial"/>
              </a:defRPr>
            </a:pPr>
            <a:r>
              <a:t>Inspect</a:t>
            </a:r>
          </a:p>
        </p:txBody>
      </p:sp>
      <p:sp>
        <p:nvSpPr>
          <p:cNvPr id="11" name="TextBox 10"/>
          <p:cNvSpPr txBox="1"/>
          <p:nvPr/>
        </p:nvSpPr>
        <p:spPr>
          <a:xfrm>
            <a:off x="621792" y="3858768"/>
            <a:ext cx="2359152" cy="1024128"/>
          </a:xfrm>
          <a:prstGeom prst="rect">
            <a:avLst/>
          </a:prstGeom>
          <a:noFill/>
        </p:spPr>
        <p:txBody>
          <a:bodyPr wrap="square" lIns="0" rIns="0" tIns="0" bIns="0">
            <a:spAutoFit/>
          </a:bodyPr>
          <a:lstStyle/>
          <a:p>
            <a:pPr>
              <a:lnSpc>
                <a:spcPct val="108000"/>
              </a:lnSpc>
              <a:spcAft>
                <a:spcPts val="400"/>
              </a:spcAft>
              <a:defRPr sz="1800" b="0">
                <a:solidFill>
                  <a:srgbClr val="182B40"/>
                </a:solidFill>
                <a:latin typeface="Arial"/>
              </a:defRPr>
            </a:pPr>
            <a:r>
              <a:t>Knowledge → Memories: content, version and timestamp</a:t>
            </a:r>
          </a:p>
        </p:txBody>
      </p:sp>
      <p:sp>
        <p:nvSpPr>
          <p:cNvPr id="12" name="Rectangle 11"/>
          <p:cNvSpPr/>
          <p:nvPr/>
        </p:nvSpPr>
        <p:spPr>
          <a:xfrm>
            <a:off x="3310128" y="2514600"/>
            <a:ext cx="2688336" cy="2697480"/>
          </a:xfrm>
          <a:prstGeom prst="rect">
            <a:avLst/>
          </a:prstGeom>
          <a:solidFill>
            <a:srgbClr val="ED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10128" y="2514600"/>
            <a:ext cx="2688336" cy="64008"/>
          </a:xfrm>
          <a:prstGeom prst="rect">
            <a:avLst/>
          </a:prstGeom>
          <a:solidFill>
            <a:srgbClr val="006D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474720" y="2715768"/>
            <a:ext cx="2359152" cy="274320"/>
          </a:xfrm>
          <a:prstGeom prst="rect">
            <a:avLst/>
          </a:prstGeom>
          <a:noFill/>
        </p:spPr>
        <p:txBody>
          <a:bodyPr wrap="square" lIns="0" rIns="0" tIns="0" bIns="0">
            <a:spAutoFit/>
          </a:bodyPr>
          <a:lstStyle/>
          <a:p>
            <a:pPr>
              <a:lnSpc>
                <a:spcPct val="108000"/>
              </a:lnSpc>
              <a:spcAft>
                <a:spcPts val="400"/>
              </a:spcAft>
              <a:defRPr sz="1200" b="1">
                <a:solidFill>
                  <a:srgbClr val="006D76"/>
                </a:solidFill>
                <a:latin typeface="Arial"/>
              </a:defRPr>
            </a:pPr>
            <a:r>
              <a:t>02</a:t>
            </a:r>
          </a:p>
        </p:txBody>
      </p:sp>
      <p:sp>
        <p:nvSpPr>
          <p:cNvPr id="15" name="TextBox 14"/>
          <p:cNvSpPr txBox="1"/>
          <p:nvPr/>
        </p:nvSpPr>
        <p:spPr>
          <a:xfrm>
            <a:off x="3474720" y="3154679"/>
            <a:ext cx="2359152" cy="640080"/>
          </a:xfrm>
          <a:prstGeom prst="rect">
            <a:avLst/>
          </a:prstGeom>
          <a:noFill/>
        </p:spPr>
        <p:txBody>
          <a:bodyPr wrap="square" lIns="0" rIns="0" tIns="0" bIns="0">
            <a:spAutoFit/>
          </a:bodyPr>
          <a:lstStyle/>
          <a:p>
            <a:pPr>
              <a:lnSpc>
                <a:spcPct val="108000"/>
              </a:lnSpc>
              <a:spcAft>
                <a:spcPts val="400"/>
              </a:spcAft>
              <a:defRPr sz="2100" b="1">
                <a:solidFill>
                  <a:srgbClr val="182B40"/>
                </a:solidFill>
                <a:latin typeface="Arial"/>
              </a:defRPr>
            </a:pPr>
            <a:r>
              <a:t>Configure</a:t>
            </a:r>
          </a:p>
        </p:txBody>
      </p:sp>
      <p:sp>
        <p:nvSpPr>
          <p:cNvPr id="16" name="TextBox 15"/>
          <p:cNvSpPr txBox="1"/>
          <p:nvPr/>
        </p:nvSpPr>
        <p:spPr>
          <a:xfrm>
            <a:off x="3474720" y="3858768"/>
            <a:ext cx="2359152" cy="1024128"/>
          </a:xfrm>
          <a:prstGeom prst="rect">
            <a:avLst/>
          </a:prstGeom>
          <a:noFill/>
        </p:spPr>
        <p:txBody>
          <a:bodyPr wrap="square" lIns="0" rIns="0" tIns="0" bIns="0">
            <a:spAutoFit/>
          </a:bodyPr>
          <a:lstStyle/>
          <a:p>
            <a:pPr>
              <a:lnSpc>
                <a:spcPct val="108000"/>
              </a:lnSpc>
              <a:spcAft>
                <a:spcPts val="400"/>
              </a:spcAft>
              <a:defRPr sz="1800" b="0">
                <a:solidFill>
                  <a:srgbClr val="182B40"/>
                </a:solidFill>
                <a:latin typeface="Arial"/>
              </a:defRPr>
            </a:pPr>
            <a:r>
              <a:t>Activate the intended store; attach it to the custom agent</a:t>
            </a:r>
          </a:p>
        </p:txBody>
      </p:sp>
      <p:sp>
        <p:nvSpPr>
          <p:cNvPr id="17" name="Rectangle 16"/>
          <p:cNvSpPr/>
          <p:nvPr/>
        </p:nvSpPr>
        <p:spPr>
          <a:xfrm>
            <a:off x="6163056" y="2514600"/>
            <a:ext cx="2688336" cy="2697480"/>
          </a:xfrm>
          <a:prstGeom prst="rect">
            <a:avLst/>
          </a:prstGeom>
          <a:solidFill>
            <a:srgbClr val="ED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63056" y="2514600"/>
            <a:ext cx="2688336" cy="64008"/>
          </a:xfrm>
          <a:prstGeom prst="rect">
            <a:avLst/>
          </a:prstGeom>
          <a:solidFill>
            <a:srgbClr val="006D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27648" y="2715768"/>
            <a:ext cx="2359152" cy="274320"/>
          </a:xfrm>
          <a:prstGeom prst="rect">
            <a:avLst/>
          </a:prstGeom>
          <a:noFill/>
        </p:spPr>
        <p:txBody>
          <a:bodyPr wrap="square" lIns="0" rIns="0" tIns="0" bIns="0">
            <a:spAutoFit/>
          </a:bodyPr>
          <a:lstStyle/>
          <a:p>
            <a:pPr>
              <a:lnSpc>
                <a:spcPct val="108000"/>
              </a:lnSpc>
              <a:spcAft>
                <a:spcPts val="400"/>
              </a:spcAft>
              <a:defRPr sz="1200" b="1">
                <a:solidFill>
                  <a:srgbClr val="006D76"/>
                </a:solidFill>
                <a:latin typeface="Arial"/>
              </a:defRPr>
            </a:pPr>
            <a:r>
              <a:t>03</a:t>
            </a:r>
          </a:p>
        </p:txBody>
      </p:sp>
      <p:sp>
        <p:nvSpPr>
          <p:cNvPr id="20" name="TextBox 19"/>
          <p:cNvSpPr txBox="1"/>
          <p:nvPr/>
        </p:nvSpPr>
        <p:spPr>
          <a:xfrm>
            <a:off x="6327648" y="3154679"/>
            <a:ext cx="2359152" cy="640080"/>
          </a:xfrm>
          <a:prstGeom prst="rect">
            <a:avLst/>
          </a:prstGeom>
          <a:noFill/>
        </p:spPr>
        <p:txBody>
          <a:bodyPr wrap="square" lIns="0" rIns="0" tIns="0" bIns="0">
            <a:spAutoFit/>
          </a:bodyPr>
          <a:lstStyle/>
          <a:p>
            <a:pPr>
              <a:lnSpc>
                <a:spcPct val="108000"/>
              </a:lnSpc>
              <a:spcAft>
                <a:spcPts val="400"/>
              </a:spcAft>
              <a:defRPr sz="2100" b="1">
                <a:solidFill>
                  <a:srgbClr val="182B40"/>
                </a:solidFill>
                <a:latin typeface="Arial"/>
              </a:defRPr>
            </a:pPr>
            <a:r>
              <a:t>Observe</a:t>
            </a:r>
          </a:p>
        </p:txBody>
      </p:sp>
      <p:sp>
        <p:nvSpPr>
          <p:cNvPr id="21" name="TextBox 20"/>
          <p:cNvSpPr txBox="1"/>
          <p:nvPr/>
        </p:nvSpPr>
        <p:spPr>
          <a:xfrm>
            <a:off x="6327648" y="3858768"/>
            <a:ext cx="2359152" cy="1024128"/>
          </a:xfrm>
          <a:prstGeom prst="rect">
            <a:avLst/>
          </a:prstGeom>
          <a:noFill/>
        </p:spPr>
        <p:txBody>
          <a:bodyPr wrap="square" lIns="0" rIns="0" tIns="0" bIns="0">
            <a:spAutoFit/>
          </a:bodyPr>
          <a:lstStyle/>
          <a:p>
            <a:pPr>
              <a:lnSpc>
                <a:spcPct val="108000"/>
              </a:lnSpc>
              <a:spcAft>
                <a:spcPts val="400"/>
              </a:spcAft>
              <a:defRPr sz="1800" b="0">
                <a:solidFill>
                  <a:srgbClr val="182B40"/>
                </a:solidFill>
                <a:latin typeface="Arial"/>
              </a:defRPr>
            </a:pPr>
            <a:r>
              <a:t>Learning History/Triggers and available run read evidence</a:t>
            </a:r>
          </a:p>
        </p:txBody>
      </p:sp>
      <p:sp>
        <p:nvSpPr>
          <p:cNvPr id="22" name="Rectangle 21"/>
          <p:cNvSpPr/>
          <p:nvPr/>
        </p:nvSpPr>
        <p:spPr>
          <a:xfrm>
            <a:off x="9015984" y="2514600"/>
            <a:ext cx="2688336" cy="2697480"/>
          </a:xfrm>
          <a:prstGeom prst="rect">
            <a:avLst/>
          </a:prstGeom>
          <a:solidFill>
            <a:srgbClr val="ED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015984" y="2514600"/>
            <a:ext cx="2688336" cy="64008"/>
          </a:xfrm>
          <a:prstGeom prst="rect">
            <a:avLst/>
          </a:prstGeom>
          <a:solidFill>
            <a:srgbClr val="006D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80576" y="2715768"/>
            <a:ext cx="2359152" cy="274320"/>
          </a:xfrm>
          <a:prstGeom prst="rect">
            <a:avLst/>
          </a:prstGeom>
          <a:noFill/>
        </p:spPr>
        <p:txBody>
          <a:bodyPr wrap="square" lIns="0" rIns="0" tIns="0" bIns="0">
            <a:spAutoFit/>
          </a:bodyPr>
          <a:lstStyle/>
          <a:p>
            <a:pPr>
              <a:lnSpc>
                <a:spcPct val="108000"/>
              </a:lnSpc>
              <a:spcAft>
                <a:spcPts val="400"/>
              </a:spcAft>
              <a:defRPr sz="1200" b="1">
                <a:solidFill>
                  <a:srgbClr val="006D76"/>
                </a:solidFill>
                <a:latin typeface="Arial"/>
              </a:defRPr>
            </a:pPr>
            <a:r>
              <a:t>04</a:t>
            </a:r>
          </a:p>
        </p:txBody>
      </p:sp>
      <p:sp>
        <p:nvSpPr>
          <p:cNvPr id="25" name="TextBox 24"/>
          <p:cNvSpPr txBox="1"/>
          <p:nvPr/>
        </p:nvSpPr>
        <p:spPr>
          <a:xfrm>
            <a:off x="9180576" y="3154679"/>
            <a:ext cx="2359152" cy="640080"/>
          </a:xfrm>
          <a:prstGeom prst="rect">
            <a:avLst/>
          </a:prstGeom>
          <a:noFill/>
        </p:spPr>
        <p:txBody>
          <a:bodyPr wrap="square" lIns="0" rIns="0" tIns="0" bIns="0">
            <a:spAutoFit/>
          </a:bodyPr>
          <a:lstStyle/>
          <a:p>
            <a:pPr>
              <a:lnSpc>
                <a:spcPct val="108000"/>
              </a:lnSpc>
              <a:spcAft>
                <a:spcPts val="400"/>
              </a:spcAft>
              <a:defRPr sz="2100" b="1">
                <a:solidFill>
                  <a:srgbClr val="182B40"/>
                </a:solidFill>
                <a:latin typeface="Arial"/>
              </a:defRPr>
            </a:pPr>
            <a:r>
              <a:t>Challenge</a:t>
            </a:r>
          </a:p>
        </p:txBody>
      </p:sp>
      <p:sp>
        <p:nvSpPr>
          <p:cNvPr id="26" name="TextBox 25"/>
          <p:cNvSpPr txBox="1"/>
          <p:nvPr/>
        </p:nvSpPr>
        <p:spPr>
          <a:xfrm>
            <a:off x="9180576" y="3858768"/>
            <a:ext cx="2359152" cy="1024128"/>
          </a:xfrm>
          <a:prstGeom prst="rect">
            <a:avLst/>
          </a:prstGeom>
          <a:noFill/>
        </p:spPr>
        <p:txBody>
          <a:bodyPr wrap="square" lIns="0" rIns="0" tIns="0" bIns="0">
            <a:spAutoFit/>
          </a:bodyPr>
          <a:lstStyle/>
          <a:p>
            <a:pPr>
              <a:lnSpc>
                <a:spcPct val="108000"/>
              </a:lnSpc>
              <a:spcAft>
                <a:spcPts val="400"/>
              </a:spcAft>
              <a:defRPr sz="1800" b="0">
                <a:solidFill>
                  <a:srgbClr val="182B40"/>
                </a:solidFill>
                <a:latin typeface="Arial"/>
              </a:defRPr>
            </a:pPr>
            <a:r>
              <a:t>Compare the recalled cause with present telemetry</a:t>
            </a:r>
          </a:p>
        </p:txBody>
      </p:sp>
      <p:sp>
        <p:nvSpPr>
          <p:cNvPr id="27" name="Rectangle 26"/>
          <p:cNvSpPr/>
          <p:nvPr/>
        </p:nvSpPr>
        <p:spPr>
          <a:xfrm>
            <a:off x="457200" y="5715000"/>
            <a:ext cx="11247120" cy="429768"/>
          </a:xfrm>
          <a:prstGeom prst="rect">
            <a:avLst/>
          </a:prstGeom>
          <a:solidFill>
            <a:srgbClr val="1128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4360" y="5797296"/>
            <a:ext cx="10972800" cy="274320"/>
          </a:xfrm>
          <a:prstGeom prst="rect">
            <a:avLst/>
          </a:prstGeom>
          <a:noFill/>
        </p:spPr>
        <p:txBody>
          <a:bodyPr wrap="square" lIns="0" rIns="0" tIns="0" bIns="0">
            <a:spAutoFit/>
          </a:bodyPr>
          <a:lstStyle/>
          <a:p>
            <a:pPr>
              <a:lnSpc>
                <a:spcPct val="108000"/>
              </a:lnSpc>
              <a:spcAft>
                <a:spcPts val="400"/>
              </a:spcAft>
              <a:defRPr sz="1200" b="1">
                <a:solidFill>
                  <a:srgbClr val="FFFFFF"/>
                </a:solidFill>
                <a:latin typeface="Arial"/>
              </a:defRPr>
            </a:pPr>
            <a:r>
              <a:t>Managed stores are read-only to custom agents; attached custom stores can be written.</a:t>
            </a:r>
          </a:p>
        </p:txBody>
      </p:sp>
      <p:sp>
        <p:nvSpPr>
          <p:cNvPr id="29" name="Rectangle 28"/>
          <p:cNvSpPr/>
          <p:nvPr/>
        </p:nvSpPr>
        <p:spPr>
          <a:xfrm>
            <a:off x="457200" y="6355080"/>
            <a:ext cx="11247120" cy="10972"/>
          </a:xfrm>
          <a:prstGeom prst="rect">
            <a:avLst/>
          </a:prstGeom>
          <a:solidFill>
            <a:srgbClr val="D4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7200" y="6492240"/>
            <a:ext cx="4572000" cy="201168"/>
          </a:xfrm>
          <a:prstGeom prst="rect">
            <a:avLst/>
          </a:prstGeom>
          <a:noFill/>
        </p:spPr>
        <p:txBody>
          <a:bodyPr wrap="square" lIns="0" rIns="0" tIns="0" bIns="0">
            <a:spAutoFit/>
          </a:bodyPr>
          <a:lstStyle/>
          <a:p>
            <a:pPr>
              <a:lnSpc>
                <a:spcPct val="108000"/>
              </a:lnSpc>
              <a:spcAft>
                <a:spcPts val="400"/>
              </a:spcAft>
              <a:defRPr sz="1000" b="0">
                <a:solidFill>
                  <a:srgbClr val="536477"/>
                </a:solidFill>
                <a:latin typeface="Arial"/>
              </a:defRPr>
            </a:pPr>
            <a:r>
              <a:t>17:30–20:00   |   2:30 allocation</a:t>
            </a:r>
          </a:p>
        </p:txBody>
      </p:sp>
      <p:sp>
        <p:nvSpPr>
          <p:cNvPr id="31" name="TextBox 30"/>
          <p:cNvSpPr txBox="1"/>
          <p:nvPr/>
        </p:nvSpPr>
        <p:spPr>
          <a:xfrm>
            <a:off x="10835640" y="6492240"/>
            <a:ext cx="868680" cy="201168"/>
          </a:xfrm>
          <a:prstGeom prst="rect">
            <a:avLst/>
          </a:prstGeom>
          <a:noFill/>
        </p:spPr>
        <p:txBody>
          <a:bodyPr wrap="square" lIns="0" rIns="0" tIns="0" bIns="0">
            <a:spAutoFit/>
          </a:bodyPr>
          <a:lstStyle/>
          <a:p>
            <a:pPr>
              <a:lnSpc>
                <a:spcPct val="108000"/>
              </a:lnSpc>
              <a:spcAft>
                <a:spcPts val="400"/>
              </a:spcAft>
              <a:defRPr sz="1000" b="0">
                <a:solidFill>
                  <a:srgbClr val="536477"/>
                </a:solidFill>
                <a:latin typeface="Arial"/>
              </a:defRPr>
            </a:pPr>
            <a:r>
              <a:t>09 / 13</a:t>
            </a:r>
          </a:p>
        </p:txBody>
      </p:sp>
      <p:sp>
        <p:nvSpPr>
          <p:cNvPr id="32" name="TextBox 31"/>
          <p:cNvSpPr txBox="1"/>
          <p:nvPr/>
        </p:nvSpPr>
        <p:spPr>
          <a:xfrm>
            <a:off x="4800600" y="6492240"/>
            <a:ext cx="5852160" cy="201168"/>
          </a:xfrm>
          <a:prstGeom prst="rect">
            <a:avLst/>
          </a:prstGeom>
          <a:noFill/>
        </p:spPr>
        <p:txBody>
          <a:bodyPr wrap="square" lIns="0" rIns="0" tIns="0" bIns="0">
            <a:spAutoFit/>
          </a:bodyPr>
          <a:lstStyle/>
          <a:p>
            <a:pPr>
              <a:lnSpc>
                <a:spcPct val="108000"/>
              </a:lnSpc>
              <a:spcAft>
                <a:spcPts val="400"/>
              </a:spcAft>
              <a:defRPr sz="900" b="0">
                <a:solidFill>
                  <a:srgbClr val="536477"/>
                </a:solidFill>
                <a:latin typeface="Arial"/>
              </a:defRPr>
            </a:pPr>
            <a:r>
              <a:t>Sources: memory, managed, custom-create · full URLs in notes and report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006D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92608"/>
            <a:ext cx="10789920" cy="228600"/>
          </a:xfrm>
          <a:prstGeom prst="rect">
            <a:avLst/>
          </a:prstGeom>
          <a:noFill/>
        </p:spPr>
        <p:txBody>
          <a:bodyPr wrap="square" lIns="0" rIns="0" tIns="0" bIns="0">
            <a:spAutoFit/>
          </a:bodyPr>
          <a:lstStyle/>
          <a:p>
            <a:pPr>
              <a:lnSpc>
                <a:spcPct val="108000"/>
              </a:lnSpc>
              <a:spcAft>
                <a:spcPts val="400"/>
              </a:spcAft>
              <a:defRPr sz="1000" b="1">
                <a:solidFill>
                  <a:srgbClr val="006D76"/>
                </a:solidFill>
                <a:latin typeface="Arial"/>
              </a:defRPr>
            </a:pPr>
            <a:r>
              <a:t>AWS DEVOPS AGENT  /  ENGINEERING REFERENCE</a:t>
            </a:r>
          </a:p>
        </p:txBody>
      </p:sp>
      <p:sp>
        <p:nvSpPr>
          <p:cNvPr id="5" name="TextBox 4"/>
          <p:cNvSpPr txBox="1"/>
          <p:nvPr/>
        </p:nvSpPr>
        <p:spPr>
          <a:xfrm>
            <a:off x="457200" y="713232"/>
            <a:ext cx="11201400" cy="914400"/>
          </a:xfrm>
          <a:prstGeom prst="rect">
            <a:avLst/>
          </a:prstGeom>
          <a:noFill/>
        </p:spPr>
        <p:txBody>
          <a:bodyPr wrap="square" lIns="0" rIns="0" tIns="0" bIns="0">
            <a:spAutoFit/>
          </a:bodyPr>
          <a:lstStyle/>
          <a:p>
            <a:pPr>
              <a:lnSpc>
                <a:spcPct val="108000"/>
              </a:lnSpc>
              <a:spcAft>
                <a:spcPts val="400"/>
              </a:spcAft>
              <a:defRPr sz="2900" b="1">
                <a:solidFill>
                  <a:srgbClr val="182B40"/>
                </a:solidFill>
                <a:latin typeface="Arial"/>
              </a:defRPr>
            </a:pPr>
            <a:r>
              <a:t>A scheduled report is a configured program of work</a:t>
            </a:r>
          </a:p>
        </p:txBody>
      </p:sp>
      <p:sp>
        <p:nvSpPr>
          <p:cNvPr id="6" name="TextBox 5"/>
          <p:cNvSpPr txBox="1"/>
          <p:nvPr/>
        </p:nvSpPr>
        <p:spPr>
          <a:xfrm>
            <a:off x="457200" y="1773936"/>
            <a:ext cx="11109960" cy="475488"/>
          </a:xfrm>
          <a:prstGeom prst="rect">
            <a:avLst/>
          </a:prstGeom>
          <a:noFill/>
        </p:spPr>
        <p:txBody>
          <a:bodyPr wrap="square" lIns="0" rIns="0" tIns="0" bIns="0">
            <a:spAutoFit/>
          </a:bodyPr>
          <a:lstStyle/>
          <a:p>
            <a:pPr>
              <a:lnSpc>
                <a:spcPct val="108000"/>
              </a:lnSpc>
              <a:spcAft>
                <a:spcPts val="400"/>
              </a:spcAft>
              <a:defRPr sz="1700" b="0">
                <a:solidFill>
                  <a:srgbClr val="006D76"/>
                </a:solidFill>
                <a:latin typeface="Arial"/>
              </a:defRPr>
            </a:pPr>
            <a:r>
              <a:t>The custom-agent facility provides execution; the team supplies the task definition and acceptance rule.</a:t>
            </a:r>
          </a:p>
        </p:txBody>
      </p:sp>
      <p:sp>
        <p:nvSpPr>
          <p:cNvPr id="7" name="Rectangle 6"/>
          <p:cNvSpPr/>
          <p:nvPr/>
        </p:nvSpPr>
        <p:spPr>
          <a:xfrm>
            <a:off x="457200" y="2331720"/>
            <a:ext cx="3017520" cy="502920"/>
          </a:xfrm>
          <a:prstGeom prst="rect">
            <a:avLst/>
          </a:prstGeom>
          <a:solidFill>
            <a:srgbClr val="1128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 y="2441448"/>
            <a:ext cx="2761487" cy="356616"/>
          </a:xfrm>
          <a:prstGeom prst="rect">
            <a:avLst/>
          </a:prstGeom>
          <a:noFill/>
        </p:spPr>
        <p:txBody>
          <a:bodyPr wrap="square" lIns="0" rIns="0" tIns="0" bIns="0">
            <a:spAutoFit/>
          </a:bodyPr>
          <a:lstStyle/>
          <a:p>
            <a:pPr>
              <a:lnSpc>
                <a:spcPct val="108000"/>
              </a:lnSpc>
              <a:spcAft>
                <a:spcPts val="400"/>
              </a:spcAft>
              <a:defRPr sz="1500" b="1">
                <a:solidFill>
                  <a:srgbClr val="FFFFFF"/>
                </a:solidFill>
                <a:latin typeface="Arial"/>
              </a:defRPr>
            </a:pPr>
            <a:r>
              <a:t>Configuration</a:t>
            </a:r>
          </a:p>
        </p:txBody>
      </p:sp>
      <p:sp>
        <p:nvSpPr>
          <p:cNvPr id="9" name="Rectangle 8"/>
          <p:cNvSpPr/>
          <p:nvPr/>
        </p:nvSpPr>
        <p:spPr>
          <a:xfrm>
            <a:off x="3474720" y="2331720"/>
            <a:ext cx="4114800" cy="502920"/>
          </a:xfrm>
          <a:prstGeom prst="rect">
            <a:avLst/>
          </a:prstGeom>
          <a:solidFill>
            <a:srgbClr val="1128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02736" y="2441448"/>
            <a:ext cx="3858768" cy="356616"/>
          </a:xfrm>
          <a:prstGeom prst="rect">
            <a:avLst/>
          </a:prstGeom>
          <a:noFill/>
        </p:spPr>
        <p:txBody>
          <a:bodyPr wrap="square" lIns="0" rIns="0" tIns="0" bIns="0">
            <a:spAutoFit/>
          </a:bodyPr>
          <a:lstStyle/>
          <a:p>
            <a:pPr>
              <a:lnSpc>
                <a:spcPct val="108000"/>
              </a:lnSpc>
              <a:spcAft>
                <a:spcPts val="400"/>
              </a:spcAft>
              <a:defRPr sz="1500" b="1">
                <a:solidFill>
                  <a:srgbClr val="FFFFFF"/>
                </a:solidFill>
                <a:latin typeface="Arial"/>
              </a:defRPr>
            </a:pPr>
            <a:r>
              <a:t>Required precision</a:t>
            </a:r>
          </a:p>
        </p:txBody>
      </p:sp>
      <p:sp>
        <p:nvSpPr>
          <p:cNvPr id="11" name="Rectangle 10"/>
          <p:cNvSpPr/>
          <p:nvPr/>
        </p:nvSpPr>
        <p:spPr>
          <a:xfrm>
            <a:off x="7589520" y="2331720"/>
            <a:ext cx="4114800" cy="502920"/>
          </a:xfrm>
          <a:prstGeom prst="rect">
            <a:avLst/>
          </a:prstGeom>
          <a:solidFill>
            <a:srgbClr val="1128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17536" y="2441448"/>
            <a:ext cx="3858768" cy="356616"/>
          </a:xfrm>
          <a:prstGeom prst="rect">
            <a:avLst/>
          </a:prstGeom>
          <a:noFill/>
        </p:spPr>
        <p:txBody>
          <a:bodyPr wrap="square" lIns="0" rIns="0" tIns="0" bIns="0">
            <a:spAutoFit/>
          </a:bodyPr>
          <a:lstStyle/>
          <a:p>
            <a:pPr>
              <a:lnSpc>
                <a:spcPct val="108000"/>
              </a:lnSpc>
              <a:spcAft>
                <a:spcPts val="400"/>
              </a:spcAft>
              <a:defRPr sz="1500" b="1">
                <a:solidFill>
                  <a:srgbClr val="FFFFFF"/>
                </a:solidFill>
                <a:latin typeface="Arial"/>
              </a:defRPr>
            </a:pPr>
            <a:r>
              <a:t>Observable failure</a:t>
            </a:r>
          </a:p>
        </p:txBody>
      </p:sp>
      <p:sp>
        <p:nvSpPr>
          <p:cNvPr id="13" name="Rectangle 12"/>
          <p:cNvSpPr/>
          <p:nvPr/>
        </p:nvSpPr>
        <p:spPr>
          <a:xfrm>
            <a:off x="457200" y="2834639"/>
            <a:ext cx="3017520" cy="806958"/>
          </a:xfrm>
          <a:prstGeom prst="rect">
            <a:avLst/>
          </a:prstGeom>
          <a:solidFill>
            <a:srgbClr val="EDF3F5"/>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85216" y="2953511"/>
            <a:ext cx="2761487" cy="651510"/>
          </a:xfrm>
          <a:prstGeom prst="rect">
            <a:avLst/>
          </a:prstGeom>
          <a:noFill/>
        </p:spPr>
        <p:txBody>
          <a:bodyPr wrap="square" lIns="0" rIns="0" tIns="0" bIns="0">
            <a:spAutoFit/>
          </a:bodyPr>
          <a:lstStyle/>
          <a:p>
            <a:pPr>
              <a:lnSpc>
                <a:spcPct val="108000"/>
              </a:lnSpc>
              <a:spcAft>
                <a:spcPts val="400"/>
              </a:spcAft>
              <a:defRPr sz="1700" b="1">
                <a:solidFill>
                  <a:srgbClr val="182B40"/>
                </a:solidFill>
                <a:latin typeface="Arial"/>
              </a:defRPr>
            </a:pPr>
            <a:r>
              <a:t>Prompt</a:t>
            </a:r>
          </a:p>
        </p:txBody>
      </p:sp>
      <p:sp>
        <p:nvSpPr>
          <p:cNvPr id="15" name="Rectangle 14"/>
          <p:cNvSpPr/>
          <p:nvPr/>
        </p:nvSpPr>
        <p:spPr>
          <a:xfrm>
            <a:off x="3474720" y="2834639"/>
            <a:ext cx="4114800" cy="806958"/>
          </a:xfrm>
          <a:prstGeom prst="rect">
            <a:avLst/>
          </a:prstGeom>
          <a:solidFill>
            <a:srgbClr val="EDF3F5"/>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2736" y="2953511"/>
            <a:ext cx="3858768" cy="651510"/>
          </a:xfrm>
          <a:prstGeom prst="rect">
            <a:avLst/>
          </a:prstGeom>
          <a:noFill/>
        </p:spPr>
        <p:txBody>
          <a:bodyPr wrap="square" lIns="0" rIns="0" tIns="0" bIns="0">
            <a:spAutoFit/>
          </a:bodyPr>
          <a:lstStyle/>
          <a:p>
            <a:pPr>
              <a:lnSpc>
                <a:spcPct val="108000"/>
              </a:lnSpc>
              <a:spcAft>
                <a:spcPts val="400"/>
              </a:spcAft>
              <a:defRPr sz="1700" b="0">
                <a:solidFill>
                  <a:srgbClr val="182B40"/>
                </a:solidFill>
                <a:latin typeface="Arial"/>
              </a:defRPr>
            </a:pPr>
            <a:r>
              <a:t>Resource scope, rule and output contract</a:t>
            </a:r>
          </a:p>
        </p:txBody>
      </p:sp>
      <p:sp>
        <p:nvSpPr>
          <p:cNvPr id="17" name="Rectangle 16"/>
          <p:cNvSpPr/>
          <p:nvPr/>
        </p:nvSpPr>
        <p:spPr>
          <a:xfrm>
            <a:off x="7589520" y="2834639"/>
            <a:ext cx="4114800" cy="806958"/>
          </a:xfrm>
          <a:prstGeom prst="rect">
            <a:avLst/>
          </a:prstGeom>
          <a:solidFill>
            <a:srgbClr val="EDF3F5"/>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17536" y="2953511"/>
            <a:ext cx="3858768" cy="651510"/>
          </a:xfrm>
          <a:prstGeom prst="rect">
            <a:avLst/>
          </a:prstGeom>
          <a:noFill/>
        </p:spPr>
        <p:txBody>
          <a:bodyPr wrap="square" lIns="0" rIns="0" tIns="0" bIns="0">
            <a:spAutoFit/>
          </a:bodyPr>
          <a:lstStyle/>
          <a:p>
            <a:pPr>
              <a:lnSpc>
                <a:spcPct val="108000"/>
              </a:lnSpc>
              <a:spcAft>
                <a:spcPts val="400"/>
              </a:spcAft>
              <a:defRPr sz="1700" b="0">
                <a:solidFill>
                  <a:srgbClr val="182B40"/>
                </a:solidFill>
                <a:latin typeface="Arial"/>
              </a:defRPr>
            </a:pPr>
            <a:r>
              <a:t>Vague analysis with no resource-level result</a:t>
            </a:r>
          </a:p>
        </p:txBody>
      </p:sp>
      <p:sp>
        <p:nvSpPr>
          <p:cNvPr id="19" name="Rectangle 18"/>
          <p:cNvSpPr/>
          <p:nvPr/>
        </p:nvSpPr>
        <p:spPr>
          <a:xfrm>
            <a:off x="457200" y="3641598"/>
            <a:ext cx="3017520" cy="806958"/>
          </a:xfrm>
          <a:prstGeom prst="rect">
            <a:avLst/>
          </a:prstGeom>
          <a:solidFill>
            <a:srgbClr val="FFFFFF"/>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85216" y="3760470"/>
            <a:ext cx="2761487" cy="651510"/>
          </a:xfrm>
          <a:prstGeom prst="rect">
            <a:avLst/>
          </a:prstGeom>
          <a:noFill/>
        </p:spPr>
        <p:txBody>
          <a:bodyPr wrap="square" lIns="0" rIns="0" tIns="0" bIns="0">
            <a:spAutoFit/>
          </a:bodyPr>
          <a:lstStyle/>
          <a:p>
            <a:pPr>
              <a:lnSpc>
                <a:spcPct val="108000"/>
              </a:lnSpc>
              <a:spcAft>
                <a:spcPts val="400"/>
              </a:spcAft>
              <a:defRPr sz="1700" b="1">
                <a:solidFill>
                  <a:srgbClr val="182B40"/>
                </a:solidFill>
                <a:latin typeface="Arial"/>
              </a:defRPr>
            </a:pPr>
            <a:r>
              <a:t>Tools</a:t>
            </a:r>
          </a:p>
        </p:txBody>
      </p:sp>
      <p:sp>
        <p:nvSpPr>
          <p:cNvPr id="21" name="Rectangle 20"/>
          <p:cNvSpPr/>
          <p:nvPr/>
        </p:nvSpPr>
        <p:spPr>
          <a:xfrm>
            <a:off x="3474720" y="3641598"/>
            <a:ext cx="4114800" cy="806958"/>
          </a:xfrm>
          <a:prstGeom prst="rect">
            <a:avLst/>
          </a:prstGeom>
          <a:solidFill>
            <a:srgbClr val="FFFFFF"/>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02736" y="3760470"/>
            <a:ext cx="3858768" cy="651510"/>
          </a:xfrm>
          <a:prstGeom prst="rect">
            <a:avLst/>
          </a:prstGeom>
          <a:noFill/>
        </p:spPr>
        <p:txBody>
          <a:bodyPr wrap="square" lIns="0" rIns="0" tIns="0" bIns="0">
            <a:spAutoFit/>
          </a:bodyPr>
          <a:lstStyle/>
          <a:p>
            <a:pPr>
              <a:lnSpc>
                <a:spcPct val="108000"/>
              </a:lnSpc>
              <a:spcAft>
                <a:spcPts val="400"/>
              </a:spcAft>
              <a:defRPr sz="1700" b="0">
                <a:solidFill>
                  <a:srgbClr val="182B40"/>
                </a:solidFill>
                <a:latin typeface="Arial"/>
              </a:defRPr>
            </a:pPr>
            <a:r>
              <a:t>Actual assigned read functions</a:t>
            </a:r>
          </a:p>
        </p:txBody>
      </p:sp>
      <p:sp>
        <p:nvSpPr>
          <p:cNvPr id="23" name="Rectangle 22"/>
          <p:cNvSpPr/>
          <p:nvPr/>
        </p:nvSpPr>
        <p:spPr>
          <a:xfrm>
            <a:off x="7589520" y="3641598"/>
            <a:ext cx="4114800" cy="806958"/>
          </a:xfrm>
          <a:prstGeom prst="rect">
            <a:avLst/>
          </a:prstGeom>
          <a:solidFill>
            <a:srgbClr val="FFFFFF"/>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717536" y="3760470"/>
            <a:ext cx="3858768" cy="651510"/>
          </a:xfrm>
          <a:prstGeom prst="rect">
            <a:avLst/>
          </a:prstGeom>
          <a:noFill/>
        </p:spPr>
        <p:txBody>
          <a:bodyPr wrap="square" lIns="0" rIns="0" tIns="0" bIns="0">
            <a:spAutoFit/>
          </a:bodyPr>
          <a:lstStyle/>
          <a:p>
            <a:pPr>
              <a:lnSpc>
                <a:spcPct val="108000"/>
              </a:lnSpc>
              <a:spcAft>
                <a:spcPts val="400"/>
              </a:spcAft>
              <a:defRPr sz="1700" b="0">
                <a:solidFill>
                  <a:srgbClr val="182B40"/>
                </a:solidFill>
                <a:latin typeface="Arial"/>
              </a:defRPr>
            </a:pPr>
            <a:r>
              <a:t>Missing source reported as compliant</a:t>
            </a:r>
          </a:p>
        </p:txBody>
      </p:sp>
      <p:sp>
        <p:nvSpPr>
          <p:cNvPr id="25" name="Rectangle 24"/>
          <p:cNvSpPr/>
          <p:nvPr/>
        </p:nvSpPr>
        <p:spPr>
          <a:xfrm>
            <a:off x="457200" y="4448556"/>
            <a:ext cx="3017520" cy="806958"/>
          </a:xfrm>
          <a:prstGeom prst="rect">
            <a:avLst/>
          </a:prstGeom>
          <a:solidFill>
            <a:srgbClr val="EDF3F5"/>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85216" y="4567428"/>
            <a:ext cx="2761487" cy="651510"/>
          </a:xfrm>
          <a:prstGeom prst="rect">
            <a:avLst/>
          </a:prstGeom>
          <a:noFill/>
        </p:spPr>
        <p:txBody>
          <a:bodyPr wrap="square" lIns="0" rIns="0" tIns="0" bIns="0">
            <a:spAutoFit/>
          </a:bodyPr>
          <a:lstStyle/>
          <a:p>
            <a:pPr>
              <a:lnSpc>
                <a:spcPct val="108000"/>
              </a:lnSpc>
              <a:spcAft>
                <a:spcPts val="400"/>
              </a:spcAft>
              <a:defRPr sz="1700" b="1">
                <a:solidFill>
                  <a:srgbClr val="182B40"/>
                </a:solidFill>
                <a:latin typeface="Arial"/>
              </a:defRPr>
            </a:pPr>
            <a:r>
              <a:t>Memory/skills</a:t>
            </a:r>
          </a:p>
        </p:txBody>
      </p:sp>
      <p:sp>
        <p:nvSpPr>
          <p:cNvPr id="27" name="Rectangle 26"/>
          <p:cNvSpPr/>
          <p:nvPr/>
        </p:nvSpPr>
        <p:spPr>
          <a:xfrm>
            <a:off x="3474720" y="4448556"/>
            <a:ext cx="4114800" cy="806958"/>
          </a:xfrm>
          <a:prstGeom prst="rect">
            <a:avLst/>
          </a:prstGeom>
          <a:solidFill>
            <a:srgbClr val="EDF3F5"/>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02736" y="4567428"/>
            <a:ext cx="3858768" cy="651510"/>
          </a:xfrm>
          <a:prstGeom prst="rect">
            <a:avLst/>
          </a:prstGeom>
          <a:noFill/>
        </p:spPr>
        <p:txBody>
          <a:bodyPr wrap="square" lIns="0" rIns="0" tIns="0" bIns="0">
            <a:spAutoFit/>
          </a:bodyPr>
          <a:lstStyle/>
          <a:p>
            <a:pPr>
              <a:lnSpc>
                <a:spcPct val="108000"/>
              </a:lnSpc>
              <a:spcAft>
                <a:spcPts val="400"/>
              </a:spcAft>
              <a:defRPr sz="1700" b="0">
                <a:solidFill>
                  <a:srgbClr val="182B40"/>
                </a:solidFill>
                <a:latin typeface="Arial"/>
              </a:defRPr>
            </a:pPr>
            <a:r>
              <a:t>Relevant attachments and procedures</a:t>
            </a:r>
          </a:p>
        </p:txBody>
      </p:sp>
      <p:sp>
        <p:nvSpPr>
          <p:cNvPr id="29" name="Rectangle 28"/>
          <p:cNvSpPr/>
          <p:nvPr/>
        </p:nvSpPr>
        <p:spPr>
          <a:xfrm>
            <a:off x="7589520" y="4448556"/>
            <a:ext cx="4114800" cy="806958"/>
          </a:xfrm>
          <a:prstGeom prst="rect">
            <a:avLst/>
          </a:prstGeom>
          <a:solidFill>
            <a:srgbClr val="EDF3F5"/>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717536" y="4567428"/>
            <a:ext cx="3858768" cy="651510"/>
          </a:xfrm>
          <a:prstGeom prst="rect">
            <a:avLst/>
          </a:prstGeom>
          <a:noFill/>
        </p:spPr>
        <p:txBody>
          <a:bodyPr wrap="square" lIns="0" rIns="0" tIns="0" bIns="0">
            <a:spAutoFit/>
          </a:bodyPr>
          <a:lstStyle/>
          <a:p>
            <a:pPr>
              <a:lnSpc>
                <a:spcPct val="108000"/>
              </a:lnSpc>
              <a:spcAft>
                <a:spcPts val="400"/>
              </a:spcAft>
              <a:defRPr sz="1700" b="0">
                <a:solidFill>
                  <a:srgbClr val="182B40"/>
                </a:solidFill>
                <a:latin typeface="Arial"/>
              </a:defRPr>
            </a:pPr>
            <a:r>
              <a:t>Old context silently reused</a:t>
            </a:r>
          </a:p>
        </p:txBody>
      </p:sp>
      <p:sp>
        <p:nvSpPr>
          <p:cNvPr id="31" name="Rectangle 30"/>
          <p:cNvSpPr/>
          <p:nvPr/>
        </p:nvSpPr>
        <p:spPr>
          <a:xfrm>
            <a:off x="457200" y="5255514"/>
            <a:ext cx="3017520" cy="806958"/>
          </a:xfrm>
          <a:prstGeom prst="rect">
            <a:avLst/>
          </a:prstGeom>
          <a:solidFill>
            <a:srgbClr val="FFFFFF"/>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85216" y="5374386"/>
            <a:ext cx="2761487" cy="651510"/>
          </a:xfrm>
          <a:prstGeom prst="rect">
            <a:avLst/>
          </a:prstGeom>
          <a:noFill/>
        </p:spPr>
        <p:txBody>
          <a:bodyPr wrap="square" lIns="0" rIns="0" tIns="0" bIns="0">
            <a:spAutoFit/>
          </a:bodyPr>
          <a:lstStyle/>
          <a:p>
            <a:pPr>
              <a:lnSpc>
                <a:spcPct val="108000"/>
              </a:lnSpc>
              <a:spcAft>
                <a:spcPts val="400"/>
              </a:spcAft>
              <a:defRPr sz="1700" b="1">
                <a:solidFill>
                  <a:srgbClr val="182B40"/>
                </a:solidFill>
                <a:latin typeface="Arial"/>
              </a:defRPr>
            </a:pPr>
            <a:r>
              <a:t>Trigger</a:t>
            </a:r>
          </a:p>
        </p:txBody>
      </p:sp>
      <p:sp>
        <p:nvSpPr>
          <p:cNvPr id="33" name="Rectangle 32"/>
          <p:cNvSpPr/>
          <p:nvPr/>
        </p:nvSpPr>
        <p:spPr>
          <a:xfrm>
            <a:off x="3474720" y="5255514"/>
            <a:ext cx="4114800" cy="806958"/>
          </a:xfrm>
          <a:prstGeom prst="rect">
            <a:avLst/>
          </a:prstGeom>
          <a:solidFill>
            <a:srgbClr val="FFFFFF"/>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02736" y="5374386"/>
            <a:ext cx="3858768" cy="651510"/>
          </a:xfrm>
          <a:prstGeom prst="rect">
            <a:avLst/>
          </a:prstGeom>
          <a:noFill/>
        </p:spPr>
        <p:txBody>
          <a:bodyPr wrap="square" lIns="0" rIns="0" tIns="0" bIns="0">
            <a:spAutoFit/>
          </a:bodyPr>
          <a:lstStyle/>
          <a:p>
            <a:pPr>
              <a:lnSpc>
                <a:spcPct val="108000"/>
              </a:lnSpc>
              <a:spcAft>
                <a:spcPts val="400"/>
              </a:spcAft>
              <a:defRPr sz="1700" b="0">
                <a:solidFill>
                  <a:srgbClr val="182B40"/>
                </a:solidFill>
                <a:latin typeface="Arial"/>
              </a:defRPr>
            </a:pPr>
            <a:r>
              <a:t>Schedule and invocation ownership</a:t>
            </a:r>
          </a:p>
        </p:txBody>
      </p:sp>
      <p:sp>
        <p:nvSpPr>
          <p:cNvPr id="35" name="Rectangle 34"/>
          <p:cNvSpPr/>
          <p:nvPr/>
        </p:nvSpPr>
        <p:spPr>
          <a:xfrm>
            <a:off x="7589520" y="5255514"/>
            <a:ext cx="4114800" cy="806958"/>
          </a:xfrm>
          <a:prstGeom prst="rect">
            <a:avLst/>
          </a:prstGeom>
          <a:solidFill>
            <a:srgbClr val="FFFFFF"/>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717536" y="5374386"/>
            <a:ext cx="3858768" cy="651510"/>
          </a:xfrm>
          <a:prstGeom prst="rect">
            <a:avLst/>
          </a:prstGeom>
          <a:noFill/>
        </p:spPr>
        <p:txBody>
          <a:bodyPr wrap="square" lIns="0" rIns="0" tIns="0" bIns="0">
            <a:spAutoFit/>
          </a:bodyPr>
          <a:lstStyle/>
          <a:p>
            <a:pPr>
              <a:lnSpc>
                <a:spcPct val="108000"/>
              </a:lnSpc>
              <a:spcAft>
                <a:spcPts val="400"/>
              </a:spcAft>
              <a:defRPr sz="1700" b="0">
                <a:solidFill>
                  <a:srgbClr val="182B40"/>
                </a:solidFill>
                <a:latin typeface="Arial"/>
              </a:defRPr>
            </a:pPr>
            <a:r>
              <a:t>Future runs continue after one task is cancelled</a:t>
            </a:r>
          </a:p>
        </p:txBody>
      </p:sp>
      <p:sp>
        <p:nvSpPr>
          <p:cNvPr id="37" name="Rectangle 36"/>
          <p:cNvSpPr/>
          <p:nvPr/>
        </p:nvSpPr>
        <p:spPr>
          <a:xfrm>
            <a:off x="457200" y="6355080"/>
            <a:ext cx="11247120" cy="10972"/>
          </a:xfrm>
          <a:prstGeom prst="rect">
            <a:avLst/>
          </a:prstGeom>
          <a:solidFill>
            <a:srgbClr val="D4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57200" y="6492240"/>
            <a:ext cx="4572000" cy="201168"/>
          </a:xfrm>
          <a:prstGeom prst="rect">
            <a:avLst/>
          </a:prstGeom>
          <a:noFill/>
        </p:spPr>
        <p:txBody>
          <a:bodyPr wrap="square" lIns="0" rIns="0" tIns="0" bIns="0">
            <a:spAutoFit/>
          </a:bodyPr>
          <a:lstStyle/>
          <a:p>
            <a:pPr>
              <a:lnSpc>
                <a:spcPct val="108000"/>
              </a:lnSpc>
              <a:spcAft>
                <a:spcPts val="400"/>
              </a:spcAft>
              <a:defRPr sz="1000" b="0">
                <a:solidFill>
                  <a:srgbClr val="536477"/>
                </a:solidFill>
                <a:latin typeface="Arial"/>
              </a:defRPr>
            </a:pPr>
            <a:r>
              <a:t>20:00–22:30   |   2:30 allocation</a:t>
            </a:r>
          </a:p>
        </p:txBody>
      </p:sp>
      <p:sp>
        <p:nvSpPr>
          <p:cNvPr id="39" name="TextBox 38"/>
          <p:cNvSpPr txBox="1"/>
          <p:nvPr/>
        </p:nvSpPr>
        <p:spPr>
          <a:xfrm>
            <a:off x="10835640" y="6492240"/>
            <a:ext cx="868680" cy="201168"/>
          </a:xfrm>
          <a:prstGeom prst="rect">
            <a:avLst/>
          </a:prstGeom>
          <a:noFill/>
        </p:spPr>
        <p:txBody>
          <a:bodyPr wrap="square" lIns="0" rIns="0" tIns="0" bIns="0">
            <a:spAutoFit/>
          </a:bodyPr>
          <a:lstStyle/>
          <a:p>
            <a:pPr>
              <a:lnSpc>
                <a:spcPct val="108000"/>
              </a:lnSpc>
              <a:spcAft>
                <a:spcPts val="400"/>
              </a:spcAft>
              <a:defRPr sz="1000" b="0">
                <a:solidFill>
                  <a:srgbClr val="536477"/>
                </a:solidFill>
                <a:latin typeface="Arial"/>
              </a:defRPr>
            </a:pPr>
            <a:r>
              <a:t>10 / 13</a:t>
            </a:r>
          </a:p>
        </p:txBody>
      </p:sp>
      <p:sp>
        <p:nvSpPr>
          <p:cNvPr id="40" name="TextBox 39"/>
          <p:cNvSpPr txBox="1"/>
          <p:nvPr/>
        </p:nvSpPr>
        <p:spPr>
          <a:xfrm>
            <a:off x="4800600" y="6492240"/>
            <a:ext cx="5852160" cy="201168"/>
          </a:xfrm>
          <a:prstGeom prst="rect">
            <a:avLst/>
          </a:prstGeom>
          <a:noFill/>
        </p:spPr>
        <p:txBody>
          <a:bodyPr wrap="square" lIns="0" rIns="0" tIns="0" bIns="0">
            <a:spAutoFit/>
          </a:bodyPr>
          <a:lstStyle/>
          <a:p>
            <a:pPr>
              <a:lnSpc>
                <a:spcPct val="108000"/>
              </a:lnSpc>
              <a:spcAft>
                <a:spcPts val="400"/>
              </a:spcAft>
              <a:defRPr sz="900" b="0">
                <a:solidFill>
                  <a:srgbClr val="536477"/>
                </a:solidFill>
                <a:latin typeface="Arial"/>
              </a:defRPr>
            </a:pPr>
            <a:r>
              <a:t>Sources: custom, custom-create, custom-run, custom-output · full URLs in notes and report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006D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92608"/>
            <a:ext cx="10789920" cy="228600"/>
          </a:xfrm>
          <a:prstGeom prst="rect">
            <a:avLst/>
          </a:prstGeom>
          <a:noFill/>
        </p:spPr>
        <p:txBody>
          <a:bodyPr wrap="square" lIns="0" rIns="0" tIns="0" bIns="0">
            <a:spAutoFit/>
          </a:bodyPr>
          <a:lstStyle/>
          <a:p>
            <a:pPr>
              <a:lnSpc>
                <a:spcPct val="108000"/>
              </a:lnSpc>
              <a:spcAft>
                <a:spcPts val="400"/>
              </a:spcAft>
              <a:defRPr sz="1000" b="1">
                <a:solidFill>
                  <a:srgbClr val="006D76"/>
                </a:solidFill>
                <a:latin typeface="Arial"/>
              </a:defRPr>
            </a:pPr>
            <a:r>
              <a:t>AWS DEVOPS AGENT  /  ENGINEERING REFERENCE</a:t>
            </a:r>
          </a:p>
        </p:txBody>
      </p:sp>
      <p:sp>
        <p:nvSpPr>
          <p:cNvPr id="5" name="TextBox 4"/>
          <p:cNvSpPr txBox="1"/>
          <p:nvPr/>
        </p:nvSpPr>
        <p:spPr>
          <a:xfrm>
            <a:off x="457200" y="713232"/>
            <a:ext cx="11201400" cy="914400"/>
          </a:xfrm>
          <a:prstGeom prst="rect">
            <a:avLst/>
          </a:prstGeom>
          <a:noFill/>
        </p:spPr>
        <p:txBody>
          <a:bodyPr wrap="square" lIns="0" rIns="0" tIns="0" bIns="0">
            <a:spAutoFit/>
          </a:bodyPr>
          <a:lstStyle/>
          <a:p>
            <a:pPr>
              <a:lnSpc>
                <a:spcPct val="108000"/>
              </a:lnSpc>
              <a:spcAft>
                <a:spcPts val="400"/>
              </a:spcAft>
              <a:defRPr sz="2900" b="1">
                <a:solidFill>
                  <a:srgbClr val="182B40"/>
                </a:solidFill>
                <a:latin typeface="Arial"/>
              </a:defRPr>
            </a:pPr>
            <a:r>
              <a:t>Source review and application testing differ</a:t>
            </a:r>
          </a:p>
        </p:txBody>
      </p:sp>
      <p:sp>
        <p:nvSpPr>
          <p:cNvPr id="6" name="TextBox 5"/>
          <p:cNvSpPr txBox="1"/>
          <p:nvPr/>
        </p:nvSpPr>
        <p:spPr>
          <a:xfrm>
            <a:off x="457200" y="1773936"/>
            <a:ext cx="11109960" cy="475488"/>
          </a:xfrm>
          <a:prstGeom prst="rect">
            <a:avLst/>
          </a:prstGeom>
          <a:noFill/>
        </p:spPr>
        <p:txBody>
          <a:bodyPr wrap="square" lIns="0" rIns="0" tIns="0" bIns="0">
            <a:spAutoFit/>
          </a:bodyPr>
          <a:lstStyle/>
          <a:p>
            <a:pPr>
              <a:lnSpc>
                <a:spcPct val="108000"/>
              </a:lnSpc>
              <a:spcAft>
                <a:spcPts val="400"/>
              </a:spcAft>
              <a:defRPr sz="1700" b="0">
                <a:solidFill>
                  <a:srgbClr val="006D76"/>
                </a:solidFill>
                <a:latin typeface="Arial"/>
              </a:defRPr>
            </a:pPr>
            <a:r>
              <a:t>One analyzes the change; the other interacts with the deployed application.</a:t>
            </a:r>
          </a:p>
        </p:txBody>
      </p:sp>
      <p:sp>
        <p:nvSpPr>
          <p:cNvPr id="7" name="Rectangle 6"/>
          <p:cNvSpPr/>
          <p:nvPr/>
        </p:nvSpPr>
        <p:spPr>
          <a:xfrm>
            <a:off x="457200" y="2331720"/>
            <a:ext cx="3017520" cy="502920"/>
          </a:xfrm>
          <a:prstGeom prst="rect">
            <a:avLst/>
          </a:prstGeom>
          <a:solidFill>
            <a:srgbClr val="1128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 y="2441448"/>
            <a:ext cx="2761487" cy="356616"/>
          </a:xfrm>
          <a:prstGeom prst="rect">
            <a:avLst/>
          </a:prstGeom>
          <a:noFill/>
        </p:spPr>
        <p:txBody>
          <a:bodyPr wrap="square" lIns="0" rIns="0" tIns="0" bIns="0">
            <a:spAutoFit/>
          </a:bodyPr>
          <a:lstStyle/>
          <a:p>
            <a:pPr>
              <a:lnSpc>
                <a:spcPct val="108000"/>
              </a:lnSpc>
              <a:spcAft>
                <a:spcPts val="400"/>
              </a:spcAft>
              <a:defRPr sz="1500" b="1">
                <a:solidFill>
                  <a:srgbClr val="FFFFFF"/>
                </a:solidFill>
                <a:latin typeface="Arial"/>
              </a:defRPr>
            </a:pPr>
          </a:p>
        </p:txBody>
      </p:sp>
      <p:sp>
        <p:nvSpPr>
          <p:cNvPr id="9" name="Rectangle 8"/>
          <p:cNvSpPr/>
          <p:nvPr/>
        </p:nvSpPr>
        <p:spPr>
          <a:xfrm>
            <a:off x="3474720" y="2331720"/>
            <a:ext cx="4114800" cy="502920"/>
          </a:xfrm>
          <a:prstGeom prst="rect">
            <a:avLst/>
          </a:prstGeom>
          <a:solidFill>
            <a:srgbClr val="1128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02736" y="2441448"/>
            <a:ext cx="3858768" cy="356616"/>
          </a:xfrm>
          <a:prstGeom prst="rect">
            <a:avLst/>
          </a:prstGeom>
          <a:noFill/>
        </p:spPr>
        <p:txBody>
          <a:bodyPr wrap="square" lIns="0" rIns="0" tIns="0" bIns="0">
            <a:spAutoFit/>
          </a:bodyPr>
          <a:lstStyle/>
          <a:p>
            <a:pPr>
              <a:lnSpc>
                <a:spcPct val="108000"/>
              </a:lnSpc>
              <a:spcAft>
                <a:spcPts val="400"/>
              </a:spcAft>
              <a:defRPr sz="1500" b="1">
                <a:solidFill>
                  <a:srgbClr val="FFFFFF"/>
                </a:solidFill>
                <a:latin typeface="Arial"/>
              </a:defRPr>
            </a:pPr>
            <a:r>
              <a:t>Readiness review — preview</a:t>
            </a:r>
          </a:p>
        </p:txBody>
      </p:sp>
      <p:sp>
        <p:nvSpPr>
          <p:cNvPr id="11" name="Rectangle 10"/>
          <p:cNvSpPr/>
          <p:nvPr/>
        </p:nvSpPr>
        <p:spPr>
          <a:xfrm>
            <a:off x="7589520" y="2331720"/>
            <a:ext cx="4114800" cy="502920"/>
          </a:xfrm>
          <a:prstGeom prst="rect">
            <a:avLst/>
          </a:prstGeom>
          <a:solidFill>
            <a:srgbClr val="1128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17536" y="2441448"/>
            <a:ext cx="3858768" cy="356616"/>
          </a:xfrm>
          <a:prstGeom prst="rect">
            <a:avLst/>
          </a:prstGeom>
          <a:noFill/>
        </p:spPr>
        <p:txBody>
          <a:bodyPr wrap="square" lIns="0" rIns="0" tIns="0" bIns="0">
            <a:spAutoFit/>
          </a:bodyPr>
          <a:lstStyle/>
          <a:p>
            <a:pPr>
              <a:lnSpc>
                <a:spcPct val="108000"/>
              </a:lnSpc>
              <a:spcAft>
                <a:spcPts val="400"/>
              </a:spcAft>
              <a:defRPr sz="1500" b="1">
                <a:solidFill>
                  <a:srgbClr val="FFFFFF"/>
                </a:solidFill>
                <a:latin typeface="Arial"/>
              </a:defRPr>
            </a:pPr>
            <a:r>
              <a:t>Release testing — preview</a:t>
            </a:r>
          </a:p>
        </p:txBody>
      </p:sp>
      <p:sp>
        <p:nvSpPr>
          <p:cNvPr id="13" name="Rectangle 12"/>
          <p:cNvSpPr/>
          <p:nvPr/>
        </p:nvSpPr>
        <p:spPr>
          <a:xfrm>
            <a:off x="457200" y="2834639"/>
            <a:ext cx="3017520" cy="806958"/>
          </a:xfrm>
          <a:prstGeom prst="rect">
            <a:avLst/>
          </a:prstGeom>
          <a:solidFill>
            <a:srgbClr val="EDF3F5"/>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85216" y="2953511"/>
            <a:ext cx="2761487" cy="651510"/>
          </a:xfrm>
          <a:prstGeom prst="rect">
            <a:avLst/>
          </a:prstGeom>
          <a:noFill/>
        </p:spPr>
        <p:txBody>
          <a:bodyPr wrap="square" lIns="0" rIns="0" tIns="0" bIns="0">
            <a:spAutoFit/>
          </a:bodyPr>
          <a:lstStyle/>
          <a:p>
            <a:pPr>
              <a:lnSpc>
                <a:spcPct val="108000"/>
              </a:lnSpc>
              <a:spcAft>
                <a:spcPts val="400"/>
              </a:spcAft>
              <a:defRPr sz="1700" b="1">
                <a:solidFill>
                  <a:srgbClr val="182B40"/>
                </a:solidFill>
                <a:latin typeface="Arial"/>
              </a:defRPr>
            </a:pPr>
            <a:r>
              <a:t>Input</a:t>
            </a:r>
          </a:p>
        </p:txBody>
      </p:sp>
      <p:sp>
        <p:nvSpPr>
          <p:cNvPr id="15" name="Rectangle 14"/>
          <p:cNvSpPr/>
          <p:nvPr/>
        </p:nvSpPr>
        <p:spPr>
          <a:xfrm>
            <a:off x="3474720" y="2834639"/>
            <a:ext cx="4114800" cy="806958"/>
          </a:xfrm>
          <a:prstGeom prst="rect">
            <a:avLst/>
          </a:prstGeom>
          <a:solidFill>
            <a:srgbClr val="EDF3F5"/>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2736" y="2953511"/>
            <a:ext cx="3858768" cy="651510"/>
          </a:xfrm>
          <a:prstGeom prst="rect">
            <a:avLst/>
          </a:prstGeom>
          <a:noFill/>
        </p:spPr>
        <p:txBody>
          <a:bodyPr wrap="square" lIns="0" rIns="0" tIns="0" bIns="0">
            <a:spAutoFit/>
          </a:bodyPr>
          <a:lstStyle/>
          <a:p>
            <a:pPr>
              <a:lnSpc>
                <a:spcPct val="108000"/>
              </a:lnSpc>
              <a:spcAft>
                <a:spcPts val="400"/>
              </a:spcAft>
              <a:defRPr sz="1700" b="0">
                <a:solidFill>
                  <a:srgbClr val="182B40"/>
                </a:solidFill>
                <a:latin typeface="Arial"/>
              </a:defRPr>
            </a:pPr>
            <a:r>
              <a:t>Repository change and dependency context</a:t>
            </a:r>
          </a:p>
        </p:txBody>
      </p:sp>
      <p:sp>
        <p:nvSpPr>
          <p:cNvPr id="17" name="Rectangle 16"/>
          <p:cNvSpPr/>
          <p:nvPr/>
        </p:nvSpPr>
        <p:spPr>
          <a:xfrm>
            <a:off x="7589520" y="2834639"/>
            <a:ext cx="4114800" cy="806958"/>
          </a:xfrm>
          <a:prstGeom prst="rect">
            <a:avLst/>
          </a:prstGeom>
          <a:solidFill>
            <a:srgbClr val="EDF3F5"/>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17536" y="2953511"/>
            <a:ext cx="3858768" cy="651510"/>
          </a:xfrm>
          <a:prstGeom prst="rect">
            <a:avLst/>
          </a:prstGeom>
          <a:noFill/>
        </p:spPr>
        <p:txBody>
          <a:bodyPr wrap="square" lIns="0" rIns="0" tIns="0" bIns="0">
            <a:spAutoFit/>
          </a:bodyPr>
          <a:lstStyle/>
          <a:p>
            <a:pPr>
              <a:lnSpc>
                <a:spcPct val="108000"/>
              </a:lnSpc>
              <a:spcAft>
                <a:spcPts val="400"/>
              </a:spcAft>
              <a:defRPr sz="1700" b="0">
                <a:solidFill>
                  <a:srgbClr val="182B40"/>
                </a:solidFill>
                <a:latin typeface="Arial"/>
              </a:defRPr>
            </a:pPr>
            <a:r>
              <a:t>Target profile, test intent and credentials</a:t>
            </a:r>
          </a:p>
        </p:txBody>
      </p:sp>
      <p:sp>
        <p:nvSpPr>
          <p:cNvPr id="19" name="Rectangle 18"/>
          <p:cNvSpPr/>
          <p:nvPr/>
        </p:nvSpPr>
        <p:spPr>
          <a:xfrm>
            <a:off x="457200" y="3641598"/>
            <a:ext cx="3017520" cy="806958"/>
          </a:xfrm>
          <a:prstGeom prst="rect">
            <a:avLst/>
          </a:prstGeom>
          <a:solidFill>
            <a:srgbClr val="FFFFFF"/>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85216" y="3760470"/>
            <a:ext cx="2761487" cy="651510"/>
          </a:xfrm>
          <a:prstGeom prst="rect">
            <a:avLst/>
          </a:prstGeom>
          <a:noFill/>
        </p:spPr>
        <p:txBody>
          <a:bodyPr wrap="square" lIns="0" rIns="0" tIns="0" bIns="0">
            <a:spAutoFit/>
          </a:bodyPr>
          <a:lstStyle/>
          <a:p>
            <a:pPr>
              <a:lnSpc>
                <a:spcPct val="108000"/>
              </a:lnSpc>
              <a:spcAft>
                <a:spcPts val="400"/>
              </a:spcAft>
              <a:defRPr sz="1700" b="1">
                <a:solidFill>
                  <a:srgbClr val="182B40"/>
                </a:solidFill>
                <a:latin typeface="Arial"/>
              </a:defRPr>
            </a:pPr>
            <a:r>
              <a:t>Operation</a:t>
            </a:r>
          </a:p>
        </p:txBody>
      </p:sp>
      <p:sp>
        <p:nvSpPr>
          <p:cNvPr id="21" name="Rectangle 20"/>
          <p:cNvSpPr/>
          <p:nvPr/>
        </p:nvSpPr>
        <p:spPr>
          <a:xfrm>
            <a:off x="3474720" y="3641598"/>
            <a:ext cx="4114800" cy="806958"/>
          </a:xfrm>
          <a:prstGeom prst="rect">
            <a:avLst/>
          </a:prstGeom>
          <a:solidFill>
            <a:srgbClr val="FFFFFF"/>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02736" y="3760470"/>
            <a:ext cx="3858768" cy="651510"/>
          </a:xfrm>
          <a:prstGeom prst="rect">
            <a:avLst/>
          </a:prstGeom>
          <a:noFill/>
        </p:spPr>
        <p:txBody>
          <a:bodyPr wrap="square" lIns="0" rIns="0" tIns="0" bIns="0">
            <a:spAutoFit/>
          </a:bodyPr>
          <a:lstStyle/>
          <a:p>
            <a:pPr>
              <a:lnSpc>
                <a:spcPct val="108000"/>
              </a:lnSpc>
              <a:spcAft>
                <a:spcPts val="400"/>
              </a:spcAft>
              <a:defRPr sz="1700" b="0">
                <a:solidFill>
                  <a:srgbClr val="182B40"/>
                </a:solidFill>
                <a:latin typeface="Arial"/>
              </a:defRPr>
            </a:pPr>
            <a:r>
              <a:t>Inspect operational risk in the change</a:t>
            </a:r>
          </a:p>
        </p:txBody>
      </p:sp>
      <p:sp>
        <p:nvSpPr>
          <p:cNvPr id="23" name="Rectangle 22"/>
          <p:cNvSpPr/>
          <p:nvPr/>
        </p:nvSpPr>
        <p:spPr>
          <a:xfrm>
            <a:off x="7589520" y="3641598"/>
            <a:ext cx="4114800" cy="806958"/>
          </a:xfrm>
          <a:prstGeom prst="rect">
            <a:avLst/>
          </a:prstGeom>
          <a:solidFill>
            <a:srgbClr val="FFFFFF"/>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717536" y="3760470"/>
            <a:ext cx="3858768" cy="651510"/>
          </a:xfrm>
          <a:prstGeom prst="rect">
            <a:avLst/>
          </a:prstGeom>
          <a:noFill/>
        </p:spPr>
        <p:txBody>
          <a:bodyPr wrap="square" lIns="0" rIns="0" tIns="0" bIns="0">
            <a:spAutoFit/>
          </a:bodyPr>
          <a:lstStyle/>
          <a:p>
            <a:pPr>
              <a:lnSpc>
                <a:spcPct val="108000"/>
              </a:lnSpc>
              <a:spcAft>
                <a:spcPts val="400"/>
              </a:spcAft>
              <a:defRPr sz="1700" b="0">
                <a:solidFill>
                  <a:srgbClr val="182B40"/>
                </a:solidFill>
                <a:latin typeface="Arial"/>
              </a:defRPr>
            </a:pPr>
            <a:r>
              <a:t>Explore UI/API behavior with real requests</a:t>
            </a:r>
          </a:p>
        </p:txBody>
      </p:sp>
      <p:sp>
        <p:nvSpPr>
          <p:cNvPr id="25" name="Rectangle 24"/>
          <p:cNvSpPr/>
          <p:nvPr/>
        </p:nvSpPr>
        <p:spPr>
          <a:xfrm>
            <a:off x="457200" y="4448556"/>
            <a:ext cx="3017520" cy="806958"/>
          </a:xfrm>
          <a:prstGeom prst="rect">
            <a:avLst/>
          </a:prstGeom>
          <a:solidFill>
            <a:srgbClr val="EDF3F5"/>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85216" y="4567428"/>
            <a:ext cx="2761487" cy="651510"/>
          </a:xfrm>
          <a:prstGeom prst="rect">
            <a:avLst/>
          </a:prstGeom>
          <a:noFill/>
        </p:spPr>
        <p:txBody>
          <a:bodyPr wrap="square" lIns="0" rIns="0" tIns="0" bIns="0">
            <a:spAutoFit/>
          </a:bodyPr>
          <a:lstStyle/>
          <a:p>
            <a:pPr>
              <a:lnSpc>
                <a:spcPct val="108000"/>
              </a:lnSpc>
              <a:spcAft>
                <a:spcPts val="400"/>
              </a:spcAft>
              <a:defRPr sz="1700" b="1">
                <a:solidFill>
                  <a:srgbClr val="182B40"/>
                </a:solidFill>
                <a:latin typeface="Arial"/>
              </a:defRPr>
            </a:pPr>
            <a:r>
              <a:t>Output</a:t>
            </a:r>
          </a:p>
        </p:txBody>
      </p:sp>
      <p:sp>
        <p:nvSpPr>
          <p:cNvPr id="27" name="Rectangle 26"/>
          <p:cNvSpPr/>
          <p:nvPr/>
        </p:nvSpPr>
        <p:spPr>
          <a:xfrm>
            <a:off x="3474720" y="4448556"/>
            <a:ext cx="4114800" cy="806958"/>
          </a:xfrm>
          <a:prstGeom prst="rect">
            <a:avLst/>
          </a:prstGeom>
          <a:solidFill>
            <a:srgbClr val="EDF3F5"/>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02736" y="4567428"/>
            <a:ext cx="3858768" cy="651510"/>
          </a:xfrm>
          <a:prstGeom prst="rect">
            <a:avLst/>
          </a:prstGeom>
          <a:noFill/>
        </p:spPr>
        <p:txBody>
          <a:bodyPr wrap="square" lIns="0" rIns="0" tIns="0" bIns="0">
            <a:spAutoFit/>
          </a:bodyPr>
          <a:lstStyle/>
          <a:p>
            <a:pPr>
              <a:lnSpc>
                <a:spcPct val="108000"/>
              </a:lnSpc>
              <a:spcAft>
                <a:spcPts val="400"/>
              </a:spcAft>
              <a:defRPr sz="1700" b="0">
                <a:solidFill>
                  <a:srgbClr val="182B40"/>
                </a:solidFill>
                <a:latin typeface="Arial"/>
              </a:defRPr>
            </a:pPr>
            <a:r>
              <a:t>Findings and advisory release recommendation</a:t>
            </a:r>
          </a:p>
        </p:txBody>
      </p:sp>
      <p:sp>
        <p:nvSpPr>
          <p:cNvPr id="29" name="Rectangle 28"/>
          <p:cNvSpPr/>
          <p:nvPr/>
        </p:nvSpPr>
        <p:spPr>
          <a:xfrm>
            <a:off x="7589520" y="4448556"/>
            <a:ext cx="4114800" cy="806958"/>
          </a:xfrm>
          <a:prstGeom prst="rect">
            <a:avLst/>
          </a:prstGeom>
          <a:solidFill>
            <a:srgbClr val="EDF3F5"/>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717536" y="4567428"/>
            <a:ext cx="3858768" cy="651510"/>
          </a:xfrm>
          <a:prstGeom prst="rect">
            <a:avLst/>
          </a:prstGeom>
          <a:noFill/>
        </p:spPr>
        <p:txBody>
          <a:bodyPr wrap="square" lIns="0" rIns="0" tIns="0" bIns="0">
            <a:spAutoFit/>
          </a:bodyPr>
          <a:lstStyle/>
          <a:p>
            <a:pPr>
              <a:lnSpc>
                <a:spcPct val="108000"/>
              </a:lnSpc>
              <a:spcAft>
                <a:spcPts val="400"/>
              </a:spcAft>
              <a:defRPr sz="1700" b="0">
                <a:solidFill>
                  <a:srgbClr val="182B40"/>
                </a:solidFill>
                <a:latin typeface="Arial"/>
              </a:defRPr>
            </a:pPr>
            <a:r>
              <a:t>Executed test results and reproduction evidence</a:t>
            </a:r>
          </a:p>
        </p:txBody>
      </p:sp>
      <p:sp>
        <p:nvSpPr>
          <p:cNvPr id="31" name="Rectangle 30"/>
          <p:cNvSpPr/>
          <p:nvPr/>
        </p:nvSpPr>
        <p:spPr>
          <a:xfrm>
            <a:off x="457200" y="5255514"/>
            <a:ext cx="3017520" cy="806958"/>
          </a:xfrm>
          <a:prstGeom prst="rect">
            <a:avLst/>
          </a:prstGeom>
          <a:solidFill>
            <a:srgbClr val="FFFFFF"/>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85216" y="5374386"/>
            <a:ext cx="2761487" cy="651510"/>
          </a:xfrm>
          <a:prstGeom prst="rect">
            <a:avLst/>
          </a:prstGeom>
          <a:noFill/>
        </p:spPr>
        <p:txBody>
          <a:bodyPr wrap="square" lIns="0" rIns="0" tIns="0" bIns="0">
            <a:spAutoFit/>
          </a:bodyPr>
          <a:lstStyle/>
          <a:p>
            <a:pPr>
              <a:lnSpc>
                <a:spcPct val="108000"/>
              </a:lnSpc>
              <a:spcAft>
                <a:spcPts val="400"/>
              </a:spcAft>
              <a:defRPr sz="1700" b="1">
                <a:solidFill>
                  <a:srgbClr val="182B40"/>
                </a:solidFill>
                <a:latin typeface="Arial"/>
              </a:defRPr>
            </a:pPr>
            <a:r>
              <a:t>Boundary</a:t>
            </a:r>
          </a:p>
        </p:txBody>
      </p:sp>
      <p:sp>
        <p:nvSpPr>
          <p:cNvPr id="33" name="Rectangle 32"/>
          <p:cNvSpPr/>
          <p:nvPr/>
        </p:nvSpPr>
        <p:spPr>
          <a:xfrm>
            <a:off x="3474720" y="5255514"/>
            <a:ext cx="4114800" cy="806958"/>
          </a:xfrm>
          <a:prstGeom prst="rect">
            <a:avLst/>
          </a:prstGeom>
          <a:solidFill>
            <a:srgbClr val="FFFFFF"/>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02736" y="5374386"/>
            <a:ext cx="3858768" cy="651510"/>
          </a:xfrm>
          <a:prstGeom prst="rect">
            <a:avLst/>
          </a:prstGeom>
          <a:noFill/>
        </p:spPr>
        <p:txBody>
          <a:bodyPr wrap="square" lIns="0" rIns="0" tIns="0" bIns="0">
            <a:spAutoFit/>
          </a:bodyPr>
          <a:lstStyle/>
          <a:p>
            <a:pPr>
              <a:lnSpc>
                <a:spcPct val="108000"/>
              </a:lnSpc>
              <a:spcAft>
                <a:spcPts val="400"/>
              </a:spcAft>
              <a:defRPr sz="1700" b="0">
                <a:solidFill>
                  <a:srgbClr val="182B40"/>
                </a:solidFill>
                <a:latin typeface="Arial"/>
              </a:defRPr>
            </a:pPr>
            <a:r>
              <a:t>Not a deployment gate without integration</a:t>
            </a:r>
          </a:p>
        </p:txBody>
      </p:sp>
      <p:sp>
        <p:nvSpPr>
          <p:cNvPr id="35" name="Rectangle 34"/>
          <p:cNvSpPr/>
          <p:nvPr/>
        </p:nvSpPr>
        <p:spPr>
          <a:xfrm>
            <a:off x="7589520" y="5255514"/>
            <a:ext cx="4114800" cy="806958"/>
          </a:xfrm>
          <a:prstGeom prst="rect">
            <a:avLst/>
          </a:prstGeom>
          <a:solidFill>
            <a:srgbClr val="FFFFFF"/>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717536" y="5374386"/>
            <a:ext cx="3858768" cy="651510"/>
          </a:xfrm>
          <a:prstGeom prst="rect">
            <a:avLst/>
          </a:prstGeom>
          <a:noFill/>
        </p:spPr>
        <p:txBody>
          <a:bodyPr wrap="square" lIns="0" rIns="0" tIns="0" bIns="0">
            <a:spAutoFit/>
          </a:bodyPr>
          <a:lstStyle/>
          <a:p>
            <a:pPr>
              <a:lnSpc>
                <a:spcPct val="108000"/>
              </a:lnSpc>
              <a:spcAft>
                <a:spcPts val="400"/>
              </a:spcAft>
              <a:defRPr sz="1700" b="0">
                <a:solidFill>
                  <a:srgbClr val="182B40"/>
                </a:solidFill>
                <a:latin typeface="Arial"/>
              </a:defRPr>
            </a:pPr>
            <a:r>
              <a:t>Can create, modify or delete application data</a:t>
            </a:r>
          </a:p>
        </p:txBody>
      </p:sp>
      <p:sp>
        <p:nvSpPr>
          <p:cNvPr id="37" name="Rectangle 36"/>
          <p:cNvSpPr/>
          <p:nvPr/>
        </p:nvSpPr>
        <p:spPr>
          <a:xfrm>
            <a:off x="457200" y="6355080"/>
            <a:ext cx="11247120" cy="10972"/>
          </a:xfrm>
          <a:prstGeom prst="rect">
            <a:avLst/>
          </a:prstGeom>
          <a:solidFill>
            <a:srgbClr val="D4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57200" y="6492240"/>
            <a:ext cx="4572000" cy="201168"/>
          </a:xfrm>
          <a:prstGeom prst="rect">
            <a:avLst/>
          </a:prstGeom>
          <a:noFill/>
        </p:spPr>
        <p:txBody>
          <a:bodyPr wrap="square" lIns="0" rIns="0" tIns="0" bIns="0">
            <a:spAutoFit/>
          </a:bodyPr>
          <a:lstStyle/>
          <a:p>
            <a:pPr>
              <a:lnSpc>
                <a:spcPct val="108000"/>
              </a:lnSpc>
              <a:spcAft>
                <a:spcPts val="400"/>
              </a:spcAft>
              <a:defRPr sz="1000" b="0">
                <a:solidFill>
                  <a:srgbClr val="536477"/>
                </a:solidFill>
                <a:latin typeface="Arial"/>
              </a:defRPr>
            </a:pPr>
            <a:r>
              <a:t>22:30–25:00   |   2:30 allocation</a:t>
            </a:r>
          </a:p>
        </p:txBody>
      </p:sp>
      <p:sp>
        <p:nvSpPr>
          <p:cNvPr id="39" name="TextBox 38"/>
          <p:cNvSpPr txBox="1"/>
          <p:nvPr/>
        </p:nvSpPr>
        <p:spPr>
          <a:xfrm>
            <a:off x="10835640" y="6492240"/>
            <a:ext cx="868680" cy="201168"/>
          </a:xfrm>
          <a:prstGeom prst="rect">
            <a:avLst/>
          </a:prstGeom>
          <a:noFill/>
        </p:spPr>
        <p:txBody>
          <a:bodyPr wrap="square" lIns="0" rIns="0" tIns="0" bIns="0">
            <a:spAutoFit/>
          </a:bodyPr>
          <a:lstStyle/>
          <a:p>
            <a:pPr>
              <a:lnSpc>
                <a:spcPct val="108000"/>
              </a:lnSpc>
              <a:spcAft>
                <a:spcPts val="400"/>
              </a:spcAft>
              <a:defRPr sz="1000" b="0">
                <a:solidFill>
                  <a:srgbClr val="536477"/>
                </a:solidFill>
                <a:latin typeface="Arial"/>
              </a:defRPr>
            </a:pPr>
            <a:r>
              <a:t>11 / 13</a:t>
            </a:r>
          </a:p>
        </p:txBody>
      </p:sp>
      <p:sp>
        <p:nvSpPr>
          <p:cNvPr id="40" name="TextBox 39"/>
          <p:cNvSpPr txBox="1"/>
          <p:nvPr/>
        </p:nvSpPr>
        <p:spPr>
          <a:xfrm>
            <a:off x="4800600" y="6492240"/>
            <a:ext cx="5852160" cy="201168"/>
          </a:xfrm>
          <a:prstGeom prst="rect">
            <a:avLst/>
          </a:prstGeom>
          <a:noFill/>
        </p:spPr>
        <p:txBody>
          <a:bodyPr wrap="square" lIns="0" rIns="0" tIns="0" bIns="0">
            <a:spAutoFit/>
          </a:bodyPr>
          <a:lstStyle/>
          <a:p>
            <a:pPr>
              <a:lnSpc>
                <a:spcPct val="108000"/>
              </a:lnSpc>
              <a:spcAft>
                <a:spcPts val="400"/>
              </a:spcAft>
              <a:defRPr sz="900" b="0">
                <a:solidFill>
                  <a:srgbClr val="536477"/>
                </a:solidFill>
                <a:latin typeface="Arial"/>
              </a:defRPr>
            </a:pPr>
            <a:r>
              <a:t>Sources: release, release-review, release-test, regions · full URLs in notes and report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006D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92608"/>
            <a:ext cx="10789920" cy="228600"/>
          </a:xfrm>
          <a:prstGeom prst="rect">
            <a:avLst/>
          </a:prstGeom>
          <a:noFill/>
        </p:spPr>
        <p:txBody>
          <a:bodyPr wrap="square" lIns="0" rIns="0" tIns="0" bIns="0">
            <a:spAutoFit/>
          </a:bodyPr>
          <a:lstStyle/>
          <a:p>
            <a:pPr>
              <a:lnSpc>
                <a:spcPct val="108000"/>
              </a:lnSpc>
              <a:spcAft>
                <a:spcPts val="400"/>
              </a:spcAft>
              <a:defRPr sz="1000" b="1">
                <a:solidFill>
                  <a:srgbClr val="006D76"/>
                </a:solidFill>
                <a:latin typeface="Arial"/>
              </a:defRPr>
            </a:pPr>
            <a:r>
              <a:t>AWS DEVOPS AGENT  /  ENGINEERING REFERENCE</a:t>
            </a:r>
          </a:p>
        </p:txBody>
      </p:sp>
      <p:sp>
        <p:nvSpPr>
          <p:cNvPr id="5" name="TextBox 4"/>
          <p:cNvSpPr txBox="1"/>
          <p:nvPr/>
        </p:nvSpPr>
        <p:spPr>
          <a:xfrm>
            <a:off x="457200" y="713232"/>
            <a:ext cx="11201400" cy="914400"/>
          </a:xfrm>
          <a:prstGeom prst="rect">
            <a:avLst/>
          </a:prstGeom>
          <a:noFill/>
        </p:spPr>
        <p:txBody>
          <a:bodyPr wrap="square" lIns="0" rIns="0" tIns="0" bIns="0">
            <a:spAutoFit/>
          </a:bodyPr>
          <a:lstStyle/>
          <a:p>
            <a:pPr>
              <a:lnSpc>
                <a:spcPct val="108000"/>
              </a:lnSpc>
              <a:spcAft>
                <a:spcPts val="400"/>
              </a:spcAft>
              <a:defRPr sz="2900" b="1">
                <a:solidFill>
                  <a:srgbClr val="182B40"/>
                </a:solidFill>
                <a:latin typeface="Arial"/>
              </a:defRPr>
            </a:pPr>
            <a:r>
              <a:t>Demonstration: challenge a recurring diagnosis</a:t>
            </a:r>
          </a:p>
        </p:txBody>
      </p:sp>
      <p:sp>
        <p:nvSpPr>
          <p:cNvPr id="6" name="TextBox 5"/>
          <p:cNvSpPr txBox="1"/>
          <p:nvPr/>
        </p:nvSpPr>
        <p:spPr>
          <a:xfrm>
            <a:off x="457200" y="1773936"/>
            <a:ext cx="11109960" cy="475488"/>
          </a:xfrm>
          <a:prstGeom prst="rect">
            <a:avLst/>
          </a:prstGeom>
          <a:noFill/>
        </p:spPr>
        <p:txBody>
          <a:bodyPr wrap="square" lIns="0" rIns="0" tIns="0" bIns="0">
            <a:spAutoFit/>
          </a:bodyPr>
          <a:lstStyle/>
          <a:p>
            <a:pPr>
              <a:lnSpc>
                <a:spcPct val="108000"/>
              </a:lnSpc>
              <a:spcAft>
                <a:spcPts val="400"/>
              </a:spcAft>
              <a:defRPr sz="1700" b="0">
                <a:solidFill>
                  <a:srgbClr val="006D76"/>
                </a:solidFill>
                <a:latin typeface="Arial"/>
              </a:defRPr>
            </a:pPr>
            <a:r>
              <a:t>Use prepared evidence to show the decisions; do not promise an eight-minute end-to-end investigation.</a:t>
            </a:r>
          </a:p>
        </p:txBody>
      </p:sp>
      <p:sp>
        <p:nvSpPr>
          <p:cNvPr id="7" name="Rectangle 6"/>
          <p:cNvSpPr/>
          <p:nvPr/>
        </p:nvSpPr>
        <p:spPr>
          <a:xfrm>
            <a:off x="457200" y="2331720"/>
            <a:ext cx="11247120" cy="530352"/>
          </a:xfrm>
          <a:prstGeom prst="rect">
            <a:avLst/>
          </a:prstGeom>
          <a:solidFill>
            <a:srgbClr val="ED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1792" y="2441448"/>
            <a:ext cx="731520" cy="320040"/>
          </a:xfrm>
          <a:prstGeom prst="rect">
            <a:avLst/>
          </a:prstGeom>
          <a:noFill/>
        </p:spPr>
        <p:txBody>
          <a:bodyPr wrap="square" lIns="0" rIns="0" tIns="0" bIns="0">
            <a:spAutoFit/>
          </a:bodyPr>
          <a:lstStyle/>
          <a:p>
            <a:pPr>
              <a:lnSpc>
                <a:spcPct val="108000"/>
              </a:lnSpc>
              <a:spcAft>
                <a:spcPts val="400"/>
              </a:spcAft>
              <a:defRPr sz="1700" b="1">
                <a:solidFill>
                  <a:srgbClr val="006D76"/>
                </a:solidFill>
                <a:latin typeface="Arial"/>
              </a:defRPr>
            </a:pPr>
            <a:r>
              <a:t>1 min</a:t>
            </a:r>
          </a:p>
        </p:txBody>
      </p:sp>
      <p:sp>
        <p:nvSpPr>
          <p:cNvPr id="9" name="TextBox 8"/>
          <p:cNvSpPr txBox="1"/>
          <p:nvPr/>
        </p:nvSpPr>
        <p:spPr>
          <a:xfrm>
            <a:off x="1508760" y="2423160"/>
            <a:ext cx="9966960" cy="457200"/>
          </a:xfrm>
          <a:prstGeom prst="rect">
            <a:avLst/>
          </a:prstGeom>
          <a:noFill/>
        </p:spPr>
        <p:txBody>
          <a:bodyPr wrap="square" lIns="0" rIns="0" tIns="0" bIns="0">
            <a:spAutoFit/>
          </a:bodyPr>
          <a:lstStyle/>
          <a:p>
            <a:pPr>
              <a:lnSpc>
                <a:spcPct val="108000"/>
              </a:lnSpc>
              <a:spcAft>
                <a:spcPts val="400"/>
              </a:spcAft>
              <a:defRPr sz="1800" b="0">
                <a:solidFill>
                  <a:srgbClr val="182B40"/>
                </a:solidFill>
                <a:latin typeface="Arial"/>
              </a:defRPr>
            </a:pPr>
            <a:r>
              <a:t>Show the prepared event, build and scope; identify unavailable sources.</a:t>
            </a:r>
          </a:p>
        </p:txBody>
      </p:sp>
      <p:sp>
        <p:nvSpPr>
          <p:cNvPr id="10" name="Rectangle 9"/>
          <p:cNvSpPr/>
          <p:nvPr/>
        </p:nvSpPr>
        <p:spPr>
          <a:xfrm>
            <a:off x="457200" y="2898648"/>
            <a:ext cx="11247120" cy="530352"/>
          </a:xfrm>
          <a:prstGeom prst="rect">
            <a:avLst/>
          </a:prstGeom>
          <a:solidFill>
            <a:srgbClr val="ED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1792" y="3008376"/>
            <a:ext cx="731520" cy="320040"/>
          </a:xfrm>
          <a:prstGeom prst="rect">
            <a:avLst/>
          </a:prstGeom>
          <a:noFill/>
        </p:spPr>
        <p:txBody>
          <a:bodyPr wrap="square" lIns="0" rIns="0" tIns="0" bIns="0">
            <a:spAutoFit/>
          </a:bodyPr>
          <a:lstStyle/>
          <a:p>
            <a:pPr>
              <a:lnSpc>
                <a:spcPct val="108000"/>
              </a:lnSpc>
              <a:spcAft>
                <a:spcPts val="400"/>
              </a:spcAft>
              <a:defRPr sz="1700" b="1">
                <a:solidFill>
                  <a:srgbClr val="006D76"/>
                </a:solidFill>
                <a:latin typeface="Arial"/>
              </a:defRPr>
            </a:pPr>
            <a:r>
              <a:t>2 min</a:t>
            </a:r>
          </a:p>
        </p:txBody>
      </p:sp>
      <p:sp>
        <p:nvSpPr>
          <p:cNvPr id="12" name="TextBox 11"/>
          <p:cNvSpPr txBox="1"/>
          <p:nvPr/>
        </p:nvSpPr>
        <p:spPr>
          <a:xfrm>
            <a:off x="1508760" y="2990088"/>
            <a:ext cx="9966960" cy="457200"/>
          </a:xfrm>
          <a:prstGeom prst="rect">
            <a:avLst/>
          </a:prstGeom>
          <a:noFill/>
        </p:spPr>
        <p:txBody>
          <a:bodyPr wrap="square" lIns="0" rIns="0" tIns="0" bIns="0">
            <a:spAutoFit/>
          </a:bodyPr>
          <a:lstStyle/>
          <a:p>
            <a:pPr>
              <a:lnSpc>
                <a:spcPct val="108000"/>
              </a:lnSpc>
              <a:spcAft>
                <a:spcPts val="400"/>
              </a:spcAft>
              <a:defRPr sz="1800" b="0">
                <a:solidFill>
                  <a:srgbClr val="182B40"/>
                </a:solidFill>
                <a:latin typeface="Arial"/>
              </a:defRPr>
            </a:pPr>
            <a:r>
              <a:t>Inspect the stored memory and the current investigation's evidence side by side.</a:t>
            </a:r>
          </a:p>
        </p:txBody>
      </p:sp>
      <p:sp>
        <p:nvSpPr>
          <p:cNvPr id="13" name="Rectangle 12"/>
          <p:cNvSpPr/>
          <p:nvPr/>
        </p:nvSpPr>
        <p:spPr>
          <a:xfrm>
            <a:off x="457200" y="3465576"/>
            <a:ext cx="11247120" cy="530352"/>
          </a:xfrm>
          <a:prstGeom prst="rect">
            <a:avLst/>
          </a:prstGeom>
          <a:solidFill>
            <a:srgbClr val="ED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1792" y="3575304"/>
            <a:ext cx="731520" cy="320040"/>
          </a:xfrm>
          <a:prstGeom prst="rect">
            <a:avLst/>
          </a:prstGeom>
          <a:noFill/>
        </p:spPr>
        <p:txBody>
          <a:bodyPr wrap="square" lIns="0" rIns="0" tIns="0" bIns="0">
            <a:spAutoFit/>
          </a:bodyPr>
          <a:lstStyle/>
          <a:p>
            <a:pPr>
              <a:lnSpc>
                <a:spcPct val="108000"/>
              </a:lnSpc>
              <a:spcAft>
                <a:spcPts val="400"/>
              </a:spcAft>
              <a:defRPr sz="1700" b="1">
                <a:solidFill>
                  <a:srgbClr val="006D76"/>
                </a:solidFill>
                <a:latin typeface="Arial"/>
              </a:defRPr>
            </a:pPr>
            <a:r>
              <a:t>2 min</a:t>
            </a:r>
          </a:p>
        </p:txBody>
      </p:sp>
      <p:sp>
        <p:nvSpPr>
          <p:cNvPr id="15" name="TextBox 14"/>
          <p:cNvSpPr txBox="1"/>
          <p:nvPr/>
        </p:nvSpPr>
        <p:spPr>
          <a:xfrm>
            <a:off x="1508760" y="3557016"/>
            <a:ext cx="9966960" cy="457200"/>
          </a:xfrm>
          <a:prstGeom prst="rect">
            <a:avLst/>
          </a:prstGeom>
          <a:noFill/>
        </p:spPr>
        <p:txBody>
          <a:bodyPr wrap="square" lIns="0" rIns="0" tIns="0" bIns="0">
            <a:spAutoFit/>
          </a:bodyPr>
          <a:lstStyle/>
          <a:p>
            <a:pPr>
              <a:lnSpc>
                <a:spcPct val="108000"/>
              </a:lnSpc>
              <a:spcAft>
                <a:spcPts val="400"/>
              </a:spcAft>
              <a:defRPr sz="1800" b="0">
                <a:solidFill>
                  <a:srgbClr val="182B40"/>
                </a:solidFill>
                <a:latin typeface="Arial"/>
              </a:defRPr>
            </a:pPr>
            <a:r>
              <a:t>Challenge one causal claim with a source query; show an alternative explanation.</a:t>
            </a:r>
          </a:p>
        </p:txBody>
      </p:sp>
      <p:sp>
        <p:nvSpPr>
          <p:cNvPr id="16" name="Rectangle 15"/>
          <p:cNvSpPr/>
          <p:nvPr/>
        </p:nvSpPr>
        <p:spPr>
          <a:xfrm>
            <a:off x="457200" y="4032504"/>
            <a:ext cx="11247120" cy="530352"/>
          </a:xfrm>
          <a:prstGeom prst="rect">
            <a:avLst/>
          </a:prstGeom>
          <a:solidFill>
            <a:srgbClr val="ED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1792" y="4142232"/>
            <a:ext cx="731520" cy="320040"/>
          </a:xfrm>
          <a:prstGeom prst="rect">
            <a:avLst/>
          </a:prstGeom>
          <a:noFill/>
        </p:spPr>
        <p:txBody>
          <a:bodyPr wrap="square" lIns="0" rIns="0" tIns="0" bIns="0">
            <a:spAutoFit/>
          </a:bodyPr>
          <a:lstStyle/>
          <a:p>
            <a:pPr>
              <a:lnSpc>
                <a:spcPct val="108000"/>
              </a:lnSpc>
              <a:spcAft>
                <a:spcPts val="400"/>
              </a:spcAft>
              <a:defRPr sz="1700" b="1">
                <a:solidFill>
                  <a:srgbClr val="006D76"/>
                </a:solidFill>
                <a:latin typeface="Arial"/>
              </a:defRPr>
            </a:pPr>
            <a:r>
              <a:t>2 min</a:t>
            </a:r>
          </a:p>
        </p:txBody>
      </p:sp>
      <p:sp>
        <p:nvSpPr>
          <p:cNvPr id="18" name="TextBox 17"/>
          <p:cNvSpPr txBox="1"/>
          <p:nvPr/>
        </p:nvSpPr>
        <p:spPr>
          <a:xfrm>
            <a:off x="1508760" y="4123944"/>
            <a:ext cx="9966960" cy="457200"/>
          </a:xfrm>
          <a:prstGeom prst="rect">
            <a:avLst/>
          </a:prstGeom>
          <a:noFill/>
        </p:spPr>
        <p:txBody>
          <a:bodyPr wrap="square" lIns="0" rIns="0" tIns="0" bIns="0">
            <a:spAutoFit/>
          </a:bodyPr>
          <a:lstStyle/>
          <a:p>
            <a:pPr>
              <a:lnSpc>
                <a:spcPct val="108000"/>
              </a:lnSpc>
              <a:spcAft>
                <a:spcPts val="400"/>
              </a:spcAft>
              <a:defRPr sz="1800" b="0">
                <a:solidFill>
                  <a:srgbClr val="182B40"/>
                </a:solidFill>
                <a:latin typeface="Arial"/>
              </a:defRPr>
            </a:pPr>
            <a:r>
              <a:t>Review a mitigation proposal and explain the separate execution approval.</a:t>
            </a:r>
          </a:p>
        </p:txBody>
      </p:sp>
      <p:sp>
        <p:nvSpPr>
          <p:cNvPr id="19" name="Rectangle 18"/>
          <p:cNvSpPr/>
          <p:nvPr/>
        </p:nvSpPr>
        <p:spPr>
          <a:xfrm>
            <a:off x="457200" y="4599431"/>
            <a:ext cx="11247120" cy="530352"/>
          </a:xfrm>
          <a:prstGeom prst="rect">
            <a:avLst/>
          </a:prstGeom>
          <a:solidFill>
            <a:srgbClr val="ED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 y="4709159"/>
            <a:ext cx="731520" cy="320040"/>
          </a:xfrm>
          <a:prstGeom prst="rect">
            <a:avLst/>
          </a:prstGeom>
          <a:noFill/>
        </p:spPr>
        <p:txBody>
          <a:bodyPr wrap="square" lIns="0" rIns="0" tIns="0" bIns="0">
            <a:spAutoFit/>
          </a:bodyPr>
          <a:lstStyle/>
          <a:p>
            <a:pPr>
              <a:lnSpc>
                <a:spcPct val="108000"/>
              </a:lnSpc>
              <a:spcAft>
                <a:spcPts val="400"/>
              </a:spcAft>
              <a:defRPr sz="1700" b="1">
                <a:solidFill>
                  <a:srgbClr val="006D76"/>
                </a:solidFill>
                <a:latin typeface="Arial"/>
              </a:defRPr>
            </a:pPr>
            <a:r>
              <a:t>1 min</a:t>
            </a:r>
          </a:p>
        </p:txBody>
      </p:sp>
      <p:sp>
        <p:nvSpPr>
          <p:cNvPr id="21" name="TextBox 20"/>
          <p:cNvSpPr txBox="1"/>
          <p:nvPr/>
        </p:nvSpPr>
        <p:spPr>
          <a:xfrm>
            <a:off x="1508760" y="4690871"/>
            <a:ext cx="9966960" cy="457200"/>
          </a:xfrm>
          <a:prstGeom prst="rect">
            <a:avLst/>
          </a:prstGeom>
          <a:noFill/>
        </p:spPr>
        <p:txBody>
          <a:bodyPr wrap="square" lIns="0" rIns="0" tIns="0" bIns="0">
            <a:spAutoFit/>
          </a:bodyPr>
          <a:lstStyle/>
          <a:p>
            <a:pPr>
              <a:lnSpc>
                <a:spcPct val="108000"/>
              </a:lnSpc>
              <a:spcAft>
                <a:spcPts val="400"/>
              </a:spcAft>
              <a:defRPr sz="1800" b="0">
                <a:solidFill>
                  <a:srgbClr val="182B40"/>
                </a:solidFill>
                <a:latin typeface="Arial"/>
              </a:defRPr>
            </a:pPr>
            <a:r>
              <a:t>Show corrective feedback and the evidence needed to claim later recall.</a:t>
            </a:r>
          </a:p>
        </p:txBody>
      </p:sp>
      <p:sp>
        <p:nvSpPr>
          <p:cNvPr id="22" name="Rectangle 21"/>
          <p:cNvSpPr/>
          <p:nvPr/>
        </p:nvSpPr>
        <p:spPr>
          <a:xfrm>
            <a:off x="457200" y="5358384"/>
            <a:ext cx="11247120" cy="749808"/>
          </a:xfrm>
          <a:prstGeom prst="rect">
            <a:avLst/>
          </a:prstGeom>
          <a:solidFill>
            <a:srgbClr val="FCF5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1792" y="5468112"/>
            <a:ext cx="10881360" cy="201168"/>
          </a:xfrm>
          <a:prstGeom prst="rect">
            <a:avLst/>
          </a:prstGeom>
          <a:noFill/>
        </p:spPr>
        <p:txBody>
          <a:bodyPr wrap="square" lIns="0" rIns="0" tIns="0" bIns="0">
            <a:spAutoFit/>
          </a:bodyPr>
          <a:lstStyle/>
          <a:p>
            <a:pPr>
              <a:lnSpc>
                <a:spcPct val="108000"/>
              </a:lnSpc>
              <a:spcAft>
                <a:spcPts val="400"/>
              </a:spcAft>
              <a:defRPr sz="1000" b="1">
                <a:solidFill>
                  <a:srgbClr val="84541B"/>
                </a:solidFill>
                <a:latin typeface="Arial"/>
              </a:defRPr>
            </a:pPr>
            <a:r>
              <a:t>PREPARED-EVIDENCE FALLBACK</a:t>
            </a:r>
          </a:p>
        </p:txBody>
      </p:sp>
      <p:sp>
        <p:nvSpPr>
          <p:cNvPr id="24" name="TextBox 23"/>
          <p:cNvSpPr txBox="1"/>
          <p:nvPr/>
        </p:nvSpPr>
        <p:spPr>
          <a:xfrm>
            <a:off x="621792" y="5715000"/>
            <a:ext cx="10881360" cy="338328"/>
          </a:xfrm>
          <a:prstGeom prst="rect">
            <a:avLst/>
          </a:prstGeom>
          <a:noFill/>
        </p:spPr>
        <p:txBody>
          <a:bodyPr wrap="square" lIns="0" rIns="0" tIns="0" bIns="0">
            <a:spAutoFit/>
          </a:bodyPr>
          <a:lstStyle/>
          <a:p>
            <a:pPr>
              <a:lnSpc>
                <a:spcPct val="108000"/>
              </a:lnSpc>
              <a:spcAft>
                <a:spcPts val="400"/>
              </a:spcAft>
              <a:defRPr sz="1300" b="0">
                <a:solidFill>
                  <a:srgbClr val="182B40"/>
                </a:solidFill>
                <a:latin typeface="Arial"/>
              </a:defRPr>
            </a:pPr>
            <a:r>
              <a:t>Use a clearly labeled prepared investigation export and source-query results. Do not invent a completed agent run during the demonstration.</a:t>
            </a:r>
          </a:p>
        </p:txBody>
      </p:sp>
      <p:sp>
        <p:nvSpPr>
          <p:cNvPr id="25" name="Rectangle 24"/>
          <p:cNvSpPr/>
          <p:nvPr/>
        </p:nvSpPr>
        <p:spPr>
          <a:xfrm>
            <a:off x="457200" y="6355080"/>
            <a:ext cx="11247120" cy="10972"/>
          </a:xfrm>
          <a:prstGeom prst="rect">
            <a:avLst/>
          </a:prstGeom>
          <a:solidFill>
            <a:srgbClr val="D4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7200" y="6492240"/>
            <a:ext cx="4572000" cy="201168"/>
          </a:xfrm>
          <a:prstGeom prst="rect">
            <a:avLst/>
          </a:prstGeom>
          <a:noFill/>
        </p:spPr>
        <p:txBody>
          <a:bodyPr wrap="square" lIns="0" rIns="0" tIns="0" bIns="0">
            <a:spAutoFit/>
          </a:bodyPr>
          <a:lstStyle/>
          <a:p>
            <a:pPr>
              <a:lnSpc>
                <a:spcPct val="108000"/>
              </a:lnSpc>
              <a:spcAft>
                <a:spcPts val="400"/>
              </a:spcAft>
              <a:defRPr sz="1000" b="0">
                <a:solidFill>
                  <a:srgbClr val="536477"/>
                </a:solidFill>
                <a:latin typeface="Arial"/>
              </a:defRPr>
            </a:pPr>
            <a:r>
              <a:t>25:00–33:00   |   8:00 allocation</a:t>
            </a:r>
          </a:p>
        </p:txBody>
      </p:sp>
      <p:sp>
        <p:nvSpPr>
          <p:cNvPr id="27" name="TextBox 26"/>
          <p:cNvSpPr txBox="1"/>
          <p:nvPr/>
        </p:nvSpPr>
        <p:spPr>
          <a:xfrm>
            <a:off x="10835640" y="6492240"/>
            <a:ext cx="868680" cy="201168"/>
          </a:xfrm>
          <a:prstGeom prst="rect">
            <a:avLst/>
          </a:prstGeom>
          <a:noFill/>
        </p:spPr>
        <p:txBody>
          <a:bodyPr wrap="square" lIns="0" rIns="0" tIns="0" bIns="0">
            <a:spAutoFit/>
          </a:bodyPr>
          <a:lstStyle/>
          <a:p>
            <a:pPr>
              <a:lnSpc>
                <a:spcPct val="108000"/>
              </a:lnSpc>
              <a:spcAft>
                <a:spcPts val="400"/>
              </a:spcAft>
              <a:defRPr sz="1000" b="0">
                <a:solidFill>
                  <a:srgbClr val="536477"/>
                </a:solidFill>
                <a:latin typeface="Arial"/>
              </a:defRPr>
            </a:pPr>
            <a:r>
              <a:t>12 / 13</a:t>
            </a:r>
          </a:p>
        </p:txBody>
      </p:sp>
      <p:sp>
        <p:nvSpPr>
          <p:cNvPr id="28" name="TextBox 27"/>
          <p:cNvSpPr txBox="1"/>
          <p:nvPr/>
        </p:nvSpPr>
        <p:spPr>
          <a:xfrm>
            <a:off x="4800600" y="6492240"/>
            <a:ext cx="5852160" cy="201168"/>
          </a:xfrm>
          <a:prstGeom prst="rect">
            <a:avLst/>
          </a:prstGeom>
          <a:noFill/>
        </p:spPr>
        <p:txBody>
          <a:bodyPr wrap="square" lIns="0" rIns="0" tIns="0" bIns="0">
            <a:spAutoFit/>
          </a:bodyPr>
          <a:lstStyle/>
          <a:p>
            <a:pPr>
              <a:lnSpc>
                <a:spcPct val="108000"/>
              </a:lnSpc>
              <a:spcAft>
                <a:spcPts val="400"/>
              </a:spcAft>
              <a:defRPr sz="900" b="0">
                <a:solidFill>
                  <a:srgbClr val="536477"/>
                </a:solidFill>
                <a:latin typeface="Arial"/>
              </a:defRPr>
            </a:pPr>
            <a:r>
              <a:t>Sources: incident, review, memory, actions · full URLs in notes and report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006D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92608"/>
            <a:ext cx="10789920" cy="228600"/>
          </a:xfrm>
          <a:prstGeom prst="rect">
            <a:avLst/>
          </a:prstGeom>
          <a:noFill/>
        </p:spPr>
        <p:txBody>
          <a:bodyPr wrap="square" lIns="0" rIns="0" tIns="0" bIns="0">
            <a:spAutoFit/>
          </a:bodyPr>
          <a:lstStyle/>
          <a:p>
            <a:pPr>
              <a:lnSpc>
                <a:spcPct val="108000"/>
              </a:lnSpc>
              <a:spcAft>
                <a:spcPts val="400"/>
              </a:spcAft>
              <a:defRPr sz="1000" b="1">
                <a:solidFill>
                  <a:srgbClr val="006D76"/>
                </a:solidFill>
                <a:latin typeface="Arial"/>
              </a:defRPr>
            </a:pPr>
            <a:r>
              <a:t>AWS DEVOPS AGENT  /  ENGINEERING REFERENCE</a:t>
            </a:r>
          </a:p>
        </p:txBody>
      </p:sp>
      <p:sp>
        <p:nvSpPr>
          <p:cNvPr id="5" name="TextBox 4"/>
          <p:cNvSpPr txBox="1"/>
          <p:nvPr/>
        </p:nvSpPr>
        <p:spPr>
          <a:xfrm>
            <a:off x="457200" y="713232"/>
            <a:ext cx="11201400" cy="914400"/>
          </a:xfrm>
          <a:prstGeom prst="rect">
            <a:avLst/>
          </a:prstGeom>
          <a:noFill/>
        </p:spPr>
        <p:txBody>
          <a:bodyPr wrap="square" lIns="0" rIns="0" tIns="0" bIns="0">
            <a:spAutoFit/>
          </a:bodyPr>
          <a:lstStyle/>
          <a:p>
            <a:pPr>
              <a:lnSpc>
                <a:spcPct val="108000"/>
              </a:lnSpc>
              <a:spcAft>
                <a:spcPts val="400"/>
              </a:spcAft>
              <a:defRPr sz="2900" b="1">
                <a:solidFill>
                  <a:srgbClr val="182B40"/>
                </a:solidFill>
                <a:latin typeface="Arial"/>
              </a:defRPr>
            </a:pPr>
            <a:r>
              <a:t>Operational acceptance is evidence, not fluency</a:t>
            </a:r>
          </a:p>
        </p:txBody>
      </p:sp>
      <p:sp>
        <p:nvSpPr>
          <p:cNvPr id="6" name="TextBox 5"/>
          <p:cNvSpPr txBox="1"/>
          <p:nvPr/>
        </p:nvSpPr>
        <p:spPr>
          <a:xfrm>
            <a:off x="457200" y="1773936"/>
            <a:ext cx="11109960" cy="475488"/>
          </a:xfrm>
          <a:prstGeom prst="rect">
            <a:avLst/>
          </a:prstGeom>
          <a:noFill/>
        </p:spPr>
        <p:txBody>
          <a:bodyPr wrap="square" lIns="0" rIns="0" tIns="0" bIns="0">
            <a:spAutoFit/>
          </a:bodyPr>
          <a:lstStyle/>
          <a:p>
            <a:pPr>
              <a:lnSpc>
                <a:spcPct val="108000"/>
              </a:lnSpc>
              <a:spcAft>
                <a:spcPts val="400"/>
              </a:spcAft>
              <a:defRPr sz="1700" b="0">
                <a:solidFill>
                  <a:srgbClr val="006D76"/>
                </a:solidFill>
                <a:latin typeface="Arial"/>
              </a:defRPr>
            </a:pPr>
            <a:r>
              <a:t>Start with a bounded service and retain unresolved gaps explicitly.</a:t>
            </a:r>
          </a:p>
        </p:txBody>
      </p:sp>
      <p:sp>
        <p:nvSpPr>
          <p:cNvPr id="7" name="Rectangle 6"/>
          <p:cNvSpPr/>
          <p:nvPr/>
        </p:nvSpPr>
        <p:spPr>
          <a:xfrm>
            <a:off x="457200" y="2331720"/>
            <a:ext cx="3017520" cy="502920"/>
          </a:xfrm>
          <a:prstGeom prst="rect">
            <a:avLst/>
          </a:prstGeom>
          <a:solidFill>
            <a:srgbClr val="1128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 y="2441448"/>
            <a:ext cx="2761487" cy="356616"/>
          </a:xfrm>
          <a:prstGeom prst="rect">
            <a:avLst/>
          </a:prstGeom>
          <a:noFill/>
        </p:spPr>
        <p:txBody>
          <a:bodyPr wrap="square" lIns="0" rIns="0" tIns="0" bIns="0">
            <a:spAutoFit/>
          </a:bodyPr>
          <a:lstStyle/>
          <a:p>
            <a:pPr>
              <a:lnSpc>
                <a:spcPct val="108000"/>
              </a:lnSpc>
              <a:spcAft>
                <a:spcPts val="400"/>
              </a:spcAft>
              <a:defRPr sz="1500" b="1">
                <a:solidFill>
                  <a:srgbClr val="FFFFFF"/>
                </a:solidFill>
                <a:latin typeface="Arial"/>
              </a:defRPr>
            </a:pPr>
            <a:r>
              <a:t>Accept only when…</a:t>
            </a:r>
          </a:p>
        </p:txBody>
      </p:sp>
      <p:sp>
        <p:nvSpPr>
          <p:cNvPr id="9" name="Rectangle 8"/>
          <p:cNvSpPr/>
          <p:nvPr/>
        </p:nvSpPr>
        <p:spPr>
          <a:xfrm>
            <a:off x="3474720" y="2331720"/>
            <a:ext cx="4114800" cy="502920"/>
          </a:xfrm>
          <a:prstGeom prst="rect">
            <a:avLst/>
          </a:prstGeom>
          <a:solidFill>
            <a:srgbClr val="1128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02736" y="2441448"/>
            <a:ext cx="3858768" cy="356616"/>
          </a:xfrm>
          <a:prstGeom prst="rect">
            <a:avLst/>
          </a:prstGeom>
          <a:noFill/>
        </p:spPr>
        <p:txBody>
          <a:bodyPr wrap="square" lIns="0" rIns="0" tIns="0" bIns="0">
            <a:spAutoFit/>
          </a:bodyPr>
          <a:lstStyle/>
          <a:p>
            <a:pPr>
              <a:lnSpc>
                <a:spcPct val="108000"/>
              </a:lnSpc>
              <a:spcAft>
                <a:spcPts val="400"/>
              </a:spcAft>
              <a:defRPr sz="1500" b="1">
                <a:solidFill>
                  <a:srgbClr val="FFFFFF"/>
                </a:solidFill>
                <a:latin typeface="Arial"/>
              </a:defRPr>
            </a:pPr>
            <a:r>
              <a:t>Keep separate</a:t>
            </a:r>
          </a:p>
        </p:txBody>
      </p:sp>
      <p:sp>
        <p:nvSpPr>
          <p:cNvPr id="11" name="Rectangle 10"/>
          <p:cNvSpPr/>
          <p:nvPr/>
        </p:nvSpPr>
        <p:spPr>
          <a:xfrm>
            <a:off x="7589520" y="2331720"/>
            <a:ext cx="4114800" cy="502920"/>
          </a:xfrm>
          <a:prstGeom prst="rect">
            <a:avLst/>
          </a:prstGeom>
          <a:solidFill>
            <a:srgbClr val="1128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17536" y="2441448"/>
            <a:ext cx="3858768" cy="356616"/>
          </a:xfrm>
          <a:prstGeom prst="rect">
            <a:avLst/>
          </a:prstGeom>
          <a:noFill/>
        </p:spPr>
        <p:txBody>
          <a:bodyPr wrap="square" lIns="0" rIns="0" tIns="0" bIns="0">
            <a:spAutoFit/>
          </a:bodyPr>
          <a:lstStyle/>
          <a:p>
            <a:pPr>
              <a:lnSpc>
                <a:spcPct val="108000"/>
              </a:lnSpc>
              <a:spcAft>
                <a:spcPts val="400"/>
              </a:spcAft>
              <a:defRPr sz="1500" b="1">
                <a:solidFill>
                  <a:srgbClr val="FFFFFF"/>
                </a:solidFill>
                <a:latin typeface="Arial"/>
              </a:defRPr>
            </a:pPr>
            <a:r>
              <a:t>Stop when…</a:t>
            </a:r>
          </a:p>
        </p:txBody>
      </p:sp>
      <p:sp>
        <p:nvSpPr>
          <p:cNvPr id="13" name="Rectangle 12"/>
          <p:cNvSpPr/>
          <p:nvPr/>
        </p:nvSpPr>
        <p:spPr>
          <a:xfrm>
            <a:off x="457200" y="2834639"/>
            <a:ext cx="3017520" cy="806958"/>
          </a:xfrm>
          <a:prstGeom prst="rect">
            <a:avLst/>
          </a:prstGeom>
          <a:solidFill>
            <a:srgbClr val="EDF3F5"/>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85216" y="2953511"/>
            <a:ext cx="2761487" cy="651510"/>
          </a:xfrm>
          <a:prstGeom prst="rect">
            <a:avLst/>
          </a:prstGeom>
          <a:noFill/>
        </p:spPr>
        <p:txBody>
          <a:bodyPr wrap="square" lIns="0" rIns="0" tIns="0" bIns="0">
            <a:spAutoFit/>
          </a:bodyPr>
          <a:lstStyle/>
          <a:p>
            <a:pPr>
              <a:lnSpc>
                <a:spcPct val="108000"/>
              </a:lnSpc>
              <a:spcAft>
                <a:spcPts val="400"/>
              </a:spcAft>
              <a:defRPr sz="1700" b="1">
                <a:solidFill>
                  <a:srgbClr val="182B40"/>
                </a:solidFill>
                <a:latin typeface="Arial"/>
              </a:defRPr>
            </a:pPr>
            <a:r>
              <a:t>Scope and source queries match</a:t>
            </a:r>
          </a:p>
        </p:txBody>
      </p:sp>
      <p:sp>
        <p:nvSpPr>
          <p:cNvPr id="15" name="Rectangle 14"/>
          <p:cNvSpPr/>
          <p:nvPr/>
        </p:nvSpPr>
        <p:spPr>
          <a:xfrm>
            <a:off x="3474720" y="2834639"/>
            <a:ext cx="4114800" cy="806958"/>
          </a:xfrm>
          <a:prstGeom prst="rect">
            <a:avLst/>
          </a:prstGeom>
          <a:solidFill>
            <a:srgbClr val="EDF3F5"/>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2736" y="2953511"/>
            <a:ext cx="3858768" cy="651510"/>
          </a:xfrm>
          <a:prstGeom prst="rect">
            <a:avLst/>
          </a:prstGeom>
          <a:noFill/>
        </p:spPr>
        <p:txBody>
          <a:bodyPr wrap="square" lIns="0" rIns="0" tIns="0" bIns="0">
            <a:spAutoFit/>
          </a:bodyPr>
          <a:lstStyle/>
          <a:p>
            <a:pPr>
              <a:lnSpc>
                <a:spcPct val="108000"/>
              </a:lnSpc>
              <a:spcAft>
                <a:spcPts val="400"/>
              </a:spcAft>
              <a:defRPr sz="1700" b="0">
                <a:solidFill>
                  <a:srgbClr val="182B40"/>
                </a:solidFill>
                <a:latin typeface="Arial"/>
              </a:defRPr>
            </a:pPr>
            <a:r>
              <a:t>Diagnosis versus historical memory</a:t>
            </a:r>
          </a:p>
        </p:txBody>
      </p:sp>
      <p:sp>
        <p:nvSpPr>
          <p:cNvPr id="17" name="Rectangle 16"/>
          <p:cNvSpPr/>
          <p:nvPr/>
        </p:nvSpPr>
        <p:spPr>
          <a:xfrm>
            <a:off x="7589520" y="2834639"/>
            <a:ext cx="4114800" cy="806958"/>
          </a:xfrm>
          <a:prstGeom prst="rect">
            <a:avLst/>
          </a:prstGeom>
          <a:solidFill>
            <a:srgbClr val="EDF3F5"/>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17536" y="2953511"/>
            <a:ext cx="3858768" cy="651510"/>
          </a:xfrm>
          <a:prstGeom prst="rect">
            <a:avLst/>
          </a:prstGeom>
          <a:noFill/>
        </p:spPr>
        <p:txBody>
          <a:bodyPr wrap="square" lIns="0" rIns="0" tIns="0" bIns="0">
            <a:spAutoFit/>
          </a:bodyPr>
          <a:lstStyle/>
          <a:p>
            <a:pPr>
              <a:lnSpc>
                <a:spcPct val="108000"/>
              </a:lnSpc>
              <a:spcAft>
                <a:spcPts val="400"/>
              </a:spcAft>
              <a:defRPr sz="1700" b="0">
                <a:solidFill>
                  <a:srgbClr val="182B40"/>
                </a:solidFill>
                <a:latin typeface="Arial"/>
              </a:defRPr>
            </a:pPr>
            <a:r>
              <a:t>Required telemetry is denied or missing</a:t>
            </a:r>
          </a:p>
        </p:txBody>
      </p:sp>
      <p:sp>
        <p:nvSpPr>
          <p:cNvPr id="19" name="Rectangle 18"/>
          <p:cNvSpPr/>
          <p:nvPr/>
        </p:nvSpPr>
        <p:spPr>
          <a:xfrm>
            <a:off x="457200" y="3641598"/>
            <a:ext cx="3017520" cy="806958"/>
          </a:xfrm>
          <a:prstGeom prst="rect">
            <a:avLst/>
          </a:prstGeom>
          <a:solidFill>
            <a:srgbClr val="FFFFFF"/>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85216" y="3760470"/>
            <a:ext cx="2761487" cy="651510"/>
          </a:xfrm>
          <a:prstGeom prst="rect">
            <a:avLst/>
          </a:prstGeom>
          <a:noFill/>
        </p:spPr>
        <p:txBody>
          <a:bodyPr wrap="square" lIns="0" rIns="0" tIns="0" bIns="0">
            <a:spAutoFit/>
          </a:bodyPr>
          <a:lstStyle/>
          <a:p>
            <a:pPr>
              <a:lnSpc>
                <a:spcPct val="108000"/>
              </a:lnSpc>
              <a:spcAft>
                <a:spcPts val="400"/>
              </a:spcAft>
              <a:defRPr sz="1700" b="1">
                <a:solidFill>
                  <a:srgbClr val="182B40"/>
                </a:solidFill>
                <a:latin typeface="Arial"/>
              </a:defRPr>
            </a:pPr>
            <a:r>
              <a:t>Target and recovery test are explicit</a:t>
            </a:r>
          </a:p>
        </p:txBody>
      </p:sp>
      <p:sp>
        <p:nvSpPr>
          <p:cNvPr id="21" name="Rectangle 20"/>
          <p:cNvSpPr/>
          <p:nvPr/>
        </p:nvSpPr>
        <p:spPr>
          <a:xfrm>
            <a:off x="3474720" y="3641598"/>
            <a:ext cx="4114800" cy="806958"/>
          </a:xfrm>
          <a:prstGeom prst="rect">
            <a:avLst/>
          </a:prstGeom>
          <a:solidFill>
            <a:srgbClr val="FFFFFF"/>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02736" y="3760470"/>
            <a:ext cx="3858768" cy="651510"/>
          </a:xfrm>
          <a:prstGeom prst="rect">
            <a:avLst/>
          </a:prstGeom>
          <a:noFill/>
        </p:spPr>
        <p:txBody>
          <a:bodyPr wrap="square" lIns="0" rIns="0" tIns="0" bIns="0">
            <a:spAutoFit/>
          </a:bodyPr>
          <a:lstStyle/>
          <a:p>
            <a:pPr>
              <a:lnSpc>
                <a:spcPct val="108000"/>
              </a:lnSpc>
              <a:spcAft>
                <a:spcPts val="400"/>
              </a:spcAft>
              <a:defRPr sz="1700" b="0">
                <a:solidFill>
                  <a:srgbClr val="182B40"/>
                </a:solidFill>
                <a:latin typeface="Arial"/>
              </a:defRPr>
            </a:pPr>
            <a:r>
              <a:t>Proposal versus approved execution</a:t>
            </a:r>
          </a:p>
        </p:txBody>
      </p:sp>
      <p:sp>
        <p:nvSpPr>
          <p:cNvPr id="23" name="Rectangle 22"/>
          <p:cNvSpPr/>
          <p:nvPr/>
        </p:nvSpPr>
        <p:spPr>
          <a:xfrm>
            <a:off x="7589520" y="3641598"/>
            <a:ext cx="4114800" cy="806958"/>
          </a:xfrm>
          <a:prstGeom prst="rect">
            <a:avLst/>
          </a:prstGeom>
          <a:solidFill>
            <a:srgbClr val="FFFFFF"/>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717536" y="3760470"/>
            <a:ext cx="3858768" cy="651510"/>
          </a:xfrm>
          <a:prstGeom prst="rect">
            <a:avLst/>
          </a:prstGeom>
          <a:noFill/>
        </p:spPr>
        <p:txBody>
          <a:bodyPr wrap="square" lIns="0" rIns="0" tIns="0" bIns="0">
            <a:spAutoFit/>
          </a:bodyPr>
          <a:lstStyle/>
          <a:p>
            <a:pPr>
              <a:lnSpc>
                <a:spcPct val="108000"/>
              </a:lnSpc>
              <a:spcAft>
                <a:spcPts val="400"/>
              </a:spcAft>
              <a:defRPr sz="1700" b="0">
                <a:solidFill>
                  <a:srgbClr val="182B40"/>
                </a:solidFill>
                <a:latin typeface="Arial"/>
              </a:defRPr>
            </a:pPr>
            <a:r>
              <a:t>Rollback assumptions are unknown</a:t>
            </a:r>
          </a:p>
        </p:txBody>
      </p:sp>
      <p:sp>
        <p:nvSpPr>
          <p:cNvPr id="25" name="Rectangle 24"/>
          <p:cNvSpPr/>
          <p:nvPr/>
        </p:nvSpPr>
        <p:spPr>
          <a:xfrm>
            <a:off x="457200" y="4448556"/>
            <a:ext cx="3017520" cy="806958"/>
          </a:xfrm>
          <a:prstGeom prst="rect">
            <a:avLst/>
          </a:prstGeom>
          <a:solidFill>
            <a:srgbClr val="EDF3F5"/>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85216" y="4567428"/>
            <a:ext cx="2761487" cy="651510"/>
          </a:xfrm>
          <a:prstGeom prst="rect">
            <a:avLst/>
          </a:prstGeom>
          <a:noFill/>
        </p:spPr>
        <p:txBody>
          <a:bodyPr wrap="square" lIns="0" rIns="0" tIns="0" bIns="0">
            <a:spAutoFit/>
          </a:bodyPr>
          <a:lstStyle/>
          <a:p>
            <a:pPr>
              <a:lnSpc>
                <a:spcPct val="108000"/>
              </a:lnSpc>
              <a:spcAft>
                <a:spcPts val="400"/>
              </a:spcAft>
              <a:defRPr sz="1700" b="1">
                <a:solidFill>
                  <a:srgbClr val="182B40"/>
                </a:solidFill>
                <a:latin typeface="Arial"/>
              </a:defRPr>
            </a:pPr>
            <a:r>
              <a:t>Unknown results remain visible</a:t>
            </a:r>
          </a:p>
        </p:txBody>
      </p:sp>
      <p:sp>
        <p:nvSpPr>
          <p:cNvPr id="27" name="Rectangle 26"/>
          <p:cNvSpPr/>
          <p:nvPr/>
        </p:nvSpPr>
        <p:spPr>
          <a:xfrm>
            <a:off x="3474720" y="4448556"/>
            <a:ext cx="4114800" cy="806958"/>
          </a:xfrm>
          <a:prstGeom prst="rect">
            <a:avLst/>
          </a:prstGeom>
          <a:solidFill>
            <a:srgbClr val="EDF3F5"/>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02736" y="4567428"/>
            <a:ext cx="3858768" cy="651510"/>
          </a:xfrm>
          <a:prstGeom prst="rect">
            <a:avLst/>
          </a:prstGeom>
          <a:noFill/>
        </p:spPr>
        <p:txBody>
          <a:bodyPr wrap="square" lIns="0" rIns="0" tIns="0" bIns="0">
            <a:spAutoFit/>
          </a:bodyPr>
          <a:lstStyle/>
          <a:p>
            <a:pPr>
              <a:lnSpc>
                <a:spcPct val="108000"/>
              </a:lnSpc>
              <a:spcAft>
                <a:spcPts val="400"/>
              </a:spcAft>
              <a:defRPr sz="1700" b="0">
                <a:solidFill>
                  <a:srgbClr val="182B40"/>
                </a:solidFill>
                <a:latin typeface="Arial"/>
              </a:defRPr>
            </a:pPr>
            <a:r>
              <a:t>One run versus its recurring trigger</a:t>
            </a:r>
          </a:p>
        </p:txBody>
      </p:sp>
      <p:sp>
        <p:nvSpPr>
          <p:cNvPr id="29" name="Rectangle 28"/>
          <p:cNvSpPr/>
          <p:nvPr/>
        </p:nvSpPr>
        <p:spPr>
          <a:xfrm>
            <a:off x="7589520" y="4448556"/>
            <a:ext cx="4114800" cy="806958"/>
          </a:xfrm>
          <a:prstGeom prst="rect">
            <a:avLst/>
          </a:prstGeom>
          <a:solidFill>
            <a:srgbClr val="EDF3F5"/>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717536" y="4567428"/>
            <a:ext cx="3858768" cy="651510"/>
          </a:xfrm>
          <a:prstGeom prst="rect">
            <a:avLst/>
          </a:prstGeom>
          <a:noFill/>
        </p:spPr>
        <p:txBody>
          <a:bodyPr wrap="square" lIns="0" rIns="0" tIns="0" bIns="0">
            <a:spAutoFit/>
          </a:bodyPr>
          <a:lstStyle/>
          <a:p>
            <a:pPr>
              <a:lnSpc>
                <a:spcPct val="108000"/>
              </a:lnSpc>
              <a:spcAft>
                <a:spcPts val="400"/>
              </a:spcAft>
              <a:defRPr sz="1700" b="0">
                <a:solidFill>
                  <a:srgbClr val="182B40"/>
                </a:solidFill>
                <a:latin typeface="Arial"/>
              </a:defRPr>
            </a:pPr>
            <a:r>
              <a:t>The report fabricates an all-clear result</a:t>
            </a:r>
          </a:p>
        </p:txBody>
      </p:sp>
      <p:sp>
        <p:nvSpPr>
          <p:cNvPr id="31" name="Rectangle 30"/>
          <p:cNvSpPr/>
          <p:nvPr/>
        </p:nvSpPr>
        <p:spPr>
          <a:xfrm>
            <a:off x="457200" y="5255514"/>
            <a:ext cx="3017520" cy="806958"/>
          </a:xfrm>
          <a:prstGeom prst="rect">
            <a:avLst/>
          </a:prstGeom>
          <a:solidFill>
            <a:srgbClr val="FFFFFF"/>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85216" y="5374386"/>
            <a:ext cx="2761487" cy="651510"/>
          </a:xfrm>
          <a:prstGeom prst="rect">
            <a:avLst/>
          </a:prstGeom>
          <a:noFill/>
        </p:spPr>
        <p:txBody>
          <a:bodyPr wrap="square" lIns="0" rIns="0" tIns="0" bIns="0">
            <a:spAutoFit/>
          </a:bodyPr>
          <a:lstStyle/>
          <a:p>
            <a:pPr>
              <a:lnSpc>
                <a:spcPct val="108000"/>
              </a:lnSpc>
              <a:spcAft>
                <a:spcPts val="400"/>
              </a:spcAft>
              <a:defRPr sz="1700" b="1">
                <a:solidFill>
                  <a:srgbClr val="182B40"/>
                </a:solidFill>
                <a:latin typeface="Arial"/>
              </a:defRPr>
            </a:pPr>
            <a:r>
              <a:t>Tests use a safe staging target</a:t>
            </a:r>
          </a:p>
        </p:txBody>
      </p:sp>
      <p:sp>
        <p:nvSpPr>
          <p:cNvPr id="33" name="Rectangle 32"/>
          <p:cNvSpPr/>
          <p:nvPr/>
        </p:nvSpPr>
        <p:spPr>
          <a:xfrm>
            <a:off x="3474720" y="5255514"/>
            <a:ext cx="4114800" cy="806958"/>
          </a:xfrm>
          <a:prstGeom prst="rect">
            <a:avLst/>
          </a:prstGeom>
          <a:solidFill>
            <a:srgbClr val="FFFFFF"/>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02736" y="5374386"/>
            <a:ext cx="3858768" cy="651510"/>
          </a:xfrm>
          <a:prstGeom prst="rect">
            <a:avLst/>
          </a:prstGeom>
          <a:noFill/>
        </p:spPr>
        <p:txBody>
          <a:bodyPr wrap="square" lIns="0" rIns="0" tIns="0" bIns="0">
            <a:spAutoFit/>
          </a:bodyPr>
          <a:lstStyle/>
          <a:p>
            <a:pPr>
              <a:lnSpc>
                <a:spcPct val="108000"/>
              </a:lnSpc>
              <a:spcAft>
                <a:spcPts val="400"/>
              </a:spcAft>
              <a:defRPr sz="1700" b="0">
                <a:solidFill>
                  <a:srgbClr val="182B40"/>
                </a:solidFill>
                <a:latin typeface="Arial"/>
              </a:defRPr>
            </a:pPr>
            <a:r>
              <a:t>Code review versus application testing</a:t>
            </a:r>
          </a:p>
        </p:txBody>
      </p:sp>
      <p:sp>
        <p:nvSpPr>
          <p:cNvPr id="35" name="Rectangle 34"/>
          <p:cNvSpPr/>
          <p:nvPr/>
        </p:nvSpPr>
        <p:spPr>
          <a:xfrm>
            <a:off x="7589520" y="5255514"/>
            <a:ext cx="4114800" cy="806958"/>
          </a:xfrm>
          <a:prstGeom prst="rect">
            <a:avLst/>
          </a:prstGeom>
          <a:solidFill>
            <a:srgbClr val="FFFFFF"/>
          </a:solidFill>
          <a:ln w="8890">
            <a:solidFill>
              <a:srgbClr val="D4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717536" y="5374386"/>
            <a:ext cx="3858768" cy="651510"/>
          </a:xfrm>
          <a:prstGeom prst="rect">
            <a:avLst/>
          </a:prstGeom>
          <a:noFill/>
        </p:spPr>
        <p:txBody>
          <a:bodyPr wrap="square" lIns="0" rIns="0" tIns="0" bIns="0">
            <a:spAutoFit/>
          </a:bodyPr>
          <a:lstStyle/>
          <a:p>
            <a:pPr>
              <a:lnSpc>
                <a:spcPct val="108000"/>
              </a:lnSpc>
              <a:spcAft>
                <a:spcPts val="400"/>
              </a:spcAft>
              <a:defRPr sz="1700" b="0">
                <a:solidFill>
                  <a:srgbClr val="182B40"/>
                </a:solidFill>
                <a:latin typeface="Arial"/>
              </a:defRPr>
            </a:pPr>
            <a:r>
              <a:t>Real external side effects are possible</a:t>
            </a:r>
          </a:p>
        </p:txBody>
      </p:sp>
      <p:sp>
        <p:nvSpPr>
          <p:cNvPr id="37" name="Rectangle 36"/>
          <p:cNvSpPr/>
          <p:nvPr/>
        </p:nvSpPr>
        <p:spPr>
          <a:xfrm>
            <a:off x="457200" y="6355080"/>
            <a:ext cx="11247120" cy="10972"/>
          </a:xfrm>
          <a:prstGeom prst="rect">
            <a:avLst/>
          </a:prstGeom>
          <a:solidFill>
            <a:srgbClr val="D4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57200" y="6492240"/>
            <a:ext cx="4572000" cy="201168"/>
          </a:xfrm>
          <a:prstGeom prst="rect">
            <a:avLst/>
          </a:prstGeom>
          <a:noFill/>
        </p:spPr>
        <p:txBody>
          <a:bodyPr wrap="square" lIns="0" rIns="0" tIns="0" bIns="0">
            <a:spAutoFit/>
          </a:bodyPr>
          <a:lstStyle/>
          <a:p>
            <a:pPr>
              <a:lnSpc>
                <a:spcPct val="108000"/>
              </a:lnSpc>
              <a:spcAft>
                <a:spcPts val="400"/>
              </a:spcAft>
              <a:defRPr sz="1000" b="0">
                <a:solidFill>
                  <a:srgbClr val="536477"/>
                </a:solidFill>
                <a:latin typeface="Arial"/>
              </a:defRPr>
            </a:pPr>
            <a:r>
              <a:t>33:00–35:00   |   2:00 allocation</a:t>
            </a:r>
          </a:p>
        </p:txBody>
      </p:sp>
      <p:sp>
        <p:nvSpPr>
          <p:cNvPr id="39" name="TextBox 38"/>
          <p:cNvSpPr txBox="1"/>
          <p:nvPr/>
        </p:nvSpPr>
        <p:spPr>
          <a:xfrm>
            <a:off x="10835640" y="6492240"/>
            <a:ext cx="868680" cy="201168"/>
          </a:xfrm>
          <a:prstGeom prst="rect">
            <a:avLst/>
          </a:prstGeom>
          <a:noFill/>
        </p:spPr>
        <p:txBody>
          <a:bodyPr wrap="square" lIns="0" rIns="0" tIns="0" bIns="0">
            <a:spAutoFit/>
          </a:bodyPr>
          <a:lstStyle/>
          <a:p>
            <a:pPr>
              <a:lnSpc>
                <a:spcPct val="108000"/>
              </a:lnSpc>
              <a:spcAft>
                <a:spcPts val="400"/>
              </a:spcAft>
              <a:defRPr sz="1000" b="0">
                <a:solidFill>
                  <a:srgbClr val="536477"/>
                </a:solidFill>
                <a:latin typeface="Arial"/>
              </a:defRPr>
            </a:pPr>
            <a:r>
              <a:t>13 / 13</a:t>
            </a:r>
          </a:p>
        </p:txBody>
      </p:sp>
      <p:sp>
        <p:nvSpPr>
          <p:cNvPr id="40" name="TextBox 39"/>
          <p:cNvSpPr txBox="1"/>
          <p:nvPr/>
        </p:nvSpPr>
        <p:spPr>
          <a:xfrm>
            <a:off x="4800600" y="6492240"/>
            <a:ext cx="5852160" cy="201168"/>
          </a:xfrm>
          <a:prstGeom prst="rect">
            <a:avLst/>
          </a:prstGeom>
          <a:noFill/>
        </p:spPr>
        <p:txBody>
          <a:bodyPr wrap="square" lIns="0" rIns="0" tIns="0" bIns="0">
            <a:spAutoFit/>
          </a:bodyPr>
          <a:lstStyle/>
          <a:p>
            <a:pPr>
              <a:lnSpc>
                <a:spcPct val="108000"/>
              </a:lnSpc>
              <a:spcAft>
                <a:spcPts val="400"/>
              </a:spcAft>
              <a:defRPr sz="900" b="0">
                <a:solidFill>
                  <a:srgbClr val="536477"/>
                </a:solidFill>
                <a:latin typeface="Arial"/>
              </a:defRPr>
            </a:pPr>
            <a:r>
              <a:t>Sources: incident, actions, custom-run, release-test · full URLs in notes and report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AWS DevOps Agent — engineering presentation</dc:title>
  <dc:subject>Operational investigation, controlled actions and release assessment</dc:subject>
  <dc:creator>Engineering documentation</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