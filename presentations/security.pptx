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Application resources sit beneath shared account configuration</a:t>
            </a:r>
          </a:p>
          <a:p/>
          <a:p>
            <a:r>
              <a:t>Budget 2 minutes; cumulative 00:00–02:00.</a:t>
            </a:r>
          </a:p>
          <a:p/>
          <a:p>
            <a:r>
              <a:t>Requirements and integrations can have broader scope than a single application.</a:t>
            </a:r>
          </a:p>
          <a:p/>
          <a:p>
            <a:r>
              <a:t>Use the display as the speaking outline. The following canonical guide text is reference, not a mandatory verbatim script.</a:t>
            </a:r>
          </a:p>
          <a:p/>
          <a:p>
            <a:r>
              <a:t>S-01 — Resources, scopes and functions</a:t>
            </a:r>
          </a:p>
          <a:p/>
          <a:p>
            <a:r>
              <a:t>S-01 — Resources, scopes and functions The product functions are application penetration testing, source-code analysis, design review, and threat modeling. Supporting platform capabilities include source connection, reusable configuration, authenticated/private access, requirement management, run observation, remediation and finding revalidation. Do not equate an entire assessment with a single hidden learning mechanism. SS01 SS03 Account / organization resources</a:t>
            </a:r>
          </a:p>
          <a:p>
            <a:r>
              <a:t>  ├─ registered source integrations</a:t>
            </a:r>
          </a:p>
          <a:p>
            <a:r>
              <a:t>  ├─ security requirement packs</a:t>
            </a:r>
          </a:p>
          <a:p>
            <a:r>
              <a:t>  └─ identity configuration</a:t>
            </a:r>
          </a:p>
          <a:p>
            <a:r>
              <a:t>              ↓ connect / assign / enable</a:t>
            </a:r>
          </a:p>
          <a:p>
            <a:r>
              <a:t>Application Agent Space</a:t>
            </a:r>
          </a:p>
          <a:p>
            <a:r>
              <a:t>  ├─ repositories, documents, user access, service settings</a:t>
            </a:r>
          </a:p>
          <a:p>
            <a:r>
              <a:t>  ├─ penetration-test configuration → runs → findings → revalidation jobs</a:t>
            </a:r>
          </a:p>
          <a:p>
            <a:r>
              <a:t>  ├─ code-review configuration → full scans / change-triggered reviews</a:t>
            </a:r>
          </a:p>
          <a:p>
            <a:r>
              <a:t>  ├─ threat-model configuration → runs and model results</a:t>
            </a:r>
          </a:p>
          <a:p>
            <a:r>
              <a:t>  └─ one-off design reviews → clone when a new assessment is needed Registration makes an integration available; connecting a repository selects it for a space; enabling the assessment configures its use. These are separate actions. Requirements are shared resources, so the application boundary is not an isolation claim for every object. SS03 Capability group Resources and operators Canonical sections Identity and sources Administrator, operator, Agent Space, integration, connected repository S-02 Target access Verified domains, VPC route, target rules, credential definitions S-03, S-M01 Procedure reuse Login Optimization and its learned skill S-M02 Assessment criteria Managed/custom requirement packs and applicability S-M03, S-M04 Execution Configuration, preflight, run, task-hour limit, logs S-04 Findings and repair Finding evidence, proposed patch, deployed revision S-05 Targeted verification Revalidation job and finding lineage S-M05 Data protection Customer-managed key, branch key, encryption context, calling identity S-M06 Earlier feedback Full/change-based code review, design review, threat model S-06</a:t>
            </a:r>
          </a:p>
          <a:p/>
          <a:p>
            <a:r>
              <a:t>SS01 https://docs.aws.amazon.com/securityagent/latest/userguide/what-is.html</a:t>
            </a:r>
          </a:p>
          <a:p/>
          <a:p>
            <a:r>
              <a:t>SS03 https://docs.aws.amazon.com/securityagent/latest/userguide/understand-lifecycle.html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Registration is not repository connection</a:t>
            </a:r>
          </a:p>
          <a:p/>
          <a:p>
            <a:r>
              <a:t>Budget 2 minutes; cumulative 02:00–04:00.</a:t>
            </a:r>
          </a:p>
          <a:p/>
          <a:p>
            <a:r>
              <a:t>Verify the deployed revision separately from the latest source branch.</a:t>
            </a:r>
          </a:p>
          <a:p/>
          <a:p>
            <a:r>
              <a:t>Use the display as the speaking outline. The following canonical guide text is reference, not a mandatory verbatim script.</a:t>
            </a:r>
          </a:p>
          <a:p/>
          <a:p>
            <a:r>
              <a:t>S-02 — Set up identity and source access</a:t>
            </a:r>
          </a:p>
          <a:p/>
          <a:p>
            <a:r>
              <a:t>S-02 — Set up identity and source access The console is the administrative surface. The web app is the assessment workspace. IAM-based operators can enter through the console route; IAM Identity Center supports assigned users without requiring ordinary console access. Configure the intended operator identity, not just the administrator who creates the Agent Space. SS04 SS05 Configuration procedure: create or select an Agent Space, establish the supported identity mode, register the source integration, connect the application's repositories, and enable the relevant feature. For a GitHub integration, verify whether the installation belongs to a personal account or organization and whether organization approval is required. A successful account registration does not mean a repository was connected. SS03 SS05 SS06 For code review, independently review the settings for vulnerability analysis, requirement evaluation, comments, and automatic remediation. Enabling one does not establish that all others are active. S3 can be a code source through its own supported configuration path; provider-specific integration instructions remain authoritative. SS05 Engineering verification: open the web app as the intended user, inspect the connected source and selected branch, and compare the source revision with the deployed test application. Record a known read and an expected denial. Do not place credentials in a repository or presentation to simplify the example.</a:t>
            </a:r>
          </a:p>
          <a:p/>
          <a:p>
            <a:r>
              <a:t>SS03 https://docs.aws.amazon.com/securityagent/latest/userguide/understand-lifecycle.html</a:t>
            </a:r>
          </a:p>
          <a:p/>
          <a:p>
            <a:r>
              <a:t>SS04 https://docs.aws.amazon.com/securityagent/latest/userguide/how-it-works.html</a:t>
            </a:r>
          </a:p>
          <a:p/>
          <a:p>
            <a:r>
              <a:t>SS05 https://docs.aws.amazon.com/securityagent/latest/userguide/quickstart-code-review.html</a:t>
            </a:r>
          </a:p>
          <a:p/>
          <a:p>
            <a:r>
              <a:t>SS06 https://docs.aws.amazon.com/securityagent/latest/userguide/troubleshooting.html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Network rules separate targets, dependencies and exclusions</a:t>
            </a:r>
          </a:p>
          <a:p/>
          <a:p>
            <a:r>
              <a:t>Budget 2 minutes; cumulative 04:00–06:00.</a:t>
            </a:r>
          </a:p>
          <a:p/>
          <a:p>
            <a:r>
              <a:t>A verified domain is not authorization for every downstream effect.</a:t>
            </a:r>
          </a:p>
          <a:p/>
          <a:p>
            <a:r>
              <a:t>Use the display as the speaking outline. The following canonical guide text is reference, not a mandatory verbatim script.</a:t>
            </a:r>
          </a:p>
          <a:p/>
          <a:p>
            <a:r>
              <a:t>S-03 — Define the reachable surface before execution</a:t>
            </a:r>
          </a:p>
          <a:p/>
          <a:p>
            <a:r>
              <a:t>S-03 — Define the reachable surface before execution Domain verification demonstrates control through a supported verification method, including DNS, HTTP or a private-VPC route. It is a technical prerequisite, not authorization for every downstream system the application can contact. Private testing additionally needs a supported VPC configuration, subnets, routing and security groups. SS07 The current penetration-test wizard separates three network rule classes. SS08 Class Intended behavior Example in an authorized staging environment Target May be accessed and tested https://staging.example.test:8443 Accessible May be accessed to support the assessment, not attacked as a target Approved login-provider or static-content endpoint Out of scope Must not be accessed; exclusions take precedence A payment or production callback path These example names are illustrative, not running targets. Specify the complete scheme and nonstandard port when applicable. The current wizard supports explicit nonstandard ports; an older troubleshooting page states only 80/443. This guide follows the newer task-specific wizard and records the conflict rather than repeating the older restriction. SS08 SS06 Configuration procedure: prepare the verified target and explicit exclusions; choose public or private connectivity; add representative test credentials; complete the network rules after authentication discovery; inspect suggested extra domains before accepting them. Keep essential login dependencies reachable without turning them into attack targets. Only execute against systems and effects that their owners have authorized. SS07 SS08 Expected confirmation: the saved configuration identifies the target, network path, credential roles and exclusions. Draft configuration and successful authentication preflight are different states. Neither proves that a complete assessment has run.</a:t>
            </a:r>
          </a:p>
          <a:p/>
          <a:p>
            <a:r>
              <a:t>SS06 https://docs.aws.amazon.com/securityagent/latest/userguide/troubleshooting.html</a:t>
            </a:r>
          </a:p>
          <a:p/>
          <a:p>
            <a:r>
              <a:t>SS07 https://docs.aws.amazon.com/securityagent/latest/userguide/enable-penetration-test.html</a:t>
            </a:r>
          </a:p>
          <a:p/>
          <a:p>
            <a:r>
              <a:t>SS08 https://docs.aws.amazon.com/securityagent/latest/userguide/perform-penetration-test.html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Obtaining a credential is not logging into the application</a:t>
            </a:r>
          </a:p>
          <a:p/>
          <a:p>
            <a:r>
              <a:t>Budget 3 minutes; cumulative 06:00–09:00.</a:t>
            </a:r>
          </a:p>
          <a:p/>
          <a:p>
            <a:r>
              <a:t>Save &amp; Test verifies the configured flow; inspect where authentication fails.</a:t>
            </a:r>
          </a:p>
          <a:p/>
          <a:p>
            <a:r>
              <a:t>Use the display as the speaking outline. The following canonical guide text is reference, not a mandatory verbatim script.</a:t>
            </a:r>
          </a:p>
          <a:p/>
          <a:p>
            <a:r>
              <a:t>S-M01 — Credential resolution precedes application authentication</a:t>
            </a:r>
          </a:p>
          <a:p/>
          <a:p>
            <a:r>
              <a:t>S-M01 — Credential resolution precedes application authentication The service first obtains a credential and then follows login instructions to apply it to the application. A successful secret retrieval is not a successful application login. Current configuration requires a credential name, access URL, method and login prompt; Save &amp; Test or Test All exercises authentication and exposes success/failure information. SS09 SS08 Strategy Required dependency Typical failure to distinguish Direct test credential Correct application identity and instructions Wrong login URL, role or form flow Secrets Manager Same-account secret; service role with secretsmanager:GetSecretValue and secretsmanager:DescribeSecret Access denied versus unusable secret format IAM role Registered role with correct service trust and limited permissions Role assumption versus how the temporary credential is used by the target Lambda Same-account function, invoke permission, synchronous completion within 30 seconds Invocation/timeout versus invalid returned credential The Lambda input includes pentest_arn and actor_identifier . Login instructions explain the returned credential's application use. The following original function illustrates the response boundary only; it is not a deployable credential provider and deliberately contains no real secret. SS09 def handler(event, context):</a:t>
            </a:r>
          </a:p>
          <a:p>
            <a:r>
              <a:t>    required = ("pentest_arn", "actor_identifier")</a:t>
            </a:r>
          </a:p>
          <a:p>
            <a:r>
              <a:t>    if not all(event.get(k) for k in required):</a:t>
            </a:r>
          </a:p>
          <a:p>
            <a:r>
              <a:t>        raise ValueError("Missing assessment identity")</a:t>
            </a:r>
          </a:p>
          <a:p>
            <a:r>
              <a:t>    # Retrieve or mint a scoped TEST credential using your approved backend.</a:t>
            </a:r>
          </a:p>
          <a:p>
            <a:r>
              <a:t>    # Return its actual fields in the format explained by the login prompt.</a:t>
            </a:r>
          </a:p>
          <a:p>
            <a:r>
              <a:t>    raise NotImplementedError("Connect an authorized test-credential backend") Use the official trust/policy examples for the selected strategy, restricted to the actual account, space and resource. This snippet is a contract example, not proof that a particular output schema is universal. SS09 The newer authentication guide includes TOTP and email MFA. Email MFA uses a generated forwarding address associated with the test credential; it is not general permission to forward a real user's inbox. SMS, push and hardware-key flows are not supported in the reviewed guidance. Older cached text says email MFA is unsupported; the newer indexed page is used here. SS09 Proposed verification: inspect both credential-test status and the authenticated application's identity/role. Test an intended protected route and an excluded route using approved test data. When access fails, capture which stage failed: source access, credential generation, login navigation, MFA, or authorization inside the application.</a:t>
            </a:r>
          </a:p>
          <a:p/>
          <a:p>
            <a:r>
              <a:t>SS08 https://docs.aws.amazon.com/securityagent/latest/userguide/perform-penetration-test.html</a:t>
            </a:r>
          </a:p>
          <a:p/>
          <a:p>
            <a:r>
              <a:t>SS09 https://docs.aws.amazon.com/securityagent/latest/userguide/provide-testing-credentials.html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Learned login navigation is a specific reuse mechanism</a:t>
            </a:r>
          </a:p>
          <a:p/>
          <a:p>
            <a:r>
              <a:t>Budget 2 minutes; cumulative 09:00–11:00.</a:t>
            </a:r>
          </a:p>
          <a:p/>
          <a:p>
            <a:r>
              <a:t>Login Optimization is not a universal vulnerability-memory service.</a:t>
            </a:r>
          </a:p>
          <a:p/>
          <a:p>
            <a:r>
              <a:t>Use the display as the speaking outline. The following canonical guide text is reference, not a mandatory verbatim script.</a:t>
            </a:r>
          </a:p>
          <a:p/>
          <a:p>
            <a:r>
              <a:t>S-M02 — Login Optimization retains a successful procedure</a:t>
            </a:r>
          </a:p>
          <a:p/>
          <a:p>
            <a:r>
              <a:t>S-M02 — Login Optimization retains a successful procedure The first successful authentication navigation can produce a skill describing the login workflow. Later sessions within the run and subsequent runs reuse it. This is learned procedural navigation, not a general incident-memory store or customer-controlled model retraining. SS09 Enablement: add at least one credential, open Additional configuration → Login optimization , and inspect the default-enabled toggle. Disabling reuse preserves the skill; re-enabling permits reuse again. The documentation describes adaptation to changed login flows, but does not disclose a general selection algorithm or promise a particular speed improvement. SS09 Proposed test: use a staging login flow that the team controls. Retain first-login and later-login evidence, then make an authorized change to the test flow. Verify the actual authenticated role on every run. Without observable reuse evidence, distinguish a successful login from a proven reuse of the learned procedure.</a:t>
            </a:r>
          </a:p>
          <a:p/>
          <a:p>
            <a:r>
              <a:t>SS09 https://docs.aws.amazon.com/securityagent/latest/userguide/provide-testing-credentials.html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A reusable configuration produces distinct executions</a:t>
            </a:r>
          </a:p>
          <a:p/>
          <a:p>
            <a:r>
              <a:t>Budget 2 minutes; cumulative 11:00–13:00.</a:t>
            </a:r>
          </a:p>
          <a:p/>
          <a:p>
            <a:r>
              <a:t>A completed status does not establish exhaustive coverage.</a:t>
            </a:r>
          </a:p>
          <a:p/>
          <a:p>
            <a:r>
              <a:t>Use the display as the speaking outline. The following canonical guide text is reference, not a mandatory verbatim script.</a:t>
            </a:r>
          </a:p>
          <a:p/>
          <a:p>
            <a:r>
              <a:t>S-04 — Configuration, preflight and run lifecycle</a:t>
            </a:r>
          </a:p>
          <a:p/>
          <a:p>
            <a:r>
              <a:t>S-04 — Configuration, preflight and run lifecycle A penetration-test configuration can be saved as a draft and completed through wizard steps for details, VPC, credentials, network and additional settings. It is reusable. A run is a separate execution against the then-current configuration and target. Create and Create and execute are not equivalent actions. SS08 Select sources and branch context deliberately: a latest repository branch is not necessarily the deployed revision. For private testing, configure approved network access and optional CloudWatch logging. For repeated tests, inspect the supported scheduling setup and associated Scheduler role rather than assuming that an external cron trigger is the only path. Complete schedule administration is linked to AWS rather than reproduced here. SS07 SS08 Task-hours aggregate work across concurrent tasks; they are not wall-clock duration. The run's configured spending/work limit, account quota and any schedule are different controls. A run reaching its task-hour limit can complete without establishing exhaustive application coverage. Consult pricing before execution; cancelling does not erase work already performed. SS08 SS10 SS11 Engineering run record: capture the configuration ID, target revision, authenticated roles, exclusions, run ID, configured limit, start/end times and incomplete areas. Inspect findings and execution/log evidence while the run operates. Stop on unexpected effects; preserve an incomplete outcome rather than relabeling it a pass. These recordkeeping recommendations do not add product-level guarantees.</a:t>
            </a:r>
          </a:p>
          <a:p/>
          <a:p>
            <a:r>
              <a:t>SS07 https://docs.aws.amazon.com/securityagent/latest/userguide/enable-penetration-test.html</a:t>
            </a:r>
          </a:p>
          <a:p/>
          <a:p>
            <a:r>
              <a:t>SS08 https://docs.aws.amazon.com/securityagent/latest/userguide/perform-penetration-test.html</a:t>
            </a:r>
          </a:p>
          <a:p/>
          <a:p>
            <a:r>
              <a:t>SS10 https://docs.aws.amazon.com/securityagent/latest/userguide/quotas.html</a:t>
            </a:r>
          </a:p>
          <a:p/>
          <a:p>
            <a:r>
              <a:t>SS11 https://docs.aws.amazon.com/securityagent/latest/userguide/pricing.html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Requirement evaluation starts with applicability</a:t>
            </a:r>
          </a:p>
          <a:p/>
          <a:p>
            <a:r>
              <a:t>Budget 2 minutes; cumulative 13:00–15:00.</a:t>
            </a:r>
          </a:p>
          <a:p/>
          <a:p>
            <a:r>
              <a:t>Configure requirement evaluation explicitly; vulnerability analysis alone is different.</a:t>
            </a:r>
          </a:p>
          <a:p/>
          <a:p>
            <a:r>
              <a:t>Use the display as the speaking outline. The following canonical guide text is reference, not a mandatory verbatim script.</a:t>
            </a:r>
          </a:p>
          <a:p/>
          <a:p>
            <a:r>
              <a:t>S-M03 — Requirement evaluation applies reviewed criteria</a:t>
            </a:r>
          </a:p>
          <a:p/>
          <a:p>
            <a:r>
              <a:t>S-M03 — Requirement evaluation applies reviewed criteria A requirement contains a name/description, applicability, compliance criteria and optional remediation guidance. Applicability can distinguish a violation from a case to which the requirement does not apply. Packs group requirements; managed and custom packs differ in editability. Enabled packs inform subsequent eligible reviews, not retroactive rewrites of completed results. SS14 Procedure: open Security requirements , select or create the pack, review applicability and criteria, enable it, and configure the design/code review to evaluate requirements. A vulnerability-only review is not the same evaluation mode. Inspect findings against the selected requirement, not merely the total count. SS14 SS05 Original example: require an authorization check before returning an account-owned invoice. Applicability: handlers returning account-owned invoices. Compliance: the authenticated principal must be authorized for the invoice's owning account. A public static-document handler is inapplicable, not automatically compliant with an invoice rule. Test all three cases: compliant, violating and inapplicable.</a:t>
            </a:r>
          </a:p>
          <a:p/>
          <a:p>
            <a:r>
              <a:t>SS05 https://docs.aws.amazon.com/securityagent/latest/userguide/quickstart-code-review.html</a:t>
            </a:r>
          </a:p>
          <a:p/>
          <a:p>
            <a:r>
              <a:t>SS14 https://docs.aws.amazon.com/securityagent/latest/userguide/security-requirements.html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Regeneration replaces requirements; it does not append</a:t>
            </a:r>
          </a:p>
          <a:p/>
          <a:p>
            <a:r>
              <a:t>Budget 2 minutes; cumulative 15:00–17:00.</a:t>
            </a:r>
          </a:p>
          <a:p/>
          <a:p>
            <a:r>
              <a:t>Keep authoritative requirement source in Git and review replacement before enabling.</a:t>
            </a:r>
          </a:p>
          <a:p/>
          <a:p>
            <a:r>
              <a:t>Use the display as the speaking outline. The following canonical guide text is reference, not a mandatory verbatim script.</a:t>
            </a:r>
          </a:p>
          <a:p/>
          <a:p>
            <a:r>
              <a:t>S-M04 — Regeneration replaces a pack's contents</a:t>
            </a:r>
          </a:p>
          <a:p/>
          <a:p>
            <a:r>
              <a:t>S-M04 — Regeneration replaces a pack's contents Generating requirements from uploaded documents is a separate administrative mechanism. Supported input includes DOC, DOCX, Markdown, PDF and text. Select a custom pack, upload policy material, generate, inspect and edit the result, then enable it. SS15 Uploading new documents regenerates the pack and replaces existing requirements, including manually added ones. It is not an append operation. Do not start a competing upload while generation is running. Keep the governing policy and reviewed requirement source in Git; inspect the replacement before enabling it. A framework pack is not a compliance certificate. SS15 SS14</a:t>
            </a:r>
          </a:p>
          <a:p/>
          <a:p>
            <a:r>
              <a:t>SS14 https://docs.aws.amazon.com/securityagent/latest/userguide/security-requirements.html</a:t>
            </a:r>
          </a:p>
          <a:p/>
          <a:p>
            <a:r>
              <a:t>SS15 https://docs.aws.amazon.com/securityagent/latest/userguide/import-security-requirements.html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A proposed repair is not a deployed repair</a:t>
            </a:r>
          </a:p>
          <a:p/>
          <a:p>
            <a:r>
              <a:t>Budget 2 minutes; cumulative 17:00–19:00.</a:t>
            </a:r>
          </a:p>
          <a:p/>
          <a:p>
            <a:r>
              <a:t>Use the finding ID to connect the records, not similarity of titles.</a:t>
            </a:r>
          </a:p>
          <a:p/>
          <a:p>
            <a:r>
              <a:t>Use the display as the speaking outline. The following canonical guide text is reference, not a mandatory verbatim script.</a:t>
            </a:r>
          </a:p>
          <a:p/>
          <a:p>
            <a:r>
              <a:t>S-05 — Findings, remediation and deployment are different objects</a:t>
            </a:r>
          </a:p>
          <a:p/>
          <a:p>
            <a:r>
              <a:t>S-05 — Findings, remediation and deployment are different objects A finding identifies the issue and its supporting evidence in a particular assessment context. The review surface can expose description, code locations, evidence and a suggested fix. Configured remediation can produce a patch or pull request, with provider-specific behavior. For example, the reviewed GitHub path distinguishes private-repository pull requests from a downloadable diff for public repositories. SS05 SS12 Procedure: select a material finding, verify the affected source and target revision, inspect reproduction or code evidence, request remediation only when the repository path is configured, then review and test the proposed change through the normal engineering process. A generated patch is neither deployment nor revalidation. SS12 Engineering verification: before closure, identify the exact deployed revision and re-run relevant regression tests. Retain rejected changes and failed builds as unfinished work. Use the finding ID as the link between assessment, change, deployment and revalidation—not similarity of issue titles.</a:t>
            </a:r>
          </a:p>
          <a:p/>
          <a:p>
            <a:r>
              <a:t>SS05 https://docs.aws.amazon.com/securityagent/latest/userguide/quickstart-code-review.html</a:t>
            </a:r>
          </a:p>
          <a:p/>
          <a:p>
            <a:r>
              <a:t>SS12 https://docs.aws.amazon.com/securityagent/latest/userguide/remediate-finding.html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Revalidation preserves the original finding</a:t>
            </a:r>
          </a:p>
          <a:p/>
          <a:p>
            <a:r>
              <a:t>Budget 2 minutes; cumulative 19:00–21:00.</a:t>
            </a:r>
          </a:p>
          <a:p/>
          <a:p>
            <a:r>
              <a:t>A non-reproduction result is scoped; failed authentication can invalidate its interpretation.</a:t>
            </a:r>
          </a:p>
          <a:p/>
          <a:p>
            <a:r>
              <a:t>Use the display as the speaking outline. The following canonical guide text is reference, not a mandatory verbatim script.</a:t>
            </a:r>
          </a:p>
          <a:p/>
          <a:p>
            <a:r>
              <a:t>S-M05 — Revalidation replays selected finding evidence</a:t>
            </a:r>
          </a:p>
          <a:p/>
          <a:p>
            <a:r>
              <a:t>S-M05 — Revalidation replays selected finding evidence After a repair reaches the original test environment, open the completed penetration-test run, choose Multiselect findings for revalidation , select findings, and choose Revalidate findings . The service starts a separate job using current authentication/configuration and repeats the selected validation steps. It does not conduct broad new discovery. SS13 Original finding + deployed repair</a:t>
            </a:r>
          </a:p>
          <a:p>
            <a:r>
              <a:t>                  ↓ selected validation steps</a:t>
            </a:r>
          </a:p>
          <a:p>
            <a:r>
              <a:t>          Separate revalidation job</a:t>
            </a:r>
          </a:p>
          <a:p>
            <a:r>
              <a:t>                  ↓</a:t>
            </a:r>
          </a:p>
          <a:p>
            <a:r>
              <a:t>      Active: reproduced / Resolved: not reproduced</a:t>
            </a:r>
          </a:p>
          <a:p>
            <a:r>
              <a:t>                  ↓</a:t>
            </a:r>
          </a:p>
          <a:p>
            <a:r>
              <a:t>          linked finding and job history The original finding is preserved and linked to the new job. A non-reproduction result is scoped to that finding and execution conditions. An authentication or environment failure can undermine its interpretation; inspect reachability before treating a result as evidence of repair. SS13</a:t>
            </a:r>
          </a:p>
          <a:p/>
          <a:p>
            <a:r>
              <a:t>SS13 https://docs.aws.amazon.com/securityagent/latest/userguide/revalidate-findings.html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Earlier assessments use different resource lifecycles</a:t>
            </a:r>
          </a:p>
          <a:p/>
          <a:p>
            <a:r>
              <a:t>Budget 2 minutes; cumulative 21:00–23:00.</a:t>
            </a:r>
          </a:p>
          <a:p/>
          <a:p>
            <a:r>
              <a:t>Review inferred system context before relying on individual findings.</a:t>
            </a:r>
          </a:p>
          <a:p/>
          <a:p>
            <a:r>
              <a:t>Use the display as the speaking outline. The following canonical guide text is reference, not a mandatory verbatim script.</a:t>
            </a:r>
          </a:p>
          <a:p/>
          <a:p>
            <a:r>
              <a:t>S-06 — Code, design and threat-model workflows</a:t>
            </a:r>
          </a:p>
          <a:p/>
          <a:p>
            <a:r>
              <a:t>S-06 — Code, design and threat-model workflows Assessment Configuration and execution Reviewable result Code review Connect sources, select vulnerability/requirement modes, start full review or configure supported repository events Locations, evidence, suggested fixes; preflight failures remain separate Design review Submit a design for a one-off assessment; clone to create a new review Design findings against relevant requirements Threat model Create a reusable definition with scope documents and source context, then start a run System overview, boundaries, data flows and threats Code review preflight checks source and execution prerequisites before analysis. Ready-for-review repository events differ from draft changes; inspect the actual provider and configured trigger. Threat-model scope documents define what to analyze, while source documents/code provide system context. Do not treat them as interchangeable fields. SS03 SS05 SS16 SS17 Threat-model procedure: in the web app, create the model, provide title, scope documents, sources and service role, optionally configure logs, save, then start a run. Review the inferred system model before relying on individual threats. Inspect severity, evidence and dispositions. A model generated from the wrong system boundary is not repaired merely by dismissing inconvenient threats. SS16 The full pipeline integration, complete design-review walkthrough and provider-specific remediation matrix are linked coverage, not reproduced procedures in this edition. This is an explicit limit of the guide, not a claim that those functions are absent.</a:t>
            </a:r>
          </a:p>
          <a:p/>
          <a:p>
            <a:r>
              <a:t>SS03 https://docs.aws.amazon.com/securityagent/latest/userguide/understand-lifecycle.html</a:t>
            </a:r>
          </a:p>
          <a:p/>
          <a:p>
            <a:r>
              <a:t>SS05 https://docs.aws.amazon.com/securityagent/latest/userguide/quickstart-code-review.html</a:t>
            </a:r>
          </a:p>
          <a:p/>
          <a:p>
            <a:r>
              <a:t>SS16 https://docs.aws.amazon.com/securityagent/latest/userguide/quickstart-threat-model.html</a:t>
            </a:r>
          </a:p>
          <a:p/>
          <a:p>
            <a:r>
              <a:t>SS17 https://docs.aws.amazon.com/securityagent/latest/userguide/review-code-findings-github.html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Encryption requires the correct identity and context</a:t>
            </a:r>
          </a:p>
          <a:p/>
          <a:p>
            <a:r>
              <a:t>Budget 2 minutes; cumulative 23:00–25:00.</a:t>
            </a:r>
          </a:p>
          <a:p/>
          <a:p>
            <a:r>
              <a:t>Administrator, web-app role, assessment role and asynchronous service access are distinct.</a:t>
            </a:r>
          </a:p>
          <a:p/>
          <a:p>
            <a:r>
              <a:t>Use the display as the speaking outline. The following canonical guide text is reference, not a mandatory verbatim script.</a:t>
            </a:r>
          </a:p>
          <a:p/>
          <a:p>
            <a:r>
              <a:t>S-M06 — Customer-managed encryption uses several identities</a:t>
            </a:r>
          </a:p>
          <a:p/>
          <a:p>
            <a:r>
              <a:t>S-M06 — Customer-managed encryption uses several identities The documented hierarchy uses a customer KMS key to protect a resource-specific branch key held in a service-managed DynamoDB store. The keyring derives wrapping keys used to protect data-encryption keys. Branch-key rotation and rotation of the KMS key are separate processes; old key versions remain necessary to decrypt older data. SS18 Resource-specific encryption context and identity determine authorization. The relevant actors are not interchangeable: Actor/path Permission responsibility Administrator using console Caller permissions for configuration and forwarded operations Web-app access role Supported web-app data access Assessment service role Customer resources such as S3, secrets and logs Service principal / asynchronous workflow Service-managed background access as documented Configuration procedure: select a supported enabled symmetric key, apply the current role/service-principal policy statements with the documented resource and encryption-context conditions, and choose the key when creating the supported resource. An application default can be overridden by an explicit resource key; changing the default does not re-encrypt existing resources. Review the current example policies rather than granting all KMS actions to all four identities. SS18 Failure diagnosis: identify the calling identity and denied KMS action from authorized audit evidence; inspect the matching key policy, grants/role policy and encryption context. Re-enabling a deliberately disabled test key can restore access; deletion can make retained data permanently unavailable. Do not disable a production key merely to demonstrate this mechanism. SS18</a:t>
            </a:r>
          </a:p>
          <a:p/>
          <a:p>
            <a:r>
              <a:t>SS18 https://docs.aws.amazon.com/securityagent/latest/userguide/customer-managed-keys.html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Exercise: verify the repaired account boundary</a:t>
            </a:r>
          </a:p>
          <a:p/>
          <a:p>
            <a:r>
              <a:t>Budget 8 minutes; cumulative 25:00–33:00.</a:t>
            </a:r>
          </a:p>
          <a:p/>
          <a:p>
            <a:r>
              <a:t>Synthetic staging evidence only. No live penetration test or exploit execution.</a:t>
            </a:r>
          </a:p>
          <a:p/>
          <a:p>
            <a:r>
              <a:t>Prepared-result exercise; no live result claimed.</a:t>
            </a:r>
          </a:p>
          <a:p/>
          <a:p>
            <a:r>
              <a:t>S-U01 — Worked example: a repaired authorization check</a:t>
            </a:r>
          </a:p>
          <a:p/>
          <a:p>
            <a:r>
              <a:t>S-U01 — Worked example: a repaired authorization check Synthetic, authorized-staging exercise. Two test users belong to different customer accounts. The illustrative finding is that user A can receive a test invoice owned by account B. No live endpoint, credential or exploit execution is supplied. Evidence record Before repair Candidate repair After deployment Application revision demo-r1 demo-r2 under review demo-r2 deployed Same-account test Expected invoice returned Regression test passes Expected invoice returned Cross-account test Test invoice returned unexpectedly Ownership check added; unit test passes Access denied in prepared result Identity evidence User A / account A Test principal controlled User A / account A confirmed Walkthrough: inspect the original finding and target revision; review the proposed ownership check; verify that the prepared deployment record names demo-r2 ; select the finding for revalidation; inspect the new job and its linkage. The observation that a patch exists is not used as evidence of deployment. The prepared post-deployment denial supports only this tested path and identity. Failure branch: if revalidation instead logs in as a privileged administrator, its result is not the intended test of user A. Correct the credential role and rerun the authorized verification. If no application path was reached, do not interpret the absence of reproduction as proof of repair. Expected deliverable: a finding disposition linking original evidence, reviewed change, deployed revision, actual authenticated identity and targeted result, with untested routes stated explicitly. The fixture teaches evidence lineage; it is not an assessment result or a security guarantee.</a:t>
            </a:r>
          </a:p>
          <a:p/>
          <a:p>
            <a:r>
              <a:t>S-M05 — Revalidation replays selected finding evidence</a:t>
            </a:r>
          </a:p>
          <a:p/>
          <a:p>
            <a:r>
              <a:t>S-M05 — Revalidation replays selected finding evidence After a repair reaches the original test environment, open the completed penetration-test run, choose Multiselect findings for revalidation , select findings, and choose Revalidate findings . The service starts a separate job using current authentication/configuration and repeats the selected validation steps. It does not conduct broad new discovery. SS13 Original finding + deployed repair</a:t>
            </a:r>
          </a:p>
          <a:p>
            <a:r>
              <a:t>                  ↓ selected validation steps</a:t>
            </a:r>
          </a:p>
          <a:p>
            <a:r>
              <a:t>          Separate revalidation job</a:t>
            </a:r>
          </a:p>
          <a:p>
            <a:r>
              <a:t>                  ↓</a:t>
            </a:r>
          </a:p>
          <a:p>
            <a:r>
              <a:t>      Active: reproduced / Resolved: not reproduced</a:t>
            </a:r>
          </a:p>
          <a:p>
            <a:r>
              <a:t>                  ↓</a:t>
            </a:r>
          </a:p>
          <a:p>
            <a:r>
              <a:t>          linked finding and job history The original finding is preserved and linked to the new job. A non-reproduction result is scoped to that finding and execution conditions. An authentication or environment failure can undermine its interpretation; inspect reachability before treating a result as evidence of repair. SS13</a:t>
            </a:r>
          </a:p>
          <a:p/>
          <a:p>
            <a:r>
              <a:t>SS13 https://docs.aws.amazon.com/securityagent/latest/userguide/revalidate-findings.html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Troubleshooting follows the failed prerequisite</a:t>
            </a:r>
          </a:p>
          <a:p/>
          <a:p>
            <a:r>
              <a:t>Budget 2 minutes; cumulative 33:00–35:00.</a:t>
            </a:r>
          </a:p>
          <a:p/>
          <a:p>
            <a:r>
              <a:t>Full provider/pipeline and GenAI exception setup remains explicitly linked coverage.</a:t>
            </a:r>
          </a:p>
          <a:p/>
          <a:p>
            <a:r>
              <a:t>Use the display as the speaking outline. The following canonical guide text is reference, not a mandatory verbatim script.</a:t>
            </a:r>
          </a:p>
          <a:p/>
          <a:p>
            <a:r>
              <a:t>S-07 — Operational limits and failure diagnosis</a:t>
            </a:r>
          </a:p>
          <a:p/>
          <a:p>
            <a:r>
              <a:t>S-07 — Operational limits and failure diagnosis The reviewed quota page distinguishes assessment capacity from spending controls. Examples include five concurrent penetration tests and five concurrent code-review runs as adjustable quotas, plus 20 requirement packs, 30 requirements per pack and 150 enabled requirements per account/Region as fixed limits. Confirm actual quotas and pricing before large-scale execution; a concurrency limit is not a financial budget. SS10 SS11 Symptom Likely boundary Next inspection Repository missing Registration or connection Account type, installation approval, connected repo and feature setting Credential source denied Service-role resource access Correct ARN/account, required read/invoke actions and trust Secret resolves; login fails Application flow Access URL, instructions, MFA, identity and credential-test result Private endpoint unreachable Network DNS, route/NAT requirements, egress, target rules and VPC configuration Additional domain blocked Target/access/exclusion rules Login-derived domains; approve only necessary accessible endpoints No requirement findings Configuration/applicability Enabled pack, selected evaluation mode, inapplicable versus compliant New document removed a manual rule Pack regeneration Compare generated replacement with the governing Git source Finding not reproduced Target and authentication Deployed revision, role reached and revalidation job evidence Encrypted object inaccessible KMS identity/context Relevant role/principal, key state, action and context conditions This ordering is engineering guidance derived from the cited procedures. It does not claim that every error message has one unique cause. SS06 SS09 SS18</a:t>
            </a:r>
          </a:p>
          <a:p/>
          <a:p>
            <a:r>
              <a:t>SS06 https://docs.aws.amazon.com/securityagent/latest/userguide/troubleshooting.html</a:t>
            </a:r>
          </a:p>
          <a:p/>
          <a:p>
            <a:r>
              <a:t>SS09 https://docs.aws.amazon.com/securityagent/latest/userguide/provide-testing-credentials.html</a:t>
            </a:r>
          </a:p>
          <a:p/>
          <a:p>
            <a:r>
              <a:t>SS10 https://docs.aws.amazon.com/securityagent/latest/userguide/quotas.html</a:t>
            </a:r>
          </a:p>
          <a:p/>
          <a:p>
            <a:r>
              <a:t>SS11 https://docs.aws.amazon.com/securityagent/latest/userguide/pricing.html</a:t>
            </a:r>
          </a:p>
          <a:p/>
          <a:p>
            <a:r>
              <a:t>SS18 https://docs.aws.amazon.com/securityagent/latest/userguide/customer-managed-keys.html</a:t>
            </a:r>
          </a:p>
          <a:p/>
          <a:p>
            <a:r>
              <a:t>S-08 — Coverage and evidence decisions</a:t>
            </a:r>
          </a:p>
          <a:p/>
          <a:p>
            <a:r>
              <a:t>S-08 — Coverage and evidence decisions Official subject Treatment Remaining boundary Resource lifecycle and identities Model plus setup sequence Complete SSO and organization-policy deployment linked Penetration testing Configuration, target classes, credentials, run interpretation Full GenAI risk-exception authoring not reproduced Authentication Strategy matrix, preflight, learned login reuse No actual secrets or running credential backend Requirements Evaluation separated from destructive regeneration Full managed-pack inventory linked Code and threat models Usable configuration sequence and result model Complete CI/CD and provider compatibility matrix deferred Findings and KMS Lineage, remediation boundaries, key hierarchy and actors Full policy documents remain official reference Limits/troubleshooting Selected operational constraints and diagnostic paths Not an exhaustive error catalog Version conflicts: current indexed authentication/wizard pages include email MFA and nonstandard ports. Older cached authentication/troubleshooting pages contradict those points. The newer task-specific pages are used; the older troubleshooting source supports only the remaining diagnostics. Review date means retrieval, not a page publication date. Official sources and reviewed sections SS01 Service scope and feature distinctions. SS02 Documentation history; feature announcements and availability. SS03 Account versus space resources; configuration/run lifecycle by assessment type. SS04 Administrative and assessment surfaces, application context. SS05 Code-review setup, modes, preflight, full scans and findings. SS06 Source registration and network troubleshooting; stale port restriction excluded. SS07 Target verification, VPC/role/logging setup and optional scheduling; newer indexed content. SS08 Current penetration-test wizard, network classes, credentials and task-hours; newer indexed content. SS09 Credential methods, preflight, login reuse and MFA; newer indexed content resolves older cached text. SS10 Quotas and adjustability; current indexed table. SS11 Pricing versus capacity and cancellation implications. SS12 Remediation provider behavior and proposed patches. SS13 Revalidation initiation, results and lineage. SS14 Requirement fields, applicability, activation and review behavior. SS15 Requirement generation and replacement consequences. SS16 Threat-model scope/source distinction, setup, preflight and result review. SS17 Repository-triggered review and comments. SS18 Hierarchical keyring, identities, encryption context and key lifecycle.</a:t>
            </a:r>
          </a:p>
          <a:p/>
          <a:p>
            <a:r>
              <a:t>SS01 https://docs.aws.amazon.com/securityagent/latest/userguide/what-is.html</a:t>
            </a:r>
          </a:p>
          <a:p/>
          <a:p>
            <a:r>
              <a:t>SS02 https://docs.aws.amazon.com/securityagent/latest/userguide/doc-history.html</a:t>
            </a:r>
          </a:p>
          <a:p/>
          <a:p>
            <a:r>
              <a:t>SS03 https://docs.aws.amazon.com/securityagent/latest/userguide/understand-lifecycle.html</a:t>
            </a:r>
          </a:p>
          <a:p/>
          <a:p>
            <a:r>
              <a:t>SS04 https://docs.aws.amazon.com/securityagent/latest/userguide/how-it-works.html</a:t>
            </a:r>
          </a:p>
          <a:p/>
          <a:p>
            <a:r>
              <a:t>SS05 https://docs.aws.amazon.com/securityagent/latest/userguide/quickstart-code-review.html</a:t>
            </a:r>
          </a:p>
          <a:p/>
          <a:p>
            <a:r>
              <a:t>SS06 https://docs.aws.amazon.com/securityagent/latest/userguide/troubleshooting.html</a:t>
            </a:r>
          </a:p>
          <a:p/>
          <a:p>
            <a:r>
              <a:t>SS07 https://docs.aws.amazon.com/securityagent/latest/userguide/enable-penetration-test.html</a:t>
            </a:r>
          </a:p>
          <a:p/>
          <a:p>
            <a:r>
              <a:t>SS08 https://docs.aws.amazon.com/securityagent/latest/userguide/perform-penetration-test.html</a:t>
            </a:r>
          </a:p>
          <a:p/>
          <a:p>
            <a:r>
              <a:t>SS09 https://docs.aws.amazon.com/securityagent/latest/userguide/provide-testing-credentials.html</a:t>
            </a:r>
          </a:p>
          <a:p/>
          <a:p>
            <a:r>
              <a:t>SS10 https://docs.aws.amazon.com/securityagent/latest/userguide/quotas.html</a:t>
            </a:r>
          </a:p>
          <a:p/>
          <a:p>
            <a:r>
              <a:t>SS11 https://docs.aws.amazon.com/securityagent/latest/userguide/pricing.html</a:t>
            </a:r>
          </a:p>
          <a:p/>
          <a:p>
            <a:r>
              <a:t>SS12 https://docs.aws.amazon.com/securityagent/latest/userguide/remediate-finding.html</a:t>
            </a:r>
          </a:p>
          <a:p/>
          <a:p>
            <a:r>
              <a:t>SS13 https://docs.aws.amazon.com/securityagent/latest/userguide/revalidate-findings.html</a:t>
            </a:r>
          </a:p>
          <a:p/>
          <a:p>
            <a:r>
              <a:t>SS14 https://docs.aws.amazon.com/securityagent/latest/userguide/security-requirements.html</a:t>
            </a:r>
          </a:p>
          <a:p/>
          <a:p>
            <a:r>
              <a:t>SS15 https://docs.aws.amazon.com/securityagent/latest/userguide/import-security-requirements.html</a:t>
            </a:r>
          </a:p>
          <a:p/>
          <a:p>
            <a:r>
              <a:t>SS16 https://docs.aws.amazon.com/securityagent/latest/userguide/quickstart-threat-model.html</a:t>
            </a:r>
          </a:p>
          <a:p/>
          <a:p>
            <a:r>
              <a:t>SS17 https://docs.aws.amazon.com/securityagent/latest/userguide/review-code-findings-github.html</a:t>
            </a:r>
          </a:p>
          <a:p/>
          <a:p>
            <a:r>
              <a:t>SS18 https://docs.aws.amazon.com/securityagent/latest/userguide/customer-managed-keys.html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appendix, outside the timed programme.</a:t>
            </a:r>
          </a:p>
          <a:p/>
          <a:p>
            <a:r>
              <a:t>SS01 https://docs.aws.amazon.com/securityagent/latest/userguide/what-is.html</a:t>
            </a:r>
          </a:p>
          <a:p>
            <a:r>
              <a:t>SS02 https://docs.aws.amazon.com/securityagent/latest/userguide/doc-history.html</a:t>
            </a:r>
          </a:p>
          <a:p>
            <a:r>
              <a:t>SS03 https://docs.aws.amazon.com/securityagent/latest/userguide/understand-lifecycle.html</a:t>
            </a:r>
          </a:p>
          <a:p>
            <a:r>
              <a:t>SS04 https://docs.aws.amazon.com/securityagent/latest/userguide/how-it-works.html</a:t>
            </a:r>
          </a:p>
          <a:p>
            <a:r>
              <a:t>SS05 https://docs.aws.amazon.com/securityagent/latest/userguide/quickstart-code-review.html</a:t>
            </a:r>
          </a:p>
          <a:p>
            <a:r>
              <a:t>SS06 https://docs.aws.amazon.com/securityagent/latest/userguide/troubleshooting.html</a:t>
            </a:r>
          </a:p>
          <a:p>
            <a:r>
              <a:t>SS07 https://docs.aws.amazon.com/securityagent/latest/userguide/enable-penetration-test.html</a:t>
            </a:r>
          </a:p>
          <a:p>
            <a:r>
              <a:t>SS08 https://docs.aws.amazon.com/securityagent/latest/userguide/perform-penetration-test.html</a:t>
            </a:r>
          </a:p>
          <a:p>
            <a:r>
              <a:t>SS09 https://docs.aws.amazon.com/securityagent/latest/userguide/provide-testing-credentials.html</a:t>
            </a:r>
          </a:p>
          <a:p>
            <a:r>
              <a:t>SS10 https://docs.aws.amazon.com/securityagent/latest/userguide/quotas.html</a:t>
            </a:r>
          </a:p>
          <a:p>
            <a:r>
              <a:t>SS11 https://docs.aws.amazon.com/securityagent/latest/userguide/pricing.html</a:t>
            </a:r>
          </a:p>
          <a:p>
            <a:r>
              <a:t>SS12 https://docs.aws.amazon.com/securityagent/latest/userguide/remediate-finding.html</a:t>
            </a:r>
          </a:p>
          <a:p>
            <a:r>
              <a:t>SS13 https://docs.aws.amazon.com/securityagent/latest/userguide/revalidate-findings.html</a:t>
            </a:r>
          </a:p>
          <a:p>
            <a:r>
              <a:t>SS14 https://docs.aws.amazon.com/securityagent/latest/userguide/security-requirements.html</a:t>
            </a:r>
          </a:p>
          <a:p>
            <a:r>
              <a:t>SS15 https://docs.aws.amazon.com/securityagent/latest/userguide/import-security-requirements.html</a:t>
            </a:r>
          </a:p>
          <a:p>
            <a:r>
              <a:t>SS16 https://docs.aws.amazon.com/securityagent/latest/userguide/quickstart-threat-model.html</a:t>
            </a:r>
          </a:p>
          <a:p>
            <a:r>
              <a:t>SS17 https://docs.aws.amazon.com/securityagent/latest/userguide/review-code-findings-github.html</a:t>
            </a:r>
          </a:p>
          <a:p>
            <a:r>
              <a:t>SS18 https://docs.aws.amazon.com/securityagent/latest/userguide/customer-managed-keys.html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AWS SECURITY AGENT</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Application resources sit beneath shared account configuration</a:t>
            </a:r>
          </a:p>
        </p:txBody>
      </p:sp>
      <p:sp>
        <p:nvSpPr>
          <p:cNvPr id="5" name="Rectangle 4"/>
          <p:cNvSpPr/>
          <p:nvPr/>
        </p:nvSpPr>
        <p:spPr>
          <a:xfrm>
            <a:off x="502920"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Account resources</a:t>
            </a:r>
          </a:p>
        </p:txBody>
      </p:sp>
      <p:sp>
        <p:nvSpPr>
          <p:cNvPr id="8" name="TextBox 7"/>
          <p:cNvSpPr txBox="1"/>
          <p:nvPr/>
        </p:nvSpPr>
        <p:spPr>
          <a:xfrm>
            <a:off x="667512"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Integrations, identity and requirement packs</a:t>
            </a:r>
          </a:p>
        </p:txBody>
      </p:sp>
      <p:sp>
        <p:nvSpPr>
          <p:cNvPr id="9" name="TextBox 8"/>
          <p:cNvSpPr txBox="1"/>
          <p:nvPr/>
        </p:nvSpPr>
        <p:spPr>
          <a:xfrm>
            <a:off x="3124962"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10" name="Rectangle 9"/>
          <p:cNvSpPr/>
          <p:nvPr/>
        </p:nvSpPr>
        <p:spPr>
          <a:xfrm>
            <a:off x="3367278"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67278"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31870"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Agent Space</a:t>
            </a:r>
          </a:p>
        </p:txBody>
      </p:sp>
      <p:sp>
        <p:nvSpPr>
          <p:cNvPr id="13" name="TextBox 12"/>
          <p:cNvSpPr txBox="1"/>
          <p:nvPr/>
        </p:nvSpPr>
        <p:spPr>
          <a:xfrm>
            <a:off x="3531870"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Application sources, users and settings</a:t>
            </a:r>
          </a:p>
        </p:txBody>
      </p:sp>
      <p:sp>
        <p:nvSpPr>
          <p:cNvPr id="14" name="TextBox 13"/>
          <p:cNvSpPr txBox="1"/>
          <p:nvPr/>
        </p:nvSpPr>
        <p:spPr>
          <a:xfrm>
            <a:off x="5989320"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15" name="Rectangle 14"/>
          <p:cNvSpPr/>
          <p:nvPr/>
        </p:nvSpPr>
        <p:spPr>
          <a:xfrm>
            <a:off x="6231636"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96228"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Configuration</a:t>
            </a:r>
          </a:p>
        </p:txBody>
      </p:sp>
      <p:sp>
        <p:nvSpPr>
          <p:cNvPr id="18" name="TextBox 17"/>
          <p:cNvSpPr txBox="1"/>
          <p:nvPr/>
        </p:nvSpPr>
        <p:spPr>
          <a:xfrm>
            <a:off x="6396228"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Target, authentication, criteria and limits</a:t>
            </a:r>
          </a:p>
        </p:txBody>
      </p:sp>
      <p:sp>
        <p:nvSpPr>
          <p:cNvPr id="19" name="TextBox 18"/>
          <p:cNvSpPr txBox="1"/>
          <p:nvPr/>
        </p:nvSpPr>
        <p:spPr>
          <a:xfrm>
            <a:off x="8853678"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20" name="Rectangle 19"/>
          <p:cNvSpPr/>
          <p:nvPr/>
        </p:nvSpPr>
        <p:spPr>
          <a:xfrm>
            <a:off x="9095994"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95994"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60586"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Run and evidence</a:t>
            </a:r>
          </a:p>
        </p:txBody>
      </p:sp>
      <p:sp>
        <p:nvSpPr>
          <p:cNvPr id="23" name="TextBox 22"/>
          <p:cNvSpPr txBox="1"/>
          <p:nvPr/>
        </p:nvSpPr>
        <p:spPr>
          <a:xfrm>
            <a:off x="9260586"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Assessment results and linked verification</a:t>
            </a:r>
          </a:p>
        </p:txBody>
      </p:sp>
      <p:sp>
        <p:nvSpPr>
          <p:cNvPr id="24" name="Rectangle 23"/>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Requirements and integrations can have broader scope than a single application.</a:t>
            </a:r>
          </a:p>
        </p:txBody>
      </p:sp>
      <p:sp>
        <p:nvSpPr>
          <p:cNvPr id="26" name="TextBox 25"/>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S-01</a:t>
            </a:r>
          </a:p>
        </p:txBody>
      </p:sp>
      <p:sp>
        <p:nvSpPr>
          <p:cNvPr id="27" name="TextBox 26"/>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01 / 14     00:00–02:00  |  2 min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AWS SECURITY AGENT</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Registration is not repository connection</a:t>
            </a:r>
          </a:p>
        </p:txBody>
      </p:sp>
      <p:sp>
        <p:nvSpPr>
          <p:cNvPr id="5" name="Rectangle 4"/>
          <p:cNvSpPr/>
          <p:nvPr/>
        </p:nvSpPr>
        <p:spPr>
          <a:xfrm>
            <a:off x="502920" y="1755648"/>
            <a:ext cx="2377440" cy="758952"/>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 y="1865376"/>
            <a:ext cx="2121408" cy="566928"/>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Action</a:t>
            </a:r>
          </a:p>
        </p:txBody>
      </p:sp>
      <p:sp>
        <p:nvSpPr>
          <p:cNvPr id="7" name="Rectangle 6"/>
          <p:cNvSpPr/>
          <p:nvPr/>
        </p:nvSpPr>
        <p:spPr>
          <a:xfrm>
            <a:off x="2880360" y="1755648"/>
            <a:ext cx="3931920" cy="758952"/>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08376" y="1865376"/>
            <a:ext cx="3675887" cy="566928"/>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Establishes</a:t>
            </a:r>
          </a:p>
        </p:txBody>
      </p:sp>
      <p:sp>
        <p:nvSpPr>
          <p:cNvPr id="9" name="Rectangle 8"/>
          <p:cNvSpPr/>
          <p:nvPr/>
        </p:nvSpPr>
        <p:spPr>
          <a:xfrm>
            <a:off x="6812280" y="1755648"/>
            <a:ext cx="4892040" cy="758952"/>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0296" y="1865376"/>
            <a:ext cx="4636007" cy="566928"/>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Inspect</a:t>
            </a:r>
          </a:p>
        </p:txBody>
      </p:sp>
      <p:sp>
        <p:nvSpPr>
          <p:cNvPr id="11" name="Rectangle 10"/>
          <p:cNvSpPr/>
          <p:nvPr/>
        </p:nvSpPr>
        <p:spPr>
          <a:xfrm>
            <a:off x="502920" y="2514600"/>
            <a:ext cx="237744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 y="2624328"/>
            <a:ext cx="2121408" cy="566928"/>
          </a:xfrm>
          <a:prstGeom prst="rect">
            <a:avLst/>
          </a:prstGeom>
          <a:noFill/>
        </p:spPr>
        <p:txBody>
          <a:bodyPr wrap="square" lIns="0" rIns="0" tIns="0" bIns="0">
            <a:spAutoFit/>
          </a:bodyPr>
          <a:lstStyle/>
          <a:p>
            <a:pPr>
              <a:lnSpc>
                <a:spcPct val="112000"/>
              </a:lnSpc>
              <a:spcAft>
                <a:spcPts val="0"/>
              </a:spcAft>
              <a:defRPr sz="1800" b="0">
                <a:solidFill>
                  <a:srgbClr val="172C43"/>
                </a:solidFill>
                <a:latin typeface="Liberation Sans"/>
              </a:defRPr>
            </a:pPr>
            <a:r>
              <a:t>Register integration</a:t>
            </a:r>
          </a:p>
        </p:txBody>
      </p:sp>
      <p:sp>
        <p:nvSpPr>
          <p:cNvPr id="13" name="Rectangle 12"/>
          <p:cNvSpPr/>
          <p:nvPr/>
        </p:nvSpPr>
        <p:spPr>
          <a:xfrm>
            <a:off x="2880360" y="2514600"/>
            <a:ext cx="393192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08376" y="2624328"/>
            <a:ext cx="3675887"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Available source provider</a:t>
            </a:r>
          </a:p>
        </p:txBody>
      </p:sp>
      <p:sp>
        <p:nvSpPr>
          <p:cNvPr id="15" name="Rectangle 14"/>
          <p:cNvSpPr/>
          <p:nvPr/>
        </p:nvSpPr>
        <p:spPr>
          <a:xfrm>
            <a:off x="6812280" y="2514600"/>
            <a:ext cx="489204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0296" y="2624328"/>
            <a:ext cx="4636007"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Account type and authorization</a:t>
            </a:r>
          </a:p>
        </p:txBody>
      </p:sp>
      <p:sp>
        <p:nvSpPr>
          <p:cNvPr id="17" name="Rectangle 16"/>
          <p:cNvSpPr/>
          <p:nvPr/>
        </p:nvSpPr>
        <p:spPr>
          <a:xfrm>
            <a:off x="502920" y="3273552"/>
            <a:ext cx="237744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 y="3383280"/>
            <a:ext cx="212140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Connect repository</a:t>
            </a:r>
          </a:p>
        </p:txBody>
      </p:sp>
      <p:sp>
        <p:nvSpPr>
          <p:cNvPr id="19" name="Rectangle 18"/>
          <p:cNvSpPr/>
          <p:nvPr/>
        </p:nvSpPr>
        <p:spPr>
          <a:xfrm>
            <a:off x="2880360" y="3273552"/>
            <a:ext cx="393192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08376" y="3383280"/>
            <a:ext cx="3675887"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Application source selection</a:t>
            </a:r>
          </a:p>
        </p:txBody>
      </p:sp>
      <p:sp>
        <p:nvSpPr>
          <p:cNvPr id="21" name="Rectangle 20"/>
          <p:cNvSpPr/>
          <p:nvPr/>
        </p:nvSpPr>
        <p:spPr>
          <a:xfrm>
            <a:off x="6812280" y="3273552"/>
            <a:ext cx="489204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0296" y="3383280"/>
            <a:ext cx="4636007"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Repository and branch identity</a:t>
            </a:r>
          </a:p>
        </p:txBody>
      </p:sp>
      <p:sp>
        <p:nvSpPr>
          <p:cNvPr id="23" name="Rectangle 22"/>
          <p:cNvSpPr/>
          <p:nvPr/>
        </p:nvSpPr>
        <p:spPr>
          <a:xfrm>
            <a:off x="502920" y="4032504"/>
            <a:ext cx="237744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 y="4142232"/>
            <a:ext cx="212140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Enable feature</a:t>
            </a:r>
          </a:p>
        </p:txBody>
      </p:sp>
      <p:sp>
        <p:nvSpPr>
          <p:cNvPr id="25" name="Rectangle 24"/>
          <p:cNvSpPr/>
          <p:nvPr/>
        </p:nvSpPr>
        <p:spPr>
          <a:xfrm>
            <a:off x="2880360" y="4032504"/>
            <a:ext cx="393192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08376" y="4142232"/>
            <a:ext cx="3675887"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Selected assessment behavior</a:t>
            </a:r>
          </a:p>
        </p:txBody>
      </p:sp>
      <p:sp>
        <p:nvSpPr>
          <p:cNvPr id="27" name="Rectangle 26"/>
          <p:cNvSpPr/>
          <p:nvPr/>
        </p:nvSpPr>
        <p:spPr>
          <a:xfrm>
            <a:off x="6812280" y="4032504"/>
            <a:ext cx="489204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40296" y="4142232"/>
            <a:ext cx="4636007" cy="566928"/>
          </a:xfrm>
          <a:prstGeom prst="rect">
            <a:avLst/>
          </a:prstGeom>
          <a:noFill/>
        </p:spPr>
        <p:txBody>
          <a:bodyPr wrap="square" lIns="0" rIns="0" tIns="0" bIns="0">
            <a:spAutoFit/>
          </a:bodyPr>
          <a:lstStyle/>
          <a:p>
            <a:pPr>
              <a:lnSpc>
                <a:spcPct val="112000"/>
              </a:lnSpc>
              <a:spcAft>
                <a:spcPts val="0"/>
              </a:spcAft>
              <a:defRPr sz="1800" b="0">
                <a:solidFill>
                  <a:srgbClr val="172C43"/>
                </a:solidFill>
                <a:latin typeface="Liberation Sans"/>
              </a:defRPr>
            </a:pPr>
            <a:r>
              <a:t>Modes, comments and remediation settings</a:t>
            </a:r>
          </a:p>
        </p:txBody>
      </p:sp>
      <p:sp>
        <p:nvSpPr>
          <p:cNvPr id="29" name="Rectangle 28"/>
          <p:cNvSpPr/>
          <p:nvPr/>
        </p:nvSpPr>
        <p:spPr>
          <a:xfrm>
            <a:off x="502920" y="4791456"/>
            <a:ext cx="237744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936" y="4901184"/>
            <a:ext cx="212140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Open as operator</a:t>
            </a:r>
          </a:p>
        </p:txBody>
      </p:sp>
      <p:sp>
        <p:nvSpPr>
          <p:cNvPr id="31" name="Rectangle 30"/>
          <p:cNvSpPr/>
          <p:nvPr/>
        </p:nvSpPr>
        <p:spPr>
          <a:xfrm>
            <a:off x="2880360" y="4791456"/>
            <a:ext cx="393192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08376" y="4901184"/>
            <a:ext cx="3675887"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Usable assessment access</a:t>
            </a:r>
          </a:p>
        </p:txBody>
      </p:sp>
      <p:sp>
        <p:nvSpPr>
          <p:cNvPr id="33" name="Rectangle 32"/>
          <p:cNvSpPr/>
          <p:nvPr/>
        </p:nvSpPr>
        <p:spPr>
          <a:xfrm>
            <a:off x="6812280" y="4791456"/>
            <a:ext cx="489204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40296" y="4901184"/>
            <a:ext cx="4636007" cy="566928"/>
          </a:xfrm>
          <a:prstGeom prst="rect">
            <a:avLst/>
          </a:prstGeom>
          <a:noFill/>
        </p:spPr>
        <p:txBody>
          <a:bodyPr wrap="square" lIns="0" rIns="0" tIns="0" bIns="0">
            <a:spAutoFit/>
          </a:bodyPr>
          <a:lstStyle/>
          <a:p>
            <a:pPr>
              <a:lnSpc>
                <a:spcPct val="112000"/>
              </a:lnSpc>
              <a:spcAft>
                <a:spcPts val="0"/>
              </a:spcAft>
              <a:defRPr sz="1800" b="0">
                <a:solidFill>
                  <a:srgbClr val="172C43"/>
                </a:solidFill>
                <a:latin typeface="Liberation Sans"/>
              </a:defRPr>
            </a:pPr>
            <a:r>
              <a:t>Intended user rather than setup administrator</a:t>
            </a:r>
          </a:p>
        </p:txBody>
      </p:sp>
      <p:sp>
        <p:nvSpPr>
          <p:cNvPr id="35" name="Rectangle 34"/>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Verify the deployed revision separately from the latest source branch.</a:t>
            </a:r>
          </a:p>
        </p:txBody>
      </p:sp>
      <p:sp>
        <p:nvSpPr>
          <p:cNvPr id="37" name="TextBox 36"/>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S-02</a:t>
            </a:r>
          </a:p>
        </p:txBody>
      </p:sp>
      <p:sp>
        <p:nvSpPr>
          <p:cNvPr id="38" name="TextBox 37"/>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02 / 14     02:00–04:00  |  2 min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AWS SECURITY AGENT</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Network rules separate targets, dependencies and exclusions</a:t>
            </a:r>
          </a:p>
        </p:txBody>
      </p:sp>
      <p:sp>
        <p:nvSpPr>
          <p:cNvPr id="5" name="Rectangle 4"/>
          <p:cNvSpPr/>
          <p:nvPr/>
        </p:nvSpPr>
        <p:spPr>
          <a:xfrm>
            <a:off x="502920" y="1755648"/>
            <a:ext cx="2377440" cy="948690"/>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 y="1865376"/>
            <a:ext cx="2121408" cy="756666"/>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Rule</a:t>
            </a:r>
          </a:p>
        </p:txBody>
      </p:sp>
      <p:sp>
        <p:nvSpPr>
          <p:cNvPr id="7" name="Rectangle 6"/>
          <p:cNvSpPr/>
          <p:nvPr/>
        </p:nvSpPr>
        <p:spPr>
          <a:xfrm>
            <a:off x="2880360" y="1755648"/>
            <a:ext cx="3931920" cy="948690"/>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08376" y="1865376"/>
            <a:ext cx="3675887" cy="756666"/>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Permitted purpose</a:t>
            </a:r>
          </a:p>
        </p:txBody>
      </p:sp>
      <p:sp>
        <p:nvSpPr>
          <p:cNvPr id="9" name="Rectangle 8"/>
          <p:cNvSpPr/>
          <p:nvPr/>
        </p:nvSpPr>
        <p:spPr>
          <a:xfrm>
            <a:off x="6812280" y="1755648"/>
            <a:ext cx="4892040" cy="948690"/>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0296" y="1865376"/>
            <a:ext cx="4636007" cy="756666"/>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Example</a:t>
            </a:r>
          </a:p>
        </p:txBody>
      </p:sp>
      <p:sp>
        <p:nvSpPr>
          <p:cNvPr id="11" name="Rectangle 10"/>
          <p:cNvSpPr/>
          <p:nvPr/>
        </p:nvSpPr>
        <p:spPr>
          <a:xfrm>
            <a:off x="502920" y="2704338"/>
            <a:ext cx="237744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 y="2814066"/>
            <a:ext cx="2121408"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Target</a:t>
            </a:r>
          </a:p>
        </p:txBody>
      </p:sp>
      <p:sp>
        <p:nvSpPr>
          <p:cNvPr id="13" name="Rectangle 12"/>
          <p:cNvSpPr/>
          <p:nvPr/>
        </p:nvSpPr>
        <p:spPr>
          <a:xfrm>
            <a:off x="2880360" y="2704338"/>
            <a:ext cx="393192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08376" y="2814066"/>
            <a:ext cx="367588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Access and testing</a:t>
            </a:r>
          </a:p>
        </p:txBody>
      </p:sp>
      <p:sp>
        <p:nvSpPr>
          <p:cNvPr id="15" name="Rectangle 14"/>
          <p:cNvSpPr/>
          <p:nvPr/>
        </p:nvSpPr>
        <p:spPr>
          <a:xfrm>
            <a:off x="6812280" y="2704338"/>
            <a:ext cx="489204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0296" y="2814066"/>
            <a:ext cx="463600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Authorized staging application</a:t>
            </a:r>
          </a:p>
        </p:txBody>
      </p:sp>
      <p:sp>
        <p:nvSpPr>
          <p:cNvPr id="17" name="Rectangle 16"/>
          <p:cNvSpPr/>
          <p:nvPr/>
        </p:nvSpPr>
        <p:spPr>
          <a:xfrm>
            <a:off x="502920" y="3653028"/>
            <a:ext cx="2377440" cy="948690"/>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 y="3762756"/>
            <a:ext cx="2121408"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Accessible</a:t>
            </a:r>
          </a:p>
        </p:txBody>
      </p:sp>
      <p:sp>
        <p:nvSpPr>
          <p:cNvPr id="19" name="Rectangle 18"/>
          <p:cNvSpPr/>
          <p:nvPr/>
        </p:nvSpPr>
        <p:spPr>
          <a:xfrm>
            <a:off x="2880360" y="3653028"/>
            <a:ext cx="3931920" cy="948690"/>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08376" y="3762756"/>
            <a:ext cx="367588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Supporting access; not attack target</a:t>
            </a:r>
          </a:p>
        </p:txBody>
      </p:sp>
      <p:sp>
        <p:nvSpPr>
          <p:cNvPr id="21" name="Rectangle 20"/>
          <p:cNvSpPr/>
          <p:nvPr/>
        </p:nvSpPr>
        <p:spPr>
          <a:xfrm>
            <a:off x="6812280" y="3653028"/>
            <a:ext cx="4892040" cy="948690"/>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0296" y="3762756"/>
            <a:ext cx="463600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Approved login dependency</a:t>
            </a:r>
          </a:p>
        </p:txBody>
      </p:sp>
      <p:sp>
        <p:nvSpPr>
          <p:cNvPr id="23" name="Rectangle 22"/>
          <p:cNvSpPr/>
          <p:nvPr/>
        </p:nvSpPr>
        <p:spPr>
          <a:xfrm>
            <a:off x="502920" y="4601718"/>
            <a:ext cx="237744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 y="4711446"/>
            <a:ext cx="2121408"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Out of scope</a:t>
            </a:r>
          </a:p>
        </p:txBody>
      </p:sp>
      <p:sp>
        <p:nvSpPr>
          <p:cNvPr id="25" name="Rectangle 24"/>
          <p:cNvSpPr/>
          <p:nvPr/>
        </p:nvSpPr>
        <p:spPr>
          <a:xfrm>
            <a:off x="2880360" y="4601718"/>
            <a:ext cx="393192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08376" y="4711446"/>
            <a:ext cx="367588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No access; exclusion precedence</a:t>
            </a:r>
          </a:p>
        </p:txBody>
      </p:sp>
      <p:sp>
        <p:nvSpPr>
          <p:cNvPr id="27" name="Rectangle 26"/>
          <p:cNvSpPr/>
          <p:nvPr/>
        </p:nvSpPr>
        <p:spPr>
          <a:xfrm>
            <a:off x="6812280" y="4601718"/>
            <a:ext cx="489204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40296" y="4711446"/>
            <a:ext cx="463600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Production callback or payment path</a:t>
            </a:r>
          </a:p>
        </p:txBody>
      </p:sp>
      <p:sp>
        <p:nvSpPr>
          <p:cNvPr id="29" name="Rectangle 28"/>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A verified domain is not authorization for every downstream effect.</a:t>
            </a:r>
          </a:p>
        </p:txBody>
      </p:sp>
      <p:sp>
        <p:nvSpPr>
          <p:cNvPr id="31" name="TextBox 30"/>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S-03</a:t>
            </a:r>
          </a:p>
        </p:txBody>
      </p:sp>
      <p:sp>
        <p:nvSpPr>
          <p:cNvPr id="32" name="TextBox 31"/>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03 / 14     04:00–06:00  |  2 min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AWS SECURITY AGENT</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Obtaining a credential is not logging into the application</a:t>
            </a:r>
          </a:p>
        </p:txBody>
      </p:sp>
      <p:sp>
        <p:nvSpPr>
          <p:cNvPr id="5" name="Rectangle 4"/>
          <p:cNvSpPr/>
          <p:nvPr/>
        </p:nvSpPr>
        <p:spPr>
          <a:xfrm>
            <a:off x="502920"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Credential source</a:t>
            </a:r>
          </a:p>
        </p:txBody>
      </p:sp>
      <p:sp>
        <p:nvSpPr>
          <p:cNvPr id="8" name="TextBox 7"/>
          <p:cNvSpPr txBox="1"/>
          <p:nvPr/>
        </p:nvSpPr>
        <p:spPr>
          <a:xfrm>
            <a:off x="667512"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Direct input, secret, role or Lambda</a:t>
            </a:r>
          </a:p>
        </p:txBody>
      </p:sp>
      <p:sp>
        <p:nvSpPr>
          <p:cNvPr id="9" name="TextBox 8"/>
          <p:cNvSpPr txBox="1"/>
          <p:nvPr/>
        </p:nvSpPr>
        <p:spPr>
          <a:xfrm>
            <a:off x="3124962"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10" name="Rectangle 9"/>
          <p:cNvSpPr/>
          <p:nvPr/>
        </p:nvSpPr>
        <p:spPr>
          <a:xfrm>
            <a:off x="3367278"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67278"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31870"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Service access</a:t>
            </a:r>
          </a:p>
        </p:txBody>
      </p:sp>
      <p:sp>
        <p:nvSpPr>
          <p:cNvPr id="13" name="TextBox 12"/>
          <p:cNvSpPr txBox="1"/>
          <p:nvPr/>
        </p:nvSpPr>
        <p:spPr>
          <a:xfrm>
            <a:off x="3531870"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Required trust and read/invoke permissions</a:t>
            </a:r>
          </a:p>
        </p:txBody>
      </p:sp>
      <p:sp>
        <p:nvSpPr>
          <p:cNvPr id="14" name="TextBox 13"/>
          <p:cNvSpPr txBox="1"/>
          <p:nvPr/>
        </p:nvSpPr>
        <p:spPr>
          <a:xfrm>
            <a:off x="5989320"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15" name="Rectangle 14"/>
          <p:cNvSpPr/>
          <p:nvPr/>
        </p:nvSpPr>
        <p:spPr>
          <a:xfrm>
            <a:off x="6231636"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96228"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Login instructions</a:t>
            </a:r>
          </a:p>
        </p:txBody>
      </p:sp>
      <p:sp>
        <p:nvSpPr>
          <p:cNvPr id="18" name="TextBox 17"/>
          <p:cNvSpPr txBox="1"/>
          <p:nvPr/>
        </p:nvSpPr>
        <p:spPr>
          <a:xfrm>
            <a:off x="6396228"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How credentials and MFA apply</a:t>
            </a:r>
          </a:p>
        </p:txBody>
      </p:sp>
      <p:sp>
        <p:nvSpPr>
          <p:cNvPr id="19" name="TextBox 18"/>
          <p:cNvSpPr txBox="1"/>
          <p:nvPr/>
        </p:nvSpPr>
        <p:spPr>
          <a:xfrm>
            <a:off x="8853678"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20" name="Rectangle 19"/>
          <p:cNvSpPr/>
          <p:nvPr/>
        </p:nvSpPr>
        <p:spPr>
          <a:xfrm>
            <a:off x="9095994"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95994"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60586"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Authenticated role</a:t>
            </a:r>
          </a:p>
        </p:txBody>
      </p:sp>
      <p:sp>
        <p:nvSpPr>
          <p:cNvPr id="23" name="TextBox 22"/>
          <p:cNvSpPr txBox="1"/>
          <p:nvPr/>
        </p:nvSpPr>
        <p:spPr>
          <a:xfrm>
            <a:off x="9260586"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Observed identity and protected routes</a:t>
            </a:r>
          </a:p>
        </p:txBody>
      </p:sp>
      <p:sp>
        <p:nvSpPr>
          <p:cNvPr id="24" name="Rectangle 23"/>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Save &amp; Test verifies the configured flow; inspect where authentication fails.</a:t>
            </a:r>
          </a:p>
        </p:txBody>
      </p:sp>
      <p:sp>
        <p:nvSpPr>
          <p:cNvPr id="26" name="TextBox 25"/>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S-M01</a:t>
            </a:r>
          </a:p>
        </p:txBody>
      </p:sp>
      <p:sp>
        <p:nvSpPr>
          <p:cNvPr id="27" name="TextBox 26"/>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04 / 14     06:00–09:00  |  3 min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AWS SECURITY AGENT</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Learned login navigation is a specific reuse mechanism</a:t>
            </a:r>
          </a:p>
        </p:txBody>
      </p:sp>
      <p:sp>
        <p:nvSpPr>
          <p:cNvPr id="5" name="Rectangle 4"/>
          <p:cNvSpPr/>
          <p:nvPr/>
        </p:nvSpPr>
        <p:spPr>
          <a:xfrm>
            <a:off x="502920"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First successful login</a:t>
            </a:r>
          </a:p>
        </p:txBody>
      </p:sp>
      <p:sp>
        <p:nvSpPr>
          <p:cNvPr id="8" name="TextBox 7"/>
          <p:cNvSpPr txBox="1"/>
          <p:nvPr/>
        </p:nvSpPr>
        <p:spPr>
          <a:xfrm>
            <a:off x="667512"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Navigation is discovered</a:t>
            </a:r>
          </a:p>
        </p:txBody>
      </p:sp>
      <p:sp>
        <p:nvSpPr>
          <p:cNvPr id="9" name="TextBox 8"/>
          <p:cNvSpPr txBox="1"/>
          <p:nvPr/>
        </p:nvSpPr>
        <p:spPr>
          <a:xfrm>
            <a:off x="3124962"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10" name="Rectangle 9"/>
          <p:cNvSpPr/>
          <p:nvPr/>
        </p:nvSpPr>
        <p:spPr>
          <a:xfrm>
            <a:off x="3367278"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67278"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31870"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Saved skill</a:t>
            </a:r>
          </a:p>
        </p:txBody>
      </p:sp>
      <p:sp>
        <p:nvSpPr>
          <p:cNvPr id="13" name="TextBox 12"/>
          <p:cNvSpPr txBox="1"/>
          <p:nvPr/>
        </p:nvSpPr>
        <p:spPr>
          <a:xfrm>
            <a:off x="3531870"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Successful procedure is retained</a:t>
            </a:r>
          </a:p>
        </p:txBody>
      </p:sp>
      <p:sp>
        <p:nvSpPr>
          <p:cNvPr id="14" name="TextBox 13"/>
          <p:cNvSpPr txBox="1"/>
          <p:nvPr/>
        </p:nvSpPr>
        <p:spPr>
          <a:xfrm>
            <a:off x="5989320"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15" name="Rectangle 14"/>
          <p:cNvSpPr/>
          <p:nvPr/>
        </p:nvSpPr>
        <p:spPr>
          <a:xfrm>
            <a:off x="6231636"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96228"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Later session</a:t>
            </a:r>
          </a:p>
        </p:txBody>
      </p:sp>
      <p:sp>
        <p:nvSpPr>
          <p:cNvPr id="18" name="TextBox 17"/>
          <p:cNvSpPr txBox="1"/>
          <p:nvPr/>
        </p:nvSpPr>
        <p:spPr>
          <a:xfrm>
            <a:off x="6396228"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Procedure can be reused</a:t>
            </a:r>
          </a:p>
        </p:txBody>
      </p:sp>
      <p:sp>
        <p:nvSpPr>
          <p:cNvPr id="19" name="TextBox 18"/>
          <p:cNvSpPr txBox="1"/>
          <p:nvPr/>
        </p:nvSpPr>
        <p:spPr>
          <a:xfrm>
            <a:off x="8853678"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20" name="Rectangle 19"/>
          <p:cNvSpPr/>
          <p:nvPr/>
        </p:nvSpPr>
        <p:spPr>
          <a:xfrm>
            <a:off x="9095994"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95994"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60586"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Setting / flow change</a:t>
            </a:r>
          </a:p>
        </p:txBody>
      </p:sp>
      <p:sp>
        <p:nvSpPr>
          <p:cNvPr id="23" name="TextBox 22"/>
          <p:cNvSpPr txBox="1"/>
          <p:nvPr/>
        </p:nvSpPr>
        <p:spPr>
          <a:xfrm>
            <a:off x="9260586"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Toggle reuse; verify actual identity again</a:t>
            </a:r>
          </a:p>
        </p:txBody>
      </p:sp>
      <p:sp>
        <p:nvSpPr>
          <p:cNvPr id="24" name="Rectangle 23"/>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Login Optimization is not a universal vulnerability-memory service.</a:t>
            </a:r>
          </a:p>
        </p:txBody>
      </p:sp>
      <p:sp>
        <p:nvSpPr>
          <p:cNvPr id="26" name="TextBox 25"/>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S-M02</a:t>
            </a:r>
          </a:p>
        </p:txBody>
      </p:sp>
      <p:sp>
        <p:nvSpPr>
          <p:cNvPr id="27" name="TextBox 26"/>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05 / 14     09:00–11:00  |  2 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AWS SECURITY AGENT</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A reusable configuration produces distinct executions</a:t>
            </a:r>
          </a:p>
        </p:txBody>
      </p:sp>
      <p:sp>
        <p:nvSpPr>
          <p:cNvPr id="5" name="Rectangle 4"/>
          <p:cNvSpPr/>
          <p:nvPr/>
        </p:nvSpPr>
        <p:spPr>
          <a:xfrm>
            <a:off x="502920" y="1755648"/>
            <a:ext cx="2743200" cy="758952"/>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 y="1865376"/>
            <a:ext cx="2487168" cy="566928"/>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Object</a:t>
            </a:r>
          </a:p>
        </p:txBody>
      </p:sp>
      <p:sp>
        <p:nvSpPr>
          <p:cNvPr id="7" name="Rectangle 6"/>
          <p:cNvSpPr/>
          <p:nvPr/>
        </p:nvSpPr>
        <p:spPr>
          <a:xfrm>
            <a:off x="3246120" y="1755648"/>
            <a:ext cx="8458200" cy="758952"/>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74136" y="1865376"/>
            <a:ext cx="8202168" cy="566928"/>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Meaning</a:t>
            </a:r>
          </a:p>
        </p:txBody>
      </p:sp>
      <p:sp>
        <p:nvSpPr>
          <p:cNvPr id="9" name="Rectangle 8"/>
          <p:cNvSpPr/>
          <p:nvPr/>
        </p:nvSpPr>
        <p:spPr>
          <a:xfrm>
            <a:off x="502920" y="2514600"/>
            <a:ext cx="274320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 y="2624328"/>
            <a:ext cx="248716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Draft</a:t>
            </a:r>
          </a:p>
        </p:txBody>
      </p:sp>
      <p:sp>
        <p:nvSpPr>
          <p:cNvPr id="11" name="Rectangle 10"/>
          <p:cNvSpPr/>
          <p:nvPr/>
        </p:nvSpPr>
        <p:spPr>
          <a:xfrm>
            <a:off x="3246120" y="2514600"/>
            <a:ext cx="845820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74136" y="2624328"/>
            <a:ext cx="820216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Incomplete configuration, not a completed test</a:t>
            </a:r>
          </a:p>
        </p:txBody>
      </p:sp>
      <p:sp>
        <p:nvSpPr>
          <p:cNvPr id="13" name="Rectangle 12"/>
          <p:cNvSpPr/>
          <p:nvPr/>
        </p:nvSpPr>
        <p:spPr>
          <a:xfrm>
            <a:off x="502920" y="3273552"/>
            <a:ext cx="274320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 y="3383280"/>
            <a:ext cx="248716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Saved configuration</a:t>
            </a:r>
          </a:p>
        </p:txBody>
      </p:sp>
      <p:sp>
        <p:nvSpPr>
          <p:cNvPr id="15" name="Rectangle 14"/>
          <p:cNvSpPr/>
          <p:nvPr/>
        </p:nvSpPr>
        <p:spPr>
          <a:xfrm>
            <a:off x="3246120" y="3273552"/>
            <a:ext cx="845820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74136" y="3383280"/>
            <a:ext cx="820216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Reusable target, credentials and execution choices</a:t>
            </a:r>
          </a:p>
        </p:txBody>
      </p:sp>
      <p:sp>
        <p:nvSpPr>
          <p:cNvPr id="17" name="Rectangle 16"/>
          <p:cNvSpPr/>
          <p:nvPr/>
        </p:nvSpPr>
        <p:spPr>
          <a:xfrm>
            <a:off x="502920" y="4032504"/>
            <a:ext cx="274320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 y="4142232"/>
            <a:ext cx="248716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Run</a:t>
            </a:r>
          </a:p>
        </p:txBody>
      </p:sp>
      <p:sp>
        <p:nvSpPr>
          <p:cNvPr id="19" name="Rectangle 18"/>
          <p:cNvSpPr/>
          <p:nvPr/>
        </p:nvSpPr>
        <p:spPr>
          <a:xfrm>
            <a:off x="3246120" y="4032504"/>
            <a:ext cx="845820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74136" y="4142232"/>
            <a:ext cx="820216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Assessment against then-current target/configuration</a:t>
            </a:r>
          </a:p>
        </p:txBody>
      </p:sp>
      <p:sp>
        <p:nvSpPr>
          <p:cNvPr id="21" name="Rectangle 20"/>
          <p:cNvSpPr/>
          <p:nvPr/>
        </p:nvSpPr>
        <p:spPr>
          <a:xfrm>
            <a:off x="502920" y="4791456"/>
            <a:ext cx="274320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 y="4901184"/>
            <a:ext cx="248716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Task-hour limit</a:t>
            </a:r>
          </a:p>
        </p:txBody>
      </p:sp>
      <p:sp>
        <p:nvSpPr>
          <p:cNvPr id="23" name="Rectangle 22"/>
          <p:cNvSpPr/>
          <p:nvPr/>
        </p:nvSpPr>
        <p:spPr>
          <a:xfrm>
            <a:off x="3246120" y="4791456"/>
            <a:ext cx="845820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74136" y="4901184"/>
            <a:ext cx="820216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Cumulative task work, not elapsed wall time</a:t>
            </a:r>
          </a:p>
        </p:txBody>
      </p:sp>
      <p:sp>
        <p:nvSpPr>
          <p:cNvPr id="25" name="Rectangle 24"/>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A completed status does not establish exhaustive coverage.</a:t>
            </a:r>
          </a:p>
        </p:txBody>
      </p:sp>
      <p:sp>
        <p:nvSpPr>
          <p:cNvPr id="27" name="TextBox 26"/>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S-04</a:t>
            </a:r>
          </a:p>
        </p:txBody>
      </p:sp>
      <p:sp>
        <p:nvSpPr>
          <p:cNvPr id="28" name="TextBox 27"/>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06 / 14     11:00–13:00  |  2 min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AWS SECURITY AGENT</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Requirement evaluation starts with applicability</a:t>
            </a:r>
          </a:p>
        </p:txBody>
      </p:sp>
      <p:sp>
        <p:nvSpPr>
          <p:cNvPr id="5" name="Rectangle 4"/>
          <p:cNvSpPr/>
          <p:nvPr/>
        </p:nvSpPr>
        <p:spPr>
          <a:xfrm>
            <a:off x="502920" y="1828800"/>
            <a:ext cx="3563112"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28800"/>
            <a:ext cx="3563112"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057400"/>
            <a:ext cx="3233928"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Applicable and compliant</a:t>
            </a:r>
          </a:p>
        </p:txBody>
      </p:sp>
      <p:sp>
        <p:nvSpPr>
          <p:cNvPr id="8" name="TextBox 7"/>
          <p:cNvSpPr txBox="1"/>
          <p:nvPr/>
        </p:nvSpPr>
        <p:spPr>
          <a:xfrm>
            <a:off x="667512" y="3063240"/>
            <a:ext cx="3233928"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The required ownership check exists and supporting evidence is present.</a:t>
            </a:r>
          </a:p>
        </p:txBody>
      </p:sp>
      <p:sp>
        <p:nvSpPr>
          <p:cNvPr id="9" name="Rectangle 8"/>
          <p:cNvSpPr/>
          <p:nvPr/>
        </p:nvSpPr>
        <p:spPr>
          <a:xfrm>
            <a:off x="4322064" y="1828800"/>
            <a:ext cx="3563112"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22064" y="1828800"/>
            <a:ext cx="3563112"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6656" y="2057400"/>
            <a:ext cx="3233928"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Applicable and violating</a:t>
            </a:r>
          </a:p>
        </p:txBody>
      </p:sp>
      <p:sp>
        <p:nvSpPr>
          <p:cNvPr id="12" name="TextBox 11"/>
          <p:cNvSpPr txBox="1"/>
          <p:nvPr/>
        </p:nvSpPr>
        <p:spPr>
          <a:xfrm>
            <a:off x="4486656" y="3063240"/>
            <a:ext cx="3233928"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A handler returns account-owned data without the required authorization.</a:t>
            </a:r>
          </a:p>
        </p:txBody>
      </p:sp>
      <p:sp>
        <p:nvSpPr>
          <p:cNvPr id="13" name="Rectangle 12"/>
          <p:cNvSpPr/>
          <p:nvPr/>
        </p:nvSpPr>
        <p:spPr>
          <a:xfrm>
            <a:off x="8141208" y="1828800"/>
            <a:ext cx="3563112"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41208" y="1828800"/>
            <a:ext cx="3563112"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5800" y="2057400"/>
            <a:ext cx="3233928"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Inapplicable</a:t>
            </a:r>
          </a:p>
        </p:txBody>
      </p:sp>
      <p:sp>
        <p:nvSpPr>
          <p:cNvPr id="16" name="TextBox 15"/>
          <p:cNvSpPr txBox="1"/>
          <p:nvPr/>
        </p:nvSpPr>
        <p:spPr>
          <a:xfrm>
            <a:off x="8305800" y="3063240"/>
            <a:ext cx="3233928"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The requirement does not govern the evaluated component.</a:t>
            </a:r>
          </a:p>
        </p:txBody>
      </p:sp>
      <p:sp>
        <p:nvSpPr>
          <p:cNvPr id="17" name="Rectangle 16"/>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Configure requirement evaluation explicitly; vulnerability analysis alone is different.</a:t>
            </a:r>
          </a:p>
        </p:txBody>
      </p:sp>
      <p:sp>
        <p:nvSpPr>
          <p:cNvPr id="19" name="TextBox 18"/>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S-M03</a:t>
            </a:r>
          </a:p>
        </p:txBody>
      </p:sp>
      <p:sp>
        <p:nvSpPr>
          <p:cNvPr id="20" name="TextBox 19"/>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07 / 14     13:00–15:00  |  2 min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AWS SECURITY AGENT</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Regeneration replaces requirements; it does not append</a:t>
            </a:r>
          </a:p>
        </p:txBody>
      </p:sp>
      <p:sp>
        <p:nvSpPr>
          <p:cNvPr id="5" name="Rectangle 4"/>
          <p:cNvSpPr/>
          <p:nvPr/>
        </p:nvSpPr>
        <p:spPr>
          <a:xfrm>
            <a:off x="502920"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Source policy</a:t>
            </a:r>
          </a:p>
        </p:txBody>
      </p:sp>
      <p:sp>
        <p:nvSpPr>
          <p:cNvPr id="8" name="TextBox 7"/>
          <p:cNvSpPr txBox="1"/>
          <p:nvPr/>
        </p:nvSpPr>
        <p:spPr>
          <a:xfrm>
            <a:off x="667512"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Reviewed governing documents</a:t>
            </a:r>
          </a:p>
        </p:txBody>
      </p:sp>
      <p:sp>
        <p:nvSpPr>
          <p:cNvPr id="9" name="TextBox 8"/>
          <p:cNvSpPr txBox="1"/>
          <p:nvPr/>
        </p:nvSpPr>
        <p:spPr>
          <a:xfrm>
            <a:off x="3124962"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10" name="Rectangle 9"/>
          <p:cNvSpPr/>
          <p:nvPr/>
        </p:nvSpPr>
        <p:spPr>
          <a:xfrm>
            <a:off x="3367278"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67278"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31870"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Generate</a:t>
            </a:r>
          </a:p>
        </p:txBody>
      </p:sp>
      <p:sp>
        <p:nvSpPr>
          <p:cNvPr id="13" name="TextBox 12"/>
          <p:cNvSpPr txBox="1"/>
          <p:nvPr/>
        </p:nvSpPr>
        <p:spPr>
          <a:xfrm>
            <a:off x="3531870"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Replace the pack contents</a:t>
            </a:r>
          </a:p>
        </p:txBody>
      </p:sp>
      <p:sp>
        <p:nvSpPr>
          <p:cNvPr id="14" name="TextBox 13"/>
          <p:cNvSpPr txBox="1"/>
          <p:nvPr/>
        </p:nvSpPr>
        <p:spPr>
          <a:xfrm>
            <a:off x="5989320"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15" name="Rectangle 14"/>
          <p:cNvSpPr/>
          <p:nvPr/>
        </p:nvSpPr>
        <p:spPr>
          <a:xfrm>
            <a:off x="6231636"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96228"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Review</a:t>
            </a:r>
          </a:p>
        </p:txBody>
      </p:sp>
      <p:sp>
        <p:nvSpPr>
          <p:cNvPr id="18" name="TextBox 17"/>
          <p:cNvSpPr txBox="1"/>
          <p:nvPr/>
        </p:nvSpPr>
        <p:spPr>
          <a:xfrm>
            <a:off x="6396228"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Inspect generated and formerly manual rules</a:t>
            </a:r>
          </a:p>
        </p:txBody>
      </p:sp>
      <p:sp>
        <p:nvSpPr>
          <p:cNvPr id="19" name="TextBox 18"/>
          <p:cNvSpPr txBox="1"/>
          <p:nvPr/>
        </p:nvSpPr>
        <p:spPr>
          <a:xfrm>
            <a:off x="8853678"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20" name="Rectangle 19"/>
          <p:cNvSpPr/>
          <p:nvPr/>
        </p:nvSpPr>
        <p:spPr>
          <a:xfrm>
            <a:off x="9095994"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95994"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60586"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Enable</a:t>
            </a:r>
          </a:p>
        </p:txBody>
      </p:sp>
      <p:sp>
        <p:nvSpPr>
          <p:cNvPr id="23" name="TextBox 22"/>
          <p:cNvSpPr txBox="1"/>
          <p:nvPr/>
        </p:nvSpPr>
        <p:spPr>
          <a:xfrm>
            <a:off x="9260586"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Use the reviewed replacement in later assessments</a:t>
            </a:r>
          </a:p>
        </p:txBody>
      </p:sp>
      <p:sp>
        <p:nvSpPr>
          <p:cNvPr id="24" name="Rectangle 23"/>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Keep authoritative requirement source in Git and review replacement before enabling.</a:t>
            </a:r>
          </a:p>
        </p:txBody>
      </p:sp>
      <p:sp>
        <p:nvSpPr>
          <p:cNvPr id="26" name="TextBox 25"/>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S-M04</a:t>
            </a:r>
          </a:p>
        </p:txBody>
      </p:sp>
      <p:sp>
        <p:nvSpPr>
          <p:cNvPr id="27" name="TextBox 26"/>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08 / 14     15:00–17:00  |  2 min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AWS SECURITY AGENT</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A proposed repair is not a deployed repair</a:t>
            </a:r>
          </a:p>
        </p:txBody>
      </p:sp>
      <p:sp>
        <p:nvSpPr>
          <p:cNvPr id="5" name="Rectangle 4"/>
          <p:cNvSpPr/>
          <p:nvPr/>
        </p:nvSpPr>
        <p:spPr>
          <a:xfrm>
            <a:off x="502920"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Finding</a:t>
            </a:r>
          </a:p>
        </p:txBody>
      </p:sp>
      <p:sp>
        <p:nvSpPr>
          <p:cNvPr id="8" name="TextBox 7"/>
          <p:cNvSpPr txBox="1"/>
          <p:nvPr/>
        </p:nvSpPr>
        <p:spPr>
          <a:xfrm>
            <a:off x="667512"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Evidence and affected revision</a:t>
            </a:r>
          </a:p>
        </p:txBody>
      </p:sp>
      <p:sp>
        <p:nvSpPr>
          <p:cNvPr id="9" name="TextBox 8"/>
          <p:cNvSpPr txBox="1"/>
          <p:nvPr/>
        </p:nvSpPr>
        <p:spPr>
          <a:xfrm>
            <a:off x="3124962"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10" name="Rectangle 9"/>
          <p:cNvSpPr/>
          <p:nvPr/>
        </p:nvSpPr>
        <p:spPr>
          <a:xfrm>
            <a:off x="3367278"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67278"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31870"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Proposed change</a:t>
            </a:r>
          </a:p>
        </p:txBody>
      </p:sp>
      <p:sp>
        <p:nvSpPr>
          <p:cNvPr id="13" name="TextBox 12"/>
          <p:cNvSpPr txBox="1"/>
          <p:nvPr/>
        </p:nvSpPr>
        <p:spPr>
          <a:xfrm>
            <a:off x="3531870"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Provider-specific patch or pull request</a:t>
            </a:r>
          </a:p>
        </p:txBody>
      </p:sp>
      <p:sp>
        <p:nvSpPr>
          <p:cNvPr id="14" name="TextBox 13"/>
          <p:cNvSpPr txBox="1"/>
          <p:nvPr/>
        </p:nvSpPr>
        <p:spPr>
          <a:xfrm>
            <a:off x="5989320"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15" name="Rectangle 14"/>
          <p:cNvSpPr/>
          <p:nvPr/>
        </p:nvSpPr>
        <p:spPr>
          <a:xfrm>
            <a:off x="6231636"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96228"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Engineering review</a:t>
            </a:r>
          </a:p>
        </p:txBody>
      </p:sp>
      <p:sp>
        <p:nvSpPr>
          <p:cNvPr id="18" name="TextBox 17"/>
          <p:cNvSpPr txBox="1"/>
          <p:nvPr/>
        </p:nvSpPr>
        <p:spPr>
          <a:xfrm>
            <a:off x="6396228"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Tests and approval</a:t>
            </a:r>
          </a:p>
        </p:txBody>
      </p:sp>
      <p:sp>
        <p:nvSpPr>
          <p:cNvPr id="19" name="TextBox 18"/>
          <p:cNvSpPr txBox="1"/>
          <p:nvPr/>
        </p:nvSpPr>
        <p:spPr>
          <a:xfrm>
            <a:off x="8853678"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20" name="Rectangle 19"/>
          <p:cNvSpPr/>
          <p:nvPr/>
        </p:nvSpPr>
        <p:spPr>
          <a:xfrm>
            <a:off x="9095994"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95994"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60586"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Deployment</a:t>
            </a:r>
          </a:p>
        </p:txBody>
      </p:sp>
      <p:sp>
        <p:nvSpPr>
          <p:cNvPr id="23" name="TextBox 22"/>
          <p:cNvSpPr txBox="1"/>
          <p:nvPr/>
        </p:nvSpPr>
        <p:spPr>
          <a:xfrm>
            <a:off x="9260586"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Known revision on the authorized target</a:t>
            </a:r>
          </a:p>
        </p:txBody>
      </p:sp>
      <p:sp>
        <p:nvSpPr>
          <p:cNvPr id="24" name="Rectangle 23"/>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Use the finding ID to connect the records, not similarity of titles.</a:t>
            </a:r>
          </a:p>
        </p:txBody>
      </p:sp>
      <p:sp>
        <p:nvSpPr>
          <p:cNvPr id="26" name="TextBox 25"/>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S-05</a:t>
            </a:r>
          </a:p>
        </p:txBody>
      </p:sp>
      <p:sp>
        <p:nvSpPr>
          <p:cNvPr id="27" name="TextBox 26"/>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09 / 14     17:00–19:00  |  2 min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AWS SECURITY AGENT</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Revalidation preserves the original finding</a:t>
            </a:r>
          </a:p>
        </p:txBody>
      </p:sp>
      <p:sp>
        <p:nvSpPr>
          <p:cNvPr id="5" name="Rectangle 4"/>
          <p:cNvSpPr/>
          <p:nvPr/>
        </p:nvSpPr>
        <p:spPr>
          <a:xfrm>
            <a:off x="502920"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Selected finding</a:t>
            </a:r>
          </a:p>
        </p:txBody>
      </p:sp>
      <p:sp>
        <p:nvSpPr>
          <p:cNvPr id="8" name="TextBox 7"/>
          <p:cNvSpPr txBox="1"/>
          <p:nvPr/>
        </p:nvSpPr>
        <p:spPr>
          <a:xfrm>
            <a:off x="667512"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Original completed assessment</a:t>
            </a:r>
          </a:p>
        </p:txBody>
      </p:sp>
      <p:sp>
        <p:nvSpPr>
          <p:cNvPr id="9" name="TextBox 8"/>
          <p:cNvSpPr txBox="1"/>
          <p:nvPr/>
        </p:nvSpPr>
        <p:spPr>
          <a:xfrm>
            <a:off x="3124962"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10" name="Rectangle 9"/>
          <p:cNvSpPr/>
          <p:nvPr/>
        </p:nvSpPr>
        <p:spPr>
          <a:xfrm>
            <a:off x="3367278"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67278"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31870"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New job</a:t>
            </a:r>
          </a:p>
        </p:txBody>
      </p:sp>
      <p:sp>
        <p:nvSpPr>
          <p:cNvPr id="13" name="TextBox 12"/>
          <p:cNvSpPr txBox="1"/>
          <p:nvPr/>
        </p:nvSpPr>
        <p:spPr>
          <a:xfrm>
            <a:off x="3531870"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Current credentials; repeat selected steps</a:t>
            </a:r>
          </a:p>
        </p:txBody>
      </p:sp>
      <p:sp>
        <p:nvSpPr>
          <p:cNvPr id="14" name="TextBox 13"/>
          <p:cNvSpPr txBox="1"/>
          <p:nvPr/>
        </p:nvSpPr>
        <p:spPr>
          <a:xfrm>
            <a:off x="5989320"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15" name="Rectangle 14"/>
          <p:cNvSpPr/>
          <p:nvPr/>
        </p:nvSpPr>
        <p:spPr>
          <a:xfrm>
            <a:off x="6231636"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96228"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Result</a:t>
            </a:r>
          </a:p>
        </p:txBody>
      </p:sp>
      <p:sp>
        <p:nvSpPr>
          <p:cNvPr id="18" name="TextBox 17"/>
          <p:cNvSpPr txBox="1"/>
          <p:nvPr/>
        </p:nvSpPr>
        <p:spPr>
          <a:xfrm>
            <a:off x="6396228"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Reproduced or not reproduced</a:t>
            </a:r>
          </a:p>
        </p:txBody>
      </p:sp>
      <p:sp>
        <p:nvSpPr>
          <p:cNvPr id="19" name="TextBox 18"/>
          <p:cNvSpPr txBox="1"/>
          <p:nvPr/>
        </p:nvSpPr>
        <p:spPr>
          <a:xfrm>
            <a:off x="8853678"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20" name="Rectangle 19"/>
          <p:cNvSpPr/>
          <p:nvPr/>
        </p:nvSpPr>
        <p:spPr>
          <a:xfrm>
            <a:off x="9095994"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95994"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60586"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History</a:t>
            </a:r>
          </a:p>
        </p:txBody>
      </p:sp>
      <p:sp>
        <p:nvSpPr>
          <p:cNvPr id="23" name="TextBox 22"/>
          <p:cNvSpPr txBox="1"/>
          <p:nvPr/>
        </p:nvSpPr>
        <p:spPr>
          <a:xfrm>
            <a:off x="9260586"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Original finding linked to new evidence</a:t>
            </a:r>
          </a:p>
        </p:txBody>
      </p:sp>
      <p:sp>
        <p:nvSpPr>
          <p:cNvPr id="24" name="Rectangle 23"/>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A non-reproduction result is scoped; failed authentication can invalidate its interpretation.</a:t>
            </a:r>
          </a:p>
        </p:txBody>
      </p:sp>
      <p:sp>
        <p:nvSpPr>
          <p:cNvPr id="26" name="TextBox 25"/>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S-M05</a:t>
            </a:r>
          </a:p>
        </p:txBody>
      </p:sp>
      <p:sp>
        <p:nvSpPr>
          <p:cNvPr id="27" name="TextBox 26"/>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10 / 14     19:00–21:00  |  2 min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AWS SECURITY AGENT</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Earlier assessments use different resource lifecycles</a:t>
            </a:r>
          </a:p>
        </p:txBody>
      </p:sp>
      <p:sp>
        <p:nvSpPr>
          <p:cNvPr id="5" name="Rectangle 4"/>
          <p:cNvSpPr/>
          <p:nvPr/>
        </p:nvSpPr>
        <p:spPr>
          <a:xfrm>
            <a:off x="502920" y="1755648"/>
            <a:ext cx="2377440" cy="948690"/>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 y="1865376"/>
            <a:ext cx="2121408" cy="756666"/>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Assessment</a:t>
            </a:r>
          </a:p>
        </p:txBody>
      </p:sp>
      <p:sp>
        <p:nvSpPr>
          <p:cNvPr id="7" name="Rectangle 6"/>
          <p:cNvSpPr/>
          <p:nvPr/>
        </p:nvSpPr>
        <p:spPr>
          <a:xfrm>
            <a:off x="2880360" y="1755648"/>
            <a:ext cx="3931920" cy="948690"/>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08376" y="1865376"/>
            <a:ext cx="3675887" cy="756666"/>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Configuration model</a:t>
            </a:r>
          </a:p>
        </p:txBody>
      </p:sp>
      <p:sp>
        <p:nvSpPr>
          <p:cNvPr id="9" name="Rectangle 8"/>
          <p:cNvSpPr/>
          <p:nvPr/>
        </p:nvSpPr>
        <p:spPr>
          <a:xfrm>
            <a:off x="6812280" y="1755648"/>
            <a:ext cx="4892040" cy="948690"/>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0296" y="1865376"/>
            <a:ext cx="4636007" cy="756666"/>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Result focus</a:t>
            </a:r>
          </a:p>
        </p:txBody>
      </p:sp>
      <p:sp>
        <p:nvSpPr>
          <p:cNvPr id="11" name="Rectangle 10"/>
          <p:cNvSpPr/>
          <p:nvPr/>
        </p:nvSpPr>
        <p:spPr>
          <a:xfrm>
            <a:off x="502920" y="2704338"/>
            <a:ext cx="237744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 y="2814066"/>
            <a:ext cx="2121408"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Code</a:t>
            </a:r>
          </a:p>
        </p:txBody>
      </p:sp>
      <p:sp>
        <p:nvSpPr>
          <p:cNvPr id="13" name="Rectangle 12"/>
          <p:cNvSpPr/>
          <p:nvPr/>
        </p:nvSpPr>
        <p:spPr>
          <a:xfrm>
            <a:off x="2880360" y="2704338"/>
            <a:ext cx="393192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08376" y="2814066"/>
            <a:ext cx="367588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Full scan or supported change trigger</a:t>
            </a:r>
          </a:p>
        </p:txBody>
      </p:sp>
      <p:sp>
        <p:nvSpPr>
          <p:cNvPr id="15" name="Rectangle 14"/>
          <p:cNvSpPr/>
          <p:nvPr/>
        </p:nvSpPr>
        <p:spPr>
          <a:xfrm>
            <a:off x="6812280" y="2704338"/>
            <a:ext cx="489204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0296" y="2814066"/>
            <a:ext cx="463600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Locations, evidence and suggested fixes</a:t>
            </a:r>
          </a:p>
        </p:txBody>
      </p:sp>
      <p:sp>
        <p:nvSpPr>
          <p:cNvPr id="17" name="Rectangle 16"/>
          <p:cNvSpPr/>
          <p:nvPr/>
        </p:nvSpPr>
        <p:spPr>
          <a:xfrm>
            <a:off x="502920" y="3653028"/>
            <a:ext cx="2377440" cy="948690"/>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 y="3762756"/>
            <a:ext cx="2121408"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Design</a:t>
            </a:r>
          </a:p>
        </p:txBody>
      </p:sp>
      <p:sp>
        <p:nvSpPr>
          <p:cNvPr id="19" name="Rectangle 18"/>
          <p:cNvSpPr/>
          <p:nvPr/>
        </p:nvSpPr>
        <p:spPr>
          <a:xfrm>
            <a:off x="2880360" y="3653028"/>
            <a:ext cx="3931920" cy="948690"/>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08376" y="3762756"/>
            <a:ext cx="367588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One-off review; clone for new work</a:t>
            </a:r>
          </a:p>
        </p:txBody>
      </p:sp>
      <p:sp>
        <p:nvSpPr>
          <p:cNvPr id="21" name="Rectangle 20"/>
          <p:cNvSpPr/>
          <p:nvPr/>
        </p:nvSpPr>
        <p:spPr>
          <a:xfrm>
            <a:off x="6812280" y="3653028"/>
            <a:ext cx="4892040" cy="948690"/>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0296" y="3762756"/>
            <a:ext cx="463600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Design findings against requirements</a:t>
            </a:r>
          </a:p>
        </p:txBody>
      </p:sp>
      <p:sp>
        <p:nvSpPr>
          <p:cNvPr id="23" name="Rectangle 22"/>
          <p:cNvSpPr/>
          <p:nvPr/>
        </p:nvSpPr>
        <p:spPr>
          <a:xfrm>
            <a:off x="502920" y="4601718"/>
            <a:ext cx="237744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 y="4711446"/>
            <a:ext cx="2121408"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Threat model</a:t>
            </a:r>
          </a:p>
        </p:txBody>
      </p:sp>
      <p:sp>
        <p:nvSpPr>
          <p:cNvPr id="25" name="Rectangle 24"/>
          <p:cNvSpPr/>
          <p:nvPr/>
        </p:nvSpPr>
        <p:spPr>
          <a:xfrm>
            <a:off x="2880360" y="4601718"/>
            <a:ext cx="393192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08376" y="4711446"/>
            <a:ext cx="367588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Reusable configuration and runs</a:t>
            </a:r>
          </a:p>
        </p:txBody>
      </p:sp>
      <p:sp>
        <p:nvSpPr>
          <p:cNvPr id="27" name="Rectangle 26"/>
          <p:cNvSpPr/>
          <p:nvPr/>
        </p:nvSpPr>
        <p:spPr>
          <a:xfrm>
            <a:off x="6812280" y="4601718"/>
            <a:ext cx="489204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40296" y="4711446"/>
            <a:ext cx="463600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System boundary, flows and threats</a:t>
            </a:r>
          </a:p>
        </p:txBody>
      </p:sp>
      <p:sp>
        <p:nvSpPr>
          <p:cNvPr id="29" name="Rectangle 28"/>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Review inferred system context before relying on individual findings.</a:t>
            </a:r>
          </a:p>
        </p:txBody>
      </p:sp>
      <p:sp>
        <p:nvSpPr>
          <p:cNvPr id="31" name="TextBox 30"/>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S-06</a:t>
            </a:r>
          </a:p>
        </p:txBody>
      </p:sp>
      <p:sp>
        <p:nvSpPr>
          <p:cNvPr id="32" name="TextBox 31"/>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11 / 14     21:00–23:00  |  2 min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AWS SECURITY AGENT</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Encryption requires the correct identity and context</a:t>
            </a:r>
          </a:p>
        </p:txBody>
      </p:sp>
      <p:sp>
        <p:nvSpPr>
          <p:cNvPr id="5" name="Rectangle 4"/>
          <p:cNvSpPr/>
          <p:nvPr/>
        </p:nvSpPr>
        <p:spPr>
          <a:xfrm>
            <a:off x="502920"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Customer KMS key</a:t>
            </a:r>
          </a:p>
        </p:txBody>
      </p:sp>
      <p:sp>
        <p:nvSpPr>
          <p:cNvPr id="8" name="TextBox 7"/>
          <p:cNvSpPr txBox="1"/>
          <p:nvPr/>
        </p:nvSpPr>
        <p:spPr>
          <a:xfrm>
            <a:off x="667512"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Protects resource branch keys</a:t>
            </a:r>
          </a:p>
        </p:txBody>
      </p:sp>
      <p:sp>
        <p:nvSpPr>
          <p:cNvPr id="9" name="TextBox 8"/>
          <p:cNvSpPr txBox="1"/>
          <p:nvPr/>
        </p:nvSpPr>
        <p:spPr>
          <a:xfrm>
            <a:off x="3124962"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10" name="Rectangle 9"/>
          <p:cNvSpPr/>
          <p:nvPr/>
        </p:nvSpPr>
        <p:spPr>
          <a:xfrm>
            <a:off x="3367278"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67278"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31870"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Branch key</a:t>
            </a:r>
          </a:p>
        </p:txBody>
      </p:sp>
      <p:sp>
        <p:nvSpPr>
          <p:cNvPr id="13" name="TextBox 12"/>
          <p:cNvSpPr txBox="1"/>
          <p:nvPr/>
        </p:nvSpPr>
        <p:spPr>
          <a:xfrm>
            <a:off x="3531870"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Service-managed stored key material</a:t>
            </a:r>
          </a:p>
        </p:txBody>
      </p:sp>
      <p:sp>
        <p:nvSpPr>
          <p:cNvPr id="14" name="TextBox 13"/>
          <p:cNvSpPr txBox="1"/>
          <p:nvPr/>
        </p:nvSpPr>
        <p:spPr>
          <a:xfrm>
            <a:off x="5989320"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15" name="Rectangle 14"/>
          <p:cNvSpPr/>
          <p:nvPr/>
        </p:nvSpPr>
        <p:spPr>
          <a:xfrm>
            <a:off x="6231636"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96228"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Derived wrapping key</a:t>
            </a:r>
          </a:p>
        </p:txBody>
      </p:sp>
      <p:sp>
        <p:nvSpPr>
          <p:cNvPr id="18" name="TextBox 17"/>
          <p:cNvSpPr txBox="1"/>
          <p:nvPr/>
        </p:nvSpPr>
        <p:spPr>
          <a:xfrm>
            <a:off x="6396228"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Protects data-encryption keys</a:t>
            </a:r>
          </a:p>
        </p:txBody>
      </p:sp>
      <p:sp>
        <p:nvSpPr>
          <p:cNvPr id="19" name="TextBox 18"/>
          <p:cNvSpPr txBox="1"/>
          <p:nvPr/>
        </p:nvSpPr>
        <p:spPr>
          <a:xfrm>
            <a:off x="8853678"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20" name="Rectangle 19"/>
          <p:cNvSpPr/>
          <p:nvPr/>
        </p:nvSpPr>
        <p:spPr>
          <a:xfrm>
            <a:off x="9095994"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95994"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60586"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Authorized request</a:t>
            </a:r>
          </a:p>
        </p:txBody>
      </p:sp>
      <p:sp>
        <p:nvSpPr>
          <p:cNvPr id="23" name="TextBox 22"/>
          <p:cNvSpPr txBox="1"/>
          <p:nvPr/>
        </p:nvSpPr>
        <p:spPr>
          <a:xfrm>
            <a:off x="9260586"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Caller, action and encryption context must match</a:t>
            </a:r>
          </a:p>
        </p:txBody>
      </p:sp>
      <p:sp>
        <p:nvSpPr>
          <p:cNvPr id="24" name="Rectangle 23"/>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Administrator, web-app role, assessment role and asynchronous service access are distinct.</a:t>
            </a:r>
          </a:p>
        </p:txBody>
      </p:sp>
      <p:sp>
        <p:nvSpPr>
          <p:cNvPr id="26" name="TextBox 25"/>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S-M06</a:t>
            </a:r>
          </a:p>
        </p:txBody>
      </p:sp>
      <p:sp>
        <p:nvSpPr>
          <p:cNvPr id="27" name="TextBox 26"/>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12 / 14     23:00–25:00  |  2 min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AWS SECURITY AGENT</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Exercise: verify the repaired account boundary</a:t>
            </a:r>
          </a:p>
        </p:txBody>
      </p:sp>
      <p:sp>
        <p:nvSpPr>
          <p:cNvPr id="5" name="Rectangle 4"/>
          <p:cNvSpPr/>
          <p:nvPr/>
        </p:nvSpPr>
        <p:spPr>
          <a:xfrm>
            <a:off x="502920" y="1755648"/>
            <a:ext cx="1097280" cy="758952"/>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 y="1865376"/>
            <a:ext cx="841247" cy="566928"/>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Time</a:t>
            </a:r>
          </a:p>
        </p:txBody>
      </p:sp>
      <p:sp>
        <p:nvSpPr>
          <p:cNvPr id="7" name="Rectangle 6"/>
          <p:cNvSpPr/>
          <p:nvPr/>
        </p:nvSpPr>
        <p:spPr>
          <a:xfrm>
            <a:off x="1600200" y="1755648"/>
            <a:ext cx="2834640" cy="758952"/>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728216" y="1865376"/>
            <a:ext cx="2578608" cy="566928"/>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Action</a:t>
            </a:r>
          </a:p>
        </p:txBody>
      </p:sp>
      <p:sp>
        <p:nvSpPr>
          <p:cNvPr id="9" name="Rectangle 8"/>
          <p:cNvSpPr/>
          <p:nvPr/>
        </p:nvSpPr>
        <p:spPr>
          <a:xfrm>
            <a:off x="4434840" y="1755648"/>
            <a:ext cx="7269480" cy="758952"/>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62855" y="1865376"/>
            <a:ext cx="7013448" cy="566928"/>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Prepared evidence</a:t>
            </a:r>
          </a:p>
        </p:txBody>
      </p:sp>
      <p:sp>
        <p:nvSpPr>
          <p:cNvPr id="11" name="Rectangle 10"/>
          <p:cNvSpPr/>
          <p:nvPr/>
        </p:nvSpPr>
        <p:spPr>
          <a:xfrm>
            <a:off x="502920" y="2514600"/>
            <a:ext cx="109728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 y="2624328"/>
            <a:ext cx="841247" cy="566928"/>
          </a:xfrm>
          <a:prstGeom prst="rect">
            <a:avLst/>
          </a:prstGeom>
          <a:noFill/>
        </p:spPr>
        <p:txBody>
          <a:bodyPr wrap="square" lIns="0" rIns="0" tIns="0" bIns="0">
            <a:spAutoFit/>
          </a:bodyPr>
          <a:lstStyle/>
          <a:p>
            <a:pPr>
              <a:lnSpc>
                <a:spcPct val="112000"/>
              </a:lnSpc>
              <a:spcAft>
                <a:spcPts val="0"/>
              </a:spcAft>
              <a:defRPr sz="1800" b="0">
                <a:solidFill>
                  <a:srgbClr val="172C43"/>
                </a:solidFill>
                <a:latin typeface="Liberation Sans"/>
              </a:defRPr>
            </a:pPr>
            <a:r>
              <a:t>0–2 min</a:t>
            </a:r>
          </a:p>
        </p:txBody>
      </p:sp>
      <p:sp>
        <p:nvSpPr>
          <p:cNvPr id="13" name="Rectangle 12"/>
          <p:cNvSpPr/>
          <p:nvPr/>
        </p:nvSpPr>
        <p:spPr>
          <a:xfrm>
            <a:off x="1600200" y="2514600"/>
            <a:ext cx="283464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728216" y="2624328"/>
            <a:ext cx="257860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Inspect the finding</a:t>
            </a:r>
          </a:p>
        </p:txBody>
      </p:sp>
      <p:sp>
        <p:nvSpPr>
          <p:cNvPr id="15" name="Rectangle 14"/>
          <p:cNvSpPr/>
          <p:nvPr/>
        </p:nvSpPr>
        <p:spPr>
          <a:xfrm>
            <a:off x="4434840" y="2514600"/>
            <a:ext cx="726948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2855" y="2624328"/>
            <a:ext cx="701344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User A received account B’s test invoice in demo-r1</a:t>
            </a:r>
          </a:p>
        </p:txBody>
      </p:sp>
      <p:sp>
        <p:nvSpPr>
          <p:cNvPr id="17" name="Rectangle 16"/>
          <p:cNvSpPr/>
          <p:nvPr/>
        </p:nvSpPr>
        <p:spPr>
          <a:xfrm>
            <a:off x="502920" y="3273552"/>
            <a:ext cx="109728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 y="3383280"/>
            <a:ext cx="841247" cy="566928"/>
          </a:xfrm>
          <a:prstGeom prst="rect">
            <a:avLst/>
          </a:prstGeom>
          <a:noFill/>
        </p:spPr>
        <p:txBody>
          <a:bodyPr wrap="square" lIns="0" rIns="0" tIns="0" bIns="0">
            <a:spAutoFit/>
          </a:bodyPr>
          <a:lstStyle/>
          <a:p>
            <a:pPr>
              <a:lnSpc>
                <a:spcPct val="112000"/>
              </a:lnSpc>
              <a:spcAft>
                <a:spcPts val="0"/>
              </a:spcAft>
              <a:defRPr sz="1800" b="0">
                <a:solidFill>
                  <a:srgbClr val="172C43"/>
                </a:solidFill>
                <a:latin typeface="Liberation Sans"/>
              </a:defRPr>
            </a:pPr>
            <a:r>
              <a:t>2–4 min</a:t>
            </a:r>
          </a:p>
        </p:txBody>
      </p:sp>
      <p:sp>
        <p:nvSpPr>
          <p:cNvPr id="19" name="Rectangle 18"/>
          <p:cNvSpPr/>
          <p:nvPr/>
        </p:nvSpPr>
        <p:spPr>
          <a:xfrm>
            <a:off x="1600200" y="3273552"/>
            <a:ext cx="283464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728216" y="3383280"/>
            <a:ext cx="257860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Inspect the change</a:t>
            </a:r>
          </a:p>
        </p:txBody>
      </p:sp>
      <p:sp>
        <p:nvSpPr>
          <p:cNvPr id="21" name="Rectangle 20"/>
          <p:cNvSpPr/>
          <p:nvPr/>
        </p:nvSpPr>
        <p:spPr>
          <a:xfrm>
            <a:off x="4434840" y="3273552"/>
            <a:ext cx="726948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62855" y="3383280"/>
            <a:ext cx="701344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Ownership check reviewed; demo-r2 deployed</a:t>
            </a:r>
          </a:p>
        </p:txBody>
      </p:sp>
      <p:sp>
        <p:nvSpPr>
          <p:cNvPr id="23" name="Rectangle 22"/>
          <p:cNvSpPr/>
          <p:nvPr/>
        </p:nvSpPr>
        <p:spPr>
          <a:xfrm>
            <a:off x="502920" y="4032504"/>
            <a:ext cx="109728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 y="4142232"/>
            <a:ext cx="841247" cy="566928"/>
          </a:xfrm>
          <a:prstGeom prst="rect">
            <a:avLst/>
          </a:prstGeom>
          <a:noFill/>
        </p:spPr>
        <p:txBody>
          <a:bodyPr wrap="square" lIns="0" rIns="0" tIns="0" bIns="0">
            <a:spAutoFit/>
          </a:bodyPr>
          <a:lstStyle/>
          <a:p>
            <a:pPr>
              <a:lnSpc>
                <a:spcPct val="112000"/>
              </a:lnSpc>
              <a:spcAft>
                <a:spcPts val="0"/>
              </a:spcAft>
              <a:defRPr sz="1800" b="0">
                <a:solidFill>
                  <a:srgbClr val="172C43"/>
                </a:solidFill>
                <a:latin typeface="Liberation Sans"/>
              </a:defRPr>
            </a:pPr>
            <a:r>
              <a:t>4–6 min</a:t>
            </a:r>
          </a:p>
        </p:txBody>
      </p:sp>
      <p:sp>
        <p:nvSpPr>
          <p:cNvPr id="25" name="Rectangle 24"/>
          <p:cNvSpPr/>
          <p:nvPr/>
        </p:nvSpPr>
        <p:spPr>
          <a:xfrm>
            <a:off x="1600200" y="4032504"/>
            <a:ext cx="283464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728216" y="4142232"/>
            <a:ext cx="257860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Inspect revalidation</a:t>
            </a:r>
          </a:p>
        </p:txBody>
      </p:sp>
      <p:sp>
        <p:nvSpPr>
          <p:cNvPr id="27" name="Rectangle 26"/>
          <p:cNvSpPr/>
          <p:nvPr/>
        </p:nvSpPr>
        <p:spPr>
          <a:xfrm>
            <a:off x="4434840" y="4032504"/>
            <a:ext cx="726948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62855" y="4142232"/>
            <a:ext cx="701344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Actual user A role and selected path reached</a:t>
            </a:r>
          </a:p>
        </p:txBody>
      </p:sp>
      <p:sp>
        <p:nvSpPr>
          <p:cNvPr id="29" name="Rectangle 28"/>
          <p:cNvSpPr/>
          <p:nvPr/>
        </p:nvSpPr>
        <p:spPr>
          <a:xfrm>
            <a:off x="502920" y="4791456"/>
            <a:ext cx="109728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936" y="4901184"/>
            <a:ext cx="841247" cy="566928"/>
          </a:xfrm>
          <a:prstGeom prst="rect">
            <a:avLst/>
          </a:prstGeom>
          <a:noFill/>
        </p:spPr>
        <p:txBody>
          <a:bodyPr wrap="square" lIns="0" rIns="0" tIns="0" bIns="0">
            <a:spAutoFit/>
          </a:bodyPr>
          <a:lstStyle/>
          <a:p>
            <a:pPr>
              <a:lnSpc>
                <a:spcPct val="112000"/>
              </a:lnSpc>
              <a:spcAft>
                <a:spcPts val="0"/>
              </a:spcAft>
              <a:defRPr sz="1800" b="0">
                <a:solidFill>
                  <a:srgbClr val="172C43"/>
                </a:solidFill>
                <a:latin typeface="Liberation Sans"/>
              </a:defRPr>
            </a:pPr>
            <a:r>
              <a:t>6–8 min</a:t>
            </a:r>
          </a:p>
        </p:txBody>
      </p:sp>
      <p:sp>
        <p:nvSpPr>
          <p:cNvPr id="31" name="Rectangle 30"/>
          <p:cNvSpPr/>
          <p:nvPr/>
        </p:nvSpPr>
        <p:spPr>
          <a:xfrm>
            <a:off x="1600200" y="4791456"/>
            <a:ext cx="283464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728216" y="4901184"/>
            <a:ext cx="257860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State the result scope</a:t>
            </a:r>
          </a:p>
        </p:txBody>
      </p:sp>
      <p:sp>
        <p:nvSpPr>
          <p:cNvPr id="33" name="Rectangle 32"/>
          <p:cNvSpPr/>
          <p:nvPr/>
        </p:nvSpPr>
        <p:spPr>
          <a:xfrm>
            <a:off x="4434840" y="4791456"/>
            <a:ext cx="726948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62855" y="4901184"/>
            <a:ext cx="701344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Prepared denial supports that path, not whole-app security</a:t>
            </a:r>
          </a:p>
        </p:txBody>
      </p:sp>
      <p:sp>
        <p:nvSpPr>
          <p:cNvPr id="35" name="Rectangle 34"/>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Synthetic staging evidence only. No live penetration test or exploit execution.</a:t>
            </a:r>
          </a:p>
        </p:txBody>
      </p:sp>
      <p:sp>
        <p:nvSpPr>
          <p:cNvPr id="37" name="TextBox 36"/>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S-U01 · S-M05</a:t>
            </a:r>
          </a:p>
        </p:txBody>
      </p:sp>
      <p:sp>
        <p:nvSpPr>
          <p:cNvPr id="38" name="TextBox 37"/>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13 / 14     25:00–33:00  |  8 min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AWS SECURITY AGENT</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Troubleshooting follows the failed prerequisite</a:t>
            </a:r>
          </a:p>
        </p:txBody>
      </p:sp>
      <p:sp>
        <p:nvSpPr>
          <p:cNvPr id="5" name="Rectangle 4"/>
          <p:cNvSpPr/>
          <p:nvPr/>
        </p:nvSpPr>
        <p:spPr>
          <a:xfrm>
            <a:off x="502920" y="1828800"/>
            <a:ext cx="3563112"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28800"/>
            <a:ext cx="3563112"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057400"/>
            <a:ext cx="3233928"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Access</a:t>
            </a:r>
          </a:p>
        </p:txBody>
      </p:sp>
      <p:sp>
        <p:nvSpPr>
          <p:cNvPr id="8" name="TextBox 7"/>
          <p:cNvSpPr txBox="1"/>
          <p:nvPr/>
        </p:nvSpPr>
        <p:spPr>
          <a:xfrm>
            <a:off x="667512" y="3063240"/>
            <a:ext cx="3233928"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Separate repository connection, secret retrieval, application login and private routing.</a:t>
            </a:r>
          </a:p>
        </p:txBody>
      </p:sp>
      <p:sp>
        <p:nvSpPr>
          <p:cNvPr id="9" name="Rectangle 8"/>
          <p:cNvSpPr/>
          <p:nvPr/>
        </p:nvSpPr>
        <p:spPr>
          <a:xfrm>
            <a:off x="4322064" y="1828800"/>
            <a:ext cx="3563112"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22064" y="1828800"/>
            <a:ext cx="3563112"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6656" y="2057400"/>
            <a:ext cx="3233928"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Criteria</a:t>
            </a:r>
          </a:p>
        </p:txBody>
      </p:sp>
      <p:sp>
        <p:nvSpPr>
          <p:cNvPr id="12" name="TextBox 11"/>
          <p:cNvSpPr txBox="1"/>
          <p:nvPr/>
        </p:nvSpPr>
        <p:spPr>
          <a:xfrm>
            <a:off x="4486656" y="3063240"/>
            <a:ext cx="3233928"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Check pack activation, applicability, regeneration and evaluation mode.</a:t>
            </a:r>
          </a:p>
        </p:txBody>
      </p:sp>
      <p:sp>
        <p:nvSpPr>
          <p:cNvPr id="13" name="Rectangle 12"/>
          <p:cNvSpPr/>
          <p:nvPr/>
        </p:nvSpPr>
        <p:spPr>
          <a:xfrm>
            <a:off x="8141208" y="1828800"/>
            <a:ext cx="3563112"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41208" y="1828800"/>
            <a:ext cx="3563112"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5800" y="2057400"/>
            <a:ext cx="3233928"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Evidence</a:t>
            </a:r>
          </a:p>
        </p:txBody>
      </p:sp>
      <p:sp>
        <p:nvSpPr>
          <p:cNvPr id="16" name="TextBox 15"/>
          <p:cNvSpPr txBox="1"/>
          <p:nvPr/>
        </p:nvSpPr>
        <p:spPr>
          <a:xfrm>
            <a:off x="8305800" y="3063240"/>
            <a:ext cx="3233928"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Check deployment, actual identity, reachable path and linked job before closing a finding.</a:t>
            </a:r>
          </a:p>
        </p:txBody>
      </p:sp>
      <p:sp>
        <p:nvSpPr>
          <p:cNvPr id="17" name="Rectangle 16"/>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Full provider/pipeline and GenAI exception setup remains explicitly linked coverage.</a:t>
            </a:r>
          </a:p>
        </p:txBody>
      </p:sp>
      <p:sp>
        <p:nvSpPr>
          <p:cNvPr id="19" name="TextBox 18"/>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S-07 · S-08</a:t>
            </a:r>
          </a:p>
        </p:txBody>
      </p:sp>
      <p:sp>
        <p:nvSpPr>
          <p:cNvPr id="20" name="TextBox 19"/>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14 / 14     33:00–35:00  |  2 min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0080"/>
            <a:ext cx="10972800" cy="914400"/>
          </a:xfrm>
          <a:prstGeom prst="rect">
            <a:avLst/>
          </a:prstGeom>
          <a:noFill/>
        </p:spPr>
        <p:txBody>
          <a:bodyPr wrap="square" lIns="0" rIns="0" tIns="0" bIns="0">
            <a:spAutoFit/>
          </a:bodyPr>
          <a:lstStyle/>
          <a:p>
            <a:pPr>
              <a:lnSpc>
                <a:spcPct val="112000"/>
              </a:lnSpc>
              <a:spcAft>
                <a:spcPts val="0"/>
              </a:spcAft>
              <a:defRPr sz="3200" b="1">
                <a:solidFill>
                  <a:srgbClr val="172C43"/>
                </a:solidFill>
                <a:latin typeface="Liberation Sans"/>
              </a:defRPr>
            </a:pPr>
            <a:r>
              <a:t>Evidence and use of this presentation</a:t>
            </a:r>
          </a:p>
        </p:txBody>
      </p:sp>
      <p:sp>
        <p:nvSpPr>
          <p:cNvPr id="4" name="TextBox 3"/>
          <p:cNvSpPr txBox="1"/>
          <p:nvPr/>
        </p:nvSpPr>
        <p:spPr>
          <a:xfrm>
            <a:off x="548640" y="1828800"/>
            <a:ext cx="2103120" cy="594360"/>
          </a:xfrm>
          <a:prstGeom prst="rect">
            <a:avLst/>
          </a:prstGeom>
          <a:noFill/>
        </p:spPr>
        <p:txBody>
          <a:bodyPr wrap="square" lIns="0" rIns="0" tIns="0" bIns="0">
            <a:spAutoFit/>
          </a:bodyPr>
          <a:lstStyle/>
          <a:p>
            <a:pPr>
              <a:lnSpc>
                <a:spcPct val="112000"/>
              </a:lnSpc>
              <a:spcAft>
                <a:spcPts val="0"/>
              </a:spcAft>
              <a:defRPr sz="1800" b="1">
                <a:solidFill>
                  <a:srgbClr val="172C43"/>
                </a:solidFill>
                <a:latin typeface="Liberation Sans"/>
              </a:defRPr>
            </a:pPr>
            <a:r>
              <a:t>Canonical guide</a:t>
            </a:r>
          </a:p>
        </p:txBody>
      </p:sp>
      <p:sp>
        <p:nvSpPr>
          <p:cNvPr id="5" name="TextBox 4"/>
          <p:cNvSpPr txBox="1"/>
          <p:nvPr/>
        </p:nvSpPr>
        <p:spPr>
          <a:xfrm>
            <a:off x="2880360" y="1828800"/>
            <a:ext cx="8641080" cy="658368"/>
          </a:xfrm>
          <a:prstGeom prst="rect">
            <a:avLst/>
          </a:prstGeom>
          <a:noFill/>
        </p:spPr>
        <p:txBody>
          <a:bodyPr wrap="square" lIns="0" rIns="0" tIns="0" bIns="0">
            <a:spAutoFit/>
          </a:bodyPr>
          <a:lstStyle/>
          <a:p>
            <a:pPr>
              <a:lnSpc>
                <a:spcPct val="112000"/>
              </a:lnSpc>
              <a:spcAft>
                <a:spcPts val="0"/>
              </a:spcAft>
              <a:defRPr sz="2000" b="0">
                <a:solidFill>
                  <a:srgbClr val="172C43"/>
                </a:solidFill>
                <a:latin typeface="Liberation Sans"/>
              </a:defRPr>
            </a:pPr>
            <a:r>
              <a:t>guides/security.md — resource model, procedures, mechanisms, troubleshooting and worked example.</a:t>
            </a:r>
          </a:p>
        </p:txBody>
      </p:sp>
      <p:sp>
        <p:nvSpPr>
          <p:cNvPr id="6" name="TextBox 5"/>
          <p:cNvSpPr txBox="1"/>
          <p:nvPr/>
        </p:nvSpPr>
        <p:spPr>
          <a:xfrm>
            <a:off x="548640" y="2724912"/>
            <a:ext cx="2103120" cy="594360"/>
          </a:xfrm>
          <a:prstGeom prst="rect">
            <a:avLst/>
          </a:prstGeom>
          <a:noFill/>
        </p:spPr>
        <p:txBody>
          <a:bodyPr wrap="square" lIns="0" rIns="0" tIns="0" bIns="0">
            <a:spAutoFit/>
          </a:bodyPr>
          <a:lstStyle/>
          <a:p>
            <a:pPr>
              <a:lnSpc>
                <a:spcPct val="112000"/>
              </a:lnSpc>
              <a:spcAft>
                <a:spcPts val="0"/>
              </a:spcAft>
              <a:defRPr sz="1800" b="1">
                <a:solidFill>
                  <a:srgbClr val="172C43"/>
                </a:solidFill>
                <a:latin typeface="Liberation Sans"/>
              </a:defRPr>
            </a:pPr>
            <a:r>
              <a:t>Source traceability</a:t>
            </a:r>
          </a:p>
        </p:txBody>
      </p:sp>
      <p:sp>
        <p:nvSpPr>
          <p:cNvPr id="7" name="TextBox 6"/>
          <p:cNvSpPr txBox="1"/>
          <p:nvPr/>
        </p:nvSpPr>
        <p:spPr>
          <a:xfrm>
            <a:off x="2880360" y="2724912"/>
            <a:ext cx="8641080" cy="658368"/>
          </a:xfrm>
          <a:prstGeom prst="rect">
            <a:avLst/>
          </a:prstGeom>
          <a:noFill/>
        </p:spPr>
        <p:txBody>
          <a:bodyPr wrap="square" lIns="0" rIns="0" tIns="0" bIns="0">
            <a:spAutoFit/>
          </a:bodyPr>
          <a:lstStyle/>
          <a:p>
            <a:pPr>
              <a:lnSpc>
                <a:spcPct val="112000"/>
              </a:lnSpc>
              <a:spcAft>
                <a:spcPts val="0"/>
              </a:spcAft>
              <a:defRPr sz="2000" b="0">
                <a:solidFill>
                  <a:srgbClr val="172C43"/>
                </a:solidFill>
                <a:latin typeface="Liberation Sans"/>
              </a:defRPr>
            </a:pPr>
            <a:r>
              <a:t>Every content slide names guide sections. Speaker notes include the related guide text and official AWS source URLs.</a:t>
            </a:r>
          </a:p>
        </p:txBody>
      </p:sp>
      <p:sp>
        <p:nvSpPr>
          <p:cNvPr id="8" name="TextBox 7"/>
          <p:cNvSpPr txBox="1"/>
          <p:nvPr/>
        </p:nvSpPr>
        <p:spPr>
          <a:xfrm>
            <a:off x="548640" y="3621024"/>
            <a:ext cx="2103120" cy="594360"/>
          </a:xfrm>
          <a:prstGeom prst="rect">
            <a:avLst/>
          </a:prstGeom>
          <a:noFill/>
        </p:spPr>
        <p:txBody>
          <a:bodyPr wrap="square" lIns="0" rIns="0" tIns="0" bIns="0">
            <a:spAutoFit/>
          </a:bodyPr>
          <a:lstStyle/>
          <a:p>
            <a:pPr>
              <a:lnSpc>
                <a:spcPct val="112000"/>
              </a:lnSpc>
              <a:spcAft>
                <a:spcPts val="0"/>
              </a:spcAft>
              <a:defRPr sz="1800" b="1">
                <a:solidFill>
                  <a:srgbClr val="172C43"/>
                </a:solidFill>
                <a:latin typeface="Liberation Sans"/>
              </a:defRPr>
            </a:pPr>
            <a:r>
              <a:t>Delivery boundary</a:t>
            </a:r>
          </a:p>
        </p:txBody>
      </p:sp>
      <p:sp>
        <p:nvSpPr>
          <p:cNvPr id="9" name="TextBox 8"/>
          <p:cNvSpPr txBox="1"/>
          <p:nvPr/>
        </p:nvSpPr>
        <p:spPr>
          <a:xfrm>
            <a:off x="2880360" y="3621024"/>
            <a:ext cx="8641080" cy="658368"/>
          </a:xfrm>
          <a:prstGeom prst="rect">
            <a:avLst/>
          </a:prstGeom>
          <a:noFill/>
        </p:spPr>
        <p:txBody>
          <a:bodyPr wrap="square" lIns="0" rIns="0" tIns="0" bIns="0">
            <a:spAutoFit/>
          </a:bodyPr>
          <a:lstStyle/>
          <a:p>
            <a:pPr>
              <a:lnSpc>
                <a:spcPct val="112000"/>
              </a:lnSpc>
              <a:spcAft>
                <a:spcPts val="0"/>
              </a:spcAft>
              <a:defRPr sz="2000" b="0">
                <a:solidFill>
                  <a:srgbClr val="172C43"/>
                </a:solidFill>
                <a:latin typeface="Liberation Sans"/>
              </a:defRPr>
            </a:pPr>
            <a:r>
              <a:t>Presentation time includes the prepared-result exercise. No live AWS execution, measured benefit or exhaustive product coverage is asserted.</a:t>
            </a:r>
          </a:p>
        </p:txBody>
      </p:sp>
      <p:sp>
        <p:nvSpPr>
          <p:cNvPr id="10" name="TextBox 9"/>
          <p:cNvSpPr txBox="1"/>
          <p:nvPr/>
        </p:nvSpPr>
        <p:spPr>
          <a:xfrm>
            <a:off x="548640" y="4517136"/>
            <a:ext cx="2103120" cy="594360"/>
          </a:xfrm>
          <a:prstGeom prst="rect">
            <a:avLst/>
          </a:prstGeom>
          <a:noFill/>
        </p:spPr>
        <p:txBody>
          <a:bodyPr wrap="square" lIns="0" rIns="0" tIns="0" bIns="0">
            <a:spAutoFit/>
          </a:bodyPr>
          <a:lstStyle/>
          <a:p>
            <a:pPr>
              <a:lnSpc>
                <a:spcPct val="112000"/>
              </a:lnSpc>
              <a:spcAft>
                <a:spcPts val="0"/>
              </a:spcAft>
              <a:defRPr sz="1800" b="1">
                <a:solidFill>
                  <a:srgbClr val="172C43"/>
                </a:solidFill>
                <a:latin typeface="Liberation Sans"/>
              </a:defRPr>
            </a:pPr>
            <a:r>
              <a:t>Scope decisions</a:t>
            </a:r>
          </a:p>
        </p:txBody>
      </p:sp>
      <p:sp>
        <p:nvSpPr>
          <p:cNvPr id="11" name="TextBox 10"/>
          <p:cNvSpPr txBox="1"/>
          <p:nvPr/>
        </p:nvSpPr>
        <p:spPr>
          <a:xfrm>
            <a:off x="2880360" y="4517136"/>
            <a:ext cx="8641080" cy="658368"/>
          </a:xfrm>
          <a:prstGeom prst="rect">
            <a:avLst/>
          </a:prstGeom>
          <a:noFill/>
        </p:spPr>
        <p:txBody>
          <a:bodyPr wrap="square" lIns="0" rIns="0" tIns="0" bIns="0">
            <a:spAutoFit/>
          </a:bodyPr>
          <a:lstStyle/>
          <a:p>
            <a:pPr>
              <a:lnSpc>
                <a:spcPct val="112000"/>
              </a:lnSpc>
              <a:spcAft>
                <a:spcPts val="0"/>
              </a:spcAft>
              <a:defRPr sz="2000" b="0">
                <a:solidFill>
                  <a:srgbClr val="172C43"/>
                </a:solidFill>
                <a:latin typeface="Liberation Sans"/>
              </a:defRPr>
            </a:pPr>
            <a:r>
              <a:t>Read the coverage and source-version notes before extending this material to another feature, Region or provider.</a:t>
            </a:r>
          </a:p>
        </p:txBody>
      </p:sp>
      <p:sp>
        <p:nvSpPr>
          <p:cNvPr id="12" name="TextBox 11"/>
          <p:cNvSpPr txBox="1"/>
          <p:nvPr/>
        </p:nvSpPr>
        <p:spPr>
          <a:xfrm>
            <a:off x="502920" y="6446520"/>
            <a:ext cx="10972800" cy="201168"/>
          </a:xfrm>
          <a:prstGeom prst="rect">
            <a:avLst/>
          </a:prstGeom>
          <a:noFill/>
        </p:spPr>
        <p:txBody>
          <a:bodyPr wrap="square" lIns="0" rIns="0" tIns="0" bIns="0">
            <a:spAutoFit/>
          </a:bodyPr>
          <a:lstStyle/>
          <a:p>
            <a:pPr>
              <a:lnSpc>
                <a:spcPct val="112000"/>
              </a:lnSpc>
              <a:spcAft>
                <a:spcPts val="0"/>
              </a:spcAft>
              <a:defRPr sz="1100" b="0">
                <a:solidFill>
                  <a:srgbClr val="526579"/>
                </a:solidFill>
                <a:latin typeface="Liberation Sans"/>
              </a:defRPr>
            </a:pPr>
            <a:r>
              <a:t>UNTIMED APPENDIX · 2026-10-22-canonical-guides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AWS Security Agent — engineering presentation</dc:title>
  <dc:subject>Canonical guide 2026-10-22-canonical-guides</dc:subject>
  <dc:creator>Engineering documentation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