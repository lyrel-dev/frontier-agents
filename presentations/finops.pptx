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Instance configuration and task execution are separate</a:t>
            </a:r>
          </a:p>
          <a:p/>
          <a:p>
            <a:r>
              <a:t>Budget 2 minutes; cumulative 00:00–02:00.</a:t>
            </a:r>
          </a:p>
          <a:p/>
          <a:p>
            <a:r>
              <a:t>Preview service; storage and inference geography must be reviewed separately.</a:t>
            </a:r>
          </a:p>
          <a:p/>
          <a:p>
            <a:r>
              <a:t>Use the display as the speaking outline. The following canonical guide text is reference, not a mandatory verbatim script.</a:t>
            </a:r>
          </a:p>
          <a:p/>
          <a:p>
            <a:r>
              <a:t>F-01 — Resource and authority model</a:t>
            </a:r>
          </a:p>
          <a:p/>
          <a:p>
            <a:r>
              <a:t>F-01 — Resource and authority model AWS account / Region</a:t>
            </a:r>
          </a:p>
          <a:p>
            <a:r>
              <a:t>  Administrator policy → setup operations</a:t>
            </a:r>
          </a:p>
          <a:p>
            <a:r>
              <a:t>  Registered Jira / Slack integration → agent connection / destination</a:t>
            </a:r>
          </a:p>
          <a:p>
            <a:r>
              <a:t>  Agent data role → permitted AWS cost and operational APIs</a:t>
            </a:r>
          </a:p>
          <a:p>
            <a:r>
              <a:t>  Operator role + user permission → web-app access</a:t>
            </a:r>
          </a:p>
          <a:p>
            <a:r>
              <a:t>                      ↓</a:t>
            </a:r>
          </a:p>
          <a:p>
            <a:r>
              <a:t>Agent instance</a:t>
            </a:r>
          </a:p>
          <a:p>
            <a:r>
              <a:t>  ├─ context files, conversational memory, conversations</a:t>
            </a:r>
          </a:p>
          <a:p>
            <a:r>
              <a:t>  ├─ automations → scheduled/event tasks ┐</a:t>
            </a:r>
          </a:p>
          <a:p>
            <a:r>
              <a:t>  ├─ on-demand tasks ───────────────────┴─ shared queue → results</a:t>
            </a:r>
          </a:p>
          <a:p>
            <a:r>
              <a:t>  └─ report artifacts → local download / configured publication An integration is registered at account level; a connection binds it to an agent and destination. Each agent instance has its own permissions, retained context, task queue and connections. Instance separation is not a shared organization-wide memory service. FS02 FS03 FS08 Product function Supporting platform capabilities Detailed treatment Cost inquiry, comparisons, forecasts and coverage Authorized source queries; organizational context; conversation F-02, F-M01, F-M02 Anomaly investigation Cost Anomaly Detection; operational-change evidence; tasks F-M01, F-M05 Recommendation triage Retrieval of upstream recommendations F-M01 Recurring reporting Context, automation, queue, artifacts, destinations F-M02 through F-M06 Team handoff Explicit external-action permissions and destination binding F-05, F-M06 The recommendations underlying optimization analysis originate in Cost Optimization Hub and Compute Optimizer. The agent contextualizes those recommendations; its prose is not a new independent optimization calculation. FS01 FS06</a:t>
            </a:r>
          </a:p>
          <a:p/>
          <a:p>
            <a:r>
              <a:t>FS01 https://docs.aws.amazon.com/finops-agent/latest/userguide/what-is.html</a:t>
            </a:r>
          </a:p>
          <a:p/>
          <a:p>
            <a:r>
              <a:t>FS02 https://docs.aws.amazon.com/finops-agent/latest/userguide/creating-an-agent.html</a:t>
            </a:r>
          </a:p>
          <a:p/>
          <a:p>
            <a:r>
              <a:t>FS03 https://docs.aws.amazon.com/finops-agent/latest/userguide/setting-up.html</a:t>
            </a:r>
          </a:p>
          <a:p/>
          <a:p>
            <a:r>
              <a:t>FS06 https://docs.aws.amazon.com/finops-agent/latest/userguide/agent-guardrail-control.html</a:t>
            </a:r>
          </a:p>
          <a:p/>
          <a:p>
            <a:r>
              <a:t>FS08 https://docs.aws.amazon.com/finops-agent/latest/userguide/data-protection.html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Four permission responsibilities are not one role</a:t>
            </a:r>
          </a:p>
          <a:p/>
          <a:p>
            <a:r>
              <a:t>Budget 3 minutes; cumulative 02:00–05:00.</a:t>
            </a:r>
          </a:p>
          <a:p/>
          <a:p>
            <a:r>
              <a:t>Test data access and team access independently.</a:t>
            </a:r>
          </a:p>
          <a:p/>
          <a:p>
            <a:r>
              <a:t>Use the display as the speaking outline. The following canonical guide text is reference, not a mandatory verbatim script.</a:t>
            </a:r>
          </a:p>
          <a:p/>
          <a:p>
            <a:r>
              <a:t>F-02 — Configure four policy responsibilities and two service roles</a:t>
            </a:r>
          </a:p>
          <a:p/>
          <a:p>
            <a:r>
              <a:t>F-02 — Configure four policy responsibilities and two service roles AWS distinguishes administrator setup permissions, the agent's data policy, the operator role policy, and the web-app user's own access policy. They are not four names for the same permission set. FS03 Responsibility Attached to / used by What to verify Setup administration Setup identity May create/configure the service and permitted roles/integrations Agent data access Role assumed by the service Actual source-service actions, account scope and required EventBridge permissions Operator session Operator role Supported conversation, task, document and operator operations Web-app entry End-user identity May access the configured agent through the supported route The setup path uses roles trusted by finops-agent.amazonaws.com . Automatically created roles include service-specific scoping. For existing roles, use the official trust and permission examples and adapt them to the intended account and instance. A role name cannot establish what actions its policy permits. FS02 FS03 Creation procedure: complete the wizard's name, agent access, operator access, optional third-party integrations, and review steps. Open the agent from the console, inspect its connections, and test an authorized cost query. Then test the intended non-administrator user. Success for the setup identity does not prove team access. FS02 Dependency review: enable the cost/recommendation services required for the selected task and inspect whether the role permits the relevant APIs. For example, missing cloudtrail:LookupEvents removes an operational-change input without necessarily disabling Cost Explorer questions. Removing write access to customer infrastructure does not mean that Jira/Slack publishing is disabled; those effects follow separate integration rules. FS03 FS06</a:t>
            </a:r>
          </a:p>
          <a:p/>
          <a:p>
            <a:r>
              <a:t>FS02 https://docs.aws.amazon.com/finops-agent/latest/userguide/creating-an-agent.html</a:t>
            </a:r>
          </a:p>
          <a:p/>
          <a:p>
            <a:r>
              <a:t>FS03 https://docs.aws.amazon.com/finops-agent/latest/userguide/setting-up.html</a:t>
            </a:r>
          </a:p>
          <a:p/>
          <a:p>
            <a:r>
              <a:t>FS06 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Numerical contribution and cause are different conclusions</a:t>
            </a:r>
          </a:p>
          <a:p/>
          <a:p>
            <a:r>
              <a:t>Budget 2 minutes; cumulative 05:00–07:00.</a:t>
            </a:r>
          </a:p>
          <a:p/>
          <a:p>
            <a:r>
              <a:t>A nearby deployment alone does not explain the entire cost delta.</a:t>
            </a:r>
          </a:p>
          <a:p/>
          <a:p>
            <a:r>
              <a:t>Use the display as the speaking outline. The following canonical guide text is reference, not a mandatory verbatim script.</a:t>
            </a:r>
          </a:p>
          <a:p/>
          <a:p>
            <a:r>
              <a:t>F-M01 — Source-backed analysis and recommendation provenance</a:t>
            </a:r>
          </a:p>
          <a:p/>
          <a:p>
            <a:r>
              <a:t>F-M01 — Source-backed analysis and recommendation provenance The agent translates an inquiry into supported data-source calls, interprets returned evidence using the instance's context, and generates a response or artifact. Cost Explorer totals, anomaly events, recommendation records and CloudTrail change records answer different questions. FS01 FS03 Evidence Establishes Does not establish by itself Matching cost query Spend for the specified dates, metric, scope and dimensions Why a workload consumed that usage Anomaly record A detected deviation under the monitor's model Root cause of the deviation Recommendation source An upstream optimization candidate and its assumptions Realized saving or authorization to apply it Operational event A recorded change at a time That the change caused the entire cost movement The right procedure is to reproduce the numerical result first, then evaluate the explanation. Fix the time window, cost metric, granularity, filters, currency and relevant allocation assumptions. Require the response to identify unavailable sources instead of filling their absence with a causal story. These comparison rules are engineering guidance, not a new query mode. FS06 Read-only query example: aws ce get-cost-and-usage \</a:t>
            </a:r>
          </a:p>
          <a:p>
            <a:r>
              <a:t>  --time-period Start=2026-09-01,End=2026-09-15 \</a:t>
            </a:r>
          </a:p>
          <a:p>
            <a:r>
              <a:t>  --granularity DAILY --metrics UnblendedCost \</a:t>
            </a:r>
          </a:p>
          <a:p>
            <a:r>
              <a:t>  --group-by Type=DIMENSION,Key=SERVICE The end date is exclusive. This example deliberately has no account, Region or tag filters; add the same approved filters used in the agent question before comparing results. Cost Explorer availability, permissions and API charges still apply. The command was not executed here and must not be compared to a differently scoped agent total. FS14</a:t>
            </a:r>
          </a:p>
          <a:p/>
          <a:p>
            <a:r>
              <a:t>FS01 https://docs.aws.amazon.com/finops-agent/latest/userguide/what-is.html</a:t>
            </a:r>
          </a:p>
          <a:p/>
          <a:p>
            <a:r>
              <a:t>FS03 https://docs.aws.amazon.com/finops-agent/latest/userguide/setting-up.html</a:t>
            </a:r>
          </a:p>
          <a:p/>
          <a:p>
            <a:r>
              <a:t>FS06 https://docs.aws.amazon.com/finops-agent/latest/userguide/agent-guardrail-control.html</a:t>
            </a:r>
          </a:p>
          <a:p/>
          <a:p>
            <a:r>
              <a:t>FS14 https://docs.aws.amazon.com/aws-cost-management/latest/APIReference/API_GetCostAndUsage.html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Files are reviewed reference inputs</a:t>
            </a:r>
          </a:p>
          <a:p/>
          <a:p>
            <a:r>
              <a:t>Budget 2 minutes; cumulative 07:00–09:00.</a:t>
            </a:r>
          </a:p>
          <a:p/>
          <a:p>
            <a:r>
              <a:t>Everyone with access to the agent can see its context files.</a:t>
            </a:r>
          </a:p>
          <a:p/>
          <a:p>
            <a:r>
              <a:t>Use the display as the speaking outline. The following canonical guide text is reference, not a mandatory verbatim script.</a:t>
            </a:r>
          </a:p>
          <a:p/>
          <a:p>
            <a:r>
              <a:t>F-M02 — Uploaded reference files are operator-maintained context</a:t>
            </a:r>
          </a:p>
          <a:p/>
          <a:p>
            <a:r>
              <a:t>F-M02 — Uploaded reference files are operator-maintained context The Context files workspace accepts text, CSV, JSON, Markdown, HTML and YAML. The documented file limit is 10 MB; total context storage is 100 MB per agent by default. The agent can read these files but cannot modify or delete them through conversation. Users who can access the agent can see its context files. FS04 FS10 Procedure: prepare a minimal, non-sensitive authoritative mapping, upload it through Context files, inspect its active state, and ask a question whose answer depends on one known entry. Delete/restore through the workspace when changing availability. Deletion is reversible soft deletion, not proof of physical erasure. FS04 Original example: schema: team-routing-v1</a:t>
            </a:r>
          </a:p>
          <a:p>
            <a:r>
              <a:t>updated: 2026-10-22</a:t>
            </a:r>
          </a:p>
          <a:p>
            <a:r>
              <a:t>accounts:</a:t>
            </a:r>
          </a:p>
          <a:p>
            <a:r>
              <a:t>  staging-account-alias:</a:t>
            </a:r>
          </a:p>
          <a:p>
            <a:r>
              <a:t>    owner: platform-team</a:t>
            </a:r>
          </a:p>
          <a:p>
            <a:r>
              <a:t>    cost_basis: UnblendedCost</a:t>
            </a:r>
          </a:p>
          <a:p>
            <a:r>
              <a:t>    publication: internal-test-channel-only Use the identifiers actually available in your authorized queries; this alias is illustrative. Keep the source file under review in Git and upload a reviewed revision. A stale ownership mapping can produce the wrong destination even when the cost arithmetic is correct. A file statement about publication is prompt context, not a replacement for destination access controls.</a:t>
            </a:r>
          </a:p>
          <a:p/>
          <a:p>
            <a:r>
              <a:t>FS04 https://docs.aws.amazon.com/finops-agent/latest/userguide/context-files-and-memory.html</a:t>
            </a:r>
          </a:p>
          <a:p/>
          <a:p>
            <a:r>
              <a:t>FS10 https://docs.aws.amazon.com/finops-agent/latest/userguide/quotas.html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Memory and file retrieval need different tests</a:t>
            </a:r>
          </a:p>
          <a:p/>
          <a:p>
            <a:r>
              <a:t>Budget 2 minutes; cumulative 09:00–11:00.</a:t>
            </a:r>
          </a:p>
          <a:p/>
          <a:p>
            <a:r>
              <a:t>Updating memory does not establish that a reference file changed.</a:t>
            </a:r>
          </a:p>
          <a:p/>
          <a:p>
            <a:r>
              <a:t>Use the display as the speaking outline. The following canonical guide text is reference, not a mandatory verbatim script.</a:t>
            </a:r>
          </a:p>
          <a:p/>
          <a:p>
            <a:r>
              <a:t>F-M03 — Conversational memory survives sessions; it is not a file update</a:t>
            </a:r>
          </a:p>
          <a:p/>
          <a:p>
            <a:r>
              <a:t>F-M03 — Conversational memory survives sessions; it is not a file update Memory retains preferences, organizational context, corrections and prior task outcomes for subsequent work. Use explicit remember, update and forget requests to manage it. These requests do not imply that a matching uploaded file or earlier conversation has also changed. Persistent context is instance-local and loaded into a session-isolated runtime. FS04 FS08 Proposed verification: remember a harmless preference such as displaying a cost-comparison table before commentary. Open a new conversation and check its application; correct or forget the preference and repeat. Independently test uploaded-file retrieval with a different fact. Record whether the preference was applied, not an unsupported claim about hidden model state. For conflicting context, identify the authoritative source and update the relevant objects deliberately. Do not claim a documented automatic precedence rule between files and memory where the public guide does not specify one.</a:t>
            </a:r>
          </a:p>
          <a:p/>
          <a:p>
            <a:r>
              <a:t>FS04 https://docs.aws.amazon.com/finops-agent/latest/userguide/context-files-and-memory.html</a:t>
            </a:r>
          </a:p>
          <a:p/>
          <a:p>
            <a:r>
              <a:t>FS08 https://docs.aws.amazon.com/finops-agent/latest/userguide/data-protection.html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Compaction summarizes a conversation, not all persistent state</a:t>
            </a:r>
          </a:p>
          <a:p/>
          <a:p>
            <a:r>
              <a:t>Budget 1 minutes; cumulative 11:00–12:00.</a:t>
            </a:r>
          </a:p>
          <a:p/>
          <a:p>
            <a:r>
              <a:t>Do not infer verbatim retention or a documented hidden precedence algorithm.</a:t>
            </a:r>
          </a:p>
          <a:p/>
          <a:p>
            <a:r>
              <a:t>Use the display as the speaking outline. The following canonical guide text is reference, not a mandatory verbatim script.</a:t>
            </a:r>
          </a:p>
          <a:p/>
          <a:p>
            <a:r>
              <a:t>F-M04 — Conversation compaction manages a bounded context</a:t>
            </a:r>
          </a:p>
          <a:p/>
          <a:p>
            <a:r>
              <a:t>F-M04 — Conversation compaction manages a bounded context As a conversation approaches its context limit, older messages are summarized while recent messages remain in full. This is within-conversation context management, distinct from persistent memory and uploaded files. The documentation does not promise verbatim retention or expose a general customer setting for the summarization algorithm. FS04 Engineering procedure: put critical constraints in a concise current task specification and reference the authoritative file or source record. When resuming a long conversation, ask the agent to restate the comparison basis and unresolved questions, then correct any discrepancy before requesting another calculation. This tests retained context; it does not prove that every earlier message remains available.</a:t>
            </a:r>
          </a:p>
          <a:p/>
          <a:p>
            <a:r>
              <a:t>FS04 https://docs.aws.amazon.com/finops-agent/latest/userguide/context-files-and-memory.html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A task runs; an automation creates future tasks</a:t>
            </a:r>
          </a:p>
          <a:p/>
          <a:p>
            <a:r>
              <a:t>Budget 2 minutes; cumulative 12:00–14:00.</a:t>
            </a:r>
          </a:p>
          <a:p/>
          <a:p>
            <a:r>
              <a:t>Removing an automation does not delete existing tasks or messages.</a:t>
            </a:r>
          </a:p>
          <a:p/>
          <a:p>
            <a:r>
              <a:t>Use the display as the speaking outline. The following canonical guide text is reference, not a mandatory verbatim script.</a:t>
            </a:r>
          </a:p>
          <a:p/>
          <a:p>
            <a:r>
              <a:t>F-03 — On-demand tasks, schedules and observation</a:t>
            </a:r>
          </a:p>
          <a:p/>
          <a:p>
            <a:r>
              <a:t>F-03 — On-demand tasks, schedules and observation A task is an execution record. An automation is a rule for creating future tasks. On-demand, scheduled and event-triggered work shares the queue. Asking a conversational question is not necessarily a request to create a durable task; task creation should be explicit. FS05 On-demand procedure: use the Tasks workspace or explicitly request a task, give its input scope and desired output, and inspect the resulting task. Check pending/running/completed or failure information and resulting artifacts. Do not treat a conversational acknowledgement as evidence that execution has finished. FS05 Scheduled procedure: define the required schedule and reporting window separately. Inspect the saved automation's trigger and next applicable execution information. For a daily report, a schedule time does not define whether the report covers the previous calendar day, rolling 24 hours or incomplete current day; specify the window. Removing the automation prevents future tasks but does not remove previously created tasks or published messages. FS05 FS08</a:t>
            </a:r>
          </a:p>
          <a:p/>
          <a:p>
            <a:r>
              <a:t>FS05 https://docs.aws.amazon.com/finops-agent/latest/userguide/task-management.html</a:t>
            </a:r>
          </a:p>
          <a:p/>
          <a:p>
            <a:r>
              <a:t>FS08 https://docs.aws.amazon.com/finops-agent/latest/userguide/data-protection.html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Trace an anomaly through the complete event path</a:t>
            </a:r>
          </a:p>
          <a:p/>
          <a:p>
            <a:r>
              <a:t>Budget 2 minutes; cumulative 14:00–16:00.</a:t>
            </a:r>
          </a:p>
          <a:p/>
          <a:p>
            <a:r>
              <a:t>No task and no delivered message are different failures.</a:t>
            </a:r>
          </a:p>
          <a:p/>
          <a:p>
            <a:r>
              <a:t>Use the display as the speaking outline. The following canonical guide text is reference, not a mandatory verbatim script.</a:t>
            </a:r>
          </a:p>
          <a:p/>
          <a:p>
            <a:r>
              <a:t>F-M05 — Anomaly events become queued work through a managed rule</a:t>
            </a:r>
          </a:p>
          <a:p/>
          <a:p>
            <a:r>
              <a:t>F-M05 — Anomaly events become queued work through a managed rule The documented event path is Cost Anomaly Detection → managed EventBridge rule → matching automation → task queue → analysis/result. During the reviewed preview, the event type is COST_ANOMALY ; this does not establish an arbitrary customer-event orchestration platform. FS05 FS07 Enablement procedure: Configure a relevant Cost Anomaly Detection monitor and ensure the agent role can manage the service's EventBridge rules. Connect any intended reporting destination using F-05. Set the destination before enabling automatic publication. Request an automation naming the monitor/conditions and the intended investigation and output. Treat threshold values in example prompts as proposed configuration, not service defaults. Open Automations and inspect the stored trigger type, status and last-triggered information. Inspect the created task separately after a matching event. For a test, trace event identity, automation, task, result and external message. Then disable or remove the automation and verify that new matching work stops; existing tasks need separate handling. AWS's IAM examples constrain rule management using service ownership and account conditions. Do not replace those conditions with broad EventBridge administration merely because task creation failed. FS03 FS07 Failure branch: a registered automation with no task can mean there was no matching event, the monitor/condition is wrong, or rule permissions failed. A completed task with no message is a different destination/publication problem. Preserve these distinctions during diagnosis.</a:t>
            </a:r>
          </a:p>
          <a:p/>
          <a:p>
            <a:r>
              <a:t>FS03 https://docs.aws.amazon.com/finops-agent/latest/userguide/setting-up.html</a:t>
            </a:r>
          </a:p>
          <a:p/>
          <a:p>
            <a:r>
              <a:t>FS05 https://docs.aws.amazon.com/finops-agent/latest/userguide/task-management.html</a:t>
            </a:r>
          </a:p>
          <a:p/>
          <a:p>
            <a:r>
              <a:t>FS07 https://docs.aws.amazon.com/finops-agent/latest/userguide/automated-anomaly-response.html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Integration registration precedes destination binding</a:t>
            </a:r>
          </a:p>
          <a:p/>
          <a:p>
            <a:r>
              <a:t>Budget 2 minutes; cumulative 16:00–18:00.</a:t>
            </a:r>
          </a:p>
          <a:p/>
          <a:p>
            <a:r>
              <a:t>Inspect connection state and the actual destination.</a:t>
            </a:r>
          </a:p>
          <a:p/>
          <a:p>
            <a:r>
              <a:t>Use the display as the speaking outline. The following canonical guide text is reference, not a mandatory verbatim script.</a:t>
            </a:r>
          </a:p>
          <a:p/>
          <a:p>
            <a:r>
              <a:t>F-05 — Integration registration and destination connections</a:t>
            </a:r>
          </a:p>
          <a:p/>
          <a:p>
            <a:r>
              <a:t>F-05 — Integration registration and destination connections Layer Jira Slack Account registration Supported Jira Cloud authorization flow Workspace authorization Agent connection Selected Jira space/project key Channel ID; application already added to that channel Supported effects Create issues; supported reads/comments One-way posting and supported artifact sharing Do not assume On-premises support or arbitrary issue/workflow editing Reading channel conversations, responding to mentions, editing/deleting posts Register the integration, complete authorization, then add the agent-specific connection and confirm its status. Inspect Pending/Active/Error/Inactive states rather than relying on the connection's name. An invalid Jira destination in unattended execution can fail instead of producing a clarifying conversation. A Slack membership error requires adding the app to the intended channel, not granting unrelated AWS permissions. FS12 FS13 Engineering procedure: use designated test destinations, post a non-sensitive test result and record its actual location. Confirm that only the intended users can see it. API retries described in the integration guide address transient failures; they do not turn a permission or invalid-destination error into a successful publication.</a:t>
            </a:r>
          </a:p>
          <a:p/>
          <a:p>
            <a:r>
              <a:t>FS12 https://docs.aws.amazon.com/finops-agent/latest/userguide/jira-integration.html</a:t>
            </a:r>
          </a:p>
          <a:p/>
          <a:p>
            <a:r>
              <a:t>FS13 https://docs.aws.amazon.com/finops-agent/latest/userguide/slack-integration.html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Approval rules depend on effect and invocation</a:t>
            </a:r>
          </a:p>
          <a:p/>
          <a:p>
            <a:r>
              <a:t>Budget 2 minutes; cumulative 18:00–20:00.</a:t>
            </a:r>
          </a:p>
          <a:p/>
          <a:p>
            <a:r>
              <a:t>Schedule setup can authorize publication; review content and audience at that point.</a:t>
            </a:r>
          </a:p>
          <a:p/>
          <a:p>
            <a:r>
              <a:t>Use the display as the speaking outline. The following canonical guide text is reference, not a mandatory verbatim script.</a:t>
            </a:r>
          </a:p>
          <a:p/>
          <a:p>
            <a:r>
              <a:t>F-M06 — Approval depends on the action and invocation path</a:t>
            </a:r>
          </a:p>
          <a:p/>
          <a:p>
            <a:r>
              <a:t>F-M06 — Approval depends on the action and invocation path Effect Chat / on-demand task Scheduled / event task Jira issue or comment Approval requested Pre-authorized through automation setup Slack post No approval prompt No approval prompt These are documented differences, not one universal human-approval rule. Automation setup is therefore an authorization decision as well as a scheduling decision. Connected destinations and supplied context must be appropriate for unattended publication. FS06 FS05 Proposed verification: in test destinations, record the requested action, invocation type, observed prompt or lack of prompt, and the resulting artifact. A successful Slack post does not demonstrate Jira approval behavior. Removing a future schedule does not retract a previously published message.</a:t>
            </a:r>
          </a:p>
          <a:p/>
          <a:p>
            <a:r>
              <a:t>FS05 https://docs.aws.amazon.com/finops-agent/latest/userguide/task-management.html</a:t>
            </a:r>
          </a:p>
          <a:p/>
          <a:p>
            <a:r>
              <a:t>FS06 https://docs.aws.amazon.com/finops-agent/latest/userguide/agent-guardrail-control.html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Stop and delete mean different things for different objects</a:t>
            </a:r>
          </a:p>
          <a:p/>
          <a:p>
            <a:r>
              <a:t>Budget 2 minutes; cumulative 20:00–22:00.</a:t>
            </a:r>
          </a:p>
          <a:p/>
          <a:p>
            <a:r>
              <a:t>Whole-agent deletion is not an ordinary lifecycle demonstration.</a:t>
            </a:r>
          </a:p>
          <a:p/>
          <a:p>
            <a:r>
              <a:t>Use the display as the speaking outline. The following canonical guide text is reference, not a mandatory verbatim script.</a:t>
            </a:r>
          </a:p>
          <a:p/>
          <a:p>
            <a:r>
              <a:t>F-M07 — Data lifecycle follows the object, not a single delete command</a:t>
            </a:r>
          </a:p>
          <a:p/>
          <a:p>
            <a:r>
              <a:t>F-M07 — Data lifecycle follows the object, not a single delete command Persistent agent data and the ephemeral session runtime are separate. The preview uses AWS-managed encrypted storage. Agent instances do not share retained files or memory. FS08 Object Supported control and consequence Context file Soft delete; restore later through workspace Memory Ask to update or forget the specific information Conversation Individual deletion not supported in reviewed preview; retained until agent deletion Task Cancel execution where supported; record remains until agent deletion Automation Disable/delete future task creation; existing tasks remain separate Artifact Delete through its supported workspace; external copies are separate Whole agent Delete instance and associated retained service data; disconnect third-party integrations first Use the operation matching the intended outcome. In particular, cancel, forget, soft delete, disable and delete are not synonyms. Whole-agent deletion is unsuitable as an ordinary demonstration when meaningful data exists. FS08 FS02 For data-location decisions, document both persistent storage ( us-east-1 in the reviewed preview) and cross-Region US inference. Do not describe the chosen console Region as the complete processing boundary. FS09</a:t>
            </a:r>
          </a:p>
          <a:p/>
          <a:p>
            <a:r>
              <a:t>FS02 https://docs.aws.amazon.com/finops-agent/latest/userguide/creating-an-agent.html</a:t>
            </a:r>
          </a:p>
          <a:p/>
          <a:p>
            <a:r>
              <a:t>FS08 https://docs.aws.amazon.com/finops-agent/latest/userguide/data-protection.html</a:t>
            </a:r>
          </a:p>
          <a:p/>
          <a:p>
            <a:r>
              <a:t>FS09 https://docs.aws.amazon.com/finops-agent/latest/userguide/cross-region-inference.html</a:t>
            </a:r>
          </a:p>
          <a:p/>
          <a:p>
            <a:r>
              <a:t>F-04 — Report artifacts and revision</a:t>
            </a:r>
          </a:p>
          <a:p/>
          <a:p>
            <a:r>
              <a:t>F-04 — Report artifacts and revision The service supports report artifacts including HTML, PDF and editable PowerPoint. A request can specify the audience, comparison basis, grouping and output format, and subsequent requests can revise the artifact. Source retrieval, calculations and artifact generation are different stages; formatted output is not independent proof that the totals are correct. FS11 Procedure: ask for one defined report, inspect the source breakdown and period, open/download the artifact, and verify at least one material total using the same source query. Request a revision that names the desired change rather than silently changing the comparison basis. When publishing, check that the file corresponds to the reviewed task and audience. FS11 FS06 The artifact store has a separate default quota from context-file storage. Deleting an artifact does not necessarily delete external copies previously posted to a collaboration system. FS10 FS08</a:t>
            </a:r>
          </a:p>
          <a:p/>
          <a:p>
            <a:r>
              <a:t>FS06 https://docs.aws.amazon.com/finops-agent/latest/userguide/agent-guardrail-control.html</a:t>
            </a:r>
          </a:p>
          <a:p/>
          <a:p>
            <a:r>
              <a:t>FS08 https://docs.aws.amazon.com/finops-agent/latest/userguide/data-protection.html</a:t>
            </a:r>
          </a:p>
          <a:p/>
          <a:p>
            <a:r>
              <a:t>FS10 https://docs.aws.amazon.com/finops-agent/latest/userguide/quotas.html</a:t>
            </a:r>
          </a:p>
          <a:p/>
          <a:p>
            <a:r>
              <a:t>FS11 https://docs.aws.amazon.com/finops-agent/latest/userguide/custom-cost-reporting.html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Exercise: reconcile the 41% increase before explaining it</a:t>
            </a:r>
          </a:p>
          <a:p/>
          <a:p>
            <a:r>
              <a:t>Budget 8 minutes; cumulative 22:00–30:00.</a:t>
            </a:r>
          </a:p>
          <a:p/>
          <a:p>
            <a:r>
              <a:t>Synthetic quantities and rates—not AWS prices or a measured saving.</a:t>
            </a:r>
          </a:p>
          <a:p/>
          <a:p>
            <a:r>
              <a:t>Prepared-result exercise; no live result claimed.</a:t>
            </a:r>
          </a:p>
          <a:p/>
          <a:p>
            <a:r>
              <a:t>F-U01 — Worked example: decompose a cost increase</a:t>
            </a:r>
          </a:p>
          <a:p/>
          <a:p>
            <a:r>
              <a:t>F-U01 — Worked example: decompose a cost increase Synthetic fixture; USD; two complete 14-day windows; identical account, service and cost basis. Rates and quantities are teaching values, not AWS prices. This fixture now includes quantities and rates, so it can support arithmetic attribution rather than just two totals. Component Baseline quantity Comparison quantity Unit rate Baseline cost Comparison cost Storage quantity 10,000 12,000 0.10 1,000 1,200 Request quantity 2,000,000 3,000,000 0.0001 200 300 Transfer quantity 2,000 4,740 0.10 200 474 Total — — — 1,400 1,974 The delta is 574, or 41%. Component contributions are 200 storage, 100 requests and 274 transfer. The transfer component explains about 47.7% of the monetary delta, not 47.7% of all spending. Rates are unchanged in this fixture. These calculations can be reproduced without an agent. Prepared operational evidence: a deployment at 10:02 UTC enabled a second export destination; a job log after that deployment records 2,740 additional transfer units. This is invented corroborating evidence. It supports the transfer-volume explanation in this fixture but cannot explain the additional storage and request quantities without more evidence. Walkthrough: fix the query contract, reconcile all line items, compute each delta, inspect the prepared change/job evidence, and report a partial explanation. The expected answer identifies transfer as the largest contributor, marks the export change as supported by the supplied log, and leaves storage/request causes unresolved. Do not add potential recommendation savings to the historical delta. Failure branches: a different cost metric or date window invalidates the comparison; missing job evidence leaves only a temporal association; lack of recommendation-service data prevents evaluating a candidate saving. A proposed lifecycle or capacity change requires a separate engineering decision and measurement plan. The repository's deterministic fixture test verifies the arithmetic. It is not a test of the AWS service, recommendation quality or causal inference.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Validate each layer rather than one fluent answer</a:t>
            </a:r>
          </a:p>
          <a:p/>
          <a:p>
            <a:r>
              <a:t>Budget 2 minutes; cumulative 30:00–32:00.</a:t>
            </a:r>
          </a:p>
          <a:p/>
          <a:p>
            <a:r>
              <a:t>Complete current policies and quotas remain the authoritative linked reference.</a:t>
            </a:r>
          </a:p>
          <a:p/>
          <a:p>
            <a:r>
              <a:t>Use the display as the speaking outline. The following canonical guide text is reference, not a mandatory verbatim script.</a:t>
            </a:r>
          </a:p>
          <a:p/>
          <a:p>
            <a:r>
              <a:t>F-06 — Limits and troubleshooting decisions</a:t>
            </a:r>
          </a:p>
          <a:p/>
          <a:p>
            <a:r>
              <a:t>F-06 — Limits and troubleshooting decisions Selected documented defaults are one agent per account/Region, 100 MB artifact storage, 10 MB per context upload and 100 MB total context storage. The per-file limit is fixed; relevant account/storage quotas may be adjustable. The reviewed integration limits include one account-level registration of each supported collaboration type and two connections of each type per agent. Check actual quotas before designing multiple destinations or isolated instances. FS10 Symptom Inspect Result to establish User cannot open agent User policy and operator role, not only setup permissions Intended user can enter and perform the supported operation Total differs from console Dates, exclusive end, metric, filters, currency, grouping Same query reproduces the amount No change evidence Agent role and CloudTrail availability Determine source absence before proposing a cause Uploaded mapping ignored File active state, identifiers and task scope Known mapping can be retrieved separately from memory Task never starts Automation match and shared queue Distinguish no task creation from queued execution Jira action not visible Destination binding, approval path and task result Correct project and resulting issue/comment Slack post denied App membership, channel ID and connection state App is in the configured channel and connection active File cannot upload Type, per-file size and total quota Input is supported and storage available Deleted automation still has records Object lifecycle No new tasks; old task records expected The table is engineering troubleshooting guidance based on the cited configuration and integration pages. It is not a claim of a native unified diagnostic workflow.</a:t>
            </a:r>
          </a:p>
          <a:p/>
          <a:p>
            <a:r>
              <a:t>FS10 https://docs.aws.amazon.com/finops-agent/latest/userguide/quotas.html</a:t>
            </a:r>
          </a:p>
          <a:p/>
          <a:p>
            <a:r>
              <a:t>F-07 — Coverage and source-review record</a:t>
            </a:r>
          </a:p>
          <a:p/>
          <a:p>
            <a:r>
              <a:t>F-07 — Coverage and source-review record Official topic Treatment Boundary Setup, roles, instance creation Role/policy map and ordered setup Exact account-specific IAM statements remain official examples Cost and recommendation sources Provenance, read-only query and reconciliation No complete enumeration of every supported cost dimension Files, memory, compaction Separate mechanisms and lifecycle No invented internal precedence or summary algorithm Tasks and events Configuration, rule/queue sequence and failure split Preview event types only as documented Reporting and integrations Artifacts, destination binding and effect-specific approval No live external publication performed Data protection and quotas Object matrix, location distinction, selected constraints Complete current quota and policy tables linked Official sources and reviewed sections FS01 Product functions and recommendation provenance. FS02 Five creation steps, roles, team access, verification and deletion prerequisites. FS03 Four policy responsibilities, trust, source actions and managed EventBridge permissions. FS04 File formats/limits, upload/soft deletion, memory and compaction. FS05 Task queue, manual/scheduled/event work and execution observation. FS06 Supported effects, approval rules and analytical boundaries. FS07 Cost Anomaly Detection, rule/automation setup and destination checks. FS08 Persistent/runtime isolation and object-specific lifecycle. FS09 Preview storage and US cross-Region inference. FS10 Default quotas and adjustability. FS11 Report formats, artifacts and revision. FS12 Jira registration/connections, operations, states and failures. FS13 Slack registration/connections, one-way behavior and membership failures. FS14 Cost Explorer GetCostAndUsage request semantics; read-only example.</a:t>
            </a:r>
          </a:p>
          <a:p/>
          <a:p>
            <a:r>
              <a:t>FS01 https://docs.aws.amazon.com/finops-agent/latest/userguide/what-is.html</a:t>
            </a:r>
          </a:p>
          <a:p/>
          <a:p>
            <a:r>
              <a:t>FS02 https://docs.aws.amazon.com/finops-agent/latest/userguide/creating-an-agent.html</a:t>
            </a:r>
          </a:p>
          <a:p/>
          <a:p>
            <a:r>
              <a:t>FS03 https://docs.aws.amazon.com/finops-agent/latest/userguide/setting-up.html</a:t>
            </a:r>
          </a:p>
          <a:p/>
          <a:p>
            <a:r>
              <a:t>FS04 https://docs.aws.amazon.com/finops-agent/latest/userguide/context-files-and-memory.html</a:t>
            </a:r>
          </a:p>
          <a:p/>
          <a:p>
            <a:r>
              <a:t>FS05 https://docs.aws.amazon.com/finops-agent/latest/userguide/task-management.html</a:t>
            </a:r>
          </a:p>
          <a:p/>
          <a:p>
            <a:r>
              <a:t>FS06 https://docs.aws.amazon.com/finops-agent/latest/userguide/agent-guardrail-control.html</a:t>
            </a:r>
          </a:p>
          <a:p/>
          <a:p>
            <a:r>
              <a:t>FS07 https://docs.aws.amazon.com/finops-agent/latest/userguide/automated-anomaly-response.html</a:t>
            </a:r>
          </a:p>
          <a:p/>
          <a:p>
            <a:r>
              <a:t>FS08 https://docs.aws.amazon.com/finops-agent/latest/userguide/data-protection.html</a:t>
            </a:r>
          </a:p>
          <a:p/>
          <a:p>
            <a:r>
              <a:t>FS09 https://docs.aws.amazon.com/finops-agent/latest/userguide/cross-region-inference.html</a:t>
            </a:r>
          </a:p>
          <a:p/>
          <a:p>
            <a:r>
              <a:t>FS10 https://docs.aws.amazon.com/finops-agent/latest/userguide/quotas.html</a:t>
            </a:r>
          </a:p>
          <a:p/>
          <a:p>
            <a:r>
              <a:t>FS11 https://docs.aws.amazon.com/finops-agent/latest/userguide/custom-cost-reporting.html</a:t>
            </a:r>
          </a:p>
          <a:p/>
          <a:p>
            <a:r>
              <a:t>FS12 https://docs.aws.amazon.com/finops-agent/latest/userguide/jira-integration.html</a:t>
            </a:r>
          </a:p>
          <a:p/>
          <a:p>
            <a:r>
              <a:t>FS13 https://docs.aws.amazon.com/finops-agent/latest/userguide/slack-integration.html</a:t>
            </a:r>
          </a:p>
          <a:p/>
          <a:p>
            <a:r>
              <a:t>FS14 https://docs.aws.amazon.com/aws-cost-management/latest/APIReference/API_GetCostAndUsage.html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appendix, outside the timed programme.</a:t>
            </a:r>
          </a:p>
          <a:p/>
          <a:p>
            <a:r>
              <a:t>FS01 https://docs.aws.amazon.com/finops-agent/latest/userguide/what-is.html</a:t>
            </a:r>
          </a:p>
          <a:p>
            <a:r>
              <a:t>FS02 https://docs.aws.amazon.com/finops-agent/latest/userguide/creating-an-agent.html</a:t>
            </a:r>
          </a:p>
          <a:p>
            <a:r>
              <a:t>FS03 https://docs.aws.amazon.com/finops-agent/latest/userguide/setting-up.html</a:t>
            </a:r>
          </a:p>
          <a:p>
            <a:r>
              <a:t>FS04 https://docs.aws.amazon.com/finops-agent/latest/userguide/context-files-and-memory.html</a:t>
            </a:r>
          </a:p>
          <a:p>
            <a:r>
              <a:t>FS05 https://docs.aws.amazon.com/finops-agent/latest/userguide/task-management.html</a:t>
            </a:r>
          </a:p>
          <a:p>
            <a:r>
              <a:t>FS06 https://docs.aws.amazon.com/finops-agent/latest/userguide/agent-guardrail-control.html</a:t>
            </a:r>
          </a:p>
          <a:p>
            <a:r>
              <a:t>FS07 https://docs.aws.amazon.com/finops-agent/latest/userguide/automated-anomaly-response.html</a:t>
            </a:r>
          </a:p>
          <a:p>
            <a:r>
              <a:t>FS08 https://docs.aws.amazon.com/finops-agent/latest/userguide/data-protection.html</a:t>
            </a:r>
          </a:p>
          <a:p>
            <a:r>
              <a:t>FS09 https://docs.aws.amazon.com/finops-agent/latest/userguide/cross-region-inference.html</a:t>
            </a:r>
          </a:p>
          <a:p>
            <a:r>
              <a:t>FS10 https://docs.aws.amazon.com/finops-agent/latest/userguide/quotas.html</a:t>
            </a:r>
          </a:p>
          <a:p>
            <a:r>
              <a:t>FS11 https://docs.aws.amazon.com/finops-agent/latest/userguide/custom-cost-reporting.html</a:t>
            </a:r>
          </a:p>
          <a:p>
            <a:r>
              <a:t>FS12 https://docs.aws.amazon.com/finops-agent/latest/userguide/jira-integration.html</a:t>
            </a:r>
          </a:p>
          <a:p>
            <a:r>
              <a:t>FS13 https://docs.aws.amazon.com/finops-agent/latest/userguide/slack-integration.html</a:t>
            </a:r>
          </a:p>
          <a:p>
            <a:r>
              <a:t>FS14 https://docs.aws.amazon.com/aws-cost-management/latest/APIReference/API_GetCostAndUsage.html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Instance configuration and task execution are separate</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Access</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Agent data role and operator entry</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Context</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Uploaded files, memory and conversation</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Work</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Automation or request creates a queued task</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Output</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Answer, artifact or configured external action</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Preview service; storage and inference geography must be reviewed separately.</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F-01</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01 / 13     00:00–02:00  |  2 min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Four permission responsibilities are not one role</a:t>
            </a:r>
          </a:p>
        </p:txBody>
      </p:sp>
      <p:sp>
        <p:nvSpPr>
          <p:cNvPr id="5" name="Rectangle 4"/>
          <p:cNvSpPr/>
          <p:nvPr/>
        </p:nvSpPr>
        <p:spPr>
          <a:xfrm>
            <a:off x="502920" y="1755648"/>
            <a:ext cx="2743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487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Responsibility</a:t>
            </a:r>
          </a:p>
        </p:txBody>
      </p:sp>
      <p:sp>
        <p:nvSpPr>
          <p:cNvPr id="7" name="Rectangle 6"/>
          <p:cNvSpPr/>
          <p:nvPr/>
        </p:nvSpPr>
        <p:spPr>
          <a:xfrm>
            <a:off x="3246120" y="1755648"/>
            <a:ext cx="8458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4136" y="1865376"/>
            <a:ext cx="8202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Purpose</a:t>
            </a:r>
          </a:p>
        </p:txBody>
      </p:sp>
      <p:sp>
        <p:nvSpPr>
          <p:cNvPr id="9" name="Rectangle 8"/>
          <p:cNvSpPr/>
          <p:nvPr/>
        </p:nvSpPr>
        <p:spPr>
          <a:xfrm>
            <a:off x="502920" y="2514600"/>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624328"/>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Administrator</a:t>
            </a:r>
          </a:p>
        </p:txBody>
      </p:sp>
      <p:sp>
        <p:nvSpPr>
          <p:cNvPr id="11" name="Rectangle 10"/>
          <p:cNvSpPr/>
          <p:nvPr/>
        </p:nvSpPr>
        <p:spPr>
          <a:xfrm>
            <a:off x="3246120" y="2514600"/>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4136" y="2624328"/>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Create/configure service resources and permitted roles</a:t>
            </a:r>
          </a:p>
        </p:txBody>
      </p:sp>
      <p:sp>
        <p:nvSpPr>
          <p:cNvPr id="13" name="Rectangle 12"/>
          <p:cNvSpPr/>
          <p:nvPr/>
        </p:nvSpPr>
        <p:spPr>
          <a:xfrm>
            <a:off x="502920" y="3273552"/>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3383280"/>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Agent data role</a:t>
            </a:r>
          </a:p>
        </p:txBody>
      </p:sp>
      <p:sp>
        <p:nvSpPr>
          <p:cNvPr id="15" name="Rectangle 14"/>
          <p:cNvSpPr/>
          <p:nvPr/>
        </p:nvSpPr>
        <p:spPr>
          <a:xfrm>
            <a:off x="3246120" y="3273552"/>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3383280"/>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Call authorized data services and manage required rules</a:t>
            </a:r>
          </a:p>
        </p:txBody>
      </p:sp>
      <p:sp>
        <p:nvSpPr>
          <p:cNvPr id="17" name="Rectangle 16"/>
          <p:cNvSpPr/>
          <p:nvPr/>
        </p:nvSpPr>
        <p:spPr>
          <a:xfrm>
            <a:off x="502920" y="4032504"/>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4142232"/>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Operator role</a:t>
            </a:r>
          </a:p>
        </p:txBody>
      </p:sp>
      <p:sp>
        <p:nvSpPr>
          <p:cNvPr id="19" name="Rectangle 18"/>
          <p:cNvSpPr/>
          <p:nvPr/>
        </p:nvSpPr>
        <p:spPr>
          <a:xfrm>
            <a:off x="3246120" y="4032504"/>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4136" y="4142232"/>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Supported web-app operations</a:t>
            </a:r>
          </a:p>
        </p:txBody>
      </p:sp>
      <p:sp>
        <p:nvSpPr>
          <p:cNvPr id="21" name="Rectangle 20"/>
          <p:cNvSpPr/>
          <p:nvPr/>
        </p:nvSpPr>
        <p:spPr>
          <a:xfrm>
            <a:off x="502920" y="4791456"/>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901184"/>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User permission</a:t>
            </a:r>
          </a:p>
        </p:txBody>
      </p:sp>
      <p:sp>
        <p:nvSpPr>
          <p:cNvPr id="23" name="Rectangle 22"/>
          <p:cNvSpPr/>
          <p:nvPr/>
        </p:nvSpPr>
        <p:spPr>
          <a:xfrm>
            <a:off x="3246120" y="4791456"/>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74136" y="4901184"/>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Enter the configured agent as the intended person</a:t>
            </a:r>
          </a:p>
        </p:txBody>
      </p:sp>
      <p:sp>
        <p:nvSpPr>
          <p:cNvPr id="25" name="Rectangle 2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Test data access and team access independently.</a:t>
            </a:r>
          </a:p>
        </p:txBody>
      </p:sp>
      <p:sp>
        <p:nvSpPr>
          <p:cNvPr id="27" name="TextBox 2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F-02</a:t>
            </a:r>
          </a:p>
        </p:txBody>
      </p:sp>
      <p:sp>
        <p:nvSpPr>
          <p:cNvPr id="28" name="TextBox 2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02 / 13     02:00–05:00  |  3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Numerical contribution and cause are different conclusions</a:t>
            </a:r>
          </a:p>
        </p:txBody>
      </p:sp>
      <p:sp>
        <p:nvSpPr>
          <p:cNvPr id="5" name="Rectangle 4"/>
          <p:cNvSpPr/>
          <p:nvPr/>
        </p:nvSpPr>
        <p:spPr>
          <a:xfrm>
            <a:off x="502920" y="1755648"/>
            <a:ext cx="2743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487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Source</a:t>
            </a:r>
          </a:p>
        </p:txBody>
      </p:sp>
      <p:sp>
        <p:nvSpPr>
          <p:cNvPr id="7" name="Rectangle 6"/>
          <p:cNvSpPr/>
          <p:nvPr/>
        </p:nvSpPr>
        <p:spPr>
          <a:xfrm>
            <a:off x="3246120" y="1755648"/>
            <a:ext cx="845820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74136" y="1865376"/>
            <a:ext cx="820216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What it can support</a:t>
            </a:r>
          </a:p>
        </p:txBody>
      </p:sp>
      <p:sp>
        <p:nvSpPr>
          <p:cNvPr id="9" name="Rectangle 8"/>
          <p:cNvSpPr/>
          <p:nvPr/>
        </p:nvSpPr>
        <p:spPr>
          <a:xfrm>
            <a:off x="502920" y="2514600"/>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 y="2624328"/>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Cost query</a:t>
            </a:r>
          </a:p>
        </p:txBody>
      </p:sp>
      <p:sp>
        <p:nvSpPr>
          <p:cNvPr id="11" name="Rectangle 10"/>
          <p:cNvSpPr/>
          <p:nvPr/>
        </p:nvSpPr>
        <p:spPr>
          <a:xfrm>
            <a:off x="3246120" y="2514600"/>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74136" y="2624328"/>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Amount for fixed dates, metric and dimensions</a:t>
            </a:r>
          </a:p>
        </p:txBody>
      </p:sp>
      <p:sp>
        <p:nvSpPr>
          <p:cNvPr id="13" name="Rectangle 12"/>
          <p:cNvSpPr/>
          <p:nvPr/>
        </p:nvSpPr>
        <p:spPr>
          <a:xfrm>
            <a:off x="502920" y="3273552"/>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3383280"/>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Anomaly record</a:t>
            </a:r>
          </a:p>
        </p:txBody>
      </p:sp>
      <p:sp>
        <p:nvSpPr>
          <p:cNvPr id="15" name="Rectangle 14"/>
          <p:cNvSpPr/>
          <p:nvPr/>
        </p:nvSpPr>
        <p:spPr>
          <a:xfrm>
            <a:off x="3246120" y="3273552"/>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3383280"/>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Detected deviation under the monitor</a:t>
            </a:r>
          </a:p>
        </p:txBody>
      </p:sp>
      <p:sp>
        <p:nvSpPr>
          <p:cNvPr id="17" name="Rectangle 16"/>
          <p:cNvSpPr/>
          <p:nvPr/>
        </p:nvSpPr>
        <p:spPr>
          <a:xfrm>
            <a:off x="502920" y="4032504"/>
            <a:ext cx="2743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4142232"/>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Recommendation</a:t>
            </a:r>
          </a:p>
        </p:txBody>
      </p:sp>
      <p:sp>
        <p:nvSpPr>
          <p:cNvPr id="19" name="Rectangle 18"/>
          <p:cNvSpPr/>
          <p:nvPr/>
        </p:nvSpPr>
        <p:spPr>
          <a:xfrm>
            <a:off x="3246120" y="4032504"/>
            <a:ext cx="845820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74136" y="4142232"/>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Upstream candidate and assumptions</a:t>
            </a:r>
          </a:p>
        </p:txBody>
      </p:sp>
      <p:sp>
        <p:nvSpPr>
          <p:cNvPr id="21" name="Rectangle 20"/>
          <p:cNvSpPr/>
          <p:nvPr/>
        </p:nvSpPr>
        <p:spPr>
          <a:xfrm>
            <a:off x="502920" y="4791456"/>
            <a:ext cx="2743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 y="4901184"/>
            <a:ext cx="2487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Change event</a:t>
            </a:r>
          </a:p>
        </p:txBody>
      </p:sp>
      <p:sp>
        <p:nvSpPr>
          <p:cNvPr id="23" name="Rectangle 22"/>
          <p:cNvSpPr/>
          <p:nvPr/>
        </p:nvSpPr>
        <p:spPr>
          <a:xfrm>
            <a:off x="3246120" y="4791456"/>
            <a:ext cx="845820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74136" y="4901184"/>
            <a:ext cx="820216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Recorded operation at a time</a:t>
            </a:r>
          </a:p>
        </p:txBody>
      </p:sp>
      <p:sp>
        <p:nvSpPr>
          <p:cNvPr id="25" name="Rectangle 2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A nearby deployment alone does not explain the entire cost delta.</a:t>
            </a:r>
          </a:p>
        </p:txBody>
      </p:sp>
      <p:sp>
        <p:nvSpPr>
          <p:cNvPr id="27" name="TextBox 2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F-M01</a:t>
            </a:r>
          </a:p>
        </p:txBody>
      </p:sp>
      <p:sp>
        <p:nvSpPr>
          <p:cNvPr id="28" name="TextBox 2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03 / 13     05:00–07:00  |  2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Files are reviewed reference inputs</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Preparation</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Use actual account identifiers, owners and reporting basis. Keep the maintained source in Git.</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Controls</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Upload/soft-delete/restore in the workspace. The agent reads but does not conversationally rewrite the file.</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Limits</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Supported formats, 10 MB per file and total context quota matter.</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Everyone with access to the agent can see its context files.</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F-M02</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04 / 13     07:00–09:00  |  2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Memory and file retrieval need different tests</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Remember</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State a harmless preference</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New session</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Observe its application</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Correct / forget</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Change the retained memory</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Retest</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Check separately from uploaded source files</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Updating memory does not establish that a reference file changed.</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F-M03</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05 / 13     09:00–11:00  |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Compaction summarizes a conversation, not all persistent state</a:t>
            </a:r>
          </a:p>
        </p:txBody>
      </p:sp>
      <p:sp>
        <p:nvSpPr>
          <p:cNvPr id="5" name="Rectangle 4"/>
          <p:cNvSpPr/>
          <p:nvPr/>
        </p:nvSpPr>
        <p:spPr>
          <a:xfrm>
            <a:off x="502920"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What changes</a:t>
            </a:r>
          </a:p>
        </p:txBody>
      </p:sp>
      <p:sp>
        <p:nvSpPr>
          <p:cNvPr id="8" name="TextBox 7"/>
          <p:cNvSpPr txBox="1"/>
          <p:nvPr/>
        </p:nvSpPr>
        <p:spPr>
          <a:xfrm>
            <a:off x="667512"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Older messages are summarized as the conversation context fills. Recent messages remain in full.</a:t>
            </a:r>
          </a:p>
        </p:txBody>
      </p:sp>
      <p:sp>
        <p:nvSpPr>
          <p:cNvPr id="9" name="Rectangle 8"/>
          <p:cNvSpPr/>
          <p:nvPr/>
        </p:nvSpPr>
        <p:spPr>
          <a:xfrm>
            <a:off x="6231636" y="1828800"/>
            <a:ext cx="5472684"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1636" y="1828800"/>
            <a:ext cx="5472684"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6228" y="2057400"/>
            <a:ext cx="5143500"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How to review</a:t>
            </a:r>
          </a:p>
        </p:txBody>
      </p:sp>
      <p:sp>
        <p:nvSpPr>
          <p:cNvPr id="12" name="TextBox 11"/>
          <p:cNvSpPr txBox="1"/>
          <p:nvPr/>
        </p:nvSpPr>
        <p:spPr>
          <a:xfrm>
            <a:off x="6396228" y="3063240"/>
            <a:ext cx="5143500"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Restate the current cost contract and unresolved questions before another material calculation.</a:t>
            </a:r>
          </a:p>
        </p:txBody>
      </p:sp>
      <p:sp>
        <p:nvSpPr>
          <p:cNvPr id="13" name="Rectangle 12"/>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Do not infer verbatim retention or a documented hidden precedence algorithm.</a:t>
            </a:r>
          </a:p>
        </p:txBody>
      </p:sp>
      <p:sp>
        <p:nvSpPr>
          <p:cNvPr id="15" name="TextBox 14"/>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F-M04</a:t>
            </a:r>
          </a:p>
        </p:txBody>
      </p:sp>
      <p:sp>
        <p:nvSpPr>
          <p:cNvPr id="16" name="TextBox 15"/>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06 / 13     11:00–12:00  |  1 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 task runs; an automation creates future tasks</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Definition</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Schedule or supported event condition</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Task creation</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A separate execution record</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Shared queue</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On-demand and automated work</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Result</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Status, source evidence and artifacts</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Removing an automation does not delete existing tasks or messages.</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F-03</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07 / 13     12:00–14:00  |  2 min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Trace an anomaly through the complete event path</a:t>
            </a:r>
          </a:p>
        </p:txBody>
      </p:sp>
      <p:sp>
        <p:nvSpPr>
          <p:cNvPr id="5" name="Rectangle 4"/>
          <p:cNvSpPr/>
          <p:nvPr/>
        </p:nvSpPr>
        <p:spPr>
          <a:xfrm>
            <a:off x="502920"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Monitor</a:t>
            </a:r>
          </a:p>
        </p:txBody>
      </p:sp>
      <p:sp>
        <p:nvSpPr>
          <p:cNvPr id="8" name="TextBox 7"/>
          <p:cNvSpPr txBox="1"/>
          <p:nvPr/>
        </p:nvSpPr>
        <p:spPr>
          <a:xfrm>
            <a:off x="667512"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Cost Anomaly Detection</a:t>
            </a:r>
          </a:p>
        </p:txBody>
      </p:sp>
      <p:sp>
        <p:nvSpPr>
          <p:cNvPr id="9" name="TextBox 8"/>
          <p:cNvSpPr txBox="1"/>
          <p:nvPr/>
        </p:nvSpPr>
        <p:spPr>
          <a:xfrm>
            <a:off x="3124962"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0" name="Rectangle 9"/>
          <p:cNvSpPr/>
          <p:nvPr/>
        </p:nvSpPr>
        <p:spPr>
          <a:xfrm>
            <a:off x="3367278"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67278"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31870"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Managed rule</a:t>
            </a:r>
          </a:p>
        </p:txBody>
      </p:sp>
      <p:sp>
        <p:nvSpPr>
          <p:cNvPr id="13" name="TextBox 12"/>
          <p:cNvSpPr txBox="1"/>
          <p:nvPr/>
        </p:nvSpPr>
        <p:spPr>
          <a:xfrm>
            <a:off x="3531870"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EventBridge condition and permissions</a:t>
            </a:r>
          </a:p>
        </p:txBody>
      </p:sp>
      <p:sp>
        <p:nvSpPr>
          <p:cNvPr id="14" name="TextBox 13"/>
          <p:cNvSpPr txBox="1"/>
          <p:nvPr/>
        </p:nvSpPr>
        <p:spPr>
          <a:xfrm>
            <a:off x="5989320"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15" name="Rectangle 14"/>
          <p:cNvSpPr/>
          <p:nvPr/>
        </p:nvSpPr>
        <p:spPr>
          <a:xfrm>
            <a:off x="6231636"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6228"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Automation</a:t>
            </a:r>
          </a:p>
        </p:txBody>
      </p:sp>
      <p:sp>
        <p:nvSpPr>
          <p:cNvPr id="18" name="TextBox 17"/>
          <p:cNvSpPr txBox="1"/>
          <p:nvPr/>
        </p:nvSpPr>
        <p:spPr>
          <a:xfrm>
            <a:off x="6396228"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COST_ANOMALY trigger creates task</a:t>
            </a:r>
          </a:p>
        </p:txBody>
      </p:sp>
      <p:sp>
        <p:nvSpPr>
          <p:cNvPr id="19" name="TextBox 18"/>
          <p:cNvSpPr txBox="1"/>
          <p:nvPr/>
        </p:nvSpPr>
        <p:spPr>
          <a:xfrm>
            <a:off x="8853678" y="3337560"/>
            <a:ext cx="228600" cy="365760"/>
          </a:xfrm>
          <a:prstGeom prst="rect">
            <a:avLst/>
          </a:prstGeom>
          <a:noFill/>
        </p:spPr>
        <p:txBody>
          <a:bodyPr wrap="square" lIns="0" rIns="0" tIns="0" bIns="0">
            <a:spAutoFit/>
          </a:bodyPr>
          <a:lstStyle/>
          <a:p>
            <a:pPr>
              <a:lnSpc>
                <a:spcPct val="112000"/>
              </a:lnSpc>
              <a:spcAft>
                <a:spcPts val="0"/>
              </a:spcAft>
              <a:defRPr sz="1900" b="1">
                <a:solidFill>
                  <a:srgbClr val="096B68"/>
                </a:solidFill>
                <a:latin typeface="Liberation Sans"/>
              </a:defRPr>
            </a:pPr>
            <a:r>
              <a:t>→</a:t>
            </a:r>
          </a:p>
        </p:txBody>
      </p:sp>
      <p:sp>
        <p:nvSpPr>
          <p:cNvPr id="20" name="Rectangle 19"/>
          <p:cNvSpPr/>
          <p:nvPr/>
        </p:nvSpPr>
        <p:spPr>
          <a:xfrm>
            <a:off x="9095994" y="1828800"/>
            <a:ext cx="2608326"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5994" y="1828800"/>
            <a:ext cx="2608326"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0586" y="2057400"/>
            <a:ext cx="2279142"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Execution</a:t>
            </a:r>
          </a:p>
        </p:txBody>
      </p:sp>
      <p:sp>
        <p:nvSpPr>
          <p:cNvPr id="23" name="TextBox 22"/>
          <p:cNvSpPr txBox="1"/>
          <p:nvPr/>
        </p:nvSpPr>
        <p:spPr>
          <a:xfrm>
            <a:off x="9260586" y="3063240"/>
            <a:ext cx="2279142"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Inspect result and destination separately</a:t>
            </a:r>
          </a:p>
        </p:txBody>
      </p:sp>
      <p:sp>
        <p:nvSpPr>
          <p:cNvPr id="24" name="Rectangle 23"/>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No task and no delivered message are different failures.</a:t>
            </a:r>
          </a:p>
        </p:txBody>
      </p:sp>
      <p:sp>
        <p:nvSpPr>
          <p:cNvPr id="26" name="TextBox 25"/>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F-M05</a:t>
            </a:r>
          </a:p>
        </p:txBody>
      </p:sp>
      <p:sp>
        <p:nvSpPr>
          <p:cNvPr id="27" name="TextBox 26"/>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08 / 13     14:00–16:00  |  2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Integration registration precedes destination binding</a:t>
            </a:r>
          </a:p>
        </p:txBody>
      </p:sp>
      <p:sp>
        <p:nvSpPr>
          <p:cNvPr id="5" name="Rectangle 4"/>
          <p:cNvSpPr/>
          <p:nvPr/>
        </p:nvSpPr>
        <p:spPr>
          <a:xfrm>
            <a:off x="502920" y="1755648"/>
            <a:ext cx="23774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Layer</a:t>
            </a:r>
          </a:p>
        </p:txBody>
      </p:sp>
      <p:sp>
        <p:nvSpPr>
          <p:cNvPr id="7" name="Rectangle 6"/>
          <p:cNvSpPr/>
          <p:nvPr/>
        </p:nvSpPr>
        <p:spPr>
          <a:xfrm>
            <a:off x="2880360" y="1755648"/>
            <a:ext cx="393192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Jira</a:t>
            </a:r>
          </a:p>
        </p:txBody>
      </p:sp>
      <p:sp>
        <p:nvSpPr>
          <p:cNvPr id="9" name="Rectangle 8"/>
          <p:cNvSpPr/>
          <p:nvPr/>
        </p:nvSpPr>
        <p:spPr>
          <a:xfrm>
            <a:off x="6812280" y="1755648"/>
            <a:ext cx="4892040" cy="94869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75666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Slack</a:t>
            </a:r>
          </a:p>
        </p:txBody>
      </p:sp>
      <p:sp>
        <p:nvSpPr>
          <p:cNvPr id="11" name="Rectangle 10"/>
          <p:cNvSpPr/>
          <p:nvPr/>
        </p:nvSpPr>
        <p:spPr>
          <a:xfrm>
            <a:off x="502920" y="270433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81406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Registration</a:t>
            </a:r>
          </a:p>
        </p:txBody>
      </p:sp>
      <p:sp>
        <p:nvSpPr>
          <p:cNvPr id="13" name="Rectangle 12"/>
          <p:cNvSpPr/>
          <p:nvPr/>
        </p:nvSpPr>
        <p:spPr>
          <a:xfrm>
            <a:off x="2880360" y="270433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81406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Supported Cloud authorization</a:t>
            </a:r>
          </a:p>
        </p:txBody>
      </p:sp>
      <p:sp>
        <p:nvSpPr>
          <p:cNvPr id="15" name="Rectangle 14"/>
          <p:cNvSpPr/>
          <p:nvPr/>
        </p:nvSpPr>
        <p:spPr>
          <a:xfrm>
            <a:off x="6812280" y="270433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81406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Workspace authorization</a:t>
            </a:r>
          </a:p>
        </p:txBody>
      </p:sp>
      <p:sp>
        <p:nvSpPr>
          <p:cNvPr id="17" name="Rectangle 16"/>
          <p:cNvSpPr/>
          <p:nvPr/>
        </p:nvSpPr>
        <p:spPr>
          <a:xfrm>
            <a:off x="502920" y="3653028"/>
            <a:ext cx="23774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76275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Agent connection</a:t>
            </a:r>
          </a:p>
        </p:txBody>
      </p:sp>
      <p:sp>
        <p:nvSpPr>
          <p:cNvPr id="19" name="Rectangle 18"/>
          <p:cNvSpPr/>
          <p:nvPr/>
        </p:nvSpPr>
        <p:spPr>
          <a:xfrm>
            <a:off x="2880360" y="3653028"/>
            <a:ext cx="393192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76275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Selected project/space</a:t>
            </a:r>
          </a:p>
        </p:txBody>
      </p:sp>
      <p:sp>
        <p:nvSpPr>
          <p:cNvPr id="21" name="Rectangle 20"/>
          <p:cNvSpPr/>
          <p:nvPr/>
        </p:nvSpPr>
        <p:spPr>
          <a:xfrm>
            <a:off x="6812280" y="3653028"/>
            <a:ext cx="4892040" cy="94869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76275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Channel; app membership required</a:t>
            </a:r>
          </a:p>
        </p:txBody>
      </p:sp>
      <p:sp>
        <p:nvSpPr>
          <p:cNvPr id="23" name="Rectangle 22"/>
          <p:cNvSpPr/>
          <p:nvPr/>
        </p:nvSpPr>
        <p:spPr>
          <a:xfrm>
            <a:off x="502920" y="4601718"/>
            <a:ext cx="23774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711446"/>
            <a:ext cx="2121408"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Boundary</a:t>
            </a:r>
          </a:p>
        </p:txBody>
      </p:sp>
      <p:sp>
        <p:nvSpPr>
          <p:cNvPr id="25" name="Rectangle 24"/>
          <p:cNvSpPr/>
          <p:nvPr/>
        </p:nvSpPr>
        <p:spPr>
          <a:xfrm>
            <a:off x="2880360" y="4601718"/>
            <a:ext cx="393192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711446"/>
            <a:ext cx="367588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No arbitrary workflow editing</a:t>
            </a:r>
          </a:p>
        </p:txBody>
      </p:sp>
      <p:sp>
        <p:nvSpPr>
          <p:cNvPr id="27" name="Rectangle 26"/>
          <p:cNvSpPr/>
          <p:nvPr/>
        </p:nvSpPr>
        <p:spPr>
          <a:xfrm>
            <a:off x="6812280" y="4601718"/>
            <a:ext cx="4892040" cy="94869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711446"/>
            <a:ext cx="4636007" cy="75666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One-way posting, not channel reading</a:t>
            </a:r>
          </a:p>
        </p:txBody>
      </p:sp>
      <p:sp>
        <p:nvSpPr>
          <p:cNvPr id="29" name="Rectangle 28"/>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Inspect connection state and the actual destination.</a:t>
            </a:r>
          </a:p>
        </p:txBody>
      </p:sp>
      <p:sp>
        <p:nvSpPr>
          <p:cNvPr id="31" name="TextBox 30"/>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F-05</a:t>
            </a:r>
          </a:p>
        </p:txBody>
      </p:sp>
      <p:sp>
        <p:nvSpPr>
          <p:cNvPr id="32" name="TextBox 31"/>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09 / 13     16:00–18:00  |  2 min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Approval rules depend on effect and invocation</a:t>
            </a:r>
          </a:p>
        </p:txBody>
      </p:sp>
      <p:sp>
        <p:nvSpPr>
          <p:cNvPr id="5" name="Rectangle 4"/>
          <p:cNvSpPr/>
          <p:nvPr/>
        </p:nvSpPr>
        <p:spPr>
          <a:xfrm>
            <a:off x="502920" y="1755648"/>
            <a:ext cx="2377440" cy="126492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107289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Effect</a:t>
            </a:r>
          </a:p>
        </p:txBody>
      </p:sp>
      <p:sp>
        <p:nvSpPr>
          <p:cNvPr id="7" name="Rectangle 6"/>
          <p:cNvSpPr/>
          <p:nvPr/>
        </p:nvSpPr>
        <p:spPr>
          <a:xfrm>
            <a:off x="2880360" y="1755648"/>
            <a:ext cx="3931920" cy="126492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107289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Interactive / on-demand</a:t>
            </a:r>
          </a:p>
        </p:txBody>
      </p:sp>
      <p:sp>
        <p:nvSpPr>
          <p:cNvPr id="9" name="Rectangle 8"/>
          <p:cNvSpPr/>
          <p:nvPr/>
        </p:nvSpPr>
        <p:spPr>
          <a:xfrm>
            <a:off x="6812280" y="1755648"/>
            <a:ext cx="4892040" cy="1264920"/>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1072896"/>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Automation</a:t>
            </a:r>
          </a:p>
        </p:txBody>
      </p:sp>
      <p:sp>
        <p:nvSpPr>
          <p:cNvPr id="11" name="Rectangle 10"/>
          <p:cNvSpPr/>
          <p:nvPr/>
        </p:nvSpPr>
        <p:spPr>
          <a:xfrm>
            <a:off x="502920" y="3020568"/>
            <a:ext cx="2377440" cy="126492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3130296"/>
            <a:ext cx="2121408" cy="107289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Jira issue or comment</a:t>
            </a:r>
          </a:p>
        </p:txBody>
      </p:sp>
      <p:sp>
        <p:nvSpPr>
          <p:cNvPr id="13" name="Rectangle 12"/>
          <p:cNvSpPr/>
          <p:nvPr/>
        </p:nvSpPr>
        <p:spPr>
          <a:xfrm>
            <a:off x="2880360" y="3020568"/>
            <a:ext cx="3931920" cy="126492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3130296"/>
            <a:ext cx="3675887" cy="107289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Approval prompt</a:t>
            </a:r>
          </a:p>
        </p:txBody>
      </p:sp>
      <p:sp>
        <p:nvSpPr>
          <p:cNvPr id="15" name="Rectangle 14"/>
          <p:cNvSpPr/>
          <p:nvPr/>
        </p:nvSpPr>
        <p:spPr>
          <a:xfrm>
            <a:off x="6812280" y="3020568"/>
            <a:ext cx="4892040" cy="1264920"/>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3130296"/>
            <a:ext cx="4636007" cy="107289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Pre-authorized during setup</a:t>
            </a:r>
          </a:p>
        </p:txBody>
      </p:sp>
      <p:sp>
        <p:nvSpPr>
          <p:cNvPr id="17" name="Rectangle 16"/>
          <p:cNvSpPr/>
          <p:nvPr/>
        </p:nvSpPr>
        <p:spPr>
          <a:xfrm>
            <a:off x="502920" y="4285488"/>
            <a:ext cx="2377440" cy="126492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4395216"/>
            <a:ext cx="2121408" cy="107289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Slack post</a:t>
            </a:r>
          </a:p>
        </p:txBody>
      </p:sp>
      <p:sp>
        <p:nvSpPr>
          <p:cNvPr id="19" name="Rectangle 18"/>
          <p:cNvSpPr/>
          <p:nvPr/>
        </p:nvSpPr>
        <p:spPr>
          <a:xfrm>
            <a:off x="2880360" y="4285488"/>
            <a:ext cx="3931920" cy="126492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4395216"/>
            <a:ext cx="3675887" cy="107289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No approval prompt</a:t>
            </a:r>
          </a:p>
        </p:txBody>
      </p:sp>
      <p:sp>
        <p:nvSpPr>
          <p:cNvPr id="21" name="Rectangle 20"/>
          <p:cNvSpPr/>
          <p:nvPr/>
        </p:nvSpPr>
        <p:spPr>
          <a:xfrm>
            <a:off x="6812280" y="4285488"/>
            <a:ext cx="4892040" cy="1264920"/>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4395216"/>
            <a:ext cx="4636007" cy="1072896"/>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No approval prompt</a:t>
            </a:r>
          </a:p>
        </p:txBody>
      </p:sp>
      <p:sp>
        <p:nvSpPr>
          <p:cNvPr id="23" name="Rectangle 22"/>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Schedule setup can authorize publication; review content and audience at that point.</a:t>
            </a:r>
          </a:p>
        </p:txBody>
      </p:sp>
      <p:sp>
        <p:nvSpPr>
          <p:cNvPr id="25" name="TextBox 24"/>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F-M06</a:t>
            </a:r>
          </a:p>
        </p:txBody>
      </p:sp>
      <p:sp>
        <p:nvSpPr>
          <p:cNvPr id="26" name="TextBox 25"/>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10 / 13     18:00–20:00  |  2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Stop and delete mean different things for different objects</a:t>
            </a:r>
          </a:p>
        </p:txBody>
      </p:sp>
      <p:sp>
        <p:nvSpPr>
          <p:cNvPr id="5" name="Rectangle 4"/>
          <p:cNvSpPr/>
          <p:nvPr/>
        </p:nvSpPr>
        <p:spPr>
          <a:xfrm>
            <a:off x="502920" y="1755648"/>
            <a:ext cx="23774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212140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Object</a:t>
            </a:r>
          </a:p>
        </p:txBody>
      </p:sp>
      <p:sp>
        <p:nvSpPr>
          <p:cNvPr id="7" name="Rectangle 6"/>
          <p:cNvSpPr/>
          <p:nvPr/>
        </p:nvSpPr>
        <p:spPr>
          <a:xfrm>
            <a:off x="2880360" y="1755648"/>
            <a:ext cx="393192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08376" y="1865376"/>
            <a:ext cx="367588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Control</a:t>
            </a:r>
          </a:p>
        </p:txBody>
      </p:sp>
      <p:sp>
        <p:nvSpPr>
          <p:cNvPr id="9" name="Rectangle 8"/>
          <p:cNvSpPr/>
          <p:nvPr/>
        </p:nvSpPr>
        <p:spPr>
          <a:xfrm>
            <a:off x="6812280" y="1755648"/>
            <a:ext cx="48920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0296" y="1865376"/>
            <a:ext cx="463600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What may remain</a:t>
            </a:r>
          </a:p>
        </p:txBody>
      </p:sp>
      <p:sp>
        <p:nvSpPr>
          <p:cNvPr id="11" name="Rectangle 10"/>
          <p:cNvSpPr/>
          <p:nvPr/>
        </p:nvSpPr>
        <p:spPr>
          <a:xfrm>
            <a:off x="502920" y="2514600"/>
            <a:ext cx="23774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24328"/>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Context file</a:t>
            </a:r>
          </a:p>
        </p:txBody>
      </p:sp>
      <p:sp>
        <p:nvSpPr>
          <p:cNvPr id="13" name="Rectangle 12"/>
          <p:cNvSpPr/>
          <p:nvPr/>
        </p:nvSpPr>
        <p:spPr>
          <a:xfrm>
            <a:off x="2880360" y="2514600"/>
            <a:ext cx="393192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08376" y="2624328"/>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Soft delete / restore</a:t>
            </a:r>
          </a:p>
        </p:txBody>
      </p:sp>
      <p:sp>
        <p:nvSpPr>
          <p:cNvPr id="15" name="Rectangle 14"/>
          <p:cNvSpPr/>
          <p:nvPr/>
        </p:nvSpPr>
        <p:spPr>
          <a:xfrm>
            <a:off x="6812280" y="2514600"/>
            <a:ext cx="48920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0296" y="2624328"/>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Retained file content</a:t>
            </a:r>
          </a:p>
        </p:txBody>
      </p:sp>
      <p:sp>
        <p:nvSpPr>
          <p:cNvPr id="17" name="Rectangle 16"/>
          <p:cNvSpPr/>
          <p:nvPr/>
        </p:nvSpPr>
        <p:spPr>
          <a:xfrm>
            <a:off x="502920" y="3273552"/>
            <a:ext cx="23774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383280"/>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Task</a:t>
            </a:r>
          </a:p>
        </p:txBody>
      </p:sp>
      <p:sp>
        <p:nvSpPr>
          <p:cNvPr id="19" name="Rectangle 18"/>
          <p:cNvSpPr/>
          <p:nvPr/>
        </p:nvSpPr>
        <p:spPr>
          <a:xfrm>
            <a:off x="2880360" y="3273552"/>
            <a:ext cx="393192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383280"/>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Cancel execution</a:t>
            </a:r>
          </a:p>
        </p:txBody>
      </p:sp>
      <p:sp>
        <p:nvSpPr>
          <p:cNvPr id="21" name="Rectangle 20"/>
          <p:cNvSpPr/>
          <p:nvPr/>
        </p:nvSpPr>
        <p:spPr>
          <a:xfrm>
            <a:off x="6812280" y="3273552"/>
            <a:ext cx="48920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3383280"/>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Task record</a:t>
            </a:r>
          </a:p>
        </p:txBody>
      </p:sp>
      <p:sp>
        <p:nvSpPr>
          <p:cNvPr id="23" name="Rectangle 22"/>
          <p:cNvSpPr/>
          <p:nvPr/>
        </p:nvSpPr>
        <p:spPr>
          <a:xfrm>
            <a:off x="502920" y="4032504"/>
            <a:ext cx="23774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142232"/>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Automation</a:t>
            </a:r>
          </a:p>
        </p:txBody>
      </p:sp>
      <p:sp>
        <p:nvSpPr>
          <p:cNvPr id="25" name="Rectangle 24"/>
          <p:cNvSpPr/>
          <p:nvPr/>
        </p:nvSpPr>
        <p:spPr>
          <a:xfrm>
            <a:off x="2880360" y="4032504"/>
            <a:ext cx="393192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08376" y="4142232"/>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Disable/delete future starts</a:t>
            </a:r>
          </a:p>
        </p:txBody>
      </p:sp>
      <p:sp>
        <p:nvSpPr>
          <p:cNvPr id="27" name="Rectangle 26"/>
          <p:cNvSpPr/>
          <p:nvPr/>
        </p:nvSpPr>
        <p:spPr>
          <a:xfrm>
            <a:off x="6812280" y="4032504"/>
            <a:ext cx="48920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0296" y="4142232"/>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Existing tasks</a:t>
            </a:r>
          </a:p>
        </p:txBody>
      </p:sp>
      <p:sp>
        <p:nvSpPr>
          <p:cNvPr id="29" name="Rectangle 28"/>
          <p:cNvSpPr/>
          <p:nvPr/>
        </p:nvSpPr>
        <p:spPr>
          <a:xfrm>
            <a:off x="502920" y="4791456"/>
            <a:ext cx="23774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901184"/>
            <a:ext cx="21214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Artifact</a:t>
            </a:r>
          </a:p>
        </p:txBody>
      </p:sp>
      <p:sp>
        <p:nvSpPr>
          <p:cNvPr id="31" name="Rectangle 30"/>
          <p:cNvSpPr/>
          <p:nvPr/>
        </p:nvSpPr>
        <p:spPr>
          <a:xfrm>
            <a:off x="2880360" y="4791456"/>
            <a:ext cx="393192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08376" y="4901184"/>
            <a:ext cx="367588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Delete artifact</a:t>
            </a:r>
          </a:p>
        </p:txBody>
      </p:sp>
      <p:sp>
        <p:nvSpPr>
          <p:cNvPr id="33" name="Rectangle 32"/>
          <p:cNvSpPr/>
          <p:nvPr/>
        </p:nvSpPr>
        <p:spPr>
          <a:xfrm>
            <a:off x="6812280" y="4791456"/>
            <a:ext cx="48920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0296" y="4901184"/>
            <a:ext cx="4636007"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External published copies</a:t>
            </a:r>
          </a:p>
        </p:txBody>
      </p:sp>
      <p:sp>
        <p:nvSpPr>
          <p:cNvPr id="35" name="Rectangle 3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Whole-agent deletion is not an ordinary lifecycle demonstration.</a:t>
            </a:r>
          </a:p>
        </p:txBody>
      </p:sp>
      <p:sp>
        <p:nvSpPr>
          <p:cNvPr id="37" name="TextBox 3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F-M07 · F-04</a:t>
            </a:r>
          </a:p>
        </p:txBody>
      </p:sp>
      <p:sp>
        <p:nvSpPr>
          <p:cNvPr id="38" name="TextBox 3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11 / 13     20:00–22:00  |  2 min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Exercise: reconcile the 41% increase before explaining it</a:t>
            </a:r>
          </a:p>
        </p:txBody>
      </p:sp>
      <p:sp>
        <p:nvSpPr>
          <p:cNvPr id="5" name="Rectangle 4"/>
          <p:cNvSpPr/>
          <p:nvPr/>
        </p:nvSpPr>
        <p:spPr>
          <a:xfrm>
            <a:off x="502920" y="1755648"/>
            <a:ext cx="109728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865376"/>
            <a:ext cx="841247"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Time</a:t>
            </a:r>
          </a:p>
        </p:txBody>
      </p:sp>
      <p:sp>
        <p:nvSpPr>
          <p:cNvPr id="7" name="Rectangle 6"/>
          <p:cNvSpPr/>
          <p:nvPr/>
        </p:nvSpPr>
        <p:spPr>
          <a:xfrm>
            <a:off x="1600200" y="1755648"/>
            <a:ext cx="283464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28216" y="1865376"/>
            <a:ext cx="257860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Action</a:t>
            </a:r>
          </a:p>
        </p:txBody>
      </p:sp>
      <p:sp>
        <p:nvSpPr>
          <p:cNvPr id="9" name="Rectangle 8"/>
          <p:cNvSpPr/>
          <p:nvPr/>
        </p:nvSpPr>
        <p:spPr>
          <a:xfrm>
            <a:off x="4434840" y="1755648"/>
            <a:ext cx="7269480" cy="758952"/>
          </a:xfrm>
          <a:prstGeom prst="rect">
            <a:avLst/>
          </a:prstGeom>
          <a:solidFill>
            <a:srgbClr val="142C43"/>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62855" y="1865376"/>
            <a:ext cx="7013448" cy="566928"/>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Prepared evidence</a:t>
            </a:r>
          </a:p>
        </p:txBody>
      </p:sp>
      <p:sp>
        <p:nvSpPr>
          <p:cNvPr id="11" name="Rectangle 10"/>
          <p:cNvSpPr/>
          <p:nvPr/>
        </p:nvSpPr>
        <p:spPr>
          <a:xfrm>
            <a:off x="502920" y="2514600"/>
            <a:ext cx="10972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2624328"/>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0–2 min</a:t>
            </a:r>
          </a:p>
        </p:txBody>
      </p:sp>
      <p:sp>
        <p:nvSpPr>
          <p:cNvPr id="13" name="Rectangle 12"/>
          <p:cNvSpPr/>
          <p:nvPr/>
        </p:nvSpPr>
        <p:spPr>
          <a:xfrm>
            <a:off x="1600200" y="2514600"/>
            <a:ext cx="28346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28216" y="2624328"/>
            <a:ext cx="2578608"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Check comparison contract</a:t>
            </a:r>
          </a:p>
        </p:txBody>
      </p:sp>
      <p:sp>
        <p:nvSpPr>
          <p:cNvPr id="15" name="Rectangle 14"/>
          <p:cNvSpPr/>
          <p:nvPr/>
        </p:nvSpPr>
        <p:spPr>
          <a:xfrm>
            <a:off x="4434840" y="2514600"/>
            <a:ext cx="72694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2624328"/>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Two complete windows, same scope and cost basis</a:t>
            </a:r>
          </a:p>
        </p:txBody>
      </p:sp>
      <p:sp>
        <p:nvSpPr>
          <p:cNvPr id="17" name="Rectangle 16"/>
          <p:cNvSpPr/>
          <p:nvPr/>
        </p:nvSpPr>
        <p:spPr>
          <a:xfrm>
            <a:off x="502920" y="3273552"/>
            <a:ext cx="10972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 y="3383280"/>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2–4 min</a:t>
            </a:r>
          </a:p>
        </p:txBody>
      </p:sp>
      <p:sp>
        <p:nvSpPr>
          <p:cNvPr id="19" name="Rectangle 18"/>
          <p:cNvSpPr/>
          <p:nvPr/>
        </p:nvSpPr>
        <p:spPr>
          <a:xfrm>
            <a:off x="1600200" y="3273552"/>
            <a:ext cx="28346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28216" y="3383280"/>
            <a:ext cx="2578608"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Reconcile component totals</a:t>
            </a:r>
          </a:p>
        </p:txBody>
      </p:sp>
      <p:sp>
        <p:nvSpPr>
          <p:cNvPr id="21" name="Rectangle 20"/>
          <p:cNvSpPr/>
          <p:nvPr/>
        </p:nvSpPr>
        <p:spPr>
          <a:xfrm>
            <a:off x="4434840" y="3273552"/>
            <a:ext cx="72694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62855" y="3383280"/>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1,400 → 1,974; delta 574</a:t>
            </a:r>
          </a:p>
        </p:txBody>
      </p:sp>
      <p:sp>
        <p:nvSpPr>
          <p:cNvPr id="23" name="Rectangle 22"/>
          <p:cNvSpPr/>
          <p:nvPr/>
        </p:nvSpPr>
        <p:spPr>
          <a:xfrm>
            <a:off x="502920" y="4032504"/>
            <a:ext cx="10972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 y="4142232"/>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4–6 min</a:t>
            </a:r>
          </a:p>
        </p:txBody>
      </p:sp>
      <p:sp>
        <p:nvSpPr>
          <p:cNvPr id="25" name="Rectangle 24"/>
          <p:cNvSpPr/>
          <p:nvPr/>
        </p:nvSpPr>
        <p:spPr>
          <a:xfrm>
            <a:off x="1600200" y="4032504"/>
            <a:ext cx="283464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28216" y="4142232"/>
            <a:ext cx="257860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Attribute arithmetic</a:t>
            </a:r>
          </a:p>
        </p:txBody>
      </p:sp>
      <p:sp>
        <p:nvSpPr>
          <p:cNvPr id="27" name="Rectangle 26"/>
          <p:cNvSpPr/>
          <p:nvPr/>
        </p:nvSpPr>
        <p:spPr>
          <a:xfrm>
            <a:off x="4434840" y="4032504"/>
            <a:ext cx="7269480" cy="758952"/>
          </a:xfrm>
          <a:prstGeom prst="rect">
            <a:avLst/>
          </a:prstGeom>
          <a:solidFill>
            <a:srgbClr val="EF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5" y="4142232"/>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Storage +200; requests +100; transfer +274</a:t>
            </a:r>
          </a:p>
        </p:txBody>
      </p:sp>
      <p:sp>
        <p:nvSpPr>
          <p:cNvPr id="29" name="Rectangle 28"/>
          <p:cNvSpPr/>
          <p:nvPr/>
        </p:nvSpPr>
        <p:spPr>
          <a:xfrm>
            <a:off x="502920" y="4791456"/>
            <a:ext cx="10972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4901184"/>
            <a:ext cx="841247"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6–8 min</a:t>
            </a:r>
          </a:p>
        </p:txBody>
      </p:sp>
      <p:sp>
        <p:nvSpPr>
          <p:cNvPr id="31" name="Rectangle 30"/>
          <p:cNvSpPr/>
          <p:nvPr/>
        </p:nvSpPr>
        <p:spPr>
          <a:xfrm>
            <a:off x="1600200" y="4791456"/>
            <a:ext cx="283464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728216" y="4901184"/>
            <a:ext cx="2578608" cy="566928"/>
          </a:xfrm>
          <a:prstGeom prst="rect">
            <a:avLst/>
          </a:prstGeom>
          <a:noFill/>
        </p:spPr>
        <p:txBody>
          <a:bodyPr wrap="square" lIns="0" rIns="0" tIns="0" bIns="0">
            <a:spAutoFit/>
          </a:bodyPr>
          <a:lstStyle/>
          <a:p>
            <a:pPr>
              <a:lnSpc>
                <a:spcPct val="112000"/>
              </a:lnSpc>
              <a:spcAft>
                <a:spcPts val="0"/>
              </a:spcAft>
              <a:defRPr sz="1800" b="0">
                <a:solidFill>
                  <a:srgbClr val="172C43"/>
                </a:solidFill>
                <a:latin typeface="Liberation Sans"/>
              </a:defRPr>
            </a:pPr>
            <a:r>
              <a:t>Evaluate prepared evidence</a:t>
            </a:r>
          </a:p>
        </p:txBody>
      </p:sp>
      <p:sp>
        <p:nvSpPr>
          <p:cNvPr id="33" name="Rectangle 32"/>
          <p:cNvSpPr/>
          <p:nvPr/>
        </p:nvSpPr>
        <p:spPr>
          <a:xfrm>
            <a:off x="4434840" y="4791456"/>
            <a:ext cx="7269480" cy="758952"/>
          </a:xfrm>
          <a:prstGeom prst="rect">
            <a:avLst/>
          </a:prstGeom>
          <a:solidFill>
            <a:srgbClr val="FFFFFF"/>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2855" y="4901184"/>
            <a:ext cx="7013448" cy="566928"/>
          </a:xfrm>
          <a:prstGeom prst="rect">
            <a:avLst/>
          </a:prstGeom>
          <a:noFill/>
        </p:spPr>
        <p:txBody>
          <a:bodyPr wrap="square" lIns="0" rIns="0" tIns="0" bIns="0">
            <a:spAutoFit/>
          </a:bodyPr>
          <a:lstStyle/>
          <a:p>
            <a:pPr>
              <a:lnSpc>
                <a:spcPct val="112000"/>
              </a:lnSpc>
              <a:spcAft>
                <a:spcPts val="0"/>
              </a:spcAft>
              <a:defRPr sz="1900" b="0">
                <a:solidFill>
                  <a:srgbClr val="172C43"/>
                </a:solidFill>
                <a:latin typeface="Liberation Sans"/>
              </a:defRPr>
            </a:pPr>
            <a:r>
              <a:t>Extra export supports transfer only; other causes unresolved</a:t>
            </a:r>
          </a:p>
        </p:txBody>
      </p:sp>
      <p:sp>
        <p:nvSpPr>
          <p:cNvPr id="35" name="Rectangle 34"/>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Synthetic quantities and rates—not AWS prices or a measured saving.</a:t>
            </a:r>
          </a:p>
        </p:txBody>
      </p:sp>
      <p:sp>
        <p:nvSpPr>
          <p:cNvPr id="37" name="TextBox 36"/>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F-U01</a:t>
            </a:r>
          </a:p>
        </p:txBody>
      </p:sp>
      <p:sp>
        <p:nvSpPr>
          <p:cNvPr id="38" name="TextBox 37"/>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12 / 13     22:00–30:00  |  8 min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19456"/>
          </a:xfrm>
          <a:prstGeom prst="rect">
            <a:avLst/>
          </a:prstGeom>
          <a:noFill/>
        </p:spPr>
        <p:txBody>
          <a:bodyPr wrap="square" lIns="0" rIns="0" tIns="0" bIns="0">
            <a:spAutoFit/>
          </a:bodyPr>
          <a:lstStyle/>
          <a:p>
            <a:pPr>
              <a:lnSpc>
                <a:spcPct val="112000"/>
              </a:lnSpc>
              <a:spcAft>
                <a:spcPts val="0"/>
              </a:spcAft>
              <a:defRPr sz="1100" b="1">
                <a:solidFill>
                  <a:srgbClr val="526579"/>
                </a:solidFill>
                <a:latin typeface="Liberation Sans"/>
              </a:defRPr>
            </a:pPr>
            <a:r>
              <a:t>AWS FINOPS AGENT</a:t>
            </a:r>
          </a:p>
        </p:txBody>
      </p:sp>
      <p:sp>
        <p:nvSpPr>
          <p:cNvPr id="4" name="TextBox 3"/>
          <p:cNvSpPr txBox="1"/>
          <p:nvPr/>
        </p:nvSpPr>
        <p:spPr>
          <a:xfrm>
            <a:off x="502920" y="658368"/>
            <a:ext cx="11109960" cy="868680"/>
          </a:xfrm>
          <a:prstGeom prst="rect">
            <a:avLst/>
          </a:prstGeom>
          <a:noFill/>
        </p:spPr>
        <p:txBody>
          <a:bodyPr wrap="square" lIns="0" rIns="0" tIns="0" bIns="0">
            <a:spAutoFit/>
          </a:bodyPr>
          <a:lstStyle/>
          <a:p>
            <a:pPr>
              <a:lnSpc>
                <a:spcPct val="112000"/>
              </a:lnSpc>
              <a:spcAft>
                <a:spcPts val="0"/>
              </a:spcAft>
              <a:defRPr sz="3000" b="1">
                <a:solidFill>
                  <a:srgbClr val="172C43"/>
                </a:solidFill>
                <a:latin typeface="Liberation Sans"/>
              </a:defRPr>
            </a:pPr>
            <a:r>
              <a:t>Validate each layer rather than one fluent answer</a:t>
            </a:r>
          </a:p>
        </p:txBody>
      </p:sp>
      <p:sp>
        <p:nvSpPr>
          <p:cNvPr id="5" name="Rectangle 4"/>
          <p:cNvSpPr/>
          <p:nvPr/>
        </p:nvSpPr>
        <p:spPr>
          <a:xfrm>
            <a:off x="502920"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Data</a:t>
            </a:r>
          </a:p>
        </p:txBody>
      </p:sp>
      <p:sp>
        <p:nvSpPr>
          <p:cNvPr id="8" name="TextBox 7"/>
          <p:cNvSpPr txBox="1"/>
          <p:nvPr/>
        </p:nvSpPr>
        <p:spPr>
          <a:xfrm>
            <a:off x="667512"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Reproduce totals with identical metric, dates, filters and units.</a:t>
            </a:r>
          </a:p>
        </p:txBody>
      </p:sp>
      <p:sp>
        <p:nvSpPr>
          <p:cNvPr id="9" name="Rectangle 8"/>
          <p:cNvSpPr/>
          <p:nvPr/>
        </p:nvSpPr>
        <p:spPr>
          <a:xfrm>
            <a:off x="4322064"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22064"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6656"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State and execution</a:t>
            </a:r>
          </a:p>
        </p:txBody>
      </p:sp>
      <p:sp>
        <p:nvSpPr>
          <p:cNvPr id="12" name="TextBox 11"/>
          <p:cNvSpPr txBox="1"/>
          <p:nvPr/>
        </p:nvSpPr>
        <p:spPr>
          <a:xfrm>
            <a:off x="4486656"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Test file retrieval, memory, event matching and queue status separately.</a:t>
            </a:r>
          </a:p>
        </p:txBody>
      </p:sp>
      <p:sp>
        <p:nvSpPr>
          <p:cNvPr id="13" name="Rectangle 12"/>
          <p:cNvSpPr/>
          <p:nvPr/>
        </p:nvSpPr>
        <p:spPr>
          <a:xfrm>
            <a:off x="8141208" y="1828800"/>
            <a:ext cx="3563112" cy="3611880"/>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1208" y="1828800"/>
            <a:ext cx="3563112" cy="45720"/>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5800" y="2057400"/>
            <a:ext cx="3233928" cy="777240"/>
          </a:xfrm>
          <a:prstGeom prst="rect">
            <a:avLst/>
          </a:prstGeom>
          <a:noFill/>
        </p:spPr>
        <p:txBody>
          <a:bodyPr wrap="square" lIns="0" rIns="0" tIns="0" bIns="0">
            <a:spAutoFit/>
          </a:bodyPr>
          <a:lstStyle/>
          <a:p>
            <a:pPr>
              <a:lnSpc>
                <a:spcPct val="112000"/>
              </a:lnSpc>
              <a:spcAft>
                <a:spcPts val="0"/>
              </a:spcAft>
              <a:defRPr sz="2200" b="1">
                <a:solidFill>
                  <a:srgbClr val="172C43"/>
                </a:solidFill>
                <a:latin typeface="Liberation Sans"/>
              </a:defRPr>
            </a:pPr>
            <a:r>
              <a:t>Effects</a:t>
            </a:r>
          </a:p>
        </p:txBody>
      </p:sp>
      <p:sp>
        <p:nvSpPr>
          <p:cNvPr id="16" name="TextBox 15"/>
          <p:cNvSpPr txBox="1"/>
          <p:nvPr/>
        </p:nvSpPr>
        <p:spPr>
          <a:xfrm>
            <a:off x="8305800" y="3063240"/>
            <a:ext cx="3233928" cy="2011680"/>
          </a:xfrm>
          <a:prstGeom prst="rect">
            <a:avLst/>
          </a:prstGeom>
          <a:noFill/>
        </p:spPr>
        <p:txBody>
          <a:bodyPr wrap="square" lIns="0" rIns="0" tIns="0" bIns="0">
            <a:spAutoFit/>
          </a:bodyPr>
          <a:lstStyle/>
          <a:p>
            <a:pPr>
              <a:lnSpc>
                <a:spcPct val="112000"/>
              </a:lnSpc>
              <a:spcAft>
                <a:spcPts val="0"/>
              </a:spcAft>
              <a:defRPr sz="2100" b="0">
                <a:solidFill>
                  <a:srgbClr val="172C43"/>
                </a:solidFill>
                <a:latin typeface="Liberation Sans"/>
              </a:defRPr>
            </a:pPr>
            <a:r>
              <a:t>Inspect destination, approval path and retained records after a stop operation.</a:t>
            </a:r>
          </a:p>
        </p:txBody>
      </p:sp>
      <p:sp>
        <p:nvSpPr>
          <p:cNvPr id="17" name="Rectangle 16"/>
          <p:cNvSpPr/>
          <p:nvPr/>
        </p:nvSpPr>
        <p:spPr>
          <a:xfrm>
            <a:off x="502920" y="5705856"/>
            <a:ext cx="11201400" cy="576072"/>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833872"/>
            <a:ext cx="10835640" cy="338328"/>
          </a:xfrm>
          <a:prstGeom prst="rect">
            <a:avLst/>
          </a:prstGeom>
          <a:noFill/>
        </p:spPr>
        <p:txBody>
          <a:bodyPr wrap="square" lIns="0" rIns="0" tIns="0" bIns="0">
            <a:spAutoFit/>
          </a:bodyPr>
          <a:lstStyle/>
          <a:p>
            <a:pPr>
              <a:lnSpc>
                <a:spcPct val="112000"/>
              </a:lnSpc>
              <a:spcAft>
                <a:spcPts val="0"/>
              </a:spcAft>
              <a:defRPr sz="1700" b="0">
                <a:solidFill>
                  <a:srgbClr val="FFFFFF"/>
                </a:solidFill>
                <a:latin typeface="Liberation Sans"/>
              </a:defRPr>
            </a:pPr>
            <a:r>
              <a:t>Complete current policies and quotas remain the authoritative linked reference.</a:t>
            </a:r>
          </a:p>
        </p:txBody>
      </p:sp>
      <p:sp>
        <p:nvSpPr>
          <p:cNvPr id="19" name="TextBox 18"/>
          <p:cNvSpPr txBox="1"/>
          <p:nvPr/>
        </p:nvSpPr>
        <p:spPr>
          <a:xfrm>
            <a:off x="502920" y="6446520"/>
            <a:ext cx="640080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F-06 · F-07</a:t>
            </a:r>
          </a:p>
        </p:txBody>
      </p:sp>
      <p:sp>
        <p:nvSpPr>
          <p:cNvPr id="20" name="TextBox 19"/>
          <p:cNvSpPr txBox="1"/>
          <p:nvPr/>
        </p:nvSpPr>
        <p:spPr>
          <a:xfrm>
            <a:off x="7315200" y="6446520"/>
            <a:ext cx="4389120" cy="182880"/>
          </a:xfrm>
          <a:prstGeom prst="rect">
            <a:avLst/>
          </a:prstGeom>
          <a:noFill/>
        </p:spPr>
        <p:txBody>
          <a:bodyPr wrap="square" lIns="0" rIns="0" tIns="0" bIns="0">
            <a:spAutoFit/>
          </a:bodyPr>
          <a:lstStyle/>
          <a:p>
            <a:pPr>
              <a:lnSpc>
                <a:spcPct val="112000"/>
              </a:lnSpc>
              <a:spcAft>
                <a:spcPts val="0"/>
              </a:spcAft>
              <a:defRPr sz="1000" b="0">
                <a:solidFill>
                  <a:srgbClr val="526579"/>
                </a:solidFill>
                <a:latin typeface="Liberation Sans"/>
              </a:defRPr>
            </a:pPr>
            <a:r>
              <a:t>13 / 13     30:00–32:00  |  2 min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096B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640080"/>
            <a:ext cx="10972800" cy="914400"/>
          </a:xfrm>
          <a:prstGeom prst="rect">
            <a:avLst/>
          </a:prstGeom>
          <a:noFill/>
        </p:spPr>
        <p:txBody>
          <a:bodyPr wrap="square" lIns="0" rIns="0" tIns="0" bIns="0">
            <a:spAutoFit/>
          </a:bodyPr>
          <a:lstStyle/>
          <a:p>
            <a:pPr>
              <a:lnSpc>
                <a:spcPct val="112000"/>
              </a:lnSpc>
              <a:spcAft>
                <a:spcPts val="0"/>
              </a:spcAft>
              <a:defRPr sz="3200" b="1">
                <a:solidFill>
                  <a:srgbClr val="172C43"/>
                </a:solidFill>
                <a:latin typeface="Liberation Sans"/>
              </a:defRPr>
            </a:pPr>
            <a:r>
              <a:t>Evidence and use of this presentation</a:t>
            </a:r>
          </a:p>
        </p:txBody>
      </p:sp>
      <p:sp>
        <p:nvSpPr>
          <p:cNvPr id="4" name="TextBox 3"/>
          <p:cNvSpPr txBox="1"/>
          <p:nvPr/>
        </p:nvSpPr>
        <p:spPr>
          <a:xfrm>
            <a:off x="548640" y="1828800"/>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Canonical guide</a:t>
            </a:r>
          </a:p>
        </p:txBody>
      </p:sp>
      <p:sp>
        <p:nvSpPr>
          <p:cNvPr id="5" name="TextBox 4"/>
          <p:cNvSpPr txBox="1"/>
          <p:nvPr/>
        </p:nvSpPr>
        <p:spPr>
          <a:xfrm>
            <a:off x="2880360" y="1828800"/>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guides/finops.md — resource model, procedures, mechanisms, troubleshooting and worked example.</a:t>
            </a:r>
          </a:p>
        </p:txBody>
      </p:sp>
      <p:sp>
        <p:nvSpPr>
          <p:cNvPr id="6" name="TextBox 5"/>
          <p:cNvSpPr txBox="1"/>
          <p:nvPr/>
        </p:nvSpPr>
        <p:spPr>
          <a:xfrm>
            <a:off x="548640" y="2724912"/>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Source traceability</a:t>
            </a:r>
          </a:p>
        </p:txBody>
      </p:sp>
      <p:sp>
        <p:nvSpPr>
          <p:cNvPr id="7" name="TextBox 6"/>
          <p:cNvSpPr txBox="1"/>
          <p:nvPr/>
        </p:nvSpPr>
        <p:spPr>
          <a:xfrm>
            <a:off x="2880360" y="2724912"/>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Every content slide names guide sections. Speaker notes include the related guide text and official AWS source URLs.</a:t>
            </a:r>
          </a:p>
        </p:txBody>
      </p:sp>
      <p:sp>
        <p:nvSpPr>
          <p:cNvPr id="8" name="TextBox 7"/>
          <p:cNvSpPr txBox="1"/>
          <p:nvPr/>
        </p:nvSpPr>
        <p:spPr>
          <a:xfrm>
            <a:off x="548640" y="3621024"/>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Delivery boundary</a:t>
            </a:r>
          </a:p>
        </p:txBody>
      </p:sp>
      <p:sp>
        <p:nvSpPr>
          <p:cNvPr id="9" name="TextBox 8"/>
          <p:cNvSpPr txBox="1"/>
          <p:nvPr/>
        </p:nvSpPr>
        <p:spPr>
          <a:xfrm>
            <a:off x="2880360" y="3621024"/>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Presentation time includes the prepared-result exercise. No live AWS execution, measured benefit or exhaustive product coverage is asserted.</a:t>
            </a:r>
          </a:p>
        </p:txBody>
      </p:sp>
      <p:sp>
        <p:nvSpPr>
          <p:cNvPr id="10" name="TextBox 9"/>
          <p:cNvSpPr txBox="1"/>
          <p:nvPr/>
        </p:nvSpPr>
        <p:spPr>
          <a:xfrm>
            <a:off x="548640" y="4517136"/>
            <a:ext cx="2103120" cy="594360"/>
          </a:xfrm>
          <a:prstGeom prst="rect">
            <a:avLst/>
          </a:prstGeom>
          <a:noFill/>
        </p:spPr>
        <p:txBody>
          <a:bodyPr wrap="square" lIns="0" rIns="0" tIns="0" bIns="0">
            <a:spAutoFit/>
          </a:bodyPr>
          <a:lstStyle/>
          <a:p>
            <a:pPr>
              <a:lnSpc>
                <a:spcPct val="112000"/>
              </a:lnSpc>
              <a:spcAft>
                <a:spcPts val="0"/>
              </a:spcAft>
              <a:defRPr sz="1800" b="1">
                <a:solidFill>
                  <a:srgbClr val="172C43"/>
                </a:solidFill>
                <a:latin typeface="Liberation Sans"/>
              </a:defRPr>
            </a:pPr>
            <a:r>
              <a:t>Scope decisions</a:t>
            </a:r>
          </a:p>
        </p:txBody>
      </p:sp>
      <p:sp>
        <p:nvSpPr>
          <p:cNvPr id="11" name="TextBox 10"/>
          <p:cNvSpPr txBox="1"/>
          <p:nvPr/>
        </p:nvSpPr>
        <p:spPr>
          <a:xfrm>
            <a:off x="2880360" y="4517136"/>
            <a:ext cx="8641080" cy="658368"/>
          </a:xfrm>
          <a:prstGeom prst="rect">
            <a:avLst/>
          </a:prstGeom>
          <a:noFill/>
        </p:spPr>
        <p:txBody>
          <a:bodyPr wrap="square" lIns="0" rIns="0" tIns="0" bIns="0">
            <a:spAutoFit/>
          </a:bodyPr>
          <a:lstStyle/>
          <a:p>
            <a:pPr>
              <a:lnSpc>
                <a:spcPct val="112000"/>
              </a:lnSpc>
              <a:spcAft>
                <a:spcPts val="0"/>
              </a:spcAft>
              <a:defRPr sz="2000" b="0">
                <a:solidFill>
                  <a:srgbClr val="172C43"/>
                </a:solidFill>
                <a:latin typeface="Liberation Sans"/>
              </a:defRPr>
            </a:pPr>
            <a:r>
              <a:t>Read the coverage and source-version notes before extending this material to another feature, Region or provider.</a:t>
            </a:r>
          </a:p>
        </p:txBody>
      </p:sp>
      <p:sp>
        <p:nvSpPr>
          <p:cNvPr id="12" name="TextBox 11"/>
          <p:cNvSpPr txBox="1"/>
          <p:nvPr/>
        </p:nvSpPr>
        <p:spPr>
          <a:xfrm>
            <a:off x="502920" y="6446520"/>
            <a:ext cx="10972800" cy="201168"/>
          </a:xfrm>
          <a:prstGeom prst="rect">
            <a:avLst/>
          </a:prstGeom>
          <a:noFill/>
        </p:spPr>
        <p:txBody>
          <a:bodyPr wrap="square" lIns="0" rIns="0" tIns="0" bIns="0">
            <a:spAutoFit/>
          </a:bodyPr>
          <a:lstStyle/>
          <a:p>
            <a:pPr>
              <a:lnSpc>
                <a:spcPct val="112000"/>
              </a:lnSpc>
              <a:spcAft>
                <a:spcPts val="0"/>
              </a:spcAft>
              <a:defRPr sz="1100" b="0">
                <a:solidFill>
                  <a:srgbClr val="526579"/>
                </a:solidFill>
                <a:latin typeface="Liberation Sans"/>
              </a:defRPr>
            </a:pPr>
            <a:r>
              <a:t>UNTIMED APPENDIX · 2026-10-22-canonical-guides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FinOps Agent — engineering presentation</dc:title>
  <dc:subject>Canonical guide 2026-10-22-canonical-guides</dc:subject>
  <dc:creator>Engineering documentation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