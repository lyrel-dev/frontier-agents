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00:00–01:00; allocated 01:00.</a:t>
            </a:r>
          </a:p>
          <a:p/>
          <a:p>
            <a:r>
              <a:t>This is a team-level reference design assembled from the documented behavior of four products. It is not an AWS internal architecture or a shared four-agent runtime. The common unit is a bounded engineering work item with an owner, evidence, allowed effects and completion checks. Each product retains its own identity, execution and approval model. The demo is a tabletop handoff walkthrough, not an implemented orchestrator.</a:t>
            </a:r>
          </a:p>
          <a:p/>
          <a:p>
            <a:r>
              <a:t>Official evidence:</a:t>
            </a:r>
          </a:p>
          <a:p>
            <a:r>
              <a:t>D01 — About AWS DevOps Agent: https://docs.aws.amazon.com/devopsagent/latest/userguide/about-aws-devops-agent.html</a:t>
            </a:r>
          </a:p>
          <a:p>
            <a:r>
              <a:t>K02 — Kiro Web: https://kiro.dev/docs/web/</a:t>
            </a:r>
          </a:p>
          <a:p>
            <a:r>
              <a:t>S04 — What is AWS Security Agent?: https://docs.aws.amazon.com/securityagent/latest/userguide/what-is.html</a:t>
            </a:r>
          </a:p>
          <a:p>
            <a:r>
              <a:t>F03 — Create an agent: https://docs.aws.amazon.com/finops-agent/latest/userguide/creating-an-agent.html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01:00–02:30; allocated 01:30.</a:t>
            </a:r>
          </a:p>
          <a:p/>
          <a:p>
            <a:r>
              <a:t>DevOps Agent is the operational investigator, Kiro produces repository work, Security Agent supplies application-security assessment evidence, and FinOps Agent explains and routes cost work. These roles can overlap, but their output artifacts are different. A shared work-item schema makes the handoff legible without claiming shared sessions or permissions. The table is a recommended allocation of responsibility based on documented capabilities.</a:t>
            </a:r>
          </a:p>
          <a:p/>
          <a:p>
            <a:r>
              <a:t>Official evidence:</a:t>
            </a:r>
          </a:p>
          <a:p>
            <a:r>
              <a:t>D03 — Autonomous incident response: https://docs.aws.amazon.com/devopsagent/latest/userguide/production-operations-autonomous-incident-response.html</a:t>
            </a:r>
          </a:p>
          <a:p>
            <a:r>
              <a:t>K04 — Autonomous mode: https://kiro.dev/docs/web/autonomous-mode/</a:t>
            </a:r>
          </a:p>
          <a:p>
            <a:r>
              <a:t>S12 — Review penetration-test findings: https://docs.aws.amazon.com/securityagent/latest/userguide/review-penetration-findings.html</a:t>
            </a:r>
          </a:p>
          <a:p>
            <a:r>
              <a:t>F07 — Cost anomaly investigation: https://docs.aws.amazon.com/finops-agent/latest/userguide/cost-anomaly-detection.html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02:30–04:00; allocated 01:30.</a:t>
            </a:r>
          </a:p>
          <a:p/>
          <a:p>
            <a:r>
              <a:t>The contract is a team artifact, not a product-specific API. Start with the service, environment and question. Add exact evidence identifiers, allowed effects and non-goals. Name the person who can stop the work and the person who can accept its output. This prevents a vague request such as “fix checkout” from becoming an unlimited mandate. A contract carries intent; underlying product controls still enforce access.</a:t>
            </a:r>
          </a:p>
          <a:p/>
          <a:p>
            <a:r>
              <a:t>Official evidence:</a:t>
            </a:r>
          </a:p>
          <a:p>
            <a:r>
              <a:t>D03 — Autonomous incident response: https://docs.aws.amazon.com/devopsagent/latest/userguide/production-operations-autonomous-incident-response.html</a:t>
            </a:r>
          </a:p>
          <a:p>
            <a:r>
              <a:t>K08 — Specifications: https://kiro.dev/docs/specs/</a:t>
            </a:r>
          </a:p>
          <a:p>
            <a:r>
              <a:t>S08 — Create a penetration test: https://docs.aws.amazon.com/securityagent/latest/userguide/perform-penetration-test.html</a:t>
            </a:r>
          </a:p>
          <a:p>
            <a:r>
              <a:t>F11 — Task management: https://docs.aws.amazon.com/finops-agent/latest/userguide/task-management.html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04:00–06:00; allocated 02:00.</a:t>
            </a:r>
          </a:p>
          <a:p/>
          <a:p>
            <a:r>
              <a:t>An incident can lead to a code change, a security finding to a repair, or a cost anomaly to an infrastructure work item. The daily review aggregates accepted evidence into an owned backlog. Do not force all four agents into every task. Manual artifact handoffs are often sufficient to prove the operating model before building automation. Each row is a proposed team workflow, not a turnkey integration supplied by AWS.</a:t>
            </a:r>
          </a:p>
          <a:p/>
          <a:p>
            <a:r>
              <a:t>Official evidence:</a:t>
            </a:r>
          </a:p>
          <a:p>
            <a:r>
              <a:t>D04 — Proactive incident prevention: https://docs.aws.amazon.com/devopsagent/latest/userguide/production-operations-proactive-incident-prevention.html</a:t>
            </a:r>
          </a:p>
          <a:p>
            <a:r>
              <a:t>K04 — Autonomous mode: https://kiro.dev/docs/web/autonomous-mode/</a:t>
            </a:r>
          </a:p>
          <a:p>
            <a:r>
              <a:t>S14 — Revalidate findings: https://docs.aws.amazon.com/securityagent/latest/userguide/revalidate-findings.html</a:t>
            </a:r>
          </a:p>
          <a:p>
            <a:r>
              <a:t>F09 — Optimization recommendations: https://docs.aws.amazon.com/finops-agent/latest/userguide/optimization-recommendations.html</a:t>
            </a:r>
          </a:p>
          <a:p>
            <a:r>
              <a:t>F11 — Task management: https://docs.aws.amazon.com/finops-agent/latest/userguide/task-management.html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06:00–08:00; allocated 02:00.</a:t>
            </a:r>
          </a:p>
          <a:p/>
          <a:p>
            <a:r>
              <a:t>Use a service-oriented boundary record: accounts, repositories, targets, operators and output destinations. The name of a workspace does not prove that access outside it is denied. Test the actual role, repository integration or target configuration. Keep operator accountability visible even when a service role executes the work. Start with one team-owned workload so failures in the boundary model can be detected before wider adoption.</a:t>
            </a:r>
          </a:p>
          <a:p/>
          <a:p>
            <a:r>
              <a:t>Official evidence:</a:t>
            </a:r>
          </a:p>
          <a:p>
            <a:r>
              <a:t>D34 — Limiting Agent Access in an AWS Account: https://docs.aws.amazon.com/devopsagent/latest/userguide/aws-devops-agent-security-limiting-agent-access-in-an-aws-account.html</a:t>
            </a:r>
          </a:p>
          <a:p>
            <a:r>
              <a:t>K06 — GitHub integration: https://kiro.dev/docs/web/github/</a:t>
            </a:r>
          </a:p>
          <a:p>
            <a:r>
              <a:t>S08 — Create a penetration test: https://docs.aws.amazon.com/securityagent/latest/userguide/perform-penetration-test.html</a:t>
            </a:r>
          </a:p>
          <a:p>
            <a:r>
              <a:t>F03 — Create an agent: https://docs.aws.amazon.com/finops-agent/latest/userguide/creating-an-agent.html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08:00–09:30; allocated 01:30.</a:t>
            </a:r>
          </a:p>
          <a:p/>
          <a:p>
            <a:r>
              <a:t>A source link alone can be insufficient when the source changes. Record the revision or time interval, resource identity and relevant filters along with the conclusion. Distinguish observed evidence from an agent inference and a human decision. This is especially important in cost reports, where a different basis or date range can produce a different number, and in code work, where a later commit can invalidate an earlier check.</a:t>
            </a:r>
          </a:p>
          <a:p/>
          <a:p>
            <a:r>
              <a:t>Official evidence:</a:t>
            </a:r>
          </a:p>
          <a:p>
            <a:r>
              <a:t>D03 — Autonomous incident response: https://docs.aws.amazon.com/devopsagent/latest/userguide/production-operations-autonomous-incident-response.html</a:t>
            </a:r>
          </a:p>
          <a:p>
            <a:r>
              <a:t>K03 — Working with the agent: https://kiro.dev/docs/web/using-the-agent/</a:t>
            </a:r>
          </a:p>
          <a:p>
            <a:r>
              <a:t>S12 — Review penetration-test findings: https://docs.aws.amazon.com/securityagent/latest/userguide/review-penetration-findings.html</a:t>
            </a:r>
          </a:p>
          <a:p>
            <a:r>
              <a:t>F06 — Cost inquiry: https://docs.aws.amazon.com/finops-agent/latest/userguide/cost-inquiry.html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09:30–11:00; allocated 01:30.</a:t>
            </a:r>
          </a:p>
          <a:p/>
          <a:p>
            <a:r>
              <a:t>Steering, skills, memory and context files improve relevance. They must not be treated as permission boundaries or proof of policy enforcement. Treat source content as evidence, not as authority to ignore the task’s restrictions. Keep secrets out of context artifacts unless the approved workflow specifically requires them. When stable policy and learned context conflict, verify current policy and correct the context.</a:t>
            </a:r>
          </a:p>
          <a:p/>
          <a:p>
            <a:r>
              <a:t>Official evidence:</a:t>
            </a:r>
          </a:p>
          <a:p>
            <a:r>
              <a:t>K13 — Steering: https://kiro.dev/docs/steering/</a:t>
            </a:r>
          </a:p>
          <a:p>
            <a:r>
              <a:t>K14 — Memory: https://kiro.dev/docs/memory/</a:t>
            </a:r>
          </a:p>
          <a:p>
            <a:r>
              <a:t>D06 — Custom Agents: https://docs.aws.amazon.com/devopsagent/latest/userguide/working-with-devops-agent-custom-agents-index.html</a:t>
            </a:r>
          </a:p>
          <a:p>
            <a:r>
              <a:t>F12 — Context files and memory: https://docs.aws.amazon.com/finops-agent/latest/userguide/context-files-and-memory.html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11:00–13:00; allocated 02:00.</a:t>
            </a:r>
          </a:p>
          <a:p/>
          <a:p>
            <a:r>
              <a:t>A single “human in the loop” box hides important differences. DevOps directed actions require explicit enablement and approval. Active release tests can mutate a target through application requests. Kiro’s output reaches a reviewable branch, with merging under team control. FinOps collaboration writes have trigger-dependent approval rules. Model the real effect and apply the correct gate; do not assume a prompt before every mutation.</a:t>
            </a:r>
          </a:p>
          <a:p/>
          <a:p>
            <a:r>
              <a:t>Official evidence:</a:t>
            </a:r>
          </a:p>
          <a:p>
            <a:r>
              <a:t>D13 — Working with directed actions: https://docs.aws.amazon.com/devopsagent/latest/userguide/working-with-devops-agent-working-with-directed-actions.html</a:t>
            </a:r>
          </a:p>
          <a:p>
            <a:r>
              <a:t>D11 — Release testing: https://docs.aws.amazon.com/devopsagent/latest/userguide/release-management-release-testing.html</a:t>
            </a:r>
          </a:p>
          <a:p>
            <a:r>
              <a:t>K02 — Kiro Web: https://kiro.dev/docs/web/</a:t>
            </a:r>
          </a:p>
          <a:p>
            <a:r>
              <a:t>F15 — Agent guardrail controls: https://docs.aws.amazon.com/finops-agent/latest/userguide/agent-guardrail-control.html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13:00–14:30; allocated 01:30.</a:t>
            </a:r>
          </a:p>
          <a:p/>
          <a:p>
            <a:r>
              <a:t>Worker isolation reduces some risks, but it does not neutralize network side effects. A test may submit a form that charges a payment or sends a notification, and a sandbox command can use injected credentials. Design the target as carefully as the worker: synthetic data, disposable credentials, allowed endpoints, disabled business side effects and independent health checks. These are recommended controls around the documented execution paths.</a:t>
            </a:r>
          </a:p>
          <a:p/>
          <a:p>
            <a:r>
              <a:t>Official evidence:</a:t>
            </a:r>
          </a:p>
          <a:p>
            <a:r>
              <a:t>K10 — Cloud sandbox: https://kiro.dev/docs/web/sandbox/</a:t>
            </a:r>
          </a:p>
          <a:p>
            <a:r>
              <a:t>K19 — Sandbox internet access: https://kiro.dev/docs/web/sandbox/internet-access/</a:t>
            </a:r>
          </a:p>
          <a:p>
            <a:r>
              <a:t>K20 — Environment variables and secrets: https://kiro.dev/docs/web/sandbox/environment-variables/</a:t>
            </a:r>
          </a:p>
          <a:p>
            <a:r>
              <a:t>D11 — Release testing: https://docs.aws.amazon.com/devopsagent/latest/userguide/release-management-release-testing.html</a:t>
            </a:r>
          </a:p>
          <a:p>
            <a:r>
              <a:t>S10 — Security best practices: https://docs.aws.amazon.com/securityagent/latest/userguide/security-best-practices.html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14:30–16:00; allocated 01:30.</a:t>
            </a:r>
          </a:p>
          <a:p/>
          <a:p>
            <a:r>
              <a:t>MCP and the documented DevOps remote protocols can expose useful capabilities to clients. Repository and collaboration integrations provide other handoff paths. They still require their own identities, scopes and supported actions. There is no basis here to claim an out-of-the-box orchestrator across all four products. Start with a link or exported artifact, and automate only a documented interface whose failure modes the team can operate.</a:t>
            </a:r>
          </a:p>
          <a:p/>
          <a:p>
            <a:r>
              <a:t>Official evidence:</a:t>
            </a:r>
          </a:p>
          <a:p>
            <a:r>
              <a:t>D37 — DevOps Agent remote servers: https://docs.aws.amazon.com/devopsagent/latest/userguide/accessing-devops-agent-connecting-to-devops-agent-remote-servers-index.html</a:t>
            </a:r>
          </a:p>
          <a:p>
            <a:r>
              <a:t>D38 — Accessing DevOps Agent: https://docs.aws.amazon.com/devopsagent/latest/userguide/working-with-devops-agent-accessing-devops-agent-index.html</a:t>
            </a:r>
          </a:p>
          <a:p>
            <a:r>
              <a:t>K15 — Model Context Protocol: https://kiro.dev/docs/mcp/</a:t>
            </a:r>
          </a:p>
          <a:p>
            <a:r>
              <a:t>S26 — Code review from an IDE: https://docs.aws.amazon.com/securityagent/latest/userguide/code-review-ide-integration.html</a:t>
            </a:r>
          </a:p>
          <a:p>
            <a:r>
              <a:t>F13 — Jira integration: https://docs.aws.amazon.com/finops-agent/latest/userguide/jira-integration.html</a:t>
            </a:r>
          </a:p>
          <a:p>
            <a:r>
              <a:t>F14 — Slack integration: https://docs.aws.amazon.com/finops-agent/latest/userguide/slack-integration.html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16:00–18:00; allocated 02:00.</a:t>
            </a:r>
          </a:p>
          <a:p/>
          <a:p>
            <a:r>
              <a:t>The sample handoff is deliberately product-neutral. Keep the work-item ID, owner and original evidence references stable. Include the exact allowed effects and exclusions for the receiving task. The receiver must establish its own authorized access; a previous operator approval cannot be carried forward as permission to perform a different action. Capture missing evidence explicitly so the next specialist does not fill gaps with invented facts.</a:t>
            </a:r>
          </a:p>
          <a:p/>
          <a:p>
            <a:r>
              <a:t>Official evidence:</a:t>
            </a:r>
          </a:p>
          <a:p>
            <a:r>
              <a:t>D03 — Autonomous incident response: https://docs.aws.amazon.com/devopsagent/latest/userguide/production-operations-autonomous-incident-response.html</a:t>
            </a:r>
          </a:p>
          <a:p>
            <a:r>
              <a:t>K08 — Specifications: https://kiro.dev/docs/specs/</a:t>
            </a:r>
          </a:p>
          <a:p>
            <a:r>
              <a:t>S12 — Review penetration-test findings: https://docs.aws.amazon.com/securityagent/latest/userguide/review-penetration-findings.html</a:t>
            </a:r>
          </a:p>
          <a:p>
            <a:r>
              <a:t>F09 — Optimization recommendations: https://docs.aws.amazon.com/finops-agent/latest/userguide/optimization-recommendations.html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18:00–19:30; allocated 01:30.</a:t>
            </a:r>
          </a:p>
          <a:p/>
          <a:p>
            <a:r>
              <a:t>Asynchronous work needs an owner even when no one is watching the interface. Record retry or work limits and where to inspect the run state. A stopped client or CI job may not mean the server-side job has stopped, so verify termination and consumption. Review scheduled tasks periodically and disable those whose context or purpose has expired. The eight-minute demo is an exercise budget, not a promise about any job’s execution time.</a:t>
            </a:r>
          </a:p>
          <a:p/>
          <a:p>
            <a:r>
              <a:t>Official evidence:</a:t>
            </a:r>
          </a:p>
          <a:p>
            <a:r>
              <a:t>D06 — Custom Agents: https://docs.aws.amazon.com/devopsagent/latest/userguide/working-with-devops-agent-custom-agents-index.html</a:t>
            </a:r>
          </a:p>
          <a:p>
            <a:r>
              <a:t>K24 — Workflows: https://kiro.dev/docs/workflows/</a:t>
            </a:r>
          </a:p>
          <a:p>
            <a:r>
              <a:t>S28 — Run penetration tests from CI/CD: https://docs.aws.amazon.com/securityagent/latest/userguide/cicd-pentest.html</a:t>
            </a:r>
          </a:p>
          <a:p>
            <a:r>
              <a:t>F11 — Task management: https://docs.aws.amazon.com/finops-agent/latest/userguide/task-management.html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19:30–21:30; allocated 02:00.</a:t>
            </a:r>
          </a:p>
          <a:p/>
          <a:p>
            <a:r>
              <a:t>Independent verification does not always require another AI agent. It may be a source-system query, a known test, a human code review or a monitored deployment. Match the check to the promised result. A proposed root cause should explain source observations; code must pass relevant checks on the reviewed revision; a security fix must be deployed before revalidation; a cost explanation must reconcile to the same data scope. The team decides which checks are required for promotion.</a:t>
            </a:r>
          </a:p>
          <a:p/>
          <a:p>
            <a:r>
              <a:t>Official evidence:</a:t>
            </a:r>
          </a:p>
          <a:p>
            <a:r>
              <a:t>D03 — Autonomous incident response: https://docs.aws.amazon.com/devopsagent/latest/userguide/production-operations-autonomous-incident-response.html</a:t>
            </a:r>
          </a:p>
          <a:p>
            <a:r>
              <a:t>K09 — Built-in tools: https://kiro.dev/docs/tools/</a:t>
            </a:r>
          </a:p>
          <a:p>
            <a:r>
              <a:t>S14 — Revalidate findings: https://docs.aws.amazon.com/securityagent/latest/userguide/revalidate-findings.html</a:t>
            </a:r>
          </a:p>
          <a:p>
            <a:r>
              <a:t>F06 — Cost inquiry: https://docs.aws.amazon.com/finops-agent/latest/userguide/cost-inquiry.html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21:30–23:00; allocated 01:30.</a:t>
            </a:r>
          </a:p>
          <a:p/>
          <a:p>
            <a:r>
              <a:t>Keep authoritative records where their owners maintain them. The handoff links those records rather than flattening them into one untraceable narrative. Redact sensitive data before copying it to a wider audience, and retain version or time information. A summary may be useful for daily coordination, but reviewers should still be able to open the original investigation, commit, finding or cost query.</a:t>
            </a:r>
          </a:p>
          <a:p/>
          <a:p>
            <a:r>
              <a:t>Official evidence:</a:t>
            </a:r>
          </a:p>
          <a:p>
            <a:r>
              <a:t>D03 — Autonomous incident response: https://docs.aws.amazon.com/devopsagent/latest/userguide/production-operations-autonomous-incident-response.html</a:t>
            </a:r>
          </a:p>
          <a:p>
            <a:r>
              <a:t>K06 — GitHub integration: https://kiro.dev/docs/web/github/</a:t>
            </a:r>
          </a:p>
          <a:p>
            <a:r>
              <a:t>S14 — Revalidate findings: https://docs.aws.amazon.com/securityagent/latest/userguide/revalidate-findings.html</a:t>
            </a:r>
          </a:p>
          <a:p>
            <a:r>
              <a:t>F11 — Task management: https://docs.aws.amazon.com/finops-agent/latest/userguide/task-management.html</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23:00–24:30; allocated 01:30.</a:t>
            </a:r>
          </a:p>
          <a:p/>
          <a:p>
            <a:r>
              <a:t>The team should record the product surface, feature maturity, service Region, inference behavior, retention and output destinations for the workflow it actually deploys. DevOps release preview has a more limited Region footprint than production operations. Kiro client capabilities and account rollout differ. Security capability maturity is mixed. FinOps remains preview with its documented US storage and inference boundaries. Do not use an organization-wide “AWS approved” label as a substitute for this feature-level review.</a:t>
            </a:r>
          </a:p>
          <a:p/>
          <a:p>
            <a:r>
              <a:t>Official evidence:</a:t>
            </a:r>
          </a:p>
          <a:p>
            <a:r>
              <a:t>D15 — Supported Regions: https://docs.aws.amazon.com/devopsagent/latest/userguide/about-aws-devops-agent-supported-regions.html</a:t>
            </a:r>
          </a:p>
          <a:p>
            <a:r>
              <a:t>K02 — Kiro Web: https://kiro.dev/docs/web/</a:t>
            </a:r>
          </a:p>
          <a:p>
            <a:r>
              <a:t>S05 — Pricing and billing: https://docs.aws.amazon.com/securityagent/latest/userguide/pricing.html</a:t>
            </a:r>
          </a:p>
          <a:p>
            <a:r>
              <a:t>S30 — Resilience and regional availability: https://docs.aws.amazon.com/securityagent/latest/userguide/resilience.html</a:t>
            </a:r>
          </a:p>
          <a:p>
            <a:r>
              <a:t>F16 — Cross-region inference: https://docs.aws.amazon.com/finops-agent/latest/userguide/cross-region-inference.html</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24:30–32:30; allocated 08:00.</a:t>
            </a:r>
          </a:p>
          <a:p/>
          <a:p>
            <a:r>
              <a:t>The exercise tests the team’s operating model. Ask participants to identify the owner and stop condition at each handoff. Then introduce missing evidence or a request to expand scope and see whether the receiver stops. Security and cost work are conditional; not every incident needs all specialists. The final artifact is an accepted or rejected next action, not a claim that a new orchestrator has been built.</a:t>
            </a:r>
          </a:p>
          <a:p/>
          <a:p>
            <a:r>
              <a:t>Official evidence:</a:t>
            </a:r>
          </a:p>
          <a:p>
            <a:r>
              <a:t>D03 — Autonomous incident response: https://docs.aws.amazon.com/devopsagent/latest/userguide/production-operations-autonomous-incident-response.html</a:t>
            </a:r>
          </a:p>
          <a:p>
            <a:r>
              <a:t>K04 — Autonomous mode: https://kiro.dev/docs/web/autonomous-mode/</a:t>
            </a:r>
          </a:p>
          <a:p>
            <a:r>
              <a:t>S14 — Revalidate findings: https://docs.aws.amazon.com/securityagent/latest/userguide/revalidate-findings.html</a:t>
            </a:r>
          </a:p>
          <a:p>
            <a:r>
              <a:t>F09 — Optimization recommendations: https://docs.aws.amazon.com/finops-agent/latest/userguide/optimization-recommendations.html</a:t>
            </a:r>
          </a:p>
          <a:p/>
          <a:p>
            <a:r>
              <a:t>Preflight: Use the supplied illustrative handoff template and labeled rehearsal artifacts. No live cross-agent orchestration is required.</a:t>
            </a:r>
          </a:p>
          <a:p/>
          <a:p>
            <a:r>
              <a:t>Prompt: For the illustrative checkout incident, assemble an evidence-linked handoff with scope, owner, exact revision, allowed effects, exclusions and completion checks. Route code work to a reviewer-controlled PR. Add Security or FinOps assessment only when the issue requires it. Do not deploy or share credentials.</a:t>
            </a:r>
          </a:p>
          <a:p/>
          <a:p>
            <a:r>
              <a:t>Runbook:</a:t>
            </a:r>
          </a:p>
          <a:p>
            <a:r>
              <a:t>01:00 — Open the work contract: Confirm service, environment, evidence and owner.</a:t>
            </a:r>
          </a:p>
          <a:p>
            <a:r>
              <a:t>02:00 — Review operational evidence: Separate facts, candidate cause and missing data.</a:t>
            </a:r>
          </a:p>
          <a:p>
            <a:r>
              <a:t>02:00 — Inspect the coding handoff: Show the task contract, scoped diff and independent checks.</a:t>
            </a:r>
          </a:p>
          <a:p>
            <a:r>
              <a:t>02:00 — Choose conditional assurance: Add targeted security or cost work only when justified.</a:t>
            </a:r>
          </a:p>
          <a:p>
            <a:r>
              <a:t>01:00 — Record the decision: Name the release owner and required post-change verification.</a:t>
            </a:r>
          </a:p>
          <a:p/>
          <a:p>
            <a:r>
              <a:t>Success: Every transition carries evidence and a new task boundary; no transition carries implicit approval.</a:t>
            </a:r>
          </a:p>
          <a:p/>
          <a:p>
            <a:r>
              <a:t>Fallback: This tabletop is the default mode. A prepared recording may illustrate a real integration, but must be identified as replay.</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32:30–34:30; allocated 02:00.</a:t>
            </a:r>
          </a:p>
          <a:p/>
          <a:p>
            <a:r>
              <a:t>Start with a manual evidence handoff and a small set of representative tasks. Verify actual denial of out-of-scope access and inspect failure recovery. Automate a connector only when the manual process has a clear owner and useful output. Measure accepted handoffs, missing evidence, approval violations, rework, consumption and closure quality. These are proposed operating metrics, not measured benefits from this documentation exercise.</a:t>
            </a:r>
          </a:p>
          <a:p/>
          <a:p>
            <a:r>
              <a:t>Official evidence:</a:t>
            </a:r>
          </a:p>
          <a:p>
            <a:r>
              <a:t>D13 — Working with directed actions: https://docs.aws.amazon.com/devopsagent/latest/userguide/working-with-devops-agent-working-with-directed-actions.html</a:t>
            </a:r>
          </a:p>
          <a:p>
            <a:r>
              <a:t>K06 — GitHub integration: https://kiro.dev/docs/web/github/</a:t>
            </a:r>
          </a:p>
          <a:p>
            <a:r>
              <a:t>S10 — Security best practices: https://docs.aws.amazon.com/securityagent/latest/userguide/security-best-practices.html</a:t>
            </a:r>
          </a:p>
          <a:p>
            <a:r>
              <a:t>F15 — Agent guardrail controls: https://docs.aws.amazon.com/finops-agent/latest/userguide/agent-guardrail-control.html</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34:30–36:00; allocated 01:30.</a:t>
            </a:r>
          </a:p>
          <a:p/>
          <a:p>
            <a:r>
              <a:t>Close with the architecture decision: standardize scope, evidence, handoff and verification, but keep product-specific controls explicit. There is no need to invent a shared memory or privilege layer to gain value from specialist tools. Adopt only the integrations the team can observe and stop. The detailed report below preserves all twelve patterns, the action matrix and the proposed workflow material for implementation planning.</a:t>
            </a:r>
          </a:p>
          <a:p/>
          <a:p>
            <a:r>
              <a:t>Official evidence:</a:t>
            </a:r>
          </a:p>
          <a:p>
            <a:r>
              <a:t>D13 — Working with directed actions: https://docs.aws.amazon.com/devopsagent/latest/userguide/working-with-devops-agent-working-with-directed-actions.html</a:t>
            </a:r>
          </a:p>
          <a:p>
            <a:r>
              <a:t>K02 — Kiro Web: https://kiro.dev/docs/web/</a:t>
            </a:r>
          </a:p>
          <a:p>
            <a:r>
              <a:t>S10 — Security best practices: https://docs.aws.amazon.com/securityagent/latest/userguide/security-best-practices.html</a:t>
            </a:r>
          </a:p>
          <a:p>
            <a:r>
              <a:t>F15 — Agent guardrail controls: https://docs.aws.amazon.com/finops-agent/latest/userguide/agent-guardrail-control.html</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36:00–36:00; allocated 00:00.</a:t>
            </a:r>
          </a:p>
          <a:p/>
          <a:p>
            <a:r>
              <a:t>This appendix is outside the timed session. All source URLs are listed below and in the relevant slide notes. No live workflow or measured benefit is claimed.</a:t>
            </a:r>
          </a:p>
          <a:p/>
          <a:p>
            <a:r>
              <a:t>Official evidence:</a:t>
            </a:r>
          </a:p>
          <a:p>
            <a:r>
              <a:t>D01 — About AWS DevOps Agent: https://docs.aws.amazon.com/devopsagent/latest/userguide/about-aws-devops-agent.html</a:t>
            </a:r>
          </a:p>
          <a:p>
            <a:r>
              <a:t>D03 — Autonomous incident response: https://docs.aws.amazon.com/devopsagent/latest/userguide/production-operations-autonomous-incident-response.html</a:t>
            </a:r>
          </a:p>
          <a:p>
            <a:r>
              <a:t>D04 — Proactive incident prevention: https://docs.aws.amazon.com/devopsagent/latest/userguide/production-operations-proactive-incident-prevention.html</a:t>
            </a:r>
          </a:p>
          <a:p>
            <a:r>
              <a:t>D06 — Custom Agents: https://docs.aws.amazon.com/devopsagent/latest/userguide/working-with-devops-agent-custom-agents-index.html</a:t>
            </a:r>
          </a:p>
          <a:p>
            <a:r>
              <a:t>D11 — Release testing: https://docs.aws.amazon.com/devopsagent/latest/userguide/release-management-release-testing.html</a:t>
            </a:r>
          </a:p>
          <a:p>
            <a:r>
              <a:t>D13 — Working with directed actions: https://docs.aws.amazon.com/devopsagent/latest/userguide/working-with-devops-agent-working-with-directed-actions.html</a:t>
            </a:r>
          </a:p>
          <a:p>
            <a:r>
              <a:t>D15 — Supported Regions: https://docs.aws.amazon.com/devopsagent/latest/userguide/about-aws-devops-agent-supported-regions.html</a:t>
            </a:r>
          </a:p>
          <a:p>
            <a:r>
              <a:t>D34 — Limiting Agent Access in an AWS Account: https://docs.aws.amazon.com/devopsagent/latest/userguide/aws-devops-agent-security-limiting-agent-access-in-an-aws-account.html</a:t>
            </a:r>
          </a:p>
          <a:p>
            <a:r>
              <a:t>D37 — DevOps Agent remote servers: https://docs.aws.amazon.com/devopsagent/latest/userguide/accessing-devops-agent-connecting-to-devops-agent-remote-servers-index.html</a:t>
            </a:r>
          </a:p>
          <a:p>
            <a:r>
              <a:t>D38 — Accessing DevOps Agent: https://docs.aws.amazon.com/devopsagent/latest/userguide/working-with-devops-agent-accessing-devops-agent-index.html</a:t>
            </a:r>
          </a:p>
          <a:p>
            <a:r>
              <a:t>F03 — Create an agent: https://docs.aws.amazon.com/finops-agent/latest/userguide/creating-an-agent.html</a:t>
            </a:r>
          </a:p>
          <a:p>
            <a:r>
              <a:t>F06 — Cost inquiry: https://docs.aws.amazon.com/finops-agent/latest/userguide/cost-inquiry.html</a:t>
            </a:r>
          </a:p>
          <a:p>
            <a:r>
              <a:t>F07 — Cost anomaly investigation: https://docs.aws.amazon.com/finops-agent/latest/userguide/cost-anomaly-detection.html</a:t>
            </a:r>
          </a:p>
          <a:p>
            <a:r>
              <a:t>F09 — Optimization recommendations: https://docs.aws.amazon.com/finops-agent/latest/userguide/optimization-recommendations.html</a:t>
            </a:r>
          </a:p>
          <a:p>
            <a:r>
              <a:t>F11 — Task management: https://docs.aws.amazon.com/finops-agent/latest/userguide/task-management.html</a:t>
            </a:r>
          </a:p>
          <a:p>
            <a:r>
              <a:t>F12 — Context files and memory: https://docs.aws.amazon.com/finops-agent/latest/userguide/context-files-and-memory.html</a:t>
            </a:r>
          </a:p>
          <a:p>
            <a:r>
              <a:t>F13 — Jira integration: https://docs.aws.amazon.com/finops-agent/latest/userguide/jira-integration.html</a:t>
            </a:r>
          </a:p>
          <a:p>
            <a:r>
              <a:t>F14 — Slack integration: https://docs.aws.amazon.com/finops-agent/latest/userguide/slack-integration.html</a:t>
            </a:r>
          </a:p>
          <a:p>
            <a:r>
              <a:t>F15 — Agent guardrail controls: https://docs.aws.amazon.com/finops-agent/latest/userguide/agent-guardrail-control.html</a:t>
            </a:r>
          </a:p>
          <a:p>
            <a:r>
              <a:t>F16 — Cross-region inference: https://docs.aws.amazon.com/finops-agent/latest/userguide/cross-region-inference.html</a:t>
            </a:r>
          </a:p>
          <a:p>
            <a:r>
              <a:t>K02 — Kiro Web: https://kiro.dev/docs/web/</a:t>
            </a:r>
          </a:p>
          <a:p>
            <a:r>
              <a:t>K03 — Working with the agent: https://kiro.dev/docs/web/using-the-agent/</a:t>
            </a:r>
          </a:p>
          <a:p>
            <a:r>
              <a:t>K04 — Autonomous mode: https://kiro.dev/docs/web/autonomous-mode/</a:t>
            </a:r>
          </a:p>
          <a:p>
            <a:r>
              <a:t>K06 — GitHub integration: https://kiro.dev/docs/web/github/</a:t>
            </a:r>
          </a:p>
          <a:p>
            <a:r>
              <a:t>K08 — Specifications: https://kiro.dev/docs/specs/</a:t>
            </a:r>
          </a:p>
          <a:p>
            <a:r>
              <a:t>K09 — Built-in tools: https://kiro.dev/docs/tools/</a:t>
            </a:r>
          </a:p>
          <a:p>
            <a:r>
              <a:t>K10 — Cloud sandbox: https://kiro.dev/docs/web/sandbox/</a:t>
            </a:r>
          </a:p>
          <a:p>
            <a:r>
              <a:t>K13 — Steering: https://kiro.dev/docs/steering/</a:t>
            </a:r>
          </a:p>
          <a:p>
            <a:r>
              <a:t>K14 — Memory: https://kiro.dev/docs/memory/</a:t>
            </a:r>
          </a:p>
          <a:p>
            <a:r>
              <a:t>K15 — Model Context Protocol: https://kiro.dev/docs/mcp/</a:t>
            </a:r>
          </a:p>
          <a:p>
            <a:r>
              <a:t>K19 — Sandbox internet access: https://kiro.dev/docs/web/sandbox/internet-access/</a:t>
            </a:r>
          </a:p>
          <a:p>
            <a:r>
              <a:t>K20 — Environment variables and secrets: https://kiro.dev/docs/web/sandbox/environment-variables/</a:t>
            </a:r>
          </a:p>
          <a:p>
            <a:r>
              <a:t>K24 — Workflows: https://kiro.dev/docs/workflows/</a:t>
            </a:r>
          </a:p>
          <a:p>
            <a:r>
              <a:t>S04 — What is AWS Security Agent?: https://docs.aws.amazon.com/securityagent/latest/userguide/what-is.html</a:t>
            </a:r>
          </a:p>
          <a:p>
            <a:r>
              <a:t>S05 — Pricing and billing: https://docs.aws.amazon.com/securityagent/latest/userguide/pricing.html</a:t>
            </a:r>
          </a:p>
          <a:p>
            <a:r>
              <a:t>S08 — Create a penetration test: https://docs.aws.amazon.com/securityagent/latest/userguide/perform-penetration-test.html</a:t>
            </a:r>
          </a:p>
          <a:p>
            <a:r>
              <a:t>S10 — Security best practices: https://docs.aws.amazon.com/securityagent/latest/userguide/security-best-practices.html</a:t>
            </a:r>
          </a:p>
          <a:p>
            <a:r>
              <a:t>S12 — Review penetration-test findings: https://docs.aws.amazon.com/securityagent/latest/userguide/review-penetration-findings.html</a:t>
            </a:r>
          </a:p>
          <a:p>
            <a:r>
              <a:t>S14 — Revalidate findings: https://docs.aws.amazon.com/securityagent/latest/userguide/revalidate-findings.html</a:t>
            </a:r>
          </a:p>
          <a:p>
            <a:r>
              <a:t>S26 — Code review from an IDE: https://docs.aws.amazon.com/securityagent/latest/userguide/code-review-ide-integration.html</a:t>
            </a:r>
          </a:p>
          <a:p>
            <a:r>
              <a:t>S28 — Run penetration tests from CI/CD: https://docs.aws.amazon.com/securityagent/latest/userguide/cicd-pentest.html</a:t>
            </a:r>
          </a:p>
          <a:p>
            <a:r>
              <a:t>S30 — Resilience and regional availability: https://docs.aws.amazon.com/securityagent/latest/userguide/resilience.html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hyperlink" Target="https://docs.aws.amazon.com/devopsagent/latest/userguide/about-aws-devops-agent.html" TargetMode="External"/><Relationship Id="rId4" Type="http://schemas.openxmlformats.org/officeDocument/2006/relationships/hyperlink" Target="https://docs.aws.amazon.com/devopsagent/latest/userguide/production-operations-autonomous-incident-response.html" TargetMode="External"/><Relationship Id="rId5" Type="http://schemas.openxmlformats.org/officeDocument/2006/relationships/hyperlink" Target="https://docs.aws.amazon.com/devopsagent/latest/userguide/production-operations-proactive-incident-prevention.html" TargetMode="External"/><Relationship Id="rId6" Type="http://schemas.openxmlformats.org/officeDocument/2006/relationships/hyperlink" Target="https://docs.aws.amazon.com/devopsagent/latest/userguide/working-with-devops-agent-custom-agents-index.html" TargetMode="External"/><Relationship Id="rId7" Type="http://schemas.openxmlformats.org/officeDocument/2006/relationships/hyperlink" Target="https://docs.aws.amazon.com/devopsagent/latest/userguide/release-management-release-testing.html" TargetMode="External"/><Relationship Id="rId8" Type="http://schemas.openxmlformats.org/officeDocument/2006/relationships/hyperlink" Target="https://docs.aws.amazon.com/devopsagent/latest/userguide/working-with-devops-agent-working-with-directed-actions.html" TargetMode="Externa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285D9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285D9C"/>
                </a:solidFill>
                <a:latin typeface="Arial"/>
              </a:defRPr>
            </a:pPr>
            <a:r>
              <a:t>COMMON ARCHITECTURAL PATTERNS  /  POSITION</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Common architectural patterns</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Standardize the work and evidence—not the agent privileges.</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01 / 18    Common architectural patterns</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01:00 allocated  |  00:00–01:00</a:t>
            </a:r>
          </a:p>
        </p:txBody>
      </p:sp>
      <p:sp>
        <p:nvSpPr>
          <p:cNvPr id="9" name="Rounded Rectangle 8"/>
          <p:cNvSpPr/>
          <p:nvPr/>
        </p:nvSpPr>
        <p:spPr>
          <a:xfrm>
            <a:off x="502920" y="2331720"/>
            <a:ext cx="11183112" cy="960120"/>
          </a:xfrm>
          <a:prstGeom prst="roundRect">
            <a:avLst>
              <a:gd name="adj" fmla="val 8000"/>
            </a:avLst>
          </a:prstGeom>
          <a:solidFill>
            <a:srgbClr val="1024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2596896"/>
            <a:ext cx="10698480" cy="411480"/>
          </a:xfrm>
          <a:prstGeom prst="rect">
            <a:avLst/>
          </a:prstGeom>
          <a:noFill/>
        </p:spPr>
        <p:txBody>
          <a:bodyPr wrap="square" lIns="0" rIns="0" tIns="0" bIns="0" anchor="t">
            <a:spAutoFit/>
          </a:bodyPr>
          <a:lstStyle/>
          <a:p>
            <a:pPr>
              <a:lnSpc>
                <a:spcPct val="112000"/>
              </a:lnSpc>
              <a:spcAft>
                <a:spcPts val="300"/>
              </a:spcAft>
              <a:defRPr sz="2500" b="1">
                <a:solidFill>
                  <a:srgbClr val="FFFFFF"/>
                </a:solidFill>
                <a:latin typeface="Arial"/>
              </a:defRPr>
            </a:pPr>
            <a:r>
              <a:t>Scope → context → plan → authorized effect → verified handoff</a:t>
            </a:r>
          </a:p>
        </p:txBody>
      </p:sp>
      <p:sp>
        <p:nvSpPr>
          <p:cNvPr id="11" name="Rounded Rectangle 10"/>
          <p:cNvSpPr/>
          <p:nvPr/>
        </p:nvSpPr>
        <p:spPr>
          <a:xfrm>
            <a:off x="502920" y="3703320"/>
            <a:ext cx="3611880" cy="1417320"/>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04088" y="3913632"/>
            <a:ext cx="3200400" cy="530352"/>
          </a:xfrm>
          <a:prstGeom prst="rect">
            <a:avLst/>
          </a:prstGeom>
          <a:noFill/>
        </p:spPr>
        <p:txBody>
          <a:bodyPr wrap="square" lIns="0" rIns="0" tIns="0" bIns="0" anchor="t">
            <a:spAutoFit/>
          </a:bodyPr>
          <a:lstStyle/>
          <a:p>
            <a:pPr>
              <a:lnSpc>
                <a:spcPct val="112000"/>
              </a:lnSpc>
              <a:spcAft>
                <a:spcPts val="300"/>
              </a:spcAft>
              <a:defRPr sz="3450" b="1">
                <a:solidFill>
                  <a:srgbClr val="285D9C"/>
                </a:solidFill>
                <a:latin typeface="Arial"/>
              </a:defRPr>
            </a:pPr>
            <a:r>
              <a:t>36 min</a:t>
            </a:r>
          </a:p>
        </p:txBody>
      </p:sp>
      <p:sp>
        <p:nvSpPr>
          <p:cNvPr id="13" name="TextBox 12"/>
          <p:cNvSpPr txBox="1"/>
          <p:nvPr/>
        </p:nvSpPr>
        <p:spPr>
          <a:xfrm>
            <a:off x="704088" y="4553712"/>
            <a:ext cx="3200400" cy="338328"/>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session, including exercise</a:t>
            </a:r>
          </a:p>
        </p:txBody>
      </p:sp>
      <p:sp>
        <p:nvSpPr>
          <p:cNvPr id="14" name="Rounded Rectangle 13"/>
          <p:cNvSpPr/>
          <p:nvPr/>
        </p:nvSpPr>
        <p:spPr>
          <a:xfrm>
            <a:off x="4288536" y="3703320"/>
            <a:ext cx="3611880" cy="1417320"/>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89703" y="3913632"/>
            <a:ext cx="3200400" cy="530352"/>
          </a:xfrm>
          <a:prstGeom prst="rect">
            <a:avLst/>
          </a:prstGeom>
          <a:noFill/>
        </p:spPr>
        <p:txBody>
          <a:bodyPr wrap="square" lIns="0" rIns="0" tIns="0" bIns="0" anchor="t">
            <a:spAutoFit/>
          </a:bodyPr>
          <a:lstStyle/>
          <a:p>
            <a:pPr>
              <a:lnSpc>
                <a:spcPct val="112000"/>
              </a:lnSpc>
              <a:spcAft>
                <a:spcPts val="300"/>
              </a:spcAft>
              <a:defRPr sz="3450" b="1">
                <a:solidFill>
                  <a:srgbClr val="285D9C"/>
                </a:solidFill>
                <a:latin typeface="Arial"/>
              </a:defRPr>
            </a:pPr>
            <a:r>
              <a:t>8 min</a:t>
            </a:r>
          </a:p>
        </p:txBody>
      </p:sp>
      <p:sp>
        <p:nvSpPr>
          <p:cNvPr id="16" name="TextBox 15"/>
          <p:cNvSpPr txBox="1"/>
          <p:nvPr/>
        </p:nvSpPr>
        <p:spPr>
          <a:xfrm>
            <a:off x="4489703" y="4553712"/>
            <a:ext cx="3200400" cy="338328"/>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handoff tabletop demo</a:t>
            </a:r>
          </a:p>
        </p:txBody>
      </p:sp>
      <p:sp>
        <p:nvSpPr>
          <p:cNvPr id="17" name="Rounded Rectangle 16"/>
          <p:cNvSpPr/>
          <p:nvPr/>
        </p:nvSpPr>
        <p:spPr>
          <a:xfrm>
            <a:off x="8074152" y="3703320"/>
            <a:ext cx="3611880" cy="1417320"/>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75320" y="3913632"/>
            <a:ext cx="3200400" cy="530352"/>
          </a:xfrm>
          <a:prstGeom prst="rect">
            <a:avLst/>
          </a:prstGeom>
          <a:noFill/>
        </p:spPr>
        <p:txBody>
          <a:bodyPr wrap="square" lIns="0" rIns="0" tIns="0" bIns="0" anchor="t">
            <a:spAutoFit/>
          </a:bodyPr>
          <a:lstStyle/>
          <a:p>
            <a:pPr>
              <a:lnSpc>
                <a:spcPct val="112000"/>
              </a:lnSpc>
              <a:spcAft>
                <a:spcPts val="300"/>
              </a:spcAft>
              <a:defRPr sz="3450" b="1">
                <a:solidFill>
                  <a:srgbClr val="285D9C"/>
                </a:solidFill>
                <a:latin typeface="Arial"/>
              </a:defRPr>
            </a:pPr>
            <a:r>
              <a:t>4 agents</a:t>
            </a:r>
          </a:p>
        </p:txBody>
      </p:sp>
      <p:sp>
        <p:nvSpPr>
          <p:cNvPr id="19" name="TextBox 18"/>
          <p:cNvSpPr txBox="1"/>
          <p:nvPr/>
        </p:nvSpPr>
        <p:spPr>
          <a:xfrm>
            <a:off x="8275320" y="4553712"/>
            <a:ext cx="3200400" cy="338328"/>
          </a:xfrm>
          <a:prstGeom prst="rect">
            <a:avLst/>
          </a:prstGeom>
          <a:noFill/>
        </p:spPr>
        <p:txBody>
          <a:bodyPr wrap="square" lIns="0" rIns="0" tIns="0" bIns="0" anchor="t">
            <a:spAutoFit/>
          </a:bodyPr>
          <a:lstStyle/>
          <a:p>
            <a:pPr>
              <a:lnSpc>
                <a:spcPct val="112000"/>
              </a:lnSpc>
              <a:spcAft>
                <a:spcPts val="300"/>
              </a:spcAft>
              <a:defRPr sz="1650" b="0">
                <a:solidFill>
                  <a:srgbClr val="182B43"/>
                </a:solidFill>
                <a:latin typeface="Arial"/>
              </a:defRPr>
            </a:pPr>
            <a:r>
              <a:t>distinct execution boundaries</a:t>
            </a:r>
          </a:p>
        </p:txBody>
      </p:sp>
      <p:sp>
        <p:nvSpPr>
          <p:cNvPr id="20" name="TextBox 19"/>
          <p:cNvSpPr txBox="1"/>
          <p:nvPr/>
        </p:nvSpPr>
        <p:spPr>
          <a:xfrm>
            <a:off x="521207" y="5504688"/>
            <a:ext cx="11064240" cy="530352"/>
          </a:xfrm>
          <a:prstGeom prst="rect">
            <a:avLst/>
          </a:prstGeom>
          <a:noFill/>
        </p:spPr>
        <p:txBody>
          <a:bodyPr wrap="square" lIns="0" rIns="0" tIns="0" bIns="0" anchor="t">
            <a:spAutoFit/>
          </a:bodyPr>
          <a:lstStyle/>
          <a:p>
            <a:pPr>
              <a:lnSpc>
                <a:spcPct val="112000"/>
              </a:lnSpc>
              <a:spcAft>
                <a:spcPts val="300"/>
              </a:spcAft>
              <a:defRPr sz="1700" b="0">
                <a:solidFill>
                  <a:srgbClr val="55657A"/>
                </a:solidFill>
                <a:latin typeface="Arial"/>
              </a:defRPr>
            </a:pPr>
            <a:r>
              <a:t>Team-level synthesis of documented mechanisms. Not an AWS shared runtime, unified permission model or implemented multi-agent orchestrator.</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285D9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285D9C"/>
                </a:solidFill>
                <a:latin typeface="Arial"/>
              </a:defRPr>
            </a:pPr>
            <a:r>
              <a:t>COMMON ARCHITECTURAL PATTERNS  /  POSITION</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One operating model; four specialist roles</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Assign work by the evidence and result needed, not by a generic “agent” label.</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02 / 18    Common architectural patterns</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01:30 allocated  |  01:00–02:30</a:t>
            </a:r>
          </a:p>
        </p:txBody>
      </p:sp>
      <p:graphicFrame>
        <p:nvGraphicFramePr>
          <p:cNvPr id="9" name="Table 8"/>
          <p:cNvGraphicFramePr>
            <a:graphicFrameLocks noGrp="1"/>
          </p:cNvGraphicFramePr>
          <p:nvPr/>
        </p:nvGraphicFramePr>
        <p:xfrm>
          <a:off x="502920" y="2313432"/>
          <a:ext cx="11183112" cy="3858768"/>
        </p:xfrm>
        <a:graphic>
          <a:graphicData uri="http://schemas.openxmlformats.org/drawingml/2006/table">
            <a:tbl>
              <a:tblPr firstRow="1" bandRow="1">
                <a:tableStyleId>{5C22544A-7EE6-4342-B048-85BDC9FD1C3A}</a:tableStyleId>
              </a:tblPr>
              <a:tblGrid>
                <a:gridCol w="3727704"/>
                <a:gridCol w="3727704"/>
                <a:gridCol w="3727704"/>
              </a:tblGrid>
              <a:tr h="771753">
                <a:tc>
                  <a:txBody>
                    <a:bodyPr/>
                    <a:lstStyle/>
                    <a:p>
                      <a:pPr>
                        <a:spcAft>
                          <a:spcPts val="0"/>
                        </a:spcAft>
                        <a:defRPr sz="1600" b="1">
                          <a:solidFill>
                            <a:srgbClr val="FFFFFF"/>
                          </a:solidFill>
                          <a:latin typeface="Arial"/>
                        </a:defRPr>
                      </a:pPr>
                      <a:r>
                        <a:t>Specialist</a:t>
                      </a:r>
                    </a:p>
                  </a:txBody>
                  <a:tcPr marL="128016" marR="128016" marT="82296" marB="54864">
                    <a:solidFill>
                      <a:srgbClr val="10243B"/>
                    </a:solidFill>
                  </a:tcPr>
                </a:tc>
                <a:tc>
                  <a:txBody>
                    <a:bodyPr/>
                    <a:lstStyle/>
                    <a:p>
                      <a:pPr>
                        <a:spcAft>
                          <a:spcPts val="0"/>
                        </a:spcAft>
                        <a:defRPr sz="1600" b="1">
                          <a:solidFill>
                            <a:srgbClr val="FFFFFF"/>
                          </a:solidFill>
                          <a:latin typeface="Arial"/>
                        </a:defRPr>
                      </a:pPr>
                      <a:r>
                        <a:t>Useful daily input</a:t>
                      </a:r>
                    </a:p>
                  </a:txBody>
                  <a:tcPr marL="128016" marR="128016" marT="82296" marB="54864">
                    <a:solidFill>
                      <a:srgbClr val="10243B"/>
                    </a:solidFill>
                  </a:tcPr>
                </a:tc>
                <a:tc>
                  <a:txBody>
                    <a:bodyPr/>
                    <a:lstStyle/>
                    <a:p>
                      <a:pPr>
                        <a:spcAft>
                          <a:spcPts val="0"/>
                        </a:spcAft>
                        <a:defRPr sz="1600" b="1">
                          <a:solidFill>
                            <a:srgbClr val="FFFFFF"/>
                          </a:solidFill>
                          <a:latin typeface="Arial"/>
                        </a:defRPr>
                      </a:pPr>
                      <a:r>
                        <a:t>Reviewable result</a:t>
                      </a:r>
                    </a:p>
                  </a:txBody>
                  <a:tcPr marL="128016" marR="128016" marT="82296" marB="54864">
                    <a:solidFill>
                      <a:srgbClr val="10243B"/>
                    </a:solidFill>
                  </a:tcPr>
                </a:tc>
              </a:tr>
              <a:tr h="771753">
                <a:tc>
                  <a:txBody>
                    <a:bodyPr/>
                    <a:lstStyle/>
                    <a:p>
                      <a:pPr>
                        <a:spcAft>
                          <a:spcPts val="0"/>
                        </a:spcAft>
                        <a:defRPr sz="1600" b="0">
                          <a:solidFill>
                            <a:srgbClr val="182B43"/>
                          </a:solidFill>
                          <a:latin typeface="Arial"/>
                        </a:defRPr>
                      </a:pPr>
                      <a:r>
                        <a:t>DevOps Agent</a:t>
                      </a:r>
                    </a:p>
                  </a:txBody>
                  <a:tcPr marL="128016" marR="128016" marT="82296" marB="54864">
                    <a:solidFill>
                      <a:srgbClr val="F1F5F8"/>
                    </a:solidFill>
                  </a:tcPr>
                </a:tc>
                <a:tc>
                  <a:txBody>
                    <a:bodyPr/>
                    <a:lstStyle/>
                    <a:p>
                      <a:pPr>
                        <a:spcAft>
                          <a:spcPts val="0"/>
                        </a:spcAft>
                        <a:defRPr sz="1600" b="0">
                          <a:solidFill>
                            <a:srgbClr val="182B43"/>
                          </a:solidFill>
                          <a:latin typeface="Arial"/>
                        </a:defRPr>
                      </a:pPr>
                      <a:r>
                        <a:t>Incident window and operational context</a:t>
                      </a:r>
                    </a:p>
                  </a:txBody>
                  <a:tcPr marL="128016" marR="128016" marT="82296" marB="54864">
                    <a:solidFill>
                      <a:srgbClr val="F1F5F8"/>
                    </a:solidFill>
                  </a:tcPr>
                </a:tc>
                <a:tc>
                  <a:txBody>
                    <a:bodyPr/>
                    <a:lstStyle/>
                    <a:p>
                      <a:pPr>
                        <a:spcAft>
                          <a:spcPts val="0"/>
                        </a:spcAft>
                        <a:defRPr sz="1600" b="0">
                          <a:solidFill>
                            <a:srgbClr val="182B43"/>
                          </a:solidFill>
                          <a:latin typeface="Arial"/>
                        </a:defRPr>
                      </a:pPr>
                      <a:r>
                        <a:t>Investigation, mitigation or prevention evidence</a:t>
                      </a:r>
                    </a:p>
                  </a:txBody>
                  <a:tcPr marL="128016" marR="128016" marT="82296" marB="54864">
                    <a:solidFill>
                      <a:srgbClr val="F1F5F8"/>
                    </a:solidFill>
                  </a:tcPr>
                </a:tc>
              </a:tr>
              <a:tr h="771753">
                <a:tc>
                  <a:txBody>
                    <a:bodyPr/>
                    <a:lstStyle/>
                    <a:p>
                      <a:pPr>
                        <a:spcAft>
                          <a:spcPts val="0"/>
                        </a:spcAft>
                        <a:defRPr sz="1600" b="0">
                          <a:solidFill>
                            <a:srgbClr val="182B43"/>
                          </a:solidFill>
                          <a:latin typeface="Arial"/>
                        </a:defRPr>
                      </a:pPr>
                      <a:r>
                        <a:t>Kiro</a:t>
                      </a:r>
                    </a:p>
                  </a:txBody>
                  <a:tcPr marL="128016" marR="128016" marT="82296" marB="54864">
                    <a:solidFill>
                      <a:srgbClr val="FFFFFF"/>
                    </a:solidFill>
                  </a:tcPr>
                </a:tc>
                <a:tc>
                  <a:txBody>
                    <a:bodyPr/>
                    <a:lstStyle/>
                    <a:p>
                      <a:pPr>
                        <a:spcAft>
                          <a:spcPts val="0"/>
                        </a:spcAft>
                        <a:defRPr sz="1600" b="0">
                          <a:solidFill>
                            <a:srgbClr val="182B43"/>
                          </a:solidFill>
                          <a:latin typeface="Arial"/>
                        </a:defRPr>
                      </a:pPr>
                      <a:r>
                        <a:t>Bounded change and repository context</a:t>
                      </a:r>
                    </a:p>
                  </a:txBody>
                  <a:tcPr marL="128016" marR="128016" marT="82296" marB="54864">
                    <a:solidFill>
                      <a:srgbClr val="FFFFFF"/>
                    </a:solidFill>
                  </a:tcPr>
                </a:tc>
                <a:tc>
                  <a:txBody>
                    <a:bodyPr/>
                    <a:lstStyle/>
                    <a:p>
                      <a:pPr>
                        <a:spcAft>
                          <a:spcPts val="0"/>
                        </a:spcAft>
                        <a:defRPr sz="1600" b="0">
                          <a:solidFill>
                            <a:srgbClr val="182B43"/>
                          </a:solidFill>
                          <a:latin typeface="Arial"/>
                        </a:defRPr>
                      </a:pPr>
                      <a:r>
                        <a:t>Spec, diff, tests and PR/MR</a:t>
                      </a:r>
                    </a:p>
                  </a:txBody>
                  <a:tcPr marL="128016" marR="128016" marT="82296" marB="54864">
                    <a:solidFill>
                      <a:srgbClr val="FFFFFF"/>
                    </a:solidFill>
                  </a:tcPr>
                </a:tc>
              </a:tr>
              <a:tr h="771753">
                <a:tc>
                  <a:txBody>
                    <a:bodyPr/>
                    <a:lstStyle/>
                    <a:p>
                      <a:pPr>
                        <a:spcAft>
                          <a:spcPts val="0"/>
                        </a:spcAft>
                        <a:defRPr sz="1600" b="0">
                          <a:solidFill>
                            <a:srgbClr val="182B43"/>
                          </a:solidFill>
                          <a:latin typeface="Arial"/>
                        </a:defRPr>
                      </a:pPr>
                      <a:r>
                        <a:t>Security Agent</a:t>
                      </a:r>
                    </a:p>
                  </a:txBody>
                  <a:tcPr marL="128016" marR="128016" marT="82296" marB="54864">
                    <a:solidFill>
                      <a:srgbClr val="F1F5F8"/>
                    </a:solidFill>
                  </a:tcPr>
                </a:tc>
                <a:tc>
                  <a:txBody>
                    <a:bodyPr/>
                    <a:lstStyle/>
                    <a:p>
                      <a:pPr>
                        <a:spcAft>
                          <a:spcPts val="0"/>
                        </a:spcAft>
                        <a:defRPr sz="1600" b="0">
                          <a:solidFill>
                            <a:srgbClr val="182B43"/>
                          </a:solidFill>
                          <a:latin typeface="Arial"/>
                        </a:defRPr>
                      </a:pPr>
                      <a:r>
                        <a:t>Authorized target or design/source scope</a:t>
                      </a:r>
                    </a:p>
                  </a:txBody>
                  <a:tcPr marL="128016" marR="128016" marT="82296" marB="54864">
                    <a:solidFill>
                      <a:srgbClr val="F1F5F8"/>
                    </a:solidFill>
                  </a:tcPr>
                </a:tc>
                <a:tc>
                  <a:txBody>
                    <a:bodyPr/>
                    <a:lstStyle/>
                    <a:p>
                      <a:pPr>
                        <a:spcAft>
                          <a:spcPts val="0"/>
                        </a:spcAft>
                        <a:defRPr sz="1600" b="0">
                          <a:solidFill>
                            <a:srgbClr val="182B43"/>
                          </a:solidFill>
                          <a:latin typeface="Arial"/>
                        </a:defRPr>
                      </a:pPr>
                      <a:r>
                        <a:t>Findings, proposed repair and reassessment</a:t>
                      </a:r>
                    </a:p>
                  </a:txBody>
                  <a:tcPr marL="128016" marR="128016" marT="82296" marB="54864">
                    <a:solidFill>
                      <a:srgbClr val="F1F5F8"/>
                    </a:solidFill>
                  </a:tcPr>
                </a:tc>
              </a:tr>
              <a:tr h="771756">
                <a:tc>
                  <a:txBody>
                    <a:bodyPr/>
                    <a:lstStyle/>
                    <a:p>
                      <a:pPr>
                        <a:spcAft>
                          <a:spcPts val="0"/>
                        </a:spcAft>
                        <a:defRPr sz="1600" b="0">
                          <a:solidFill>
                            <a:srgbClr val="182B43"/>
                          </a:solidFill>
                          <a:latin typeface="Arial"/>
                        </a:defRPr>
                      </a:pPr>
                      <a:r>
                        <a:t>FinOps Agent</a:t>
                      </a:r>
                    </a:p>
                  </a:txBody>
                  <a:tcPr marL="128016" marR="128016" marT="82296" marB="54864">
                    <a:solidFill>
                      <a:srgbClr val="FFFFFF"/>
                    </a:solidFill>
                  </a:tcPr>
                </a:tc>
                <a:tc>
                  <a:txBody>
                    <a:bodyPr/>
                    <a:lstStyle/>
                    <a:p>
                      <a:pPr>
                        <a:spcAft>
                          <a:spcPts val="0"/>
                        </a:spcAft>
                        <a:defRPr sz="1600" b="0">
                          <a:solidFill>
                            <a:srgbClr val="182B43"/>
                          </a:solidFill>
                          <a:latin typeface="Arial"/>
                        </a:defRPr>
                      </a:pPr>
                      <a:r>
                        <a:t>Cost scope and ownership context</a:t>
                      </a:r>
                    </a:p>
                  </a:txBody>
                  <a:tcPr marL="128016" marR="128016" marT="82296" marB="54864">
                    <a:solidFill>
                      <a:srgbClr val="FFFFFF"/>
                    </a:solidFill>
                  </a:tcPr>
                </a:tc>
                <a:tc>
                  <a:txBody>
                    <a:bodyPr/>
                    <a:lstStyle/>
                    <a:p>
                      <a:pPr>
                        <a:spcAft>
                          <a:spcPts val="0"/>
                        </a:spcAft>
                        <a:defRPr sz="1600" b="0">
                          <a:solidFill>
                            <a:srgbClr val="182B43"/>
                          </a:solidFill>
                          <a:latin typeface="Arial"/>
                        </a:defRPr>
                      </a:pPr>
                      <a:r>
                        <a:t>Reconciled explanation and cost-work handoff</a:t>
                      </a:r>
                    </a:p>
                  </a:txBody>
                  <a:tcPr marL="128016" marR="128016" marT="82296" marB="54864">
                    <a:solidFill>
                      <a:srgbClr val="FFFFFF"/>
                    </a:solidFill>
                  </a:tcPr>
                </a:tc>
              </a:tr>
            </a:tbl>
          </a:graphicData>
        </a:graphic>
      </p:graphicFrame>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285D9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285D9C"/>
                </a:solidFill>
                <a:latin typeface="Arial"/>
              </a:defRPr>
            </a:pPr>
            <a:r>
              <a:t>COMMON ARCHITECTURAL PATTERNS  /  USE CASE</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Use a work contract as the unit of delegation</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A task is ready when its owner, scope, allowed effects and done condition are explicit.</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03 / 18    Common architectural patterns</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01:30 allocated  |  02:30–04:00</a:t>
            </a:r>
          </a:p>
        </p:txBody>
      </p:sp>
      <p:sp>
        <p:nvSpPr>
          <p:cNvPr id="9" name="Rounded Rectangle 8"/>
          <p:cNvSpPr/>
          <p:nvPr/>
        </p:nvSpPr>
        <p:spPr>
          <a:xfrm>
            <a:off x="502920" y="2313432"/>
            <a:ext cx="5490972" cy="1837944"/>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2459736"/>
            <a:ext cx="5161788" cy="201168"/>
          </a:xfrm>
          <a:prstGeom prst="rect">
            <a:avLst/>
          </a:prstGeom>
          <a:noFill/>
        </p:spPr>
        <p:txBody>
          <a:bodyPr wrap="square" lIns="0" rIns="0" tIns="0" bIns="0" anchor="t">
            <a:spAutoFit/>
          </a:bodyPr>
          <a:lstStyle/>
          <a:p>
            <a:pPr>
              <a:lnSpc>
                <a:spcPct val="112000"/>
              </a:lnSpc>
              <a:spcAft>
                <a:spcPts val="300"/>
              </a:spcAft>
              <a:defRPr sz="1050" b="1">
                <a:solidFill>
                  <a:srgbClr val="285D9C"/>
                </a:solidFill>
                <a:latin typeface="Arial"/>
              </a:defRPr>
            </a:pPr>
            <a:r>
              <a:t>WHY NOW</a:t>
            </a:r>
          </a:p>
        </p:txBody>
      </p:sp>
      <p:sp>
        <p:nvSpPr>
          <p:cNvPr id="11" name="TextBox 10"/>
          <p:cNvSpPr txBox="1"/>
          <p:nvPr/>
        </p:nvSpPr>
        <p:spPr>
          <a:xfrm>
            <a:off x="667512" y="2788920"/>
            <a:ext cx="5161788"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Trigger</a:t>
            </a:r>
          </a:p>
        </p:txBody>
      </p:sp>
      <p:sp>
        <p:nvSpPr>
          <p:cNvPr id="12" name="TextBox 11"/>
          <p:cNvSpPr txBox="1"/>
          <p:nvPr/>
        </p:nvSpPr>
        <p:spPr>
          <a:xfrm>
            <a:off x="667512" y="3392424"/>
            <a:ext cx="5161788" cy="612648"/>
          </a:xfrm>
          <a:prstGeom prst="rect">
            <a:avLst/>
          </a:prstGeom>
          <a:noFill/>
        </p:spPr>
        <p:txBody>
          <a:bodyPr wrap="square" lIns="0" rIns="0" tIns="0" bIns="0" anchor="t">
            <a:spAutoFit/>
          </a:bodyPr>
          <a:lstStyle/>
          <a:p>
            <a:pPr>
              <a:lnSpc>
                <a:spcPct val="112000"/>
              </a:lnSpc>
              <a:spcAft>
                <a:spcPts val="300"/>
              </a:spcAft>
              <a:defRPr sz="1600" b="0">
                <a:solidFill>
                  <a:srgbClr val="182B43"/>
                </a:solidFill>
                <a:latin typeface="Arial"/>
              </a:defRPr>
            </a:pPr>
            <a:r>
              <a:t>Incident, issue, finding, cost anomaly or review cadence.</a:t>
            </a:r>
          </a:p>
        </p:txBody>
      </p:sp>
      <p:sp>
        <p:nvSpPr>
          <p:cNvPr id="13" name="Rounded Rectangle 12"/>
          <p:cNvSpPr/>
          <p:nvPr/>
        </p:nvSpPr>
        <p:spPr>
          <a:xfrm>
            <a:off x="6195059" y="2313432"/>
            <a:ext cx="5490972" cy="1837944"/>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59651" y="2459736"/>
            <a:ext cx="5161788" cy="201168"/>
          </a:xfrm>
          <a:prstGeom prst="rect">
            <a:avLst/>
          </a:prstGeom>
          <a:noFill/>
        </p:spPr>
        <p:txBody>
          <a:bodyPr wrap="square" lIns="0" rIns="0" tIns="0" bIns="0" anchor="t">
            <a:spAutoFit/>
          </a:bodyPr>
          <a:lstStyle/>
          <a:p>
            <a:pPr>
              <a:lnSpc>
                <a:spcPct val="112000"/>
              </a:lnSpc>
              <a:spcAft>
                <a:spcPts val="300"/>
              </a:spcAft>
              <a:defRPr sz="1050" b="1">
                <a:solidFill>
                  <a:srgbClr val="285D9C"/>
                </a:solidFill>
                <a:latin typeface="Arial"/>
              </a:defRPr>
            </a:pPr>
            <a:r>
              <a:t>WHERE</a:t>
            </a:r>
          </a:p>
        </p:txBody>
      </p:sp>
      <p:sp>
        <p:nvSpPr>
          <p:cNvPr id="15" name="TextBox 14"/>
          <p:cNvSpPr txBox="1"/>
          <p:nvPr/>
        </p:nvSpPr>
        <p:spPr>
          <a:xfrm>
            <a:off x="6359651" y="2788920"/>
            <a:ext cx="5161788"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Scope</a:t>
            </a:r>
          </a:p>
        </p:txBody>
      </p:sp>
      <p:sp>
        <p:nvSpPr>
          <p:cNvPr id="16" name="TextBox 15"/>
          <p:cNvSpPr txBox="1"/>
          <p:nvPr/>
        </p:nvSpPr>
        <p:spPr>
          <a:xfrm>
            <a:off x="6359651" y="3392424"/>
            <a:ext cx="5161788" cy="612648"/>
          </a:xfrm>
          <a:prstGeom prst="rect">
            <a:avLst/>
          </a:prstGeom>
          <a:noFill/>
        </p:spPr>
        <p:txBody>
          <a:bodyPr wrap="square" lIns="0" rIns="0" tIns="0" bIns="0" anchor="t">
            <a:spAutoFit/>
          </a:bodyPr>
          <a:lstStyle/>
          <a:p>
            <a:pPr>
              <a:lnSpc>
                <a:spcPct val="112000"/>
              </a:lnSpc>
              <a:spcAft>
                <a:spcPts val="300"/>
              </a:spcAft>
              <a:defRPr sz="1600" b="0">
                <a:solidFill>
                  <a:srgbClr val="182B43"/>
                </a:solidFill>
                <a:latin typeface="Arial"/>
              </a:defRPr>
            </a:pPr>
            <a:r>
              <a:t>Service, environment, revisions and excluded systems.</a:t>
            </a:r>
          </a:p>
        </p:txBody>
      </p:sp>
      <p:sp>
        <p:nvSpPr>
          <p:cNvPr id="17" name="Rounded Rectangle 16"/>
          <p:cNvSpPr/>
          <p:nvPr/>
        </p:nvSpPr>
        <p:spPr>
          <a:xfrm>
            <a:off x="502920" y="4352544"/>
            <a:ext cx="5490972" cy="1837944"/>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67512" y="4498848"/>
            <a:ext cx="5161788" cy="201168"/>
          </a:xfrm>
          <a:prstGeom prst="rect">
            <a:avLst/>
          </a:prstGeom>
          <a:noFill/>
        </p:spPr>
        <p:txBody>
          <a:bodyPr wrap="square" lIns="0" rIns="0" tIns="0" bIns="0" anchor="t">
            <a:spAutoFit/>
          </a:bodyPr>
          <a:lstStyle/>
          <a:p>
            <a:pPr>
              <a:lnSpc>
                <a:spcPct val="112000"/>
              </a:lnSpc>
              <a:spcAft>
                <a:spcPts val="300"/>
              </a:spcAft>
              <a:defRPr sz="1050" b="1">
                <a:solidFill>
                  <a:srgbClr val="285D9C"/>
                </a:solidFill>
                <a:latin typeface="Arial"/>
              </a:defRPr>
            </a:pPr>
            <a:r>
              <a:t>HOW FAR</a:t>
            </a:r>
          </a:p>
        </p:txBody>
      </p:sp>
      <p:sp>
        <p:nvSpPr>
          <p:cNvPr id="19" name="TextBox 18"/>
          <p:cNvSpPr txBox="1"/>
          <p:nvPr/>
        </p:nvSpPr>
        <p:spPr>
          <a:xfrm>
            <a:off x="667512" y="4828031"/>
            <a:ext cx="5161788"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Authority</a:t>
            </a:r>
          </a:p>
        </p:txBody>
      </p:sp>
      <p:sp>
        <p:nvSpPr>
          <p:cNvPr id="20" name="TextBox 19"/>
          <p:cNvSpPr txBox="1"/>
          <p:nvPr/>
        </p:nvSpPr>
        <p:spPr>
          <a:xfrm>
            <a:off x="667512" y="5431536"/>
            <a:ext cx="5161788" cy="612648"/>
          </a:xfrm>
          <a:prstGeom prst="rect">
            <a:avLst/>
          </a:prstGeom>
          <a:noFill/>
        </p:spPr>
        <p:txBody>
          <a:bodyPr wrap="square" lIns="0" rIns="0" tIns="0" bIns="0" anchor="t">
            <a:spAutoFit/>
          </a:bodyPr>
          <a:lstStyle/>
          <a:p>
            <a:pPr>
              <a:lnSpc>
                <a:spcPct val="112000"/>
              </a:lnSpc>
              <a:spcAft>
                <a:spcPts val="300"/>
              </a:spcAft>
              <a:defRPr sz="1600" b="0">
                <a:solidFill>
                  <a:srgbClr val="182B43"/>
                </a:solidFill>
                <a:latin typeface="Arial"/>
              </a:defRPr>
            </a:pPr>
            <a:r>
              <a:t>Permitted reads/writes, approver and stop owner.</a:t>
            </a:r>
          </a:p>
        </p:txBody>
      </p:sp>
      <p:sp>
        <p:nvSpPr>
          <p:cNvPr id="21" name="Rounded Rectangle 20"/>
          <p:cNvSpPr/>
          <p:nvPr/>
        </p:nvSpPr>
        <p:spPr>
          <a:xfrm>
            <a:off x="6195059" y="4352544"/>
            <a:ext cx="5490972" cy="1837944"/>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59651" y="4498848"/>
            <a:ext cx="5161788" cy="201168"/>
          </a:xfrm>
          <a:prstGeom prst="rect">
            <a:avLst/>
          </a:prstGeom>
          <a:noFill/>
        </p:spPr>
        <p:txBody>
          <a:bodyPr wrap="square" lIns="0" rIns="0" tIns="0" bIns="0" anchor="t">
            <a:spAutoFit/>
          </a:bodyPr>
          <a:lstStyle/>
          <a:p>
            <a:pPr>
              <a:lnSpc>
                <a:spcPct val="112000"/>
              </a:lnSpc>
              <a:spcAft>
                <a:spcPts val="300"/>
              </a:spcAft>
              <a:defRPr sz="1050" b="1">
                <a:solidFill>
                  <a:srgbClr val="285D9C"/>
                </a:solidFill>
                <a:latin typeface="Arial"/>
              </a:defRPr>
            </a:pPr>
            <a:r>
              <a:t>DONE</a:t>
            </a:r>
          </a:p>
        </p:txBody>
      </p:sp>
      <p:sp>
        <p:nvSpPr>
          <p:cNvPr id="23" name="TextBox 22"/>
          <p:cNvSpPr txBox="1"/>
          <p:nvPr/>
        </p:nvSpPr>
        <p:spPr>
          <a:xfrm>
            <a:off x="6359651" y="4828031"/>
            <a:ext cx="5161788"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Completion</a:t>
            </a:r>
          </a:p>
        </p:txBody>
      </p:sp>
      <p:sp>
        <p:nvSpPr>
          <p:cNvPr id="24" name="TextBox 23"/>
          <p:cNvSpPr txBox="1"/>
          <p:nvPr/>
        </p:nvSpPr>
        <p:spPr>
          <a:xfrm>
            <a:off x="6359651" y="5431536"/>
            <a:ext cx="5161788" cy="612648"/>
          </a:xfrm>
          <a:prstGeom prst="rect">
            <a:avLst/>
          </a:prstGeom>
          <a:noFill/>
        </p:spPr>
        <p:txBody>
          <a:bodyPr wrap="square" lIns="0" rIns="0" tIns="0" bIns="0" anchor="t">
            <a:spAutoFit/>
          </a:bodyPr>
          <a:lstStyle/>
          <a:p>
            <a:pPr>
              <a:lnSpc>
                <a:spcPct val="112000"/>
              </a:lnSpc>
              <a:spcAft>
                <a:spcPts val="300"/>
              </a:spcAft>
              <a:defRPr sz="1600" b="0">
                <a:solidFill>
                  <a:srgbClr val="182B43"/>
                </a:solidFill>
                <a:latin typeface="Arial"/>
              </a:defRPr>
            </a:pPr>
            <a:r>
              <a:t>Evidence artifact plus an independent acceptance check.</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285D9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285D9C"/>
                </a:solidFill>
                <a:latin typeface="Arial"/>
              </a:defRPr>
            </a:pPr>
            <a:r>
              <a:t>COMMON ARCHITECTURAL PATTERNS  /  USE CASE</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Four handoffs cover most first-pass team needs</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Compose only the specialists needed by the actual job.</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04 / 18    Common architectural patterns</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02:00 allocated  |  04:00–06:00</a:t>
            </a:r>
          </a:p>
        </p:txBody>
      </p:sp>
      <p:graphicFrame>
        <p:nvGraphicFramePr>
          <p:cNvPr id="9" name="Table 8"/>
          <p:cNvGraphicFramePr>
            <a:graphicFrameLocks noGrp="1"/>
          </p:cNvGraphicFramePr>
          <p:nvPr/>
        </p:nvGraphicFramePr>
        <p:xfrm>
          <a:off x="502920" y="2313432"/>
          <a:ext cx="11183112" cy="3858768"/>
        </p:xfrm>
        <a:graphic>
          <a:graphicData uri="http://schemas.openxmlformats.org/drawingml/2006/table">
            <a:tbl>
              <a:tblPr firstRow="1" bandRow="1">
                <a:tableStyleId>{5C22544A-7EE6-4342-B048-85BDC9FD1C3A}</a:tableStyleId>
              </a:tblPr>
              <a:tblGrid>
                <a:gridCol w="3727704"/>
                <a:gridCol w="3727704"/>
                <a:gridCol w="3727704"/>
              </a:tblGrid>
              <a:tr h="771753">
                <a:tc>
                  <a:txBody>
                    <a:bodyPr/>
                    <a:lstStyle/>
                    <a:p>
                      <a:pPr>
                        <a:spcAft>
                          <a:spcPts val="0"/>
                        </a:spcAft>
                        <a:defRPr sz="1600" b="1">
                          <a:solidFill>
                            <a:srgbClr val="FFFFFF"/>
                          </a:solidFill>
                          <a:latin typeface="Arial"/>
                        </a:defRPr>
                      </a:pPr>
                      <a:r>
                        <a:t>Daily workflow</a:t>
                      </a:r>
                    </a:p>
                  </a:txBody>
                  <a:tcPr marL="128016" marR="128016" marT="82296" marB="54864">
                    <a:solidFill>
                      <a:srgbClr val="10243B"/>
                    </a:solidFill>
                  </a:tcPr>
                </a:tc>
                <a:tc>
                  <a:txBody>
                    <a:bodyPr/>
                    <a:lstStyle/>
                    <a:p>
                      <a:pPr>
                        <a:spcAft>
                          <a:spcPts val="0"/>
                        </a:spcAft>
                        <a:defRPr sz="1600" b="1">
                          <a:solidFill>
                            <a:srgbClr val="FFFFFF"/>
                          </a:solidFill>
                          <a:latin typeface="Arial"/>
                        </a:defRPr>
                      </a:pPr>
                      <a:r>
                        <a:t>Useful specialist output</a:t>
                      </a:r>
                    </a:p>
                  </a:txBody>
                  <a:tcPr marL="128016" marR="128016" marT="82296" marB="54864">
                    <a:solidFill>
                      <a:srgbClr val="10243B"/>
                    </a:solidFill>
                  </a:tcPr>
                </a:tc>
                <a:tc>
                  <a:txBody>
                    <a:bodyPr/>
                    <a:lstStyle/>
                    <a:p>
                      <a:pPr>
                        <a:spcAft>
                          <a:spcPts val="0"/>
                        </a:spcAft>
                        <a:defRPr sz="1600" b="1">
                          <a:solidFill>
                            <a:srgbClr val="FFFFFF"/>
                          </a:solidFill>
                          <a:latin typeface="Arial"/>
                        </a:defRPr>
                      </a:pPr>
                      <a:r>
                        <a:t>Team completion</a:t>
                      </a:r>
                    </a:p>
                  </a:txBody>
                  <a:tcPr marL="128016" marR="128016" marT="82296" marB="54864">
                    <a:solidFill>
                      <a:srgbClr val="10243B"/>
                    </a:solidFill>
                  </a:tcPr>
                </a:tc>
              </a:tr>
              <a:tr h="771753">
                <a:tc>
                  <a:txBody>
                    <a:bodyPr/>
                    <a:lstStyle/>
                    <a:p>
                      <a:pPr>
                        <a:spcAft>
                          <a:spcPts val="0"/>
                        </a:spcAft>
                        <a:defRPr sz="1600" b="0">
                          <a:solidFill>
                            <a:srgbClr val="182B43"/>
                          </a:solidFill>
                          <a:latin typeface="Arial"/>
                        </a:defRPr>
                      </a:pPr>
                      <a:r>
                        <a:t>Incident → fix</a:t>
                      </a:r>
                    </a:p>
                  </a:txBody>
                  <a:tcPr marL="128016" marR="128016" marT="82296" marB="54864">
                    <a:solidFill>
                      <a:srgbClr val="F1F5F8"/>
                    </a:solidFill>
                  </a:tcPr>
                </a:tc>
                <a:tc>
                  <a:txBody>
                    <a:bodyPr/>
                    <a:lstStyle/>
                    <a:p>
                      <a:pPr>
                        <a:spcAft>
                          <a:spcPts val="0"/>
                        </a:spcAft>
                        <a:defRPr sz="1600" b="0">
                          <a:solidFill>
                            <a:srgbClr val="182B43"/>
                          </a:solidFill>
                          <a:latin typeface="Arial"/>
                        </a:defRPr>
                      </a:pPr>
                      <a:r>
                        <a:t>DevOps evidence → Kiro reviewable change</a:t>
                      </a:r>
                    </a:p>
                  </a:txBody>
                  <a:tcPr marL="128016" marR="128016" marT="82296" marB="54864">
                    <a:solidFill>
                      <a:srgbClr val="F1F5F8"/>
                    </a:solidFill>
                  </a:tcPr>
                </a:tc>
                <a:tc>
                  <a:txBody>
                    <a:bodyPr/>
                    <a:lstStyle/>
                    <a:p>
                      <a:pPr>
                        <a:spcAft>
                          <a:spcPts val="0"/>
                        </a:spcAft>
                        <a:defRPr sz="1600" b="0">
                          <a:solidFill>
                            <a:srgbClr val="182B43"/>
                          </a:solidFill>
                          <a:latin typeface="Arial"/>
                        </a:defRPr>
                      </a:pPr>
                      <a:r>
                        <a:t>Owner verifies recovery after approved delivery</a:t>
                      </a:r>
                    </a:p>
                  </a:txBody>
                  <a:tcPr marL="128016" marR="128016" marT="82296" marB="54864">
                    <a:solidFill>
                      <a:srgbClr val="F1F5F8"/>
                    </a:solidFill>
                  </a:tcPr>
                </a:tc>
              </a:tr>
              <a:tr h="771753">
                <a:tc>
                  <a:txBody>
                    <a:bodyPr/>
                    <a:lstStyle/>
                    <a:p>
                      <a:pPr>
                        <a:spcAft>
                          <a:spcPts val="0"/>
                        </a:spcAft>
                        <a:defRPr sz="1600" b="0">
                          <a:solidFill>
                            <a:srgbClr val="182B43"/>
                          </a:solidFill>
                          <a:latin typeface="Arial"/>
                        </a:defRPr>
                      </a:pPr>
                      <a:r>
                        <a:t>Finding → repair</a:t>
                      </a:r>
                    </a:p>
                  </a:txBody>
                  <a:tcPr marL="128016" marR="128016" marT="82296" marB="54864">
                    <a:solidFill>
                      <a:srgbClr val="FFFFFF"/>
                    </a:solidFill>
                  </a:tcPr>
                </a:tc>
                <a:tc>
                  <a:txBody>
                    <a:bodyPr/>
                    <a:lstStyle/>
                    <a:p>
                      <a:pPr>
                        <a:spcAft>
                          <a:spcPts val="0"/>
                        </a:spcAft>
                        <a:defRPr sz="1600" b="0">
                          <a:solidFill>
                            <a:srgbClr val="182B43"/>
                          </a:solidFill>
                          <a:latin typeface="Arial"/>
                        </a:defRPr>
                      </a:pPr>
                      <a:r>
                        <a:t>Security evidence → reviewed code repair</a:t>
                      </a:r>
                    </a:p>
                  </a:txBody>
                  <a:tcPr marL="128016" marR="128016" marT="82296" marB="54864">
                    <a:solidFill>
                      <a:srgbClr val="FFFFFF"/>
                    </a:solidFill>
                  </a:tcPr>
                </a:tc>
                <a:tc>
                  <a:txBody>
                    <a:bodyPr/>
                    <a:lstStyle/>
                    <a:p>
                      <a:pPr>
                        <a:spcAft>
                          <a:spcPts val="0"/>
                        </a:spcAft>
                        <a:defRPr sz="1600" b="0">
                          <a:solidFill>
                            <a:srgbClr val="182B43"/>
                          </a:solidFill>
                          <a:latin typeface="Arial"/>
                        </a:defRPr>
                      </a:pPr>
                      <a:r>
                        <a:t>Deploy and revalidate the finding</a:t>
                      </a:r>
                    </a:p>
                  </a:txBody>
                  <a:tcPr marL="128016" marR="128016" marT="82296" marB="54864">
                    <a:solidFill>
                      <a:srgbClr val="FFFFFF"/>
                    </a:solidFill>
                  </a:tcPr>
                </a:tc>
              </a:tr>
              <a:tr h="771753">
                <a:tc>
                  <a:txBody>
                    <a:bodyPr/>
                    <a:lstStyle/>
                    <a:p>
                      <a:pPr>
                        <a:spcAft>
                          <a:spcPts val="0"/>
                        </a:spcAft>
                        <a:defRPr sz="1600" b="0">
                          <a:solidFill>
                            <a:srgbClr val="182B43"/>
                          </a:solidFill>
                          <a:latin typeface="Arial"/>
                        </a:defRPr>
                      </a:pPr>
                      <a:r>
                        <a:t>Cost anomaly → change</a:t>
                      </a:r>
                    </a:p>
                  </a:txBody>
                  <a:tcPr marL="128016" marR="128016" marT="82296" marB="54864">
                    <a:solidFill>
                      <a:srgbClr val="F1F5F8"/>
                    </a:solidFill>
                  </a:tcPr>
                </a:tc>
                <a:tc>
                  <a:txBody>
                    <a:bodyPr/>
                    <a:lstStyle/>
                    <a:p>
                      <a:pPr>
                        <a:spcAft>
                          <a:spcPts val="0"/>
                        </a:spcAft>
                        <a:defRPr sz="1600" b="0">
                          <a:solidFill>
                            <a:srgbClr val="182B43"/>
                          </a:solidFill>
                          <a:latin typeface="Arial"/>
                        </a:defRPr>
                      </a:pPr>
                      <a:r>
                        <a:t>FinOps explanation → owned change request</a:t>
                      </a:r>
                    </a:p>
                  </a:txBody>
                  <a:tcPr marL="128016" marR="128016" marT="82296" marB="54864">
                    <a:solidFill>
                      <a:srgbClr val="F1F5F8"/>
                    </a:solidFill>
                  </a:tcPr>
                </a:tc>
                <a:tc>
                  <a:txBody>
                    <a:bodyPr/>
                    <a:lstStyle/>
                    <a:p>
                      <a:pPr>
                        <a:spcAft>
                          <a:spcPts val="0"/>
                        </a:spcAft>
                        <a:defRPr sz="1600" b="0">
                          <a:solidFill>
                            <a:srgbClr val="182B43"/>
                          </a:solidFill>
                          <a:latin typeface="Arial"/>
                        </a:defRPr>
                      </a:pPr>
                      <a:r>
                        <a:t>Measure an approved change on a comparable basis</a:t>
                      </a:r>
                    </a:p>
                  </a:txBody>
                  <a:tcPr marL="128016" marR="128016" marT="82296" marB="54864">
                    <a:solidFill>
                      <a:srgbClr val="F1F5F8"/>
                    </a:solidFill>
                  </a:tcPr>
                </a:tc>
              </a:tr>
              <a:tr h="771756">
                <a:tc>
                  <a:txBody>
                    <a:bodyPr/>
                    <a:lstStyle/>
                    <a:p>
                      <a:pPr>
                        <a:spcAft>
                          <a:spcPts val="0"/>
                        </a:spcAft>
                        <a:defRPr sz="1600" b="0">
                          <a:solidFill>
                            <a:srgbClr val="182B43"/>
                          </a:solidFill>
                          <a:latin typeface="Arial"/>
                        </a:defRPr>
                      </a:pPr>
                      <a:r>
                        <a:t>Daily review → backlog</a:t>
                      </a:r>
                    </a:p>
                  </a:txBody>
                  <a:tcPr marL="128016" marR="128016" marT="82296" marB="54864">
                    <a:solidFill>
                      <a:srgbClr val="FFFFFF"/>
                    </a:solidFill>
                  </a:tcPr>
                </a:tc>
                <a:tc>
                  <a:txBody>
                    <a:bodyPr/>
                    <a:lstStyle/>
                    <a:p>
                      <a:pPr>
                        <a:spcAft>
                          <a:spcPts val="0"/>
                        </a:spcAft>
                        <a:defRPr sz="1600" b="0">
                          <a:solidFill>
                            <a:srgbClr val="182B43"/>
                          </a:solidFill>
                          <a:latin typeface="Arial"/>
                        </a:defRPr>
                      </a:pPr>
                      <a:r>
                        <a:t>Reports, recommendations and accepted findings</a:t>
                      </a:r>
                    </a:p>
                  </a:txBody>
                  <a:tcPr marL="128016" marR="128016" marT="82296" marB="54864">
                    <a:solidFill>
                      <a:srgbClr val="FFFFFF"/>
                    </a:solidFill>
                  </a:tcPr>
                </a:tc>
                <a:tc>
                  <a:txBody>
                    <a:bodyPr/>
                    <a:lstStyle/>
                    <a:p>
                      <a:pPr>
                        <a:spcAft>
                          <a:spcPts val="0"/>
                        </a:spcAft>
                        <a:defRPr sz="1600" b="0">
                          <a:solidFill>
                            <a:srgbClr val="182B43"/>
                          </a:solidFill>
                          <a:latin typeface="Arial"/>
                        </a:defRPr>
                      </a:pPr>
                      <a:r>
                        <a:t>Deduplicate, assign owners and select next work</a:t>
                      </a:r>
                    </a:p>
                  </a:txBody>
                  <a:tcPr marL="128016" marR="128016" marT="82296" marB="54864">
                    <a:solidFill>
                      <a:srgbClr val="FFFFFF"/>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285D9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285D9C"/>
                </a:solidFill>
                <a:latin typeface="Arial"/>
              </a:defRPr>
            </a:pPr>
            <a:r>
              <a:t>COMMON ARCHITECTURAL PATTERNS  /  CONTROLS</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P01 · bind the workspace to accountable ownership</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A product workspace is not automatically an enforced security boundary.</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05 / 18    Common architectural patterns</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02:00 allocated  |  06:00–08:00</a:t>
            </a:r>
          </a:p>
        </p:txBody>
      </p:sp>
      <p:graphicFrame>
        <p:nvGraphicFramePr>
          <p:cNvPr id="9" name="Table 8"/>
          <p:cNvGraphicFramePr>
            <a:graphicFrameLocks noGrp="1"/>
          </p:cNvGraphicFramePr>
          <p:nvPr/>
        </p:nvGraphicFramePr>
        <p:xfrm>
          <a:off x="502920" y="2313432"/>
          <a:ext cx="11183112" cy="3858768"/>
        </p:xfrm>
        <a:graphic>
          <a:graphicData uri="http://schemas.openxmlformats.org/drawingml/2006/table">
            <a:tbl>
              <a:tblPr firstRow="1" bandRow="1">
                <a:tableStyleId>{5C22544A-7EE6-4342-B048-85BDC9FD1C3A}</a:tableStyleId>
              </a:tblPr>
              <a:tblGrid>
                <a:gridCol w="3727704"/>
                <a:gridCol w="3727704"/>
                <a:gridCol w="3727704"/>
              </a:tblGrid>
              <a:tr h="771753">
                <a:tc>
                  <a:txBody>
                    <a:bodyPr/>
                    <a:lstStyle/>
                    <a:p>
                      <a:pPr>
                        <a:spcAft>
                          <a:spcPts val="0"/>
                        </a:spcAft>
                        <a:defRPr sz="1600" b="1">
                          <a:solidFill>
                            <a:srgbClr val="FFFFFF"/>
                          </a:solidFill>
                          <a:latin typeface="Arial"/>
                        </a:defRPr>
                      </a:pPr>
                      <a:r>
                        <a:t>Product</a:t>
                      </a:r>
                    </a:p>
                  </a:txBody>
                  <a:tcPr marL="128016" marR="128016" marT="82296" marB="54864">
                    <a:solidFill>
                      <a:srgbClr val="10243B"/>
                    </a:solidFill>
                  </a:tcPr>
                </a:tc>
                <a:tc>
                  <a:txBody>
                    <a:bodyPr/>
                    <a:lstStyle/>
                    <a:p>
                      <a:pPr>
                        <a:spcAft>
                          <a:spcPts val="0"/>
                        </a:spcAft>
                        <a:defRPr sz="1600" b="1">
                          <a:solidFill>
                            <a:srgbClr val="FFFFFF"/>
                          </a:solidFill>
                          <a:latin typeface="Arial"/>
                        </a:defRPr>
                      </a:pPr>
                      <a:r>
                        <a:t>Actual boundary to inspect</a:t>
                      </a:r>
                    </a:p>
                  </a:txBody>
                  <a:tcPr marL="128016" marR="128016" marT="82296" marB="54864">
                    <a:solidFill>
                      <a:srgbClr val="10243B"/>
                    </a:solidFill>
                  </a:tcPr>
                </a:tc>
                <a:tc>
                  <a:txBody>
                    <a:bodyPr/>
                    <a:lstStyle/>
                    <a:p>
                      <a:pPr>
                        <a:spcAft>
                          <a:spcPts val="0"/>
                        </a:spcAft>
                        <a:defRPr sz="1600" b="1">
                          <a:solidFill>
                            <a:srgbClr val="FFFFFF"/>
                          </a:solidFill>
                          <a:latin typeface="Arial"/>
                        </a:defRPr>
                      </a:pPr>
                      <a:r>
                        <a:t>Recommended acceptance check</a:t>
                      </a:r>
                    </a:p>
                  </a:txBody>
                  <a:tcPr marL="128016" marR="128016" marT="82296" marB="54864">
                    <a:solidFill>
                      <a:srgbClr val="10243B"/>
                    </a:solidFill>
                  </a:tcPr>
                </a:tc>
              </a:tr>
              <a:tr h="771753">
                <a:tc>
                  <a:txBody>
                    <a:bodyPr/>
                    <a:lstStyle/>
                    <a:p>
                      <a:pPr>
                        <a:spcAft>
                          <a:spcPts val="0"/>
                        </a:spcAft>
                        <a:defRPr sz="1600" b="0">
                          <a:solidFill>
                            <a:srgbClr val="182B43"/>
                          </a:solidFill>
                          <a:latin typeface="Arial"/>
                        </a:defRPr>
                      </a:pPr>
                      <a:r>
                        <a:t>DevOps</a:t>
                      </a:r>
                    </a:p>
                  </a:txBody>
                  <a:tcPr marL="128016" marR="128016" marT="82296" marB="54864">
                    <a:solidFill>
                      <a:srgbClr val="F1F5F8"/>
                    </a:solidFill>
                  </a:tcPr>
                </a:tc>
                <a:tc>
                  <a:txBody>
                    <a:bodyPr/>
                    <a:lstStyle/>
                    <a:p>
                      <a:pPr>
                        <a:spcAft>
                          <a:spcPts val="0"/>
                        </a:spcAft>
                        <a:defRPr sz="1600" b="0">
                          <a:solidFill>
                            <a:srgbClr val="182B43"/>
                          </a:solidFill>
                          <a:latin typeface="Arial"/>
                        </a:defRPr>
                      </a:pPr>
                      <a:r>
                        <a:t>AWS role and connected integrations</a:t>
                      </a:r>
                    </a:p>
                  </a:txBody>
                  <a:tcPr marL="128016" marR="128016" marT="82296" marB="54864">
                    <a:solidFill>
                      <a:srgbClr val="F1F5F8"/>
                    </a:solidFill>
                  </a:tcPr>
                </a:tc>
                <a:tc>
                  <a:txBody>
                    <a:bodyPr/>
                    <a:lstStyle/>
                    <a:p>
                      <a:pPr>
                        <a:spcAft>
                          <a:spcPts val="0"/>
                        </a:spcAft>
                        <a:defRPr sz="1600" b="0">
                          <a:solidFill>
                            <a:srgbClr val="182B43"/>
                          </a:solidFill>
                          <a:latin typeface="Arial"/>
                        </a:defRPr>
                      </a:pPr>
                      <a:r>
                        <a:t>Allowed source read; harmless out-of-scope read denied</a:t>
                      </a:r>
                    </a:p>
                  </a:txBody>
                  <a:tcPr marL="128016" marR="128016" marT="82296" marB="54864">
                    <a:solidFill>
                      <a:srgbClr val="F1F5F8"/>
                    </a:solidFill>
                  </a:tcPr>
                </a:tc>
              </a:tr>
              <a:tr h="771753">
                <a:tc>
                  <a:txBody>
                    <a:bodyPr/>
                    <a:lstStyle/>
                    <a:p>
                      <a:pPr>
                        <a:spcAft>
                          <a:spcPts val="0"/>
                        </a:spcAft>
                        <a:defRPr sz="1600" b="0">
                          <a:solidFill>
                            <a:srgbClr val="182B43"/>
                          </a:solidFill>
                          <a:latin typeface="Arial"/>
                        </a:defRPr>
                      </a:pPr>
                      <a:r>
                        <a:t>Kiro</a:t>
                      </a:r>
                    </a:p>
                  </a:txBody>
                  <a:tcPr marL="128016" marR="128016" marT="82296" marB="54864">
                    <a:solidFill>
                      <a:srgbClr val="FFFFFF"/>
                    </a:solidFill>
                  </a:tcPr>
                </a:tc>
                <a:tc>
                  <a:txBody>
                    <a:bodyPr/>
                    <a:lstStyle/>
                    <a:p>
                      <a:pPr>
                        <a:spcAft>
                          <a:spcPts val="0"/>
                        </a:spcAft>
                        <a:defRPr sz="1600" b="0">
                          <a:solidFill>
                            <a:srgbClr val="182B43"/>
                          </a:solidFill>
                          <a:latin typeface="Arial"/>
                        </a:defRPr>
                      </a:pPr>
                      <a:r>
                        <a:t>Repository authorization and client/sandbox controls</a:t>
                      </a:r>
                    </a:p>
                  </a:txBody>
                  <a:tcPr marL="128016" marR="128016" marT="82296" marB="54864">
                    <a:solidFill>
                      <a:srgbClr val="FFFFFF"/>
                    </a:solidFill>
                  </a:tcPr>
                </a:tc>
                <a:tc>
                  <a:txBody>
                    <a:bodyPr/>
                    <a:lstStyle/>
                    <a:p>
                      <a:pPr>
                        <a:spcAft>
                          <a:spcPts val="0"/>
                        </a:spcAft>
                        <a:defRPr sz="1600" b="0">
                          <a:solidFill>
                            <a:srgbClr val="182B43"/>
                          </a:solidFill>
                          <a:latin typeface="Arial"/>
                        </a:defRPr>
                      </a:pPr>
                      <a:r>
                        <a:t>Only selected repository/task access</a:t>
                      </a:r>
                    </a:p>
                  </a:txBody>
                  <a:tcPr marL="128016" marR="128016" marT="82296" marB="54864">
                    <a:solidFill>
                      <a:srgbClr val="FFFFFF"/>
                    </a:solidFill>
                  </a:tcPr>
                </a:tc>
              </a:tr>
              <a:tr h="771753">
                <a:tc>
                  <a:txBody>
                    <a:bodyPr/>
                    <a:lstStyle/>
                    <a:p>
                      <a:pPr>
                        <a:spcAft>
                          <a:spcPts val="0"/>
                        </a:spcAft>
                        <a:defRPr sz="1600" b="0">
                          <a:solidFill>
                            <a:srgbClr val="182B43"/>
                          </a:solidFill>
                          <a:latin typeface="Arial"/>
                        </a:defRPr>
                      </a:pPr>
                      <a:r>
                        <a:t>Security</a:t>
                      </a:r>
                    </a:p>
                  </a:txBody>
                  <a:tcPr marL="128016" marR="128016" marT="82296" marB="54864">
                    <a:solidFill>
                      <a:srgbClr val="F1F5F8"/>
                    </a:solidFill>
                  </a:tcPr>
                </a:tc>
                <a:tc>
                  <a:txBody>
                    <a:bodyPr/>
                    <a:lstStyle/>
                    <a:p>
                      <a:pPr>
                        <a:spcAft>
                          <a:spcPts val="0"/>
                        </a:spcAft>
                        <a:defRPr sz="1600" b="0">
                          <a:solidFill>
                            <a:srgbClr val="182B43"/>
                          </a:solidFill>
                          <a:latin typeface="Arial"/>
                        </a:defRPr>
                      </a:pPr>
                      <a:r>
                        <a:t>Target, credentials and network scope</a:t>
                      </a:r>
                    </a:p>
                  </a:txBody>
                  <a:tcPr marL="128016" marR="128016" marT="82296" marB="54864">
                    <a:solidFill>
                      <a:srgbClr val="F1F5F8"/>
                    </a:solidFill>
                  </a:tcPr>
                </a:tc>
                <a:tc>
                  <a:txBody>
                    <a:bodyPr/>
                    <a:lstStyle/>
                    <a:p>
                      <a:pPr>
                        <a:spcAft>
                          <a:spcPts val="0"/>
                        </a:spcAft>
                        <a:defRPr sz="1600" b="0">
                          <a:solidFill>
                            <a:srgbClr val="182B43"/>
                          </a:solidFill>
                          <a:latin typeface="Arial"/>
                        </a:defRPr>
                      </a:pPr>
                      <a:r>
                        <a:t>Only authorized test systems reachable</a:t>
                      </a:r>
                    </a:p>
                  </a:txBody>
                  <a:tcPr marL="128016" marR="128016" marT="82296" marB="54864">
                    <a:solidFill>
                      <a:srgbClr val="F1F5F8"/>
                    </a:solidFill>
                  </a:tcPr>
                </a:tc>
              </a:tr>
              <a:tr h="771756">
                <a:tc>
                  <a:txBody>
                    <a:bodyPr/>
                    <a:lstStyle/>
                    <a:p>
                      <a:pPr>
                        <a:spcAft>
                          <a:spcPts val="0"/>
                        </a:spcAft>
                        <a:defRPr sz="1600" b="0">
                          <a:solidFill>
                            <a:srgbClr val="182B43"/>
                          </a:solidFill>
                          <a:latin typeface="Arial"/>
                        </a:defRPr>
                      </a:pPr>
                      <a:r>
                        <a:t>FinOps</a:t>
                      </a:r>
                    </a:p>
                  </a:txBody>
                  <a:tcPr marL="128016" marR="128016" marT="82296" marB="54864">
                    <a:solidFill>
                      <a:srgbClr val="FFFFFF"/>
                    </a:solidFill>
                  </a:tcPr>
                </a:tc>
                <a:tc>
                  <a:txBody>
                    <a:bodyPr/>
                    <a:lstStyle/>
                    <a:p>
                      <a:pPr>
                        <a:spcAft>
                          <a:spcPts val="0"/>
                        </a:spcAft>
                        <a:defRPr sz="1600" b="0">
                          <a:solidFill>
                            <a:srgbClr val="182B43"/>
                          </a:solidFill>
                          <a:latin typeface="Arial"/>
                        </a:defRPr>
                      </a:pPr>
                      <a:r>
                        <a:t>Per-agent roles, context and connections</a:t>
                      </a:r>
                    </a:p>
                  </a:txBody>
                  <a:tcPr marL="128016" marR="128016" marT="82296" marB="54864">
                    <a:solidFill>
                      <a:srgbClr val="FFFFFF"/>
                    </a:solidFill>
                  </a:tcPr>
                </a:tc>
                <a:tc>
                  <a:txBody>
                    <a:bodyPr/>
                    <a:lstStyle/>
                    <a:p>
                      <a:pPr>
                        <a:spcAft>
                          <a:spcPts val="0"/>
                        </a:spcAft>
                        <a:defRPr sz="1600" b="0">
                          <a:solidFill>
                            <a:srgbClr val="182B43"/>
                          </a:solidFill>
                          <a:latin typeface="Arial"/>
                        </a:defRPr>
                      </a:pPr>
                      <a:r>
                        <a:t>Cost scope and destination access match ownership</a:t>
                      </a:r>
                    </a:p>
                  </a:txBody>
                  <a:tcPr marL="128016" marR="128016" marT="82296" marB="54864">
                    <a:solidFill>
                      <a:srgbClr val="FFFFFF"/>
                    </a:solidFill>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285D9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285D9C"/>
                </a:solidFill>
                <a:latin typeface="Arial"/>
              </a:defRPr>
            </a:pPr>
            <a:r>
              <a:t>COMMON ARCHITECTURAL PATTERNS  /  EVIDENCE</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P02 · retain provenance with every conclusion</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An answer must carry enough context to be checked after it leaves the original interface.</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06 / 18    Common architectural patterns</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01:30 allocated  |  08:00–09:30</a:t>
            </a:r>
          </a:p>
        </p:txBody>
      </p:sp>
      <p:sp>
        <p:nvSpPr>
          <p:cNvPr id="9" name="Rounded Rectangle 8"/>
          <p:cNvSpPr/>
          <p:nvPr/>
        </p:nvSpPr>
        <p:spPr>
          <a:xfrm>
            <a:off x="502920" y="2313432"/>
            <a:ext cx="5490972" cy="1837944"/>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2459736"/>
            <a:ext cx="5161788" cy="201168"/>
          </a:xfrm>
          <a:prstGeom prst="rect">
            <a:avLst/>
          </a:prstGeom>
          <a:noFill/>
        </p:spPr>
        <p:txBody>
          <a:bodyPr wrap="square" lIns="0" rIns="0" tIns="0" bIns="0" anchor="t">
            <a:spAutoFit/>
          </a:bodyPr>
          <a:lstStyle/>
          <a:p>
            <a:pPr>
              <a:lnSpc>
                <a:spcPct val="112000"/>
              </a:lnSpc>
              <a:spcAft>
                <a:spcPts val="300"/>
              </a:spcAft>
              <a:defRPr sz="1050" b="1">
                <a:solidFill>
                  <a:srgbClr val="285D9C"/>
                </a:solidFill>
                <a:latin typeface="Arial"/>
              </a:defRPr>
            </a:pPr>
            <a:r>
              <a:t>DEVOPS</a:t>
            </a:r>
          </a:p>
        </p:txBody>
      </p:sp>
      <p:sp>
        <p:nvSpPr>
          <p:cNvPr id="11" name="TextBox 10"/>
          <p:cNvSpPr txBox="1"/>
          <p:nvPr/>
        </p:nvSpPr>
        <p:spPr>
          <a:xfrm>
            <a:off x="667512" y="2788920"/>
            <a:ext cx="5161788"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Operational</a:t>
            </a:r>
          </a:p>
        </p:txBody>
      </p:sp>
      <p:sp>
        <p:nvSpPr>
          <p:cNvPr id="12" name="TextBox 11"/>
          <p:cNvSpPr txBox="1"/>
          <p:nvPr/>
        </p:nvSpPr>
        <p:spPr>
          <a:xfrm>
            <a:off x="667512" y="3392424"/>
            <a:ext cx="5161788" cy="612648"/>
          </a:xfrm>
          <a:prstGeom prst="rect">
            <a:avLst/>
          </a:prstGeom>
          <a:noFill/>
        </p:spPr>
        <p:txBody>
          <a:bodyPr wrap="square" lIns="0" rIns="0" tIns="0" bIns="0" anchor="t">
            <a:spAutoFit/>
          </a:bodyPr>
          <a:lstStyle/>
          <a:p>
            <a:pPr>
              <a:lnSpc>
                <a:spcPct val="112000"/>
              </a:lnSpc>
              <a:spcAft>
                <a:spcPts val="300"/>
              </a:spcAft>
              <a:defRPr sz="1600" b="0">
                <a:solidFill>
                  <a:srgbClr val="182B43"/>
                </a:solidFill>
                <a:latin typeface="Arial"/>
              </a:defRPr>
            </a:pPr>
            <a:r>
              <a:t>Incident window, resource IDs, telemetry and deployment reference.</a:t>
            </a:r>
          </a:p>
        </p:txBody>
      </p:sp>
      <p:sp>
        <p:nvSpPr>
          <p:cNvPr id="13" name="Rounded Rectangle 12"/>
          <p:cNvSpPr/>
          <p:nvPr/>
        </p:nvSpPr>
        <p:spPr>
          <a:xfrm>
            <a:off x="6195059" y="2313432"/>
            <a:ext cx="5490972" cy="1837944"/>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59651" y="2459736"/>
            <a:ext cx="5161788" cy="201168"/>
          </a:xfrm>
          <a:prstGeom prst="rect">
            <a:avLst/>
          </a:prstGeom>
          <a:noFill/>
        </p:spPr>
        <p:txBody>
          <a:bodyPr wrap="square" lIns="0" rIns="0" tIns="0" bIns="0" anchor="t">
            <a:spAutoFit/>
          </a:bodyPr>
          <a:lstStyle/>
          <a:p>
            <a:pPr>
              <a:lnSpc>
                <a:spcPct val="112000"/>
              </a:lnSpc>
              <a:spcAft>
                <a:spcPts val="300"/>
              </a:spcAft>
              <a:defRPr sz="1050" b="1">
                <a:solidFill>
                  <a:srgbClr val="285D9C"/>
                </a:solidFill>
                <a:latin typeface="Arial"/>
              </a:defRPr>
            </a:pPr>
            <a:r>
              <a:t>KIRO</a:t>
            </a:r>
          </a:p>
        </p:txBody>
      </p:sp>
      <p:sp>
        <p:nvSpPr>
          <p:cNvPr id="15" name="TextBox 14"/>
          <p:cNvSpPr txBox="1"/>
          <p:nvPr/>
        </p:nvSpPr>
        <p:spPr>
          <a:xfrm>
            <a:off x="6359651" y="2788920"/>
            <a:ext cx="5161788"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Repository</a:t>
            </a:r>
          </a:p>
        </p:txBody>
      </p:sp>
      <p:sp>
        <p:nvSpPr>
          <p:cNvPr id="16" name="TextBox 15"/>
          <p:cNvSpPr txBox="1"/>
          <p:nvPr/>
        </p:nvSpPr>
        <p:spPr>
          <a:xfrm>
            <a:off x="6359651" y="3392424"/>
            <a:ext cx="5161788" cy="612648"/>
          </a:xfrm>
          <a:prstGeom prst="rect">
            <a:avLst/>
          </a:prstGeom>
          <a:noFill/>
        </p:spPr>
        <p:txBody>
          <a:bodyPr wrap="square" lIns="0" rIns="0" tIns="0" bIns="0" anchor="t">
            <a:spAutoFit/>
          </a:bodyPr>
          <a:lstStyle/>
          <a:p>
            <a:pPr>
              <a:lnSpc>
                <a:spcPct val="112000"/>
              </a:lnSpc>
              <a:spcAft>
                <a:spcPts val="300"/>
              </a:spcAft>
              <a:defRPr sz="1600" b="0">
                <a:solidFill>
                  <a:srgbClr val="182B43"/>
                </a:solidFill>
                <a:latin typeface="Arial"/>
              </a:defRPr>
            </a:pPr>
            <a:r>
              <a:t>Commit, file/symbol, requirement and check result.</a:t>
            </a:r>
          </a:p>
        </p:txBody>
      </p:sp>
      <p:sp>
        <p:nvSpPr>
          <p:cNvPr id="17" name="Rounded Rectangle 16"/>
          <p:cNvSpPr/>
          <p:nvPr/>
        </p:nvSpPr>
        <p:spPr>
          <a:xfrm>
            <a:off x="502920" y="4352544"/>
            <a:ext cx="5490972" cy="1837944"/>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67512" y="4498848"/>
            <a:ext cx="5161788" cy="201168"/>
          </a:xfrm>
          <a:prstGeom prst="rect">
            <a:avLst/>
          </a:prstGeom>
          <a:noFill/>
        </p:spPr>
        <p:txBody>
          <a:bodyPr wrap="square" lIns="0" rIns="0" tIns="0" bIns="0" anchor="t">
            <a:spAutoFit/>
          </a:bodyPr>
          <a:lstStyle/>
          <a:p>
            <a:pPr>
              <a:lnSpc>
                <a:spcPct val="112000"/>
              </a:lnSpc>
              <a:spcAft>
                <a:spcPts val="300"/>
              </a:spcAft>
              <a:defRPr sz="1050" b="1">
                <a:solidFill>
                  <a:srgbClr val="285D9C"/>
                </a:solidFill>
                <a:latin typeface="Arial"/>
              </a:defRPr>
            </a:pPr>
            <a:r>
              <a:t>SECURITY</a:t>
            </a:r>
          </a:p>
        </p:txBody>
      </p:sp>
      <p:sp>
        <p:nvSpPr>
          <p:cNvPr id="19" name="TextBox 18"/>
          <p:cNvSpPr txBox="1"/>
          <p:nvPr/>
        </p:nvSpPr>
        <p:spPr>
          <a:xfrm>
            <a:off x="667512" y="4828031"/>
            <a:ext cx="5161788"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Assessment</a:t>
            </a:r>
          </a:p>
        </p:txBody>
      </p:sp>
      <p:sp>
        <p:nvSpPr>
          <p:cNvPr id="20" name="TextBox 19"/>
          <p:cNvSpPr txBox="1"/>
          <p:nvPr/>
        </p:nvSpPr>
        <p:spPr>
          <a:xfrm>
            <a:off x="667512" y="5431536"/>
            <a:ext cx="5161788" cy="612648"/>
          </a:xfrm>
          <a:prstGeom prst="rect">
            <a:avLst/>
          </a:prstGeom>
          <a:noFill/>
        </p:spPr>
        <p:txBody>
          <a:bodyPr wrap="square" lIns="0" rIns="0" tIns="0" bIns="0" anchor="t">
            <a:spAutoFit/>
          </a:bodyPr>
          <a:lstStyle/>
          <a:p>
            <a:pPr>
              <a:lnSpc>
                <a:spcPct val="112000"/>
              </a:lnSpc>
              <a:spcAft>
                <a:spcPts val="300"/>
              </a:spcAft>
              <a:defRPr sz="1600" b="0">
                <a:solidFill>
                  <a:srgbClr val="182B43"/>
                </a:solidFill>
                <a:latin typeface="Arial"/>
              </a:defRPr>
            </a:pPr>
            <a:r>
              <a:t>Target version, identity, coverage, finding and run ID.</a:t>
            </a:r>
          </a:p>
        </p:txBody>
      </p:sp>
      <p:sp>
        <p:nvSpPr>
          <p:cNvPr id="21" name="Rounded Rectangle 20"/>
          <p:cNvSpPr/>
          <p:nvPr/>
        </p:nvSpPr>
        <p:spPr>
          <a:xfrm>
            <a:off x="6195059" y="4352544"/>
            <a:ext cx="5490972" cy="1837944"/>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59651" y="4498848"/>
            <a:ext cx="5161788" cy="201168"/>
          </a:xfrm>
          <a:prstGeom prst="rect">
            <a:avLst/>
          </a:prstGeom>
          <a:noFill/>
        </p:spPr>
        <p:txBody>
          <a:bodyPr wrap="square" lIns="0" rIns="0" tIns="0" bIns="0" anchor="t">
            <a:spAutoFit/>
          </a:bodyPr>
          <a:lstStyle/>
          <a:p>
            <a:pPr>
              <a:lnSpc>
                <a:spcPct val="112000"/>
              </a:lnSpc>
              <a:spcAft>
                <a:spcPts val="300"/>
              </a:spcAft>
              <a:defRPr sz="1050" b="1">
                <a:solidFill>
                  <a:srgbClr val="285D9C"/>
                </a:solidFill>
                <a:latin typeface="Arial"/>
              </a:defRPr>
            </a:pPr>
            <a:r>
              <a:t>FINOPS</a:t>
            </a:r>
          </a:p>
        </p:txBody>
      </p:sp>
      <p:sp>
        <p:nvSpPr>
          <p:cNvPr id="23" name="TextBox 22"/>
          <p:cNvSpPr txBox="1"/>
          <p:nvPr/>
        </p:nvSpPr>
        <p:spPr>
          <a:xfrm>
            <a:off x="6359651" y="4828031"/>
            <a:ext cx="5161788"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Cost</a:t>
            </a:r>
          </a:p>
        </p:txBody>
      </p:sp>
      <p:sp>
        <p:nvSpPr>
          <p:cNvPr id="24" name="TextBox 23"/>
          <p:cNvSpPr txBox="1"/>
          <p:nvPr/>
        </p:nvSpPr>
        <p:spPr>
          <a:xfrm>
            <a:off x="6359651" y="5431536"/>
            <a:ext cx="5161788" cy="612648"/>
          </a:xfrm>
          <a:prstGeom prst="rect">
            <a:avLst/>
          </a:prstGeom>
          <a:noFill/>
        </p:spPr>
        <p:txBody>
          <a:bodyPr wrap="square" lIns="0" rIns="0" tIns="0" bIns="0" anchor="t">
            <a:spAutoFit/>
          </a:bodyPr>
          <a:lstStyle/>
          <a:p>
            <a:pPr>
              <a:lnSpc>
                <a:spcPct val="112000"/>
              </a:lnSpc>
              <a:spcAft>
                <a:spcPts val="300"/>
              </a:spcAft>
              <a:defRPr sz="1600" b="0">
                <a:solidFill>
                  <a:srgbClr val="182B43"/>
                </a:solidFill>
                <a:latin typeface="Arial"/>
              </a:defRPr>
            </a:pPr>
            <a:r>
              <a:t>Period, accounts, filters, dimensions and cost basis.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285D9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285D9C"/>
                </a:solidFill>
                <a:latin typeface="Arial"/>
              </a:defRPr>
            </a:pPr>
            <a:r>
              <a:t>COMMON ARCHITECTURAL PATTERNS  /  CONTROLS</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P03 · keep instructions separate from authorization</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Guidance changes behavior; credentials and technical controls determine possible effects.</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07 / 18    Common architectural patterns</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01:30 allocated  |  09:30–11:00</a:t>
            </a:r>
          </a:p>
        </p:txBody>
      </p:sp>
      <p:sp>
        <p:nvSpPr>
          <p:cNvPr id="9" name="Rounded Rectangle 8"/>
          <p:cNvSpPr/>
          <p:nvPr/>
        </p:nvSpPr>
        <p:spPr>
          <a:xfrm>
            <a:off x="502920" y="2313432"/>
            <a:ext cx="5486400" cy="2971800"/>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2459736"/>
            <a:ext cx="5157216" cy="201168"/>
          </a:xfrm>
          <a:prstGeom prst="rect">
            <a:avLst/>
          </a:prstGeom>
          <a:noFill/>
        </p:spPr>
        <p:txBody>
          <a:bodyPr wrap="square" lIns="0" rIns="0" tIns="0" bIns="0" anchor="t">
            <a:spAutoFit/>
          </a:bodyPr>
          <a:lstStyle/>
          <a:p>
            <a:pPr>
              <a:lnSpc>
                <a:spcPct val="112000"/>
              </a:lnSpc>
              <a:spcAft>
                <a:spcPts val="300"/>
              </a:spcAft>
              <a:defRPr sz="1050" b="1">
                <a:solidFill>
                  <a:srgbClr val="285D9C"/>
                </a:solidFill>
                <a:latin typeface="Arial"/>
              </a:defRPr>
            </a:pPr>
            <a:r>
              <a:t>GUIDANCE</a:t>
            </a:r>
          </a:p>
        </p:txBody>
      </p:sp>
      <p:sp>
        <p:nvSpPr>
          <p:cNvPr id="11" name="TextBox 10"/>
          <p:cNvSpPr txBox="1"/>
          <p:nvPr/>
        </p:nvSpPr>
        <p:spPr>
          <a:xfrm>
            <a:off x="667512" y="2788920"/>
            <a:ext cx="5157216"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Instruction plane</a:t>
            </a:r>
          </a:p>
        </p:txBody>
      </p:sp>
      <p:sp>
        <p:nvSpPr>
          <p:cNvPr id="12" name="TextBox 11"/>
          <p:cNvSpPr txBox="1"/>
          <p:nvPr/>
        </p:nvSpPr>
        <p:spPr>
          <a:xfrm>
            <a:off x="667512" y="3392424"/>
            <a:ext cx="5157216" cy="1746504"/>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Prompts, steering, skills, memory and context explain the task and preferred procedure.</a:t>
            </a:r>
          </a:p>
        </p:txBody>
      </p:sp>
      <p:sp>
        <p:nvSpPr>
          <p:cNvPr id="13" name="Rounded Rectangle 12"/>
          <p:cNvSpPr/>
          <p:nvPr/>
        </p:nvSpPr>
        <p:spPr>
          <a:xfrm>
            <a:off x="6199632" y="2313432"/>
            <a:ext cx="5486400" cy="2971800"/>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64224" y="2459736"/>
            <a:ext cx="5157216" cy="201168"/>
          </a:xfrm>
          <a:prstGeom prst="rect">
            <a:avLst/>
          </a:prstGeom>
          <a:noFill/>
        </p:spPr>
        <p:txBody>
          <a:bodyPr wrap="square" lIns="0" rIns="0" tIns="0" bIns="0" anchor="t">
            <a:spAutoFit/>
          </a:bodyPr>
          <a:lstStyle/>
          <a:p>
            <a:pPr>
              <a:lnSpc>
                <a:spcPct val="112000"/>
              </a:lnSpc>
              <a:spcAft>
                <a:spcPts val="300"/>
              </a:spcAft>
              <a:defRPr sz="1050" b="1">
                <a:solidFill>
                  <a:srgbClr val="285D9C"/>
                </a:solidFill>
                <a:latin typeface="Arial"/>
              </a:defRPr>
            </a:pPr>
            <a:r>
              <a:t>ENFORCEMENT</a:t>
            </a:r>
          </a:p>
        </p:txBody>
      </p:sp>
      <p:sp>
        <p:nvSpPr>
          <p:cNvPr id="15" name="TextBox 14"/>
          <p:cNvSpPr txBox="1"/>
          <p:nvPr/>
        </p:nvSpPr>
        <p:spPr>
          <a:xfrm>
            <a:off x="6364224" y="2788920"/>
            <a:ext cx="5157216"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Authority plane</a:t>
            </a:r>
          </a:p>
        </p:txBody>
      </p:sp>
      <p:sp>
        <p:nvSpPr>
          <p:cNvPr id="16" name="TextBox 15"/>
          <p:cNvSpPr txBox="1"/>
          <p:nvPr/>
        </p:nvSpPr>
        <p:spPr>
          <a:xfrm>
            <a:off x="6364224" y="3392424"/>
            <a:ext cx="5157216" cy="1746504"/>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Roles, repository access, network rules, tool permissions and approval gates constrain effects.</a:t>
            </a:r>
          </a:p>
        </p:txBody>
      </p:sp>
      <p:sp>
        <p:nvSpPr>
          <p:cNvPr id="17" name="Rounded Rectangle 16"/>
          <p:cNvSpPr/>
          <p:nvPr/>
        </p:nvSpPr>
        <p:spPr>
          <a:xfrm>
            <a:off x="502920" y="5477256"/>
            <a:ext cx="11183112" cy="713232"/>
          </a:xfrm>
          <a:prstGeom prst="roundRect">
            <a:avLst>
              <a:gd name="adj" fmla="val 8000"/>
            </a:avLst>
          </a:prstGeom>
          <a:solidFill>
            <a:srgbClr val="1024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04088" y="5632704"/>
            <a:ext cx="10771632" cy="402336"/>
          </a:xfrm>
          <a:prstGeom prst="rect">
            <a:avLst/>
          </a:prstGeom>
          <a:noFill/>
        </p:spPr>
        <p:txBody>
          <a:bodyPr wrap="square" lIns="0" rIns="0" tIns="0" bIns="0" anchor="t">
            <a:spAutoFit/>
          </a:bodyPr>
          <a:lstStyle/>
          <a:p>
            <a:pPr>
              <a:lnSpc>
                <a:spcPct val="112000"/>
              </a:lnSpc>
              <a:spcAft>
                <a:spcPts val="300"/>
              </a:spcAft>
              <a:defRPr sz="1700" b="1">
                <a:solidFill>
                  <a:srgbClr val="FFFFFF"/>
                </a:solidFill>
                <a:latin typeface="Arial"/>
              </a:defRPr>
            </a:pPr>
            <a:r>
              <a:t>Anti-pattern: broad credentials plus a prompt saying “only touch checkout.”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285D9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285D9C"/>
                </a:solidFill>
                <a:latin typeface="Arial"/>
              </a:defRPr>
            </a:pPr>
            <a:r>
              <a:t>COMMON ARCHITECTURAL PATTERNS  /  CONTROLS</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P05 · classify the effect before selecting the gate</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Approval is product- and entry-point-specific.</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08 / 18    Common architectural patterns</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02:00 allocated  |  11:00–13:00</a:t>
            </a:r>
          </a:p>
        </p:txBody>
      </p:sp>
      <p:graphicFrame>
        <p:nvGraphicFramePr>
          <p:cNvPr id="9" name="Table 8"/>
          <p:cNvGraphicFramePr>
            <a:graphicFrameLocks noGrp="1"/>
          </p:cNvGraphicFramePr>
          <p:nvPr/>
        </p:nvGraphicFramePr>
        <p:xfrm>
          <a:off x="502920" y="2313432"/>
          <a:ext cx="11183112" cy="3858768"/>
        </p:xfrm>
        <a:graphic>
          <a:graphicData uri="http://schemas.openxmlformats.org/drawingml/2006/table">
            <a:tbl>
              <a:tblPr firstRow="1" bandRow="1">
                <a:tableStyleId>{5C22544A-7EE6-4342-B048-85BDC9FD1C3A}</a:tableStyleId>
              </a:tblPr>
              <a:tblGrid>
                <a:gridCol w="3727704"/>
                <a:gridCol w="3727704"/>
                <a:gridCol w="3727704"/>
              </a:tblGrid>
              <a:tr h="771753">
                <a:tc>
                  <a:txBody>
                    <a:bodyPr/>
                    <a:lstStyle/>
                    <a:p>
                      <a:pPr>
                        <a:spcAft>
                          <a:spcPts val="0"/>
                        </a:spcAft>
                        <a:defRPr sz="1600" b="1">
                          <a:solidFill>
                            <a:srgbClr val="FFFFFF"/>
                          </a:solidFill>
                          <a:latin typeface="Arial"/>
                        </a:defRPr>
                      </a:pPr>
                      <a:r>
                        <a:t>Effect path</a:t>
                      </a:r>
                    </a:p>
                  </a:txBody>
                  <a:tcPr marL="128016" marR="128016" marT="82296" marB="54864">
                    <a:solidFill>
                      <a:srgbClr val="10243B"/>
                    </a:solidFill>
                  </a:tcPr>
                </a:tc>
                <a:tc>
                  <a:txBody>
                    <a:bodyPr/>
                    <a:lstStyle/>
                    <a:p>
                      <a:pPr>
                        <a:spcAft>
                          <a:spcPts val="0"/>
                        </a:spcAft>
                        <a:defRPr sz="1600" b="1">
                          <a:solidFill>
                            <a:srgbClr val="FFFFFF"/>
                          </a:solidFill>
                          <a:latin typeface="Arial"/>
                        </a:defRPr>
                      </a:pPr>
                      <a:r>
                        <a:t>Documented native behavior</a:t>
                      </a:r>
                    </a:p>
                  </a:txBody>
                  <a:tcPr marL="128016" marR="128016" marT="82296" marB="54864">
                    <a:solidFill>
                      <a:srgbClr val="10243B"/>
                    </a:solidFill>
                  </a:tcPr>
                </a:tc>
                <a:tc>
                  <a:txBody>
                    <a:bodyPr/>
                    <a:lstStyle/>
                    <a:p>
                      <a:pPr>
                        <a:spcAft>
                          <a:spcPts val="0"/>
                        </a:spcAft>
                        <a:defRPr sz="1600" b="1">
                          <a:solidFill>
                            <a:srgbClr val="FFFFFF"/>
                          </a:solidFill>
                          <a:latin typeface="Arial"/>
                        </a:defRPr>
                      </a:pPr>
                      <a:r>
                        <a:t>Team responsibility</a:t>
                      </a:r>
                    </a:p>
                  </a:txBody>
                  <a:tcPr marL="128016" marR="128016" marT="82296" marB="54864">
                    <a:solidFill>
                      <a:srgbClr val="10243B"/>
                    </a:solidFill>
                  </a:tcPr>
                </a:tc>
              </a:tr>
              <a:tr h="771753">
                <a:tc>
                  <a:txBody>
                    <a:bodyPr/>
                    <a:lstStyle/>
                    <a:p>
                      <a:pPr>
                        <a:spcAft>
                          <a:spcPts val="0"/>
                        </a:spcAft>
                        <a:defRPr sz="1600" b="0">
                          <a:solidFill>
                            <a:srgbClr val="182B43"/>
                          </a:solidFill>
                          <a:latin typeface="Arial"/>
                        </a:defRPr>
                      </a:pPr>
                      <a:r>
                        <a:t>DevOps directed action</a:t>
                      </a:r>
                    </a:p>
                  </a:txBody>
                  <a:tcPr marL="128016" marR="128016" marT="82296" marB="54864">
                    <a:solidFill>
                      <a:srgbClr val="F1F5F8"/>
                    </a:solidFill>
                  </a:tcPr>
                </a:tc>
                <a:tc>
                  <a:txBody>
                    <a:bodyPr/>
                    <a:lstStyle/>
                    <a:p>
                      <a:pPr>
                        <a:spcAft>
                          <a:spcPts val="0"/>
                        </a:spcAft>
                        <a:defRPr sz="1600" b="0">
                          <a:solidFill>
                            <a:srgbClr val="182B43"/>
                          </a:solidFill>
                          <a:latin typeface="Arial"/>
                        </a:defRPr>
                      </a:pPr>
                      <a:r>
                        <a:t>Layered opt-in and per-action approval</a:t>
                      </a:r>
                    </a:p>
                  </a:txBody>
                  <a:tcPr marL="128016" marR="128016" marT="82296" marB="54864">
                    <a:solidFill>
                      <a:srgbClr val="F1F5F8"/>
                    </a:solidFill>
                  </a:tcPr>
                </a:tc>
                <a:tc>
                  <a:txBody>
                    <a:bodyPr/>
                    <a:lstStyle/>
                    <a:p>
                      <a:pPr>
                        <a:spcAft>
                          <a:spcPts val="0"/>
                        </a:spcAft>
                        <a:defRPr sz="1600" b="0">
                          <a:solidFill>
                            <a:srgbClr val="182B43"/>
                          </a:solidFill>
                          <a:latin typeface="Arial"/>
                        </a:defRPr>
                      </a:pPr>
                      <a:r>
                        <a:t>Inspect exact operation and rollback</a:t>
                      </a:r>
                    </a:p>
                  </a:txBody>
                  <a:tcPr marL="128016" marR="128016" marT="82296" marB="54864">
                    <a:solidFill>
                      <a:srgbClr val="F1F5F8"/>
                    </a:solidFill>
                  </a:tcPr>
                </a:tc>
              </a:tr>
              <a:tr h="771753">
                <a:tc>
                  <a:txBody>
                    <a:bodyPr/>
                    <a:lstStyle/>
                    <a:p>
                      <a:pPr>
                        <a:spcAft>
                          <a:spcPts val="0"/>
                        </a:spcAft>
                        <a:defRPr sz="1600" b="0">
                          <a:solidFill>
                            <a:srgbClr val="182B43"/>
                          </a:solidFill>
                          <a:latin typeface="Arial"/>
                        </a:defRPr>
                      </a:pPr>
                      <a:r>
                        <a:t>Active application testing</a:t>
                      </a:r>
                    </a:p>
                  </a:txBody>
                  <a:tcPr marL="128016" marR="128016" marT="82296" marB="54864">
                    <a:solidFill>
                      <a:srgbClr val="FFFFFF"/>
                    </a:solidFill>
                  </a:tcPr>
                </a:tc>
                <a:tc>
                  <a:txBody>
                    <a:bodyPr/>
                    <a:lstStyle/>
                    <a:p>
                      <a:pPr>
                        <a:spcAft>
                          <a:spcPts val="0"/>
                        </a:spcAft>
                        <a:defRPr sz="1600" b="0">
                          <a:solidFill>
                            <a:srgbClr val="182B43"/>
                          </a:solidFill>
                          <a:latin typeface="Arial"/>
                        </a:defRPr>
                      </a:pPr>
                      <a:r>
                        <a:t>Real requests can modify target state</a:t>
                      </a:r>
                    </a:p>
                  </a:txBody>
                  <a:tcPr marL="128016" marR="128016" marT="82296" marB="54864">
                    <a:solidFill>
                      <a:srgbClr val="FFFFFF"/>
                    </a:solidFill>
                  </a:tcPr>
                </a:tc>
                <a:tc>
                  <a:txBody>
                    <a:bodyPr/>
                    <a:lstStyle/>
                    <a:p>
                      <a:pPr>
                        <a:spcAft>
                          <a:spcPts val="0"/>
                        </a:spcAft>
                        <a:defRPr sz="1600" b="0">
                          <a:solidFill>
                            <a:srgbClr val="182B43"/>
                          </a:solidFill>
                          <a:latin typeface="Arial"/>
                        </a:defRPr>
                      </a:pPr>
                      <a:r>
                        <a:t>Isolate data, dependencies and stop controls</a:t>
                      </a:r>
                    </a:p>
                  </a:txBody>
                  <a:tcPr marL="128016" marR="128016" marT="82296" marB="54864">
                    <a:solidFill>
                      <a:srgbClr val="FFFFFF"/>
                    </a:solidFill>
                  </a:tcPr>
                </a:tc>
              </a:tr>
              <a:tr h="771753">
                <a:tc>
                  <a:txBody>
                    <a:bodyPr/>
                    <a:lstStyle/>
                    <a:p>
                      <a:pPr>
                        <a:spcAft>
                          <a:spcPts val="0"/>
                        </a:spcAft>
                        <a:defRPr sz="1600" b="0">
                          <a:solidFill>
                            <a:srgbClr val="182B43"/>
                          </a:solidFill>
                          <a:latin typeface="Arial"/>
                        </a:defRPr>
                      </a:pPr>
                      <a:r>
                        <a:t>Kiro code change</a:t>
                      </a:r>
                    </a:p>
                  </a:txBody>
                  <a:tcPr marL="128016" marR="128016" marT="82296" marB="54864">
                    <a:solidFill>
                      <a:srgbClr val="F1F5F8"/>
                    </a:solidFill>
                  </a:tcPr>
                </a:tc>
                <a:tc>
                  <a:txBody>
                    <a:bodyPr/>
                    <a:lstStyle/>
                    <a:p>
                      <a:pPr>
                        <a:spcAft>
                          <a:spcPts val="0"/>
                        </a:spcAft>
                        <a:defRPr sz="1600" b="0">
                          <a:solidFill>
                            <a:srgbClr val="182B43"/>
                          </a:solidFill>
                          <a:latin typeface="Arial"/>
                        </a:defRPr>
                      </a:pPr>
                      <a:r>
                        <a:t>Reviewable repository output; no automatic merge</a:t>
                      </a:r>
                    </a:p>
                  </a:txBody>
                  <a:tcPr marL="128016" marR="128016" marT="82296" marB="54864">
                    <a:solidFill>
                      <a:srgbClr val="F1F5F8"/>
                    </a:solidFill>
                  </a:tcPr>
                </a:tc>
                <a:tc>
                  <a:txBody>
                    <a:bodyPr/>
                    <a:lstStyle/>
                    <a:p>
                      <a:pPr>
                        <a:spcAft>
                          <a:spcPts val="0"/>
                        </a:spcAft>
                        <a:defRPr sz="1600" b="0">
                          <a:solidFill>
                            <a:srgbClr val="182B43"/>
                          </a:solidFill>
                          <a:latin typeface="Arial"/>
                        </a:defRPr>
                      </a:pPr>
                      <a:r>
                        <a:t>Repository checks and merge ownership</a:t>
                      </a:r>
                    </a:p>
                  </a:txBody>
                  <a:tcPr marL="128016" marR="128016" marT="82296" marB="54864">
                    <a:solidFill>
                      <a:srgbClr val="F1F5F8"/>
                    </a:solidFill>
                  </a:tcPr>
                </a:tc>
              </a:tr>
              <a:tr h="771756">
                <a:tc>
                  <a:txBody>
                    <a:bodyPr/>
                    <a:lstStyle/>
                    <a:p>
                      <a:pPr>
                        <a:spcAft>
                          <a:spcPts val="0"/>
                        </a:spcAft>
                        <a:defRPr sz="1600" b="0">
                          <a:solidFill>
                            <a:srgbClr val="182B43"/>
                          </a:solidFill>
                          <a:latin typeface="Arial"/>
                        </a:defRPr>
                      </a:pPr>
                      <a:r>
                        <a:t>FinOps external post</a:t>
                      </a:r>
                    </a:p>
                  </a:txBody>
                  <a:tcPr marL="128016" marR="128016" marT="82296" marB="54864">
                    <a:solidFill>
                      <a:srgbClr val="FFFFFF"/>
                    </a:solidFill>
                  </a:tcPr>
                </a:tc>
                <a:tc>
                  <a:txBody>
                    <a:bodyPr/>
                    <a:lstStyle/>
                    <a:p>
                      <a:pPr>
                        <a:spcAft>
                          <a:spcPts val="0"/>
                        </a:spcAft>
                        <a:defRPr sz="1600" b="0">
                          <a:solidFill>
                            <a:srgbClr val="182B43"/>
                          </a:solidFill>
                          <a:latin typeface="Arial"/>
                        </a:defRPr>
                      </a:pPr>
                      <a:r>
                        <a:t>Jira and Slack approval differ by trigger</a:t>
                      </a:r>
                    </a:p>
                  </a:txBody>
                  <a:tcPr marL="128016" marR="128016" marT="82296" marB="54864">
                    <a:solidFill>
                      <a:srgbClr val="FFFFFF"/>
                    </a:solidFill>
                  </a:tcPr>
                </a:tc>
                <a:tc>
                  <a:txBody>
                    <a:bodyPr/>
                    <a:lstStyle/>
                    <a:p>
                      <a:pPr>
                        <a:spcAft>
                          <a:spcPts val="0"/>
                        </a:spcAft>
                        <a:defRPr sz="1600" b="0">
                          <a:solidFill>
                            <a:srgbClr val="182B43"/>
                          </a:solidFill>
                          <a:latin typeface="Arial"/>
                        </a:defRPr>
                      </a:pPr>
                      <a:r>
                        <a:t>Review destination scope and pre-authorization</a:t>
                      </a:r>
                    </a:p>
                  </a:txBody>
                  <a:tcPr marL="128016" marR="128016" marT="82296" marB="54864">
                    <a:solidFill>
                      <a:srgbClr val="FFFFFF"/>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285D9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285D9C"/>
                </a:solidFill>
                <a:latin typeface="Arial"/>
              </a:defRPr>
            </a:pPr>
            <a:r>
              <a:t>COMMON ARCHITECTURAL PATTERNS  /  CONTROLS</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P06 · isolate the worker and the target</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An isolated execution environment can still affect systems it can reach.</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09 / 18    Common architectural patterns</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01:30 allocated  |  13:00–14:30</a:t>
            </a:r>
          </a:p>
        </p:txBody>
      </p:sp>
      <p:sp>
        <p:nvSpPr>
          <p:cNvPr id="9" name="Rounded Rectangle 8"/>
          <p:cNvSpPr/>
          <p:nvPr/>
        </p:nvSpPr>
        <p:spPr>
          <a:xfrm>
            <a:off x="502920" y="2313432"/>
            <a:ext cx="5490972" cy="1837944"/>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2459736"/>
            <a:ext cx="5161788" cy="201168"/>
          </a:xfrm>
          <a:prstGeom prst="rect">
            <a:avLst/>
          </a:prstGeom>
          <a:noFill/>
        </p:spPr>
        <p:txBody>
          <a:bodyPr wrap="square" lIns="0" rIns="0" tIns="0" bIns="0" anchor="t">
            <a:spAutoFit/>
          </a:bodyPr>
          <a:lstStyle/>
          <a:p>
            <a:pPr>
              <a:lnSpc>
                <a:spcPct val="112000"/>
              </a:lnSpc>
              <a:spcAft>
                <a:spcPts val="300"/>
              </a:spcAft>
              <a:defRPr sz="1050" b="1">
                <a:solidFill>
                  <a:srgbClr val="285D9C"/>
                </a:solidFill>
                <a:latin typeface="Arial"/>
              </a:defRPr>
            </a:pPr>
            <a:r>
              <a:t>COMPUTE</a:t>
            </a:r>
          </a:p>
        </p:txBody>
      </p:sp>
      <p:sp>
        <p:nvSpPr>
          <p:cNvPr id="11" name="TextBox 10"/>
          <p:cNvSpPr txBox="1"/>
          <p:nvPr/>
        </p:nvSpPr>
        <p:spPr>
          <a:xfrm>
            <a:off x="667512" y="2788920"/>
            <a:ext cx="5161788"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Worker</a:t>
            </a:r>
          </a:p>
        </p:txBody>
      </p:sp>
      <p:sp>
        <p:nvSpPr>
          <p:cNvPr id="12" name="TextBox 11"/>
          <p:cNvSpPr txBox="1"/>
          <p:nvPr/>
        </p:nvSpPr>
        <p:spPr>
          <a:xfrm>
            <a:off x="667512" y="3392424"/>
            <a:ext cx="5161788" cy="612648"/>
          </a:xfrm>
          <a:prstGeom prst="rect">
            <a:avLst/>
          </a:prstGeom>
          <a:noFill/>
        </p:spPr>
        <p:txBody>
          <a:bodyPr wrap="square" lIns="0" rIns="0" tIns="0" bIns="0" anchor="t">
            <a:spAutoFit/>
          </a:bodyPr>
          <a:lstStyle/>
          <a:p>
            <a:pPr>
              <a:lnSpc>
                <a:spcPct val="112000"/>
              </a:lnSpc>
              <a:spcAft>
                <a:spcPts val="300"/>
              </a:spcAft>
              <a:defRPr sz="1600" b="0">
                <a:solidFill>
                  <a:srgbClr val="182B43"/>
                </a:solidFill>
                <a:latin typeface="Arial"/>
              </a:defRPr>
            </a:pPr>
            <a:r>
              <a:t>Sandbox or service-managed execution.</a:t>
            </a:r>
          </a:p>
        </p:txBody>
      </p:sp>
      <p:sp>
        <p:nvSpPr>
          <p:cNvPr id="13" name="Rounded Rectangle 12"/>
          <p:cNvSpPr/>
          <p:nvPr/>
        </p:nvSpPr>
        <p:spPr>
          <a:xfrm>
            <a:off x="6195059" y="2313432"/>
            <a:ext cx="5490972" cy="1837944"/>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59651" y="2459736"/>
            <a:ext cx="5161788" cy="201168"/>
          </a:xfrm>
          <a:prstGeom prst="rect">
            <a:avLst/>
          </a:prstGeom>
          <a:noFill/>
        </p:spPr>
        <p:txBody>
          <a:bodyPr wrap="square" lIns="0" rIns="0" tIns="0" bIns="0" anchor="t">
            <a:spAutoFit/>
          </a:bodyPr>
          <a:lstStyle/>
          <a:p>
            <a:pPr>
              <a:lnSpc>
                <a:spcPct val="112000"/>
              </a:lnSpc>
              <a:spcAft>
                <a:spcPts val="300"/>
              </a:spcAft>
              <a:defRPr sz="1050" b="1">
                <a:solidFill>
                  <a:srgbClr val="285D9C"/>
                </a:solidFill>
                <a:latin typeface="Arial"/>
              </a:defRPr>
            </a:pPr>
            <a:r>
              <a:t>ACCESS</a:t>
            </a:r>
          </a:p>
        </p:txBody>
      </p:sp>
      <p:sp>
        <p:nvSpPr>
          <p:cNvPr id="15" name="TextBox 14"/>
          <p:cNvSpPr txBox="1"/>
          <p:nvPr/>
        </p:nvSpPr>
        <p:spPr>
          <a:xfrm>
            <a:off x="6359651" y="2788920"/>
            <a:ext cx="5161788"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Reachability</a:t>
            </a:r>
          </a:p>
        </p:txBody>
      </p:sp>
      <p:sp>
        <p:nvSpPr>
          <p:cNvPr id="16" name="TextBox 15"/>
          <p:cNvSpPr txBox="1"/>
          <p:nvPr/>
        </p:nvSpPr>
        <p:spPr>
          <a:xfrm>
            <a:off x="6359651" y="3392424"/>
            <a:ext cx="5161788" cy="612648"/>
          </a:xfrm>
          <a:prstGeom prst="rect">
            <a:avLst/>
          </a:prstGeom>
          <a:noFill/>
        </p:spPr>
        <p:txBody>
          <a:bodyPr wrap="square" lIns="0" rIns="0" tIns="0" bIns="0" anchor="t">
            <a:spAutoFit/>
          </a:bodyPr>
          <a:lstStyle/>
          <a:p>
            <a:pPr>
              <a:lnSpc>
                <a:spcPct val="112000"/>
              </a:lnSpc>
              <a:spcAft>
                <a:spcPts val="300"/>
              </a:spcAft>
              <a:defRPr sz="1600" b="0">
                <a:solidFill>
                  <a:srgbClr val="182B43"/>
                </a:solidFill>
                <a:latin typeface="Arial"/>
              </a:defRPr>
            </a:pPr>
            <a:r>
              <a:t>Network, endpoints, credentials and integrations.</a:t>
            </a:r>
          </a:p>
        </p:txBody>
      </p:sp>
      <p:sp>
        <p:nvSpPr>
          <p:cNvPr id="17" name="Rounded Rectangle 16"/>
          <p:cNvSpPr/>
          <p:nvPr/>
        </p:nvSpPr>
        <p:spPr>
          <a:xfrm>
            <a:off x="502920" y="4352544"/>
            <a:ext cx="5490972" cy="1837944"/>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67512" y="4498848"/>
            <a:ext cx="5161788" cy="201168"/>
          </a:xfrm>
          <a:prstGeom prst="rect">
            <a:avLst/>
          </a:prstGeom>
          <a:noFill/>
        </p:spPr>
        <p:txBody>
          <a:bodyPr wrap="square" lIns="0" rIns="0" tIns="0" bIns="0" anchor="t">
            <a:spAutoFit/>
          </a:bodyPr>
          <a:lstStyle/>
          <a:p>
            <a:pPr>
              <a:lnSpc>
                <a:spcPct val="112000"/>
              </a:lnSpc>
              <a:spcAft>
                <a:spcPts val="300"/>
              </a:spcAft>
              <a:defRPr sz="1050" b="1">
                <a:solidFill>
                  <a:srgbClr val="285D9C"/>
                </a:solidFill>
                <a:latin typeface="Arial"/>
              </a:defRPr>
            </a:pPr>
            <a:r>
              <a:t>IMPACT</a:t>
            </a:r>
          </a:p>
        </p:txBody>
      </p:sp>
      <p:sp>
        <p:nvSpPr>
          <p:cNvPr id="19" name="TextBox 18"/>
          <p:cNvSpPr txBox="1"/>
          <p:nvPr/>
        </p:nvSpPr>
        <p:spPr>
          <a:xfrm>
            <a:off x="667512" y="4828031"/>
            <a:ext cx="5161788"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Target</a:t>
            </a:r>
          </a:p>
        </p:txBody>
      </p:sp>
      <p:sp>
        <p:nvSpPr>
          <p:cNvPr id="20" name="TextBox 19"/>
          <p:cNvSpPr txBox="1"/>
          <p:nvPr/>
        </p:nvSpPr>
        <p:spPr>
          <a:xfrm>
            <a:off x="667512" y="5431536"/>
            <a:ext cx="5161788" cy="612648"/>
          </a:xfrm>
          <a:prstGeom prst="rect">
            <a:avLst/>
          </a:prstGeom>
          <a:noFill/>
        </p:spPr>
        <p:txBody>
          <a:bodyPr wrap="square" lIns="0" rIns="0" tIns="0" bIns="0" anchor="t">
            <a:spAutoFit/>
          </a:bodyPr>
          <a:lstStyle/>
          <a:p>
            <a:pPr>
              <a:lnSpc>
                <a:spcPct val="112000"/>
              </a:lnSpc>
              <a:spcAft>
                <a:spcPts val="300"/>
              </a:spcAft>
              <a:defRPr sz="1600" b="0">
                <a:solidFill>
                  <a:srgbClr val="182B43"/>
                </a:solidFill>
                <a:latin typeface="Arial"/>
              </a:defRPr>
            </a:pPr>
            <a:r>
              <a:t>Staging state and downstream business effects.</a:t>
            </a:r>
          </a:p>
        </p:txBody>
      </p:sp>
      <p:sp>
        <p:nvSpPr>
          <p:cNvPr id="21" name="Rounded Rectangle 20"/>
          <p:cNvSpPr/>
          <p:nvPr/>
        </p:nvSpPr>
        <p:spPr>
          <a:xfrm>
            <a:off x="6195059" y="4352544"/>
            <a:ext cx="5490972" cy="1837944"/>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59651" y="4498848"/>
            <a:ext cx="5161788" cy="201168"/>
          </a:xfrm>
          <a:prstGeom prst="rect">
            <a:avLst/>
          </a:prstGeom>
          <a:noFill/>
        </p:spPr>
        <p:txBody>
          <a:bodyPr wrap="square" lIns="0" rIns="0" tIns="0" bIns="0" anchor="t">
            <a:spAutoFit/>
          </a:bodyPr>
          <a:lstStyle/>
          <a:p>
            <a:pPr>
              <a:lnSpc>
                <a:spcPct val="112000"/>
              </a:lnSpc>
              <a:spcAft>
                <a:spcPts val="300"/>
              </a:spcAft>
              <a:defRPr sz="1050" b="1">
                <a:solidFill>
                  <a:srgbClr val="285D9C"/>
                </a:solidFill>
                <a:latin typeface="Arial"/>
              </a:defRPr>
            </a:pPr>
            <a:r>
              <a:t>OPERATIONS</a:t>
            </a:r>
          </a:p>
        </p:txBody>
      </p:sp>
      <p:sp>
        <p:nvSpPr>
          <p:cNvPr id="23" name="TextBox 22"/>
          <p:cNvSpPr txBox="1"/>
          <p:nvPr/>
        </p:nvSpPr>
        <p:spPr>
          <a:xfrm>
            <a:off x="6359651" y="4828031"/>
            <a:ext cx="5161788"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Recovery</a:t>
            </a:r>
          </a:p>
        </p:txBody>
      </p:sp>
      <p:sp>
        <p:nvSpPr>
          <p:cNvPr id="24" name="TextBox 23"/>
          <p:cNvSpPr txBox="1"/>
          <p:nvPr/>
        </p:nvSpPr>
        <p:spPr>
          <a:xfrm>
            <a:off x="6359651" y="5431536"/>
            <a:ext cx="5161788" cy="612648"/>
          </a:xfrm>
          <a:prstGeom prst="rect">
            <a:avLst/>
          </a:prstGeom>
          <a:noFill/>
        </p:spPr>
        <p:txBody>
          <a:bodyPr wrap="square" lIns="0" rIns="0" tIns="0" bIns="0" anchor="t">
            <a:spAutoFit/>
          </a:bodyPr>
          <a:lstStyle/>
          <a:p>
            <a:pPr>
              <a:lnSpc>
                <a:spcPct val="112000"/>
              </a:lnSpc>
              <a:spcAft>
                <a:spcPts val="300"/>
              </a:spcAft>
              <a:defRPr sz="1600" b="0">
                <a:solidFill>
                  <a:srgbClr val="182B43"/>
                </a:solidFill>
                <a:latin typeface="Arial"/>
              </a:defRPr>
            </a:pPr>
            <a:r>
              <a:t>Stop owner, cleanup and verified restoration.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285D9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285D9C"/>
                </a:solidFill>
                <a:latin typeface="Arial"/>
              </a:defRPr>
            </a:pPr>
            <a:r>
              <a:t>COMMON ARCHITECTURAL PATTERNS  /  INTEGRATION</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P07 · integrate through explicit adapters</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A protocol or connector is a building block—not a common permission model.</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10 / 18    Common architectural patterns</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01:30 allocated  |  14:30–16:00</a:t>
            </a:r>
          </a:p>
        </p:txBody>
      </p:sp>
      <p:graphicFrame>
        <p:nvGraphicFramePr>
          <p:cNvPr id="9" name="Table 8"/>
          <p:cNvGraphicFramePr>
            <a:graphicFrameLocks noGrp="1"/>
          </p:cNvGraphicFramePr>
          <p:nvPr/>
        </p:nvGraphicFramePr>
        <p:xfrm>
          <a:off x="502920" y="2313432"/>
          <a:ext cx="11183112" cy="3858768"/>
        </p:xfrm>
        <a:graphic>
          <a:graphicData uri="http://schemas.openxmlformats.org/drawingml/2006/table">
            <a:tbl>
              <a:tblPr firstRow="1" bandRow="1">
                <a:tableStyleId>{5C22544A-7EE6-4342-B048-85BDC9FD1C3A}</a:tableStyleId>
              </a:tblPr>
              <a:tblGrid>
                <a:gridCol w="3727704"/>
                <a:gridCol w="3727704"/>
                <a:gridCol w="3727704"/>
              </a:tblGrid>
              <a:tr h="771753">
                <a:tc>
                  <a:txBody>
                    <a:bodyPr/>
                    <a:lstStyle/>
                    <a:p>
                      <a:pPr>
                        <a:spcAft>
                          <a:spcPts val="0"/>
                        </a:spcAft>
                        <a:defRPr sz="1600" b="1">
                          <a:solidFill>
                            <a:srgbClr val="FFFFFF"/>
                          </a:solidFill>
                          <a:latin typeface="Arial"/>
                        </a:defRPr>
                      </a:pPr>
                      <a:r>
                        <a:t>Interface</a:t>
                      </a:r>
                    </a:p>
                  </a:txBody>
                  <a:tcPr marL="128016" marR="128016" marT="82296" marB="54864">
                    <a:solidFill>
                      <a:srgbClr val="10243B"/>
                    </a:solidFill>
                  </a:tcPr>
                </a:tc>
                <a:tc>
                  <a:txBody>
                    <a:bodyPr/>
                    <a:lstStyle/>
                    <a:p>
                      <a:pPr>
                        <a:spcAft>
                          <a:spcPts val="0"/>
                        </a:spcAft>
                        <a:defRPr sz="1600" b="1">
                          <a:solidFill>
                            <a:srgbClr val="FFFFFF"/>
                          </a:solidFill>
                          <a:latin typeface="Arial"/>
                        </a:defRPr>
                      </a:pPr>
                      <a:r>
                        <a:t>Useful purpose</a:t>
                      </a:r>
                    </a:p>
                  </a:txBody>
                  <a:tcPr marL="128016" marR="128016" marT="82296" marB="54864">
                    <a:solidFill>
                      <a:srgbClr val="10243B"/>
                    </a:solidFill>
                  </a:tcPr>
                </a:tc>
                <a:tc>
                  <a:txBody>
                    <a:bodyPr/>
                    <a:lstStyle/>
                    <a:p>
                      <a:pPr>
                        <a:spcAft>
                          <a:spcPts val="0"/>
                        </a:spcAft>
                        <a:defRPr sz="1600" b="1">
                          <a:solidFill>
                            <a:srgbClr val="FFFFFF"/>
                          </a:solidFill>
                          <a:latin typeface="Arial"/>
                        </a:defRPr>
                      </a:pPr>
                      <a:r>
                        <a:t>Do not infer</a:t>
                      </a:r>
                    </a:p>
                  </a:txBody>
                  <a:tcPr marL="128016" marR="128016" marT="82296" marB="54864">
                    <a:solidFill>
                      <a:srgbClr val="10243B"/>
                    </a:solidFill>
                  </a:tcPr>
                </a:tc>
              </a:tr>
              <a:tr h="771753">
                <a:tc>
                  <a:txBody>
                    <a:bodyPr/>
                    <a:lstStyle/>
                    <a:p>
                      <a:pPr>
                        <a:spcAft>
                          <a:spcPts val="0"/>
                        </a:spcAft>
                        <a:defRPr sz="1600" b="0">
                          <a:solidFill>
                            <a:srgbClr val="182B43"/>
                          </a:solidFill>
                          <a:latin typeface="Arial"/>
                        </a:defRPr>
                      </a:pPr>
                      <a:r>
                        <a:t>DevOps remote servers</a:t>
                      </a:r>
                    </a:p>
                  </a:txBody>
                  <a:tcPr marL="128016" marR="128016" marT="82296" marB="54864">
                    <a:solidFill>
                      <a:srgbClr val="F1F5F8"/>
                    </a:solidFill>
                  </a:tcPr>
                </a:tc>
                <a:tc>
                  <a:txBody>
                    <a:bodyPr/>
                    <a:lstStyle/>
                    <a:p>
                      <a:pPr>
                        <a:spcAft>
                          <a:spcPts val="0"/>
                        </a:spcAft>
                        <a:defRPr sz="1600" b="0">
                          <a:solidFill>
                            <a:srgbClr val="182B43"/>
                          </a:solidFill>
                          <a:latin typeface="Arial"/>
                        </a:defRPr>
                      </a:pPr>
                      <a:r>
                        <a:t>Client/agent access to an Agent Space</a:t>
                      </a:r>
                    </a:p>
                  </a:txBody>
                  <a:tcPr marL="128016" marR="128016" marT="82296" marB="54864">
                    <a:solidFill>
                      <a:srgbClr val="F1F5F8"/>
                    </a:solidFill>
                  </a:tcPr>
                </a:tc>
                <a:tc>
                  <a:txBody>
                    <a:bodyPr/>
                    <a:lstStyle/>
                    <a:p>
                      <a:pPr>
                        <a:spcAft>
                          <a:spcPts val="0"/>
                        </a:spcAft>
                        <a:defRPr sz="1600" b="0">
                          <a:solidFill>
                            <a:srgbClr val="182B43"/>
                          </a:solidFill>
                          <a:latin typeface="Arial"/>
                        </a:defRPr>
                      </a:pPr>
                      <a:r>
                        <a:t>Shared credentials with other specialists</a:t>
                      </a:r>
                    </a:p>
                  </a:txBody>
                  <a:tcPr marL="128016" marR="128016" marT="82296" marB="54864">
                    <a:solidFill>
                      <a:srgbClr val="F1F5F8"/>
                    </a:solidFill>
                  </a:tcPr>
                </a:tc>
              </a:tr>
              <a:tr h="771753">
                <a:tc>
                  <a:txBody>
                    <a:bodyPr/>
                    <a:lstStyle/>
                    <a:p>
                      <a:pPr>
                        <a:spcAft>
                          <a:spcPts val="0"/>
                        </a:spcAft>
                        <a:defRPr sz="1600" b="0">
                          <a:solidFill>
                            <a:srgbClr val="182B43"/>
                          </a:solidFill>
                          <a:latin typeface="Arial"/>
                        </a:defRPr>
                      </a:pPr>
                      <a:r>
                        <a:t>Kiro MCP / tools</a:t>
                      </a:r>
                    </a:p>
                  </a:txBody>
                  <a:tcPr marL="128016" marR="128016" marT="82296" marB="54864">
                    <a:solidFill>
                      <a:srgbClr val="FFFFFF"/>
                    </a:solidFill>
                  </a:tcPr>
                </a:tc>
                <a:tc>
                  <a:txBody>
                    <a:bodyPr/>
                    <a:lstStyle/>
                    <a:p>
                      <a:pPr>
                        <a:spcAft>
                          <a:spcPts val="0"/>
                        </a:spcAft>
                        <a:defRPr sz="1600" b="0">
                          <a:solidFill>
                            <a:srgbClr val="182B43"/>
                          </a:solidFill>
                          <a:latin typeface="Arial"/>
                        </a:defRPr>
                      </a:pPr>
                      <a:r>
                        <a:t>Extend the coding workflow</a:t>
                      </a:r>
                    </a:p>
                  </a:txBody>
                  <a:tcPr marL="128016" marR="128016" marT="82296" marB="54864">
                    <a:solidFill>
                      <a:srgbClr val="FFFFFF"/>
                    </a:solidFill>
                  </a:tcPr>
                </a:tc>
                <a:tc>
                  <a:txBody>
                    <a:bodyPr/>
                    <a:lstStyle/>
                    <a:p>
                      <a:pPr>
                        <a:spcAft>
                          <a:spcPts val="0"/>
                        </a:spcAft>
                        <a:defRPr sz="1600" b="0">
                          <a:solidFill>
                            <a:srgbClr val="182B43"/>
                          </a:solidFill>
                          <a:latin typeface="Arial"/>
                        </a:defRPr>
                      </a:pPr>
                      <a:r>
                        <a:t>Universal provider or client parity</a:t>
                      </a:r>
                    </a:p>
                  </a:txBody>
                  <a:tcPr marL="128016" marR="128016" marT="82296" marB="54864">
                    <a:solidFill>
                      <a:srgbClr val="FFFFFF"/>
                    </a:solidFill>
                  </a:tcPr>
                </a:tc>
              </a:tr>
              <a:tr h="771753">
                <a:tc>
                  <a:txBody>
                    <a:bodyPr/>
                    <a:lstStyle/>
                    <a:p>
                      <a:pPr>
                        <a:spcAft>
                          <a:spcPts val="0"/>
                        </a:spcAft>
                        <a:defRPr sz="1600" b="0">
                          <a:solidFill>
                            <a:srgbClr val="182B43"/>
                          </a:solidFill>
                          <a:latin typeface="Arial"/>
                        </a:defRPr>
                      </a:pPr>
                      <a:r>
                        <a:t>Security IDE / pipeline</a:t>
                      </a:r>
                    </a:p>
                  </a:txBody>
                  <a:tcPr marL="128016" marR="128016" marT="82296" marB="54864">
                    <a:solidFill>
                      <a:srgbClr val="F1F5F8"/>
                    </a:solidFill>
                  </a:tcPr>
                </a:tc>
                <a:tc>
                  <a:txBody>
                    <a:bodyPr/>
                    <a:lstStyle/>
                    <a:p>
                      <a:pPr>
                        <a:spcAft>
                          <a:spcPts val="0"/>
                        </a:spcAft>
                        <a:defRPr sz="1600" b="0">
                          <a:solidFill>
                            <a:srgbClr val="182B43"/>
                          </a:solidFill>
                          <a:latin typeface="Arial"/>
                        </a:defRPr>
                      </a:pPr>
                      <a:r>
                        <a:t>Submit assessment work from developer tooling</a:t>
                      </a:r>
                    </a:p>
                  </a:txBody>
                  <a:tcPr marL="128016" marR="128016" marT="82296" marB="54864">
                    <a:solidFill>
                      <a:srgbClr val="F1F5F8"/>
                    </a:solidFill>
                  </a:tcPr>
                </a:tc>
                <a:tc>
                  <a:txBody>
                    <a:bodyPr/>
                    <a:lstStyle/>
                    <a:p>
                      <a:pPr>
                        <a:spcAft>
                          <a:spcPts val="0"/>
                        </a:spcAft>
                        <a:defRPr sz="1600" b="0">
                          <a:solidFill>
                            <a:srgbClr val="182B43"/>
                          </a:solidFill>
                          <a:latin typeface="Arial"/>
                        </a:defRPr>
                      </a:pPr>
                      <a:r>
                        <a:t>Local-only execution or blanket coverage</a:t>
                      </a:r>
                    </a:p>
                  </a:txBody>
                  <a:tcPr marL="128016" marR="128016" marT="82296" marB="54864">
                    <a:solidFill>
                      <a:srgbClr val="F1F5F8"/>
                    </a:solidFill>
                  </a:tcPr>
                </a:tc>
              </a:tr>
              <a:tr h="771756">
                <a:tc>
                  <a:txBody>
                    <a:bodyPr/>
                    <a:lstStyle/>
                    <a:p>
                      <a:pPr>
                        <a:spcAft>
                          <a:spcPts val="0"/>
                        </a:spcAft>
                        <a:defRPr sz="1600" b="0">
                          <a:solidFill>
                            <a:srgbClr val="182B43"/>
                          </a:solidFill>
                          <a:latin typeface="Arial"/>
                        </a:defRPr>
                      </a:pPr>
                      <a:r>
                        <a:t>FinOps Jira / Slack</a:t>
                      </a:r>
                    </a:p>
                  </a:txBody>
                  <a:tcPr marL="128016" marR="128016" marT="82296" marB="54864">
                    <a:solidFill>
                      <a:srgbClr val="FFFFFF"/>
                    </a:solidFill>
                  </a:tcPr>
                </a:tc>
                <a:tc>
                  <a:txBody>
                    <a:bodyPr/>
                    <a:lstStyle/>
                    <a:p>
                      <a:pPr>
                        <a:spcAft>
                          <a:spcPts val="0"/>
                        </a:spcAft>
                        <a:defRPr sz="1600" b="0">
                          <a:solidFill>
                            <a:srgbClr val="182B43"/>
                          </a:solidFill>
                          <a:latin typeface="Arial"/>
                        </a:defRPr>
                      </a:pPr>
                      <a:r>
                        <a:t>Route approved outputs</a:t>
                      </a:r>
                    </a:p>
                  </a:txBody>
                  <a:tcPr marL="128016" marR="128016" marT="82296" marB="54864">
                    <a:solidFill>
                      <a:srgbClr val="FFFFFF"/>
                    </a:solidFill>
                  </a:tcPr>
                </a:tc>
                <a:tc>
                  <a:txBody>
                    <a:bodyPr/>
                    <a:lstStyle/>
                    <a:p>
                      <a:pPr>
                        <a:spcAft>
                          <a:spcPts val="0"/>
                        </a:spcAft>
                        <a:defRPr sz="1600" b="0">
                          <a:solidFill>
                            <a:srgbClr val="182B43"/>
                          </a:solidFill>
                          <a:latin typeface="Arial"/>
                        </a:defRPr>
                      </a:pPr>
                      <a:r>
                        <a:t>General Jira administration or inbound Slack commands</a:t>
                      </a:r>
                    </a:p>
                  </a:txBody>
                  <a:tcPr marL="128016" marR="128016" marT="82296" marB="54864">
                    <a:solidFill>
                      <a:srgbClr val="FFFFFF"/>
                    </a:solidFill>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285D9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285D9C"/>
                </a:solidFill>
                <a:latin typeface="Arial"/>
              </a:defRPr>
            </a:pPr>
            <a:r>
              <a:t>COMMON ARCHITECTURAL PATTERNS  /  INTEGRATION</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P08 · hand off artifacts, not inherited authority</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The next specialist receives evidence and scope—not credentials or another agent’s approval.</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11 / 18    Common architectural patterns</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02:00 allocated  |  16:00–18:00</a:t>
            </a:r>
          </a:p>
        </p:txBody>
      </p:sp>
      <p:sp>
        <p:nvSpPr>
          <p:cNvPr id="9" name="Rounded Rectangle 8"/>
          <p:cNvSpPr/>
          <p:nvPr/>
        </p:nvSpPr>
        <p:spPr>
          <a:xfrm>
            <a:off x="502920" y="2313432"/>
            <a:ext cx="11183112" cy="3877056"/>
          </a:xfrm>
          <a:prstGeom prst="roundRect">
            <a:avLst>
              <a:gd name="adj" fmla="val 8000"/>
            </a:avLst>
          </a:prstGeom>
          <a:solidFill>
            <a:srgbClr val="1024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808" y="2560320"/>
            <a:ext cx="2560320" cy="365760"/>
          </a:xfrm>
          <a:prstGeom prst="rect">
            <a:avLst/>
          </a:prstGeom>
          <a:noFill/>
        </p:spPr>
        <p:txBody>
          <a:bodyPr wrap="square" lIns="0" rIns="0" tIns="0" bIns="0" anchor="t">
            <a:spAutoFit/>
          </a:bodyPr>
          <a:lstStyle/>
          <a:p>
            <a:pPr>
              <a:lnSpc>
                <a:spcPct val="112000"/>
              </a:lnSpc>
              <a:spcAft>
                <a:spcPts val="300"/>
              </a:spcAft>
              <a:defRPr sz="1600" b="1">
                <a:solidFill>
                  <a:srgbClr val="AFCBE8"/>
                </a:solidFill>
                <a:latin typeface="Arial"/>
              </a:defRPr>
            </a:pPr>
            <a:r>
              <a:t>work_item</a:t>
            </a:r>
          </a:p>
        </p:txBody>
      </p:sp>
      <p:sp>
        <p:nvSpPr>
          <p:cNvPr id="11" name="TextBox 10"/>
          <p:cNvSpPr txBox="1"/>
          <p:nvPr/>
        </p:nvSpPr>
        <p:spPr>
          <a:xfrm>
            <a:off x="3383280" y="2560320"/>
            <a:ext cx="8001000" cy="411480"/>
          </a:xfrm>
          <a:prstGeom prst="rect">
            <a:avLst/>
          </a:prstGeom>
          <a:noFill/>
        </p:spPr>
        <p:txBody>
          <a:bodyPr wrap="square" lIns="0" rIns="0" tIns="0" bIns="0" anchor="t">
            <a:spAutoFit/>
          </a:bodyPr>
          <a:lstStyle/>
          <a:p>
            <a:pPr>
              <a:lnSpc>
                <a:spcPct val="112000"/>
              </a:lnSpc>
              <a:spcAft>
                <a:spcPts val="300"/>
              </a:spcAft>
              <a:defRPr sz="1800" b="0">
                <a:solidFill>
                  <a:srgbClr val="FFFFFF"/>
                </a:solidFill>
                <a:latin typeface="Arial"/>
              </a:defRPr>
            </a:pPr>
            <a:r>
              <a:t>INC-DEMO-001 · illustrative</a:t>
            </a:r>
          </a:p>
        </p:txBody>
      </p:sp>
      <p:sp>
        <p:nvSpPr>
          <p:cNvPr id="12" name="TextBox 11"/>
          <p:cNvSpPr txBox="1"/>
          <p:nvPr/>
        </p:nvSpPr>
        <p:spPr>
          <a:xfrm>
            <a:off x="749808" y="3118103"/>
            <a:ext cx="2560320" cy="365760"/>
          </a:xfrm>
          <a:prstGeom prst="rect">
            <a:avLst/>
          </a:prstGeom>
          <a:noFill/>
        </p:spPr>
        <p:txBody>
          <a:bodyPr wrap="square" lIns="0" rIns="0" tIns="0" bIns="0" anchor="t">
            <a:spAutoFit/>
          </a:bodyPr>
          <a:lstStyle/>
          <a:p>
            <a:pPr>
              <a:lnSpc>
                <a:spcPct val="112000"/>
              </a:lnSpc>
              <a:spcAft>
                <a:spcPts val="300"/>
              </a:spcAft>
              <a:defRPr sz="1600" b="1">
                <a:solidFill>
                  <a:srgbClr val="AFCBE8"/>
                </a:solidFill>
                <a:latin typeface="Arial"/>
              </a:defRPr>
            </a:pPr>
            <a:r>
              <a:t>scope</a:t>
            </a:r>
          </a:p>
        </p:txBody>
      </p:sp>
      <p:sp>
        <p:nvSpPr>
          <p:cNvPr id="13" name="TextBox 12"/>
          <p:cNvSpPr txBox="1"/>
          <p:nvPr/>
        </p:nvSpPr>
        <p:spPr>
          <a:xfrm>
            <a:off x="3383280" y="3118103"/>
            <a:ext cx="8001000" cy="411480"/>
          </a:xfrm>
          <a:prstGeom prst="rect">
            <a:avLst/>
          </a:prstGeom>
          <a:noFill/>
        </p:spPr>
        <p:txBody>
          <a:bodyPr wrap="square" lIns="0" rIns="0" tIns="0" bIns="0" anchor="t">
            <a:spAutoFit/>
          </a:bodyPr>
          <a:lstStyle/>
          <a:p>
            <a:pPr>
              <a:lnSpc>
                <a:spcPct val="112000"/>
              </a:lnSpc>
              <a:spcAft>
                <a:spcPts val="300"/>
              </a:spcAft>
              <a:defRPr sz="1800" b="0">
                <a:solidFill>
                  <a:srgbClr val="FFFFFF"/>
                </a:solidFill>
                <a:latin typeface="Arial"/>
              </a:defRPr>
            </a:pPr>
            <a:r>
              <a:t>checkout-api / staging / revision DEMO-A</a:t>
            </a:r>
          </a:p>
        </p:txBody>
      </p:sp>
      <p:sp>
        <p:nvSpPr>
          <p:cNvPr id="14" name="TextBox 13"/>
          <p:cNvSpPr txBox="1"/>
          <p:nvPr/>
        </p:nvSpPr>
        <p:spPr>
          <a:xfrm>
            <a:off x="749808" y="3675887"/>
            <a:ext cx="2560320" cy="365760"/>
          </a:xfrm>
          <a:prstGeom prst="rect">
            <a:avLst/>
          </a:prstGeom>
          <a:noFill/>
        </p:spPr>
        <p:txBody>
          <a:bodyPr wrap="square" lIns="0" rIns="0" tIns="0" bIns="0" anchor="t">
            <a:spAutoFit/>
          </a:bodyPr>
          <a:lstStyle/>
          <a:p>
            <a:pPr>
              <a:lnSpc>
                <a:spcPct val="112000"/>
              </a:lnSpc>
              <a:spcAft>
                <a:spcPts val="300"/>
              </a:spcAft>
              <a:defRPr sz="1600" b="1">
                <a:solidFill>
                  <a:srgbClr val="AFCBE8"/>
                </a:solidFill>
                <a:latin typeface="Arial"/>
              </a:defRPr>
            </a:pPr>
            <a:r>
              <a:t>evidence</a:t>
            </a:r>
          </a:p>
        </p:txBody>
      </p:sp>
      <p:sp>
        <p:nvSpPr>
          <p:cNvPr id="15" name="TextBox 14"/>
          <p:cNvSpPr txBox="1"/>
          <p:nvPr/>
        </p:nvSpPr>
        <p:spPr>
          <a:xfrm>
            <a:off x="3383280" y="3675887"/>
            <a:ext cx="8001000" cy="411480"/>
          </a:xfrm>
          <a:prstGeom prst="rect">
            <a:avLst/>
          </a:prstGeom>
          <a:noFill/>
        </p:spPr>
        <p:txBody>
          <a:bodyPr wrap="square" lIns="0" rIns="0" tIns="0" bIns="0" anchor="t">
            <a:spAutoFit/>
          </a:bodyPr>
          <a:lstStyle/>
          <a:p>
            <a:pPr>
              <a:lnSpc>
                <a:spcPct val="112000"/>
              </a:lnSpc>
              <a:spcAft>
                <a:spcPts val="300"/>
              </a:spcAft>
              <a:defRPr sz="1800" b="0">
                <a:solidFill>
                  <a:srgbClr val="FFFFFF"/>
                </a:solidFill>
                <a:latin typeface="Arial"/>
              </a:defRPr>
            </a:pPr>
            <a:r>
              <a:t>incident window + telemetry links + candidate diff</a:t>
            </a:r>
          </a:p>
        </p:txBody>
      </p:sp>
      <p:sp>
        <p:nvSpPr>
          <p:cNvPr id="16" name="TextBox 15"/>
          <p:cNvSpPr txBox="1"/>
          <p:nvPr/>
        </p:nvSpPr>
        <p:spPr>
          <a:xfrm>
            <a:off x="749808" y="4233672"/>
            <a:ext cx="2560320" cy="365760"/>
          </a:xfrm>
          <a:prstGeom prst="rect">
            <a:avLst/>
          </a:prstGeom>
          <a:noFill/>
        </p:spPr>
        <p:txBody>
          <a:bodyPr wrap="square" lIns="0" rIns="0" tIns="0" bIns="0" anchor="t">
            <a:spAutoFit/>
          </a:bodyPr>
          <a:lstStyle/>
          <a:p>
            <a:pPr>
              <a:lnSpc>
                <a:spcPct val="112000"/>
              </a:lnSpc>
              <a:spcAft>
                <a:spcPts val="300"/>
              </a:spcAft>
              <a:defRPr sz="1600" b="1">
                <a:solidFill>
                  <a:srgbClr val="AFCBE8"/>
                </a:solidFill>
                <a:latin typeface="Arial"/>
              </a:defRPr>
            </a:pPr>
            <a:r>
              <a:t>allowed_effects</a:t>
            </a:r>
          </a:p>
        </p:txBody>
      </p:sp>
      <p:sp>
        <p:nvSpPr>
          <p:cNvPr id="17" name="TextBox 16"/>
          <p:cNvSpPr txBox="1"/>
          <p:nvPr/>
        </p:nvSpPr>
        <p:spPr>
          <a:xfrm>
            <a:off x="3383280" y="4233672"/>
            <a:ext cx="8001000" cy="411480"/>
          </a:xfrm>
          <a:prstGeom prst="rect">
            <a:avLst/>
          </a:prstGeom>
          <a:noFill/>
        </p:spPr>
        <p:txBody>
          <a:bodyPr wrap="square" lIns="0" rIns="0" tIns="0" bIns="0" anchor="t">
            <a:spAutoFit/>
          </a:bodyPr>
          <a:lstStyle/>
          <a:p>
            <a:pPr>
              <a:lnSpc>
                <a:spcPct val="112000"/>
              </a:lnSpc>
              <a:spcAft>
                <a:spcPts val="300"/>
              </a:spcAft>
              <a:defRPr sz="1800" b="0">
                <a:solidFill>
                  <a:srgbClr val="FFFFFF"/>
                </a:solidFill>
                <a:latin typeface="Arial"/>
              </a:defRPr>
            </a:pPr>
            <a:r>
              <a:t>read evidence; propose branch changes; no deployment</a:t>
            </a:r>
          </a:p>
        </p:txBody>
      </p:sp>
      <p:sp>
        <p:nvSpPr>
          <p:cNvPr id="18" name="TextBox 17"/>
          <p:cNvSpPr txBox="1"/>
          <p:nvPr/>
        </p:nvSpPr>
        <p:spPr>
          <a:xfrm>
            <a:off x="749808" y="4791456"/>
            <a:ext cx="2560320" cy="365760"/>
          </a:xfrm>
          <a:prstGeom prst="rect">
            <a:avLst/>
          </a:prstGeom>
          <a:noFill/>
        </p:spPr>
        <p:txBody>
          <a:bodyPr wrap="square" lIns="0" rIns="0" tIns="0" bIns="0" anchor="t">
            <a:spAutoFit/>
          </a:bodyPr>
          <a:lstStyle/>
          <a:p>
            <a:pPr>
              <a:lnSpc>
                <a:spcPct val="112000"/>
              </a:lnSpc>
              <a:spcAft>
                <a:spcPts val="300"/>
              </a:spcAft>
              <a:defRPr sz="1600" b="1">
                <a:solidFill>
                  <a:srgbClr val="AFCBE8"/>
                </a:solidFill>
                <a:latin typeface="Arial"/>
              </a:defRPr>
            </a:pPr>
            <a:r>
              <a:t>owner_and_stop</a:t>
            </a:r>
          </a:p>
        </p:txBody>
      </p:sp>
      <p:sp>
        <p:nvSpPr>
          <p:cNvPr id="19" name="TextBox 18"/>
          <p:cNvSpPr txBox="1"/>
          <p:nvPr/>
        </p:nvSpPr>
        <p:spPr>
          <a:xfrm>
            <a:off x="3383280" y="4791456"/>
            <a:ext cx="8001000" cy="411480"/>
          </a:xfrm>
          <a:prstGeom prst="rect">
            <a:avLst/>
          </a:prstGeom>
          <a:noFill/>
        </p:spPr>
        <p:txBody>
          <a:bodyPr wrap="square" lIns="0" rIns="0" tIns="0" bIns="0" anchor="t">
            <a:spAutoFit/>
          </a:bodyPr>
          <a:lstStyle/>
          <a:p>
            <a:pPr>
              <a:lnSpc>
                <a:spcPct val="112000"/>
              </a:lnSpc>
              <a:spcAft>
                <a:spcPts val="300"/>
              </a:spcAft>
              <a:defRPr sz="1800" b="0">
                <a:solidFill>
                  <a:srgbClr val="FFFFFF"/>
                </a:solidFill>
                <a:latin typeface="Arial"/>
              </a:defRPr>
            </a:pPr>
            <a:r>
              <a:t>service owner / named operator</a:t>
            </a:r>
          </a:p>
        </p:txBody>
      </p:sp>
      <p:sp>
        <p:nvSpPr>
          <p:cNvPr id="20" name="TextBox 19"/>
          <p:cNvSpPr txBox="1"/>
          <p:nvPr/>
        </p:nvSpPr>
        <p:spPr>
          <a:xfrm>
            <a:off x="749808" y="5349240"/>
            <a:ext cx="2560320" cy="365760"/>
          </a:xfrm>
          <a:prstGeom prst="rect">
            <a:avLst/>
          </a:prstGeom>
          <a:noFill/>
        </p:spPr>
        <p:txBody>
          <a:bodyPr wrap="square" lIns="0" rIns="0" tIns="0" bIns="0" anchor="t">
            <a:spAutoFit/>
          </a:bodyPr>
          <a:lstStyle/>
          <a:p>
            <a:pPr>
              <a:lnSpc>
                <a:spcPct val="112000"/>
              </a:lnSpc>
              <a:spcAft>
                <a:spcPts val="300"/>
              </a:spcAft>
              <a:defRPr sz="1600" b="1">
                <a:solidFill>
                  <a:srgbClr val="AFCBE8"/>
                </a:solidFill>
                <a:latin typeface="Arial"/>
              </a:defRPr>
            </a:pPr>
            <a:r>
              <a:t>done</a:t>
            </a:r>
          </a:p>
        </p:txBody>
      </p:sp>
      <p:sp>
        <p:nvSpPr>
          <p:cNvPr id="21" name="TextBox 20"/>
          <p:cNvSpPr txBox="1"/>
          <p:nvPr/>
        </p:nvSpPr>
        <p:spPr>
          <a:xfrm>
            <a:off x="3383280" y="5349240"/>
            <a:ext cx="8001000" cy="411480"/>
          </a:xfrm>
          <a:prstGeom prst="rect">
            <a:avLst/>
          </a:prstGeom>
          <a:noFill/>
        </p:spPr>
        <p:txBody>
          <a:bodyPr wrap="square" lIns="0" rIns="0" tIns="0" bIns="0" anchor="t">
            <a:spAutoFit/>
          </a:bodyPr>
          <a:lstStyle/>
          <a:p>
            <a:pPr>
              <a:lnSpc>
                <a:spcPct val="112000"/>
              </a:lnSpc>
              <a:spcAft>
                <a:spcPts val="300"/>
              </a:spcAft>
              <a:defRPr sz="1800" b="0">
                <a:solidFill>
                  <a:srgbClr val="FFFFFF"/>
                </a:solidFill>
                <a:latin typeface="Arial"/>
              </a:defRPr>
            </a:pPr>
            <a:r>
              <a:t>reviewed artifact + independent verification result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285D9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285D9C"/>
                </a:solidFill>
                <a:latin typeface="Arial"/>
              </a:defRPr>
            </a:pPr>
            <a:r>
              <a:t>COMMON ARCHITECTURAL PATTERNS  /  CONTROLS</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050" b="1">
                <a:solidFill>
                  <a:srgbClr val="182B43"/>
                </a:solidFill>
                <a:latin typeface="Arial"/>
              </a:defRPr>
            </a:pPr>
            <a:r>
              <a:t>P09 · bound jobs, retries, schedules and stop ownership</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Client completion and service-side termination are different events.</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12 / 18    Common architectural patterns</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01:30 allocated  |  18:00–19:30</a:t>
            </a:r>
          </a:p>
        </p:txBody>
      </p:sp>
      <p:sp>
        <p:nvSpPr>
          <p:cNvPr id="9" name="Rounded Rectangle 8"/>
          <p:cNvSpPr/>
          <p:nvPr/>
        </p:nvSpPr>
        <p:spPr>
          <a:xfrm>
            <a:off x="502920" y="2313432"/>
            <a:ext cx="5490972" cy="1837944"/>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2459736"/>
            <a:ext cx="5161788" cy="201168"/>
          </a:xfrm>
          <a:prstGeom prst="rect">
            <a:avLst/>
          </a:prstGeom>
          <a:noFill/>
        </p:spPr>
        <p:txBody>
          <a:bodyPr wrap="square" lIns="0" rIns="0" tIns="0" bIns="0" anchor="t">
            <a:spAutoFit/>
          </a:bodyPr>
          <a:lstStyle/>
          <a:p>
            <a:pPr>
              <a:lnSpc>
                <a:spcPct val="112000"/>
              </a:lnSpc>
              <a:spcAft>
                <a:spcPts val="300"/>
              </a:spcAft>
              <a:defRPr sz="1050" b="1">
                <a:solidFill>
                  <a:srgbClr val="285D9C"/>
                </a:solidFill>
                <a:latin typeface="Arial"/>
              </a:defRPr>
            </a:pPr>
            <a:r>
              <a:t>BEFORE</a:t>
            </a:r>
          </a:p>
        </p:txBody>
      </p:sp>
      <p:sp>
        <p:nvSpPr>
          <p:cNvPr id="11" name="TextBox 10"/>
          <p:cNvSpPr txBox="1"/>
          <p:nvPr/>
        </p:nvSpPr>
        <p:spPr>
          <a:xfrm>
            <a:off x="667512" y="2788920"/>
            <a:ext cx="5161788"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Bound work</a:t>
            </a:r>
          </a:p>
        </p:txBody>
      </p:sp>
      <p:sp>
        <p:nvSpPr>
          <p:cNvPr id="12" name="TextBox 11"/>
          <p:cNvSpPr txBox="1"/>
          <p:nvPr/>
        </p:nvSpPr>
        <p:spPr>
          <a:xfrm>
            <a:off x="667512" y="3392424"/>
            <a:ext cx="5161788" cy="612648"/>
          </a:xfrm>
          <a:prstGeom prst="rect">
            <a:avLst/>
          </a:prstGeom>
          <a:noFill/>
        </p:spPr>
        <p:txBody>
          <a:bodyPr wrap="square" lIns="0" rIns="0" tIns="0" bIns="0" anchor="t">
            <a:spAutoFit/>
          </a:bodyPr>
          <a:lstStyle/>
          <a:p>
            <a:pPr>
              <a:lnSpc>
                <a:spcPct val="112000"/>
              </a:lnSpc>
              <a:spcAft>
                <a:spcPts val="300"/>
              </a:spcAft>
              <a:defRPr sz="1600" b="0">
                <a:solidFill>
                  <a:srgbClr val="182B43"/>
                </a:solidFill>
                <a:latin typeface="Arial"/>
              </a:defRPr>
            </a:pPr>
            <a:r>
              <a:t>Task scope, retry cap or service-specific work budget.</a:t>
            </a:r>
          </a:p>
        </p:txBody>
      </p:sp>
      <p:sp>
        <p:nvSpPr>
          <p:cNvPr id="13" name="Rounded Rectangle 12"/>
          <p:cNvSpPr/>
          <p:nvPr/>
        </p:nvSpPr>
        <p:spPr>
          <a:xfrm>
            <a:off x="6195059" y="2313432"/>
            <a:ext cx="5490972" cy="1837944"/>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59651" y="2459736"/>
            <a:ext cx="5161788" cy="201168"/>
          </a:xfrm>
          <a:prstGeom prst="rect">
            <a:avLst/>
          </a:prstGeom>
          <a:noFill/>
        </p:spPr>
        <p:txBody>
          <a:bodyPr wrap="square" lIns="0" rIns="0" tIns="0" bIns="0" anchor="t">
            <a:spAutoFit/>
          </a:bodyPr>
          <a:lstStyle/>
          <a:p>
            <a:pPr>
              <a:lnSpc>
                <a:spcPct val="112000"/>
              </a:lnSpc>
              <a:spcAft>
                <a:spcPts val="300"/>
              </a:spcAft>
              <a:defRPr sz="1050" b="1">
                <a:solidFill>
                  <a:srgbClr val="285D9C"/>
                </a:solidFill>
                <a:latin typeface="Arial"/>
              </a:defRPr>
            </a:pPr>
            <a:r>
              <a:t>DURING</a:t>
            </a:r>
          </a:p>
        </p:txBody>
      </p:sp>
      <p:sp>
        <p:nvSpPr>
          <p:cNvPr id="15" name="TextBox 14"/>
          <p:cNvSpPr txBox="1"/>
          <p:nvPr/>
        </p:nvSpPr>
        <p:spPr>
          <a:xfrm>
            <a:off x="6359651" y="2788920"/>
            <a:ext cx="5161788"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Observe</a:t>
            </a:r>
          </a:p>
        </p:txBody>
      </p:sp>
      <p:sp>
        <p:nvSpPr>
          <p:cNvPr id="16" name="TextBox 15"/>
          <p:cNvSpPr txBox="1"/>
          <p:nvPr/>
        </p:nvSpPr>
        <p:spPr>
          <a:xfrm>
            <a:off x="6359651" y="3392424"/>
            <a:ext cx="5161788" cy="612648"/>
          </a:xfrm>
          <a:prstGeom prst="rect">
            <a:avLst/>
          </a:prstGeom>
          <a:noFill/>
        </p:spPr>
        <p:txBody>
          <a:bodyPr wrap="square" lIns="0" rIns="0" tIns="0" bIns="0" anchor="t">
            <a:spAutoFit/>
          </a:bodyPr>
          <a:lstStyle/>
          <a:p>
            <a:pPr>
              <a:lnSpc>
                <a:spcPct val="112000"/>
              </a:lnSpc>
              <a:spcAft>
                <a:spcPts val="300"/>
              </a:spcAft>
              <a:defRPr sz="1600" b="0">
                <a:solidFill>
                  <a:srgbClr val="182B43"/>
                </a:solidFill>
                <a:latin typeface="Arial"/>
              </a:defRPr>
            </a:pPr>
            <a:r>
              <a:t>Run ID, progress, failures and target health.</a:t>
            </a:r>
          </a:p>
        </p:txBody>
      </p:sp>
      <p:sp>
        <p:nvSpPr>
          <p:cNvPr id="17" name="Rounded Rectangle 16"/>
          <p:cNvSpPr/>
          <p:nvPr/>
        </p:nvSpPr>
        <p:spPr>
          <a:xfrm>
            <a:off x="502920" y="4352544"/>
            <a:ext cx="5490972" cy="1837944"/>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67512" y="4498848"/>
            <a:ext cx="5161788" cy="201168"/>
          </a:xfrm>
          <a:prstGeom prst="rect">
            <a:avLst/>
          </a:prstGeom>
          <a:noFill/>
        </p:spPr>
        <p:txBody>
          <a:bodyPr wrap="square" lIns="0" rIns="0" tIns="0" bIns="0" anchor="t">
            <a:spAutoFit/>
          </a:bodyPr>
          <a:lstStyle/>
          <a:p>
            <a:pPr>
              <a:lnSpc>
                <a:spcPct val="112000"/>
              </a:lnSpc>
              <a:spcAft>
                <a:spcPts val="300"/>
              </a:spcAft>
              <a:defRPr sz="1050" b="1">
                <a:solidFill>
                  <a:srgbClr val="285D9C"/>
                </a:solidFill>
                <a:latin typeface="Arial"/>
              </a:defRPr>
            </a:pPr>
            <a:r>
              <a:t>ON ERROR</a:t>
            </a:r>
          </a:p>
        </p:txBody>
      </p:sp>
      <p:sp>
        <p:nvSpPr>
          <p:cNvPr id="19" name="TextBox 18"/>
          <p:cNvSpPr txBox="1"/>
          <p:nvPr/>
        </p:nvSpPr>
        <p:spPr>
          <a:xfrm>
            <a:off x="667512" y="4828031"/>
            <a:ext cx="5161788"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Stop</a:t>
            </a:r>
          </a:p>
        </p:txBody>
      </p:sp>
      <p:sp>
        <p:nvSpPr>
          <p:cNvPr id="20" name="TextBox 19"/>
          <p:cNvSpPr txBox="1"/>
          <p:nvPr/>
        </p:nvSpPr>
        <p:spPr>
          <a:xfrm>
            <a:off x="667512" y="5431536"/>
            <a:ext cx="5161788" cy="612648"/>
          </a:xfrm>
          <a:prstGeom prst="rect">
            <a:avLst/>
          </a:prstGeom>
          <a:noFill/>
        </p:spPr>
        <p:txBody>
          <a:bodyPr wrap="square" lIns="0" rIns="0" tIns="0" bIns="0" anchor="t">
            <a:spAutoFit/>
          </a:bodyPr>
          <a:lstStyle/>
          <a:p>
            <a:pPr>
              <a:lnSpc>
                <a:spcPct val="112000"/>
              </a:lnSpc>
              <a:spcAft>
                <a:spcPts val="300"/>
              </a:spcAft>
              <a:defRPr sz="1600" b="0">
                <a:solidFill>
                  <a:srgbClr val="182B43"/>
                </a:solidFill>
                <a:latin typeface="Arial"/>
              </a:defRPr>
            </a:pPr>
            <a:r>
              <a:t>Named operator and documented cancellation procedure.</a:t>
            </a:r>
          </a:p>
        </p:txBody>
      </p:sp>
      <p:sp>
        <p:nvSpPr>
          <p:cNvPr id="21" name="Rounded Rectangle 20"/>
          <p:cNvSpPr/>
          <p:nvPr/>
        </p:nvSpPr>
        <p:spPr>
          <a:xfrm>
            <a:off x="6195059" y="4352544"/>
            <a:ext cx="5490972" cy="1837944"/>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59651" y="4498848"/>
            <a:ext cx="5161788" cy="201168"/>
          </a:xfrm>
          <a:prstGeom prst="rect">
            <a:avLst/>
          </a:prstGeom>
          <a:noFill/>
        </p:spPr>
        <p:txBody>
          <a:bodyPr wrap="square" lIns="0" rIns="0" tIns="0" bIns="0" anchor="t">
            <a:spAutoFit/>
          </a:bodyPr>
          <a:lstStyle/>
          <a:p>
            <a:pPr>
              <a:lnSpc>
                <a:spcPct val="112000"/>
              </a:lnSpc>
              <a:spcAft>
                <a:spcPts val="300"/>
              </a:spcAft>
              <a:defRPr sz="1050" b="1">
                <a:solidFill>
                  <a:srgbClr val="285D9C"/>
                </a:solidFill>
                <a:latin typeface="Arial"/>
              </a:defRPr>
            </a:pPr>
            <a:r>
              <a:t>AFTER</a:t>
            </a:r>
          </a:p>
        </p:txBody>
      </p:sp>
      <p:sp>
        <p:nvSpPr>
          <p:cNvPr id="23" name="TextBox 22"/>
          <p:cNvSpPr txBox="1"/>
          <p:nvPr/>
        </p:nvSpPr>
        <p:spPr>
          <a:xfrm>
            <a:off x="6359651" y="4828031"/>
            <a:ext cx="5161788"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Confirm</a:t>
            </a:r>
          </a:p>
        </p:txBody>
      </p:sp>
      <p:sp>
        <p:nvSpPr>
          <p:cNvPr id="24" name="TextBox 23"/>
          <p:cNvSpPr txBox="1"/>
          <p:nvPr/>
        </p:nvSpPr>
        <p:spPr>
          <a:xfrm>
            <a:off x="6359651" y="5431536"/>
            <a:ext cx="5161788" cy="612648"/>
          </a:xfrm>
          <a:prstGeom prst="rect">
            <a:avLst/>
          </a:prstGeom>
          <a:noFill/>
        </p:spPr>
        <p:txBody>
          <a:bodyPr wrap="square" lIns="0" rIns="0" tIns="0" bIns="0" anchor="t">
            <a:spAutoFit/>
          </a:bodyPr>
          <a:lstStyle/>
          <a:p>
            <a:pPr>
              <a:lnSpc>
                <a:spcPct val="112000"/>
              </a:lnSpc>
              <a:spcAft>
                <a:spcPts val="300"/>
              </a:spcAft>
              <a:defRPr sz="1600" b="0">
                <a:solidFill>
                  <a:srgbClr val="182B43"/>
                </a:solidFill>
                <a:latin typeface="Arial"/>
              </a:defRPr>
            </a:pPr>
            <a:r>
              <a:t>Terminal state, remaining jobs and cleanup evidence.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285D9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285D9C"/>
                </a:solidFill>
                <a:latin typeface="Arial"/>
              </a:defRPr>
            </a:pPr>
            <a:r>
              <a:t>COMMON ARCHITECTURAL PATTERNS  /  EVIDENCE</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P10 · verify using evidence independent of the claim</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The same agent saying “done” is not a release or closure criterion.</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13 / 18    Common architectural patterns</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02:00 allocated  |  19:30–21:30</a:t>
            </a:r>
          </a:p>
        </p:txBody>
      </p:sp>
      <p:graphicFrame>
        <p:nvGraphicFramePr>
          <p:cNvPr id="9" name="Table 8"/>
          <p:cNvGraphicFramePr>
            <a:graphicFrameLocks noGrp="1"/>
          </p:cNvGraphicFramePr>
          <p:nvPr/>
        </p:nvGraphicFramePr>
        <p:xfrm>
          <a:off x="502920" y="2313432"/>
          <a:ext cx="11183112" cy="3858768"/>
        </p:xfrm>
        <a:graphic>
          <a:graphicData uri="http://schemas.openxmlformats.org/drawingml/2006/table">
            <a:tbl>
              <a:tblPr firstRow="1" bandRow="1">
                <a:tableStyleId>{5C22544A-7EE6-4342-B048-85BDC9FD1C3A}</a:tableStyleId>
              </a:tblPr>
              <a:tblGrid>
                <a:gridCol w="3727704"/>
                <a:gridCol w="3727704"/>
                <a:gridCol w="3727704"/>
              </a:tblGrid>
              <a:tr h="771753">
                <a:tc>
                  <a:txBody>
                    <a:bodyPr/>
                    <a:lstStyle/>
                    <a:p>
                      <a:pPr>
                        <a:spcAft>
                          <a:spcPts val="0"/>
                        </a:spcAft>
                        <a:defRPr sz="1600" b="1">
                          <a:solidFill>
                            <a:srgbClr val="FFFFFF"/>
                          </a:solidFill>
                          <a:latin typeface="Arial"/>
                        </a:defRPr>
                      </a:pPr>
                      <a:r>
                        <a:t>Claim</a:t>
                      </a:r>
                    </a:p>
                  </a:txBody>
                  <a:tcPr marL="128016" marR="128016" marT="82296" marB="54864">
                    <a:solidFill>
                      <a:srgbClr val="10243B"/>
                    </a:solidFill>
                  </a:tcPr>
                </a:tc>
                <a:tc>
                  <a:txBody>
                    <a:bodyPr/>
                    <a:lstStyle/>
                    <a:p>
                      <a:pPr>
                        <a:spcAft>
                          <a:spcPts val="0"/>
                        </a:spcAft>
                        <a:defRPr sz="1600" b="1">
                          <a:solidFill>
                            <a:srgbClr val="FFFFFF"/>
                          </a:solidFill>
                          <a:latin typeface="Arial"/>
                        </a:defRPr>
                      </a:pPr>
                      <a:r>
                        <a:t>Independent check</a:t>
                      </a:r>
                    </a:p>
                  </a:txBody>
                  <a:tcPr marL="128016" marR="128016" marT="82296" marB="54864">
                    <a:solidFill>
                      <a:srgbClr val="10243B"/>
                    </a:solidFill>
                  </a:tcPr>
                </a:tc>
                <a:tc>
                  <a:txBody>
                    <a:bodyPr/>
                    <a:lstStyle/>
                    <a:p>
                      <a:pPr>
                        <a:spcAft>
                          <a:spcPts val="0"/>
                        </a:spcAft>
                        <a:defRPr sz="1600" b="1">
                          <a:solidFill>
                            <a:srgbClr val="FFFFFF"/>
                          </a:solidFill>
                          <a:latin typeface="Arial"/>
                        </a:defRPr>
                      </a:pPr>
                      <a:r>
                        <a:t>Closure evidence</a:t>
                      </a:r>
                    </a:p>
                  </a:txBody>
                  <a:tcPr marL="128016" marR="128016" marT="82296" marB="54864">
                    <a:solidFill>
                      <a:srgbClr val="10243B"/>
                    </a:solidFill>
                  </a:tcPr>
                </a:tc>
              </a:tr>
              <a:tr h="771753">
                <a:tc>
                  <a:txBody>
                    <a:bodyPr/>
                    <a:lstStyle/>
                    <a:p>
                      <a:pPr>
                        <a:spcAft>
                          <a:spcPts val="0"/>
                        </a:spcAft>
                        <a:defRPr sz="1600" b="0">
                          <a:solidFill>
                            <a:srgbClr val="182B43"/>
                          </a:solidFill>
                          <a:latin typeface="Arial"/>
                        </a:defRPr>
                      </a:pPr>
                      <a:r>
                        <a:t>Incident explained</a:t>
                      </a:r>
                    </a:p>
                  </a:txBody>
                  <a:tcPr marL="128016" marR="128016" marT="82296" marB="54864">
                    <a:solidFill>
                      <a:srgbClr val="F1F5F8"/>
                    </a:solidFill>
                  </a:tcPr>
                </a:tc>
                <a:tc>
                  <a:txBody>
                    <a:bodyPr/>
                    <a:lstStyle/>
                    <a:p>
                      <a:pPr>
                        <a:spcAft>
                          <a:spcPts val="0"/>
                        </a:spcAft>
                        <a:defRPr sz="1600" b="0">
                          <a:solidFill>
                            <a:srgbClr val="182B43"/>
                          </a:solidFill>
                          <a:latin typeface="Arial"/>
                        </a:defRPr>
                      </a:pPr>
                      <a:r>
                        <a:t>Compare timeline, telemetry and deployed change</a:t>
                      </a:r>
                    </a:p>
                  </a:txBody>
                  <a:tcPr marL="128016" marR="128016" marT="82296" marB="54864">
                    <a:solidFill>
                      <a:srgbClr val="F1F5F8"/>
                    </a:solidFill>
                  </a:tcPr>
                </a:tc>
                <a:tc>
                  <a:txBody>
                    <a:bodyPr/>
                    <a:lstStyle/>
                    <a:p>
                      <a:pPr>
                        <a:spcAft>
                          <a:spcPts val="0"/>
                        </a:spcAft>
                        <a:defRPr sz="1600" b="0">
                          <a:solidFill>
                            <a:srgbClr val="182B43"/>
                          </a:solidFill>
                          <a:latin typeface="Arial"/>
                        </a:defRPr>
                      </a:pPr>
                      <a:r>
                        <a:t>Accepted hypothesis and recovery observation</a:t>
                      </a:r>
                    </a:p>
                  </a:txBody>
                  <a:tcPr marL="128016" marR="128016" marT="82296" marB="54864">
                    <a:solidFill>
                      <a:srgbClr val="F1F5F8"/>
                    </a:solidFill>
                  </a:tcPr>
                </a:tc>
              </a:tr>
              <a:tr h="771753">
                <a:tc>
                  <a:txBody>
                    <a:bodyPr/>
                    <a:lstStyle/>
                    <a:p>
                      <a:pPr>
                        <a:spcAft>
                          <a:spcPts val="0"/>
                        </a:spcAft>
                        <a:defRPr sz="1600" b="0">
                          <a:solidFill>
                            <a:srgbClr val="182B43"/>
                          </a:solidFill>
                          <a:latin typeface="Arial"/>
                        </a:defRPr>
                      </a:pPr>
                      <a:r>
                        <a:t>Code complete</a:t>
                      </a:r>
                    </a:p>
                  </a:txBody>
                  <a:tcPr marL="128016" marR="128016" marT="82296" marB="54864">
                    <a:solidFill>
                      <a:srgbClr val="FFFFFF"/>
                    </a:solidFill>
                  </a:tcPr>
                </a:tc>
                <a:tc>
                  <a:txBody>
                    <a:bodyPr/>
                    <a:lstStyle/>
                    <a:p>
                      <a:pPr>
                        <a:spcAft>
                          <a:spcPts val="0"/>
                        </a:spcAft>
                        <a:defRPr sz="1600" b="0">
                          <a:solidFill>
                            <a:srgbClr val="182B43"/>
                          </a:solidFill>
                          <a:latin typeface="Arial"/>
                        </a:defRPr>
                      </a:pPr>
                      <a:r>
                        <a:t>Run relevant tests and repository CI on the diff</a:t>
                      </a:r>
                    </a:p>
                  </a:txBody>
                  <a:tcPr marL="128016" marR="128016" marT="82296" marB="54864">
                    <a:solidFill>
                      <a:srgbClr val="FFFFFF"/>
                    </a:solidFill>
                  </a:tcPr>
                </a:tc>
                <a:tc>
                  <a:txBody>
                    <a:bodyPr/>
                    <a:lstStyle/>
                    <a:p>
                      <a:pPr>
                        <a:spcAft>
                          <a:spcPts val="0"/>
                        </a:spcAft>
                        <a:defRPr sz="1600" b="0">
                          <a:solidFill>
                            <a:srgbClr val="182B43"/>
                          </a:solidFill>
                          <a:latin typeface="Arial"/>
                        </a:defRPr>
                      </a:pPr>
                      <a:r>
                        <a:t>Reviewed PR/MR and check IDs</a:t>
                      </a:r>
                    </a:p>
                  </a:txBody>
                  <a:tcPr marL="128016" marR="128016" marT="82296" marB="54864">
                    <a:solidFill>
                      <a:srgbClr val="FFFFFF"/>
                    </a:solidFill>
                  </a:tcPr>
                </a:tc>
              </a:tr>
              <a:tr h="771753">
                <a:tc>
                  <a:txBody>
                    <a:bodyPr/>
                    <a:lstStyle/>
                    <a:p>
                      <a:pPr>
                        <a:spcAft>
                          <a:spcPts val="0"/>
                        </a:spcAft>
                        <a:defRPr sz="1600" b="0">
                          <a:solidFill>
                            <a:srgbClr val="182B43"/>
                          </a:solidFill>
                          <a:latin typeface="Arial"/>
                        </a:defRPr>
                      </a:pPr>
                      <a:r>
                        <a:t>Finding repaired</a:t>
                      </a:r>
                    </a:p>
                  </a:txBody>
                  <a:tcPr marL="128016" marR="128016" marT="82296" marB="54864">
                    <a:solidFill>
                      <a:srgbClr val="F1F5F8"/>
                    </a:solidFill>
                  </a:tcPr>
                </a:tc>
                <a:tc>
                  <a:txBody>
                    <a:bodyPr/>
                    <a:lstStyle/>
                    <a:p>
                      <a:pPr>
                        <a:spcAft>
                          <a:spcPts val="0"/>
                        </a:spcAft>
                        <a:defRPr sz="1600" b="0">
                          <a:solidFill>
                            <a:srgbClr val="182B43"/>
                          </a:solidFill>
                          <a:latin typeface="Arial"/>
                        </a:defRPr>
                      </a:pPr>
                      <a:r>
                        <a:t>Deploy then revalidate the known finding</a:t>
                      </a:r>
                    </a:p>
                  </a:txBody>
                  <a:tcPr marL="128016" marR="128016" marT="82296" marB="54864">
                    <a:solidFill>
                      <a:srgbClr val="F1F5F8"/>
                    </a:solidFill>
                  </a:tcPr>
                </a:tc>
                <a:tc>
                  <a:txBody>
                    <a:bodyPr/>
                    <a:lstStyle/>
                    <a:p>
                      <a:pPr>
                        <a:spcAft>
                          <a:spcPts val="0"/>
                        </a:spcAft>
                        <a:defRPr sz="1600" b="0">
                          <a:solidFill>
                            <a:srgbClr val="182B43"/>
                          </a:solidFill>
                          <a:latin typeface="Arial"/>
                        </a:defRPr>
                      </a:pPr>
                      <a:r>
                        <a:t>Linked reassessment result</a:t>
                      </a:r>
                    </a:p>
                  </a:txBody>
                  <a:tcPr marL="128016" marR="128016" marT="82296" marB="54864">
                    <a:solidFill>
                      <a:srgbClr val="F1F5F8"/>
                    </a:solidFill>
                  </a:tcPr>
                </a:tc>
              </a:tr>
              <a:tr h="771756">
                <a:tc>
                  <a:txBody>
                    <a:bodyPr/>
                    <a:lstStyle/>
                    <a:p>
                      <a:pPr>
                        <a:spcAft>
                          <a:spcPts val="0"/>
                        </a:spcAft>
                        <a:defRPr sz="1600" b="0">
                          <a:solidFill>
                            <a:srgbClr val="182B43"/>
                          </a:solidFill>
                          <a:latin typeface="Arial"/>
                        </a:defRPr>
                      </a:pPr>
                      <a:r>
                        <a:t>Cost understood</a:t>
                      </a:r>
                    </a:p>
                  </a:txBody>
                  <a:tcPr marL="128016" marR="128016" marT="82296" marB="54864">
                    <a:solidFill>
                      <a:srgbClr val="FFFFFF"/>
                    </a:solidFill>
                  </a:tcPr>
                </a:tc>
                <a:tc>
                  <a:txBody>
                    <a:bodyPr/>
                    <a:lstStyle/>
                    <a:p>
                      <a:pPr>
                        <a:spcAft>
                          <a:spcPts val="0"/>
                        </a:spcAft>
                        <a:defRPr sz="1600" b="0">
                          <a:solidFill>
                            <a:srgbClr val="182B43"/>
                          </a:solidFill>
                          <a:latin typeface="Arial"/>
                        </a:defRPr>
                      </a:pPr>
                      <a:r>
                        <a:t>Reproduce the total with identical filters</a:t>
                      </a:r>
                    </a:p>
                  </a:txBody>
                  <a:tcPr marL="128016" marR="128016" marT="82296" marB="54864">
                    <a:solidFill>
                      <a:srgbClr val="FFFFFF"/>
                    </a:solidFill>
                  </a:tcPr>
                </a:tc>
                <a:tc>
                  <a:txBody>
                    <a:bodyPr/>
                    <a:lstStyle/>
                    <a:p>
                      <a:pPr>
                        <a:spcAft>
                          <a:spcPts val="0"/>
                        </a:spcAft>
                        <a:defRPr sz="1600" b="0">
                          <a:solidFill>
                            <a:srgbClr val="182B43"/>
                          </a:solidFill>
                          <a:latin typeface="Arial"/>
                        </a:defRPr>
                      </a:pPr>
                      <a:r>
                        <a:t>Reconciled view and owned next step</a:t>
                      </a:r>
                    </a:p>
                  </a:txBody>
                  <a:tcPr marL="128016" marR="128016" marT="82296" marB="54864">
                    <a:solidFill>
                      <a:srgbClr val="FFFFFF"/>
                    </a:solidFill>
                  </a:tcPr>
                </a:tc>
              </a:tr>
            </a:tbl>
          </a:graphicData>
        </a:graphic>
      </p:graphicFrame>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285D9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285D9C"/>
                </a:solidFill>
                <a:latin typeface="Arial"/>
              </a:defRPr>
            </a:pPr>
            <a:r>
              <a:t>COMMON ARCHITECTURAL PATTERNS  /  EVIDENCE</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P11 · preserve evidence across systems of record</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Do not replace incident, repository, security or cost records with a single chat summary.</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14 / 18    Common architectural patterns</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01:30 allocated  |  21:30–23:00</a:t>
            </a:r>
          </a:p>
        </p:txBody>
      </p:sp>
      <p:sp>
        <p:nvSpPr>
          <p:cNvPr id="9" name="Rounded Rectangle 8"/>
          <p:cNvSpPr/>
          <p:nvPr/>
        </p:nvSpPr>
        <p:spPr>
          <a:xfrm>
            <a:off x="502920" y="2313432"/>
            <a:ext cx="5490972" cy="1837944"/>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2459736"/>
            <a:ext cx="5161788" cy="201168"/>
          </a:xfrm>
          <a:prstGeom prst="rect">
            <a:avLst/>
          </a:prstGeom>
          <a:noFill/>
        </p:spPr>
        <p:txBody>
          <a:bodyPr wrap="square" lIns="0" rIns="0" tIns="0" bIns="0" anchor="t">
            <a:spAutoFit/>
          </a:bodyPr>
          <a:lstStyle/>
          <a:p>
            <a:pPr>
              <a:lnSpc>
                <a:spcPct val="112000"/>
              </a:lnSpc>
              <a:spcAft>
                <a:spcPts val="300"/>
              </a:spcAft>
              <a:defRPr sz="1050" b="1">
                <a:solidFill>
                  <a:srgbClr val="285D9C"/>
                </a:solidFill>
                <a:latin typeface="Arial"/>
              </a:defRPr>
            </a:pPr>
            <a:r>
              <a:t>SYSTEM OF RECORD</a:t>
            </a:r>
          </a:p>
        </p:txBody>
      </p:sp>
      <p:sp>
        <p:nvSpPr>
          <p:cNvPr id="11" name="TextBox 10"/>
          <p:cNvSpPr txBox="1"/>
          <p:nvPr/>
        </p:nvSpPr>
        <p:spPr>
          <a:xfrm>
            <a:off x="667512" y="2788920"/>
            <a:ext cx="5161788"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Original record</a:t>
            </a:r>
          </a:p>
        </p:txBody>
      </p:sp>
      <p:sp>
        <p:nvSpPr>
          <p:cNvPr id="12" name="TextBox 11"/>
          <p:cNvSpPr txBox="1"/>
          <p:nvPr/>
        </p:nvSpPr>
        <p:spPr>
          <a:xfrm>
            <a:off x="667512" y="3392424"/>
            <a:ext cx="5161788" cy="612648"/>
          </a:xfrm>
          <a:prstGeom prst="rect">
            <a:avLst/>
          </a:prstGeom>
          <a:noFill/>
        </p:spPr>
        <p:txBody>
          <a:bodyPr wrap="square" lIns="0" rIns="0" tIns="0" bIns="0" anchor="t">
            <a:spAutoFit/>
          </a:bodyPr>
          <a:lstStyle/>
          <a:p>
            <a:pPr>
              <a:lnSpc>
                <a:spcPct val="112000"/>
              </a:lnSpc>
              <a:spcAft>
                <a:spcPts val="300"/>
              </a:spcAft>
              <a:defRPr sz="1600" b="0">
                <a:solidFill>
                  <a:srgbClr val="182B43"/>
                </a:solidFill>
                <a:latin typeface="Arial"/>
              </a:defRPr>
            </a:pPr>
            <a:r>
              <a:t>Incident, source revision, assessment run or cost view.</a:t>
            </a:r>
          </a:p>
        </p:txBody>
      </p:sp>
      <p:sp>
        <p:nvSpPr>
          <p:cNvPr id="13" name="Rounded Rectangle 12"/>
          <p:cNvSpPr/>
          <p:nvPr/>
        </p:nvSpPr>
        <p:spPr>
          <a:xfrm>
            <a:off x="6195059" y="2313432"/>
            <a:ext cx="5490972" cy="1837944"/>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59651" y="2459736"/>
            <a:ext cx="5161788" cy="201168"/>
          </a:xfrm>
          <a:prstGeom prst="rect">
            <a:avLst/>
          </a:prstGeom>
          <a:noFill/>
        </p:spPr>
        <p:txBody>
          <a:bodyPr wrap="square" lIns="0" rIns="0" tIns="0" bIns="0" anchor="t">
            <a:spAutoFit/>
          </a:bodyPr>
          <a:lstStyle/>
          <a:p>
            <a:pPr>
              <a:lnSpc>
                <a:spcPct val="112000"/>
              </a:lnSpc>
              <a:spcAft>
                <a:spcPts val="300"/>
              </a:spcAft>
              <a:defRPr sz="1050" b="1">
                <a:solidFill>
                  <a:srgbClr val="285D9C"/>
                </a:solidFill>
                <a:latin typeface="Arial"/>
              </a:defRPr>
            </a:pPr>
            <a:r>
              <a:t>WORK PRODUCT</a:t>
            </a:r>
          </a:p>
        </p:txBody>
      </p:sp>
      <p:sp>
        <p:nvSpPr>
          <p:cNvPr id="15" name="TextBox 14"/>
          <p:cNvSpPr txBox="1"/>
          <p:nvPr/>
        </p:nvSpPr>
        <p:spPr>
          <a:xfrm>
            <a:off x="6359651" y="2788920"/>
            <a:ext cx="5161788"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Derived artifact</a:t>
            </a:r>
          </a:p>
        </p:txBody>
      </p:sp>
      <p:sp>
        <p:nvSpPr>
          <p:cNvPr id="16" name="TextBox 15"/>
          <p:cNvSpPr txBox="1"/>
          <p:nvPr/>
        </p:nvSpPr>
        <p:spPr>
          <a:xfrm>
            <a:off x="6359651" y="3392424"/>
            <a:ext cx="5161788" cy="612648"/>
          </a:xfrm>
          <a:prstGeom prst="rect">
            <a:avLst/>
          </a:prstGeom>
          <a:noFill/>
        </p:spPr>
        <p:txBody>
          <a:bodyPr wrap="square" lIns="0" rIns="0" tIns="0" bIns="0" anchor="t">
            <a:spAutoFit/>
          </a:bodyPr>
          <a:lstStyle/>
          <a:p>
            <a:pPr>
              <a:lnSpc>
                <a:spcPct val="112000"/>
              </a:lnSpc>
              <a:spcAft>
                <a:spcPts val="300"/>
              </a:spcAft>
              <a:defRPr sz="1600" b="0">
                <a:solidFill>
                  <a:srgbClr val="182B43"/>
                </a:solidFill>
                <a:latin typeface="Arial"/>
              </a:defRPr>
            </a:pPr>
            <a:r>
              <a:t>Summary, spec, proposed fix or report.</a:t>
            </a:r>
          </a:p>
        </p:txBody>
      </p:sp>
      <p:sp>
        <p:nvSpPr>
          <p:cNvPr id="17" name="Rounded Rectangle 16"/>
          <p:cNvSpPr/>
          <p:nvPr/>
        </p:nvSpPr>
        <p:spPr>
          <a:xfrm>
            <a:off x="502920" y="4352544"/>
            <a:ext cx="5490972" cy="1837944"/>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67512" y="4498848"/>
            <a:ext cx="5161788" cy="201168"/>
          </a:xfrm>
          <a:prstGeom prst="rect">
            <a:avLst/>
          </a:prstGeom>
          <a:noFill/>
        </p:spPr>
        <p:txBody>
          <a:bodyPr wrap="square" lIns="0" rIns="0" tIns="0" bIns="0" anchor="t">
            <a:spAutoFit/>
          </a:bodyPr>
          <a:lstStyle/>
          <a:p>
            <a:pPr>
              <a:lnSpc>
                <a:spcPct val="112000"/>
              </a:lnSpc>
              <a:spcAft>
                <a:spcPts val="300"/>
              </a:spcAft>
              <a:defRPr sz="1050" b="1">
                <a:solidFill>
                  <a:srgbClr val="285D9C"/>
                </a:solidFill>
                <a:latin typeface="Arial"/>
              </a:defRPr>
            </a:pPr>
            <a:r>
              <a:t>ACCOUNTABILITY</a:t>
            </a:r>
          </a:p>
        </p:txBody>
      </p:sp>
      <p:sp>
        <p:nvSpPr>
          <p:cNvPr id="19" name="TextBox 18"/>
          <p:cNvSpPr txBox="1"/>
          <p:nvPr/>
        </p:nvSpPr>
        <p:spPr>
          <a:xfrm>
            <a:off x="667512" y="4828031"/>
            <a:ext cx="5161788"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Decision</a:t>
            </a:r>
          </a:p>
        </p:txBody>
      </p:sp>
      <p:sp>
        <p:nvSpPr>
          <p:cNvPr id="20" name="TextBox 19"/>
          <p:cNvSpPr txBox="1"/>
          <p:nvPr/>
        </p:nvSpPr>
        <p:spPr>
          <a:xfrm>
            <a:off x="667512" y="5431536"/>
            <a:ext cx="5161788" cy="612648"/>
          </a:xfrm>
          <a:prstGeom prst="rect">
            <a:avLst/>
          </a:prstGeom>
          <a:noFill/>
        </p:spPr>
        <p:txBody>
          <a:bodyPr wrap="square" lIns="0" rIns="0" tIns="0" bIns="0" anchor="t">
            <a:spAutoFit/>
          </a:bodyPr>
          <a:lstStyle/>
          <a:p>
            <a:pPr>
              <a:lnSpc>
                <a:spcPct val="112000"/>
              </a:lnSpc>
              <a:spcAft>
                <a:spcPts val="300"/>
              </a:spcAft>
              <a:defRPr sz="1600" b="0">
                <a:solidFill>
                  <a:srgbClr val="182B43"/>
                </a:solidFill>
                <a:latin typeface="Arial"/>
              </a:defRPr>
            </a:pPr>
            <a:r>
              <a:t>Reviewer, approval, rejection or escalation.</a:t>
            </a:r>
          </a:p>
        </p:txBody>
      </p:sp>
      <p:sp>
        <p:nvSpPr>
          <p:cNvPr id="21" name="Rounded Rectangle 20"/>
          <p:cNvSpPr/>
          <p:nvPr/>
        </p:nvSpPr>
        <p:spPr>
          <a:xfrm>
            <a:off x="6195059" y="4352544"/>
            <a:ext cx="5490972" cy="1837944"/>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59651" y="4498848"/>
            <a:ext cx="5161788" cy="201168"/>
          </a:xfrm>
          <a:prstGeom prst="rect">
            <a:avLst/>
          </a:prstGeom>
          <a:noFill/>
        </p:spPr>
        <p:txBody>
          <a:bodyPr wrap="square" lIns="0" rIns="0" tIns="0" bIns="0" anchor="t">
            <a:spAutoFit/>
          </a:bodyPr>
          <a:lstStyle/>
          <a:p>
            <a:pPr>
              <a:lnSpc>
                <a:spcPct val="112000"/>
              </a:lnSpc>
              <a:spcAft>
                <a:spcPts val="300"/>
              </a:spcAft>
              <a:defRPr sz="1050" b="1">
                <a:solidFill>
                  <a:srgbClr val="285D9C"/>
                </a:solidFill>
                <a:latin typeface="Arial"/>
              </a:defRPr>
            </a:pPr>
            <a:r>
              <a:t>CLOSURE</a:t>
            </a:r>
          </a:p>
        </p:txBody>
      </p:sp>
      <p:sp>
        <p:nvSpPr>
          <p:cNvPr id="23" name="TextBox 22"/>
          <p:cNvSpPr txBox="1"/>
          <p:nvPr/>
        </p:nvSpPr>
        <p:spPr>
          <a:xfrm>
            <a:off x="6359651" y="4828031"/>
            <a:ext cx="5161788"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Verification</a:t>
            </a:r>
          </a:p>
        </p:txBody>
      </p:sp>
      <p:sp>
        <p:nvSpPr>
          <p:cNvPr id="24" name="TextBox 23"/>
          <p:cNvSpPr txBox="1"/>
          <p:nvPr/>
        </p:nvSpPr>
        <p:spPr>
          <a:xfrm>
            <a:off x="6359651" y="5431536"/>
            <a:ext cx="5161788" cy="612648"/>
          </a:xfrm>
          <a:prstGeom prst="rect">
            <a:avLst/>
          </a:prstGeom>
          <a:noFill/>
        </p:spPr>
        <p:txBody>
          <a:bodyPr wrap="square" lIns="0" rIns="0" tIns="0" bIns="0" anchor="t">
            <a:spAutoFit/>
          </a:bodyPr>
          <a:lstStyle/>
          <a:p>
            <a:pPr>
              <a:lnSpc>
                <a:spcPct val="112000"/>
              </a:lnSpc>
              <a:spcAft>
                <a:spcPts val="300"/>
              </a:spcAft>
              <a:defRPr sz="1600" b="0">
                <a:solidFill>
                  <a:srgbClr val="182B43"/>
                </a:solidFill>
                <a:latin typeface="Arial"/>
              </a:defRPr>
            </a:pPr>
            <a:r>
              <a:t>Observed result and unresolved limitations.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285D9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285D9C"/>
                </a:solidFill>
                <a:latin typeface="Arial"/>
              </a:defRPr>
            </a:pPr>
            <a:r>
              <a:t>COMMON ARCHITECTURAL PATTERNS  /  CONTROLS</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P12 · gate availability and data location per feature</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Hosting Region, source location and inference routing are separate questions.</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15 / 18    Common architectural patterns</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01:30 allocated  |  23:00–24:30</a:t>
            </a:r>
          </a:p>
        </p:txBody>
      </p:sp>
      <p:graphicFrame>
        <p:nvGraphicFramePr>
          <p:cNvPr id="9" name="Table 8"/>
          <p:cNvGraphicFramePr>
            <a:graphicFrameLocks noGrp="1"/>
          </p:cNvGraphicFramePr>
          <p:nvPr/>
        </p:nvGraphicFramePr>
        <p:xfrm>
          <a:off x="502920" y="2313432"/>
          <a:ext cx="11183112" cy="3858768"/>
        </p:xfrm>
        <a:graphic>
          <a:graphicData uri="http://schemas.openxmlformats.org/drawingml/2006/table">
            <a:tbl>
              <a:tblPr firstRow="1" bandRow="1">
                <a:tableStyleId>{5C22544A-7EE6-4342-B048-85BDC9FD1C3A}</a:tableStyleId>
              </a:tblPr>
              <a:tblGrid>
                <a:gridCol w="3727704"/>
                <a:gridCol w="3727704"/>
                <a:gridCol w="3727704"/>
              </a:tblGrid>
              <a:tr h="771753">
                <a:tc>
                  <a:txBody>
                    <a:bodyPr/>
                    <a:lstStyle/>
                    <a:p>
                      <a:pPr>
                        <a:spcAft>
                          <a:spcPts val="0"/>
                        </a:spcAft>
                        <a:defRPr sz="1600" b="1">
                          <a:solidFill>
                            <a:srgbClr val="FFFFFF"/>
                          </a:solidFill>
                          <a:latin typeface="Arial"/>
                        </a:defRPr>
                      </a:pPr>
                      <a:r>
                        <a:t>Solution</a:t>
                      </a:r>
                    </a:p>
                  </a:txBody>
                  <a:tcPr marL="128016" marR="128016" marT="82296" marB="54864">
                    <a:solidFill>
                      <a:srgbClr val="10243B"/>
                    </a:solidFill>
                  </a:tcPr>
                </a:tc>
                <a:tc>
                  <a:txBody>
                    <a:bodyPr/>
                    <a:lstStyle/>
                    <a:p>
                      <a:pPr>
                        <a:spcAft>
                          <a:spcPts val="0"/>
                        </a:spcAft>
                        <a:defRPr sz="1600" b="1">
                          <a:solidFill>
                            <a:srgbClr val="FFFFFF"/>
                          </a:solidFill>
                          <a:latin typeface="Arial"/>
                        </a:defRPr>
                      </a:pPr>
                      <a:r>
                        <a:t>Availability distinction</a:t>
                      </a:r>
                    </a:p>
                  </a:txBody>
                  <a:tcPr marL="128016" marR="128016" marT="82296" marB="54864">
                    <a:solidFill>
                      <a:srgbClr val="10243B"/>
                    </a:solidFill>
                  </a:tcPr>
                </a:tc>
                <a:tc>
                  <a:txBody>
                    <a:bodyPr/>
                    <a:lstStyle/>
                    <a:p>
                      <a:pPr>
                        <a:spcAft>
                          <a:spcPts val="0"/>
                        </a:spcAft>
                        <a:defRPr sz="1600" b="1">
                          <a:solidFill>
                            <a:srgbClr val="FFFFFF"/>
                          </a:solidFill>
                          <a:latin typeface="Arial"/>
                        </a:defRPr>
                      </a:pPr>
                      <a:r>
                        <a:t>Readiness question</a:t>
                      </a:r>
                    </a:p>
                  </a:txBody>
                  <a:tcPr marL="128016" marR="128016" marT="82296" marB="54864">
                    <a:solidFill>
                      <a:srgbClr val="10243B"/>
                    </a:solidFill>
                  </a:tcPr>
                </a:tc>
              </a:tr>
              <a:tr h="771753">
                <a:tc>
                  <a:txBody>
                    <a:bodyPr/>
                    <a:lstStyle/>
                    <a:p>
                      <a:pPr>
                        <a:spcAft>
                          <a:spcPts val="0"/>
                        </a:spcAft>
                        <a:defRPr sz="1600" b="0">
                          <a:solidFill>
                            <a:srgbClr val="182B43"/>
                          </a:solidFill>
                          <a:latin typeface="Arial"/>
                        </a:defRPr>
                      </a:pPr>
                      <a:r>
                        <a:t>DevOps</a:t>
                      </a:r>
                    </a:p>
                  </a:txBody>
                  <a:tcPr marL="128016" marR="128016" marT="82296" marB="54864">
                    <a:solidFill>
                      <a:srgbClr val="F1F5F8"/>
                    </a:solidFill>
                  </a:tcPr>
                </a:tc>
                <a:tc>
                  <a:txBody>
                    <a:bodyPr/>
                    <a:lstStyle/>
                    <a:p>
                      <a:pPr>
                        <a:spcAft>
                          <a:spcPts val="0"/>
                        </a:spcAft>
                        <a:defRPr sz="1600" b="0">
                          <a:solidFill>
                            <a:srgbClr val="182B43"/>
                          </a:solidFill>
                          <a:latin typeface="Arial"/>
                        </a:defRPr>
                      </a:pPr>
                      <a:r>
                        <a:t>Production operations vs release preview</a:t>
                      </a:r>
                    </a:p>
                  </a:txBody>
                  <a:tcPr marL="128016" marR="128016" marT="82296" marB="54864">
                    <a:solidFill>
                      <a:srgbClr val="F1F5F8"/>
                    </a:solidFill>
                  </a:tcPr>
                </a:tc>
                <a:tc>
                  <a:txBody>
                    <a:bodyPr/>
                    <a:lstStyle/>
                    <a:p>
                      <a:pPr>
                        <a:spcAft>
                          <a:spcPts val="0"/>
                        </a:spcAft>
                        <a:defRPr sz="1600" b="0">
                          <a:solidFill>
                            <a:srgbClr val="182B43"/>
                          </a:solidFill>
                          <a:latin typeface="Arial"/>
                        </a:defRPr>
                      </a:pPr>
                      <a:r>
                        <a:t>Is the selected feature supported in this Agent Space Region?</a:t>
                      </a:r>
                    </a:p>
                  </a:txBody>
                  <a:tcPr marL="128016" marR="128016" marT="82296" marB="54864">
                    <a:solidFill>
                      <a:srgbClr val="F1F5F8"/>
                    </a:solidFill>
                  </a:tcPr>
                </a:tc>
              </a:tr>
              <a:tr h="771753">
                <a:tc>
                  <a:txBody>
                    <a:bodyPr/>
                    <a:lstStyle/>
                    <a:p>
                      <a:pPr>
                        <a:spcAft>
                          <a:spcPts val="0"/>
                        </a:spcAft>
                        <a:defRPr sz="1600" b="0">
                          <a:solidFill>
                            <a:srgbClr val="182B43"/>
                          </a:solidFill>
                          <a:latin typeface="Arial"/>
                        </a:defRPr>
                      </a:pPr>
                      <a:r>
                        <a:t>Kiro</a:t>
                      </a:r>
                    </a:p>
                  </a:txBody>
                  <a:tcPr marL="128016" marR="128016" marT="82296" marB="54864">
                    <a:solidFill>
                      <a:srgbClr val="FFFFFF"/>
                    </a:solidFill>
                  </a:tcPr>
                </a:tc>
                <a:tc>
                  <a:txBody>
                    <a:bodyPr/>
                    <a:lstStyle/>
                    <a:p>
                      <a:pPr>
                        <a:spcAft>
                          <a:spcPts val="0"/>
                        </a:spcAft>
                        <a:defRPr sz="1600" b="0">
                          <a:solidFill>
                            <a:srgbClr val="182B43"/>
                          </a:solidFill>
                          <a:latin typeface="Arial"/>
                        </a:defRPr>
                      </a:pPr>
                      <a:r>
                        <a:t>Web, IDE and CLI differ; account rollout matters</a:t>
                      </a:r>
                    </a:p>
                  </a:txBody>
                  <a:tcPr marL="128016" marR="128016" marT="82296" marB="54864">
                    <a:solidFill>
                      <a:srgbClr val="FFFFFF"/>
                    </a:solidFill>
                  </a:tcPr>
                </a:tc>
                <a:tc>
                  <a:txBody>
                    <a:bodyPr/>
                    <a:lstStyle/>
                    <a:p>
                      <a:pPr>
                        <a:spcAft>
                          <a:spcPts val="0"/>
                        </a:spcAft>
                        <a:defRPr sz="1600" b="0">
                          <a:solidFill>
                            <a:srgbClr val="182B43"/>
                          </a:solidFill>
                          <a:latin typeface="Arial"/>
                        </a:defRPr>
                      </a:pPr>
                      <a:r>
                        <a:t>Does this client actually support the required control?</a:t>
                      </a:r>
                    </a:p>
                  </a:txBody>
                  <a:tcPr marL="128016" marR="128016" marT="82296" marB="54864">
                    <a:solidFill>
                      <a:srgbClr val="FFFFFF"/>
                    </a:solidFill>
                  </a:tcPr>
                </a:tc>
              </a:tr>
              <a:tr h="771753">
                <a:tc>
                  <a:txBody>
                    <a:bodyPr/>
                    <a:lstStyle/>
                    <a:p>
                      <a:pPr>
                        <a:spcAft>
                          <a:spcPts val="0"/>
                        </a:spcAft>
                        <a:defRPr sz="1600" b="0">
                          <a:solidFill>
                            <a:srgbClr val="182B43"/>
                          </a:solidFill>
                          <a:latin typeface="Arial"/>
                        </a:defRPr>
                      </a:pPr>
                      <a:r>
                        <a:t>Security</a:t>
                      </a:r>
                    </a:p>
                  </a:txBody>
                  <a:tcPr marL="128016" marR="128016" marT="82296" marB="54864">
                    <a:solidFill>
                      <a:srgbClr val="F1F5F8"/>
                    </a:solidFill>
                  </a:tcPr>
                </a:tc>
                <a:tc>
                  <a:txBody>
                    <a:bodyPr/>
                    <a:lstStyle/>
                    <a:p>
                      <a:pPr>
                        <a:spcAft>
                          <a:spcPts val="0"/>
                        </a:spcAft>
                        <a:defRPr sz="1600" b="0">
                          <a:solidFill>
                            <a:srgbClr val="182B43"/>
                          </a:solidFill>
                          <a:latin typeface="Arial"/>
                        </a:defRPr>
                      </a:pPr>
                      <a:r>
                        <a:t>Pentest GA; other workflows include preview</a:t>
                      </a:r>
                    </a:p>
                  </a:txBody>
                  <a:tcPr marL="128016" marR="128016" marT="82296" marB="54864">
                    <a:solidFill>
                      <a:srgbClr val="F1F5F8"/>
                    </a:solidFill>
                  </a:tcPr>
                </a:tc>
                <a:tc>
                  <a:txBody>
                    <a:bodyPr/>
                    <a:lstStyle/>
                    <a:p>
                      <a:pPr>
                        <a:spcAft>
                          <a:spcPts val="0"/>
                        </a:spcAft>
                        <a:defRPr sz="1600" b="0">
                          <a:solidFill>
                            <a:srgbClr val="182B43"/>
                          </a:solidFill>
                          <a:latin typeface="Arial"/>
                        </a:defRPr>
                      </a:pPr>
                      <a:r>
                        <a:t>What target, source and inference boundaries apply?</a:t>
                      </a:r>
                    </a:p>
                  </a:txBody>
                  <a:tcPr marL="128016" marR="128016" marT="82296" marB="54864">
                    <a:solidFill>
                      <a:srgbClr val="F1F5F8"/>
                    </a:solidFill>
                  </a:tcPr>
                </a:tc>
              </a:tr>
              <a:tr h="771756">
                <a:tc>
                  <a:txBody>
                    <a:bodyPr/>
                    <a:lstStyle/>
                    <a:p>
                      <a:pPr>
                        <a:spcAft>
                          <a:spcPts val="0"/>
                        </a:spcAft>
                        <a:defRPr sz="1600" b="0">
                          <a:solidFill>
                            <a:srgbClr val="182B43"/>
                          </a:solidFill>
                          <a:latin typeface="Arial"/>
                        </a:defRPr>
                      </a:pPr>
                      <a:r>
                        <a:t>FinOps</a:t>
                      </a:r>
                    </a:p>
                  </a:txBody>
                  <a:tcPr marL="128016" marR="128016" marT="82296" marB="54864">
                    <a:solidFill>
                      <a:srgbClr val="FFFFFF"/>
                    </a:solidFill>
                  </a:tcPr>
                </a:tc>
                <a:tc>
                  <a:txBody>
                    <a:bodyPr/>
                    <a:lstStyle/>
                    <a:p>
                      <a:pPr>
                        <a:spcAft>
                          <a:spcPts val="0"/>
                        </a:spcAft>
                        <a:defRPr sz="1600" b="0">
                          <a:solidFill>
                            <a:srgbClr val="182B43"/>
                          </a:solidFill>
                          <a:latin typeface="Arial"/>
                        </a:defRPr>
                      </a:pPr>
                      <a:r>
                        <a:t>Whole service preview</a:t>
                      </a:r>
                    </a:p>
                  </a:txBody>
                  <a:tcPr marL="128016" marR="128016" marT="82296" marB="54864">
                    <a:solidFill>
                      <a:srgbClr val="FFFFFF"/>
                    </a:solidFill>
                  </a:tcPr>
                </a:tc>
                <a:tc>
                  <a:txBody>
                    <a:bodyPr/>
                    <a:lstStyle/>
                    <a:p>
                      <a:pPr>
                        <a:spcAft>
                          <a:spcPts val="0"/>
                        </a:spcAft>
                        <a:defRPr sz="1600" b="0">
                          <a:solidFill>
                            <a:srgbClr val="182B43"/>
                          </a:solidFill>
                          <a:latin typeface="Arial"/>
                        </a:defRPr>
                      </a:pPr>
                      <a:r>
                        <a:t>Is us-east-1 storage / US inference acceptable?</a:t>
                      </a:r>
                    </a:p>
                  </a:txBody>
                  <a:tcPr marL="128016" marR="128016" marT="82296" marB="54864">
                    <a:solidFill>
                      <a:srgbClr val="FFFFFF"/>
                    </a:solidFill>
                  </a:tcPr>
                </a:tc>
              </a:tr>
            </a:tbl>
          </a:graphicData>
        </a:graphic>
      </p:graphicFrame>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285D9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285D9C"/>
                </a:solidFill>
                <a:latin typeface="Arial"/>
              </a:defRPr>
            </a:pPr>
            <a:r>
              <a:t>COMMON ARCHITECTURAL PATTERNS  /  DEMONSTRATION</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Tabletop demo · incident to verified handoff</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Trace one work item through specialist artifacts without transferring authority.</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16 / 18    Common architectural patterns</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08:00 allocated  |  24:30–32:30</a:t>
            </a:r>
          </a:p>
        </p:txBody>
      </p:sp>
      <p:sp>
        <p:nvSpPr>
          <p:cNvPr id="9" name="Rounded Rectangle 8"/>
          <p:cNvSpPr/>
          <p:nvPr/>
        </p:nvSpPr>
        <p:spPr>
          <a:xfrm>
            <a:off x="502920" y="2295144"/>
            <a:ext cx="11183112" cy="969264"/>
          </a:xfrm>
          <a:prstGeom prst="roundRect">
            <a:avLst>
              <a:gd name="adj" fmla="val 8000"/>
            </a:avLst>
          </a:prstGeom>
          <a:solidFill>
            <a:srgbClr val="1024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04088" y="2432304"/>
            <a:ext cx="10789920" cy="713232"/>
          </a:xfrm>
          <a:prstGeom prst="rect">
            <a:avLst/>
          </a:prstGeom>
          <a:noFill/>
        </p:spPr>
        <p:txBody>
          <a:bodyPr wrap="square" lIns="0" rIns="0" tIns="0" bIns="0" anchor="t">
            <a:spAutoFit/>
          </a:bodyPr>
          <a:lstStyle/>
          <a:p>
            <a:pPr>
              <a:lnSpc>
                <a:spcPct val="112000"/>
              </a:lnSpc>
              <a:spcAft>
                <a:spcPts val="300"/>
              </a:spcAft>
              <a:defRPr sz="1500" b="0">
                <a:solidFill>
                  <a:srgbClr val="FFFFFF"/>
                </a:solidFill>
                <a:latin typeface="Arial"/>
              </a:defRPr>
            </a:pPr>
            <a:r>
              <a:t>For the illustrative checkout incident, assemble an evidence-linked handoff with scope, owner, exact revision, allowed effects, exclusions and completion checks. Route code work to a reviewer-controlled PR. Add Security or FinOps assessment only when the issue requires it. Do not deploy or share credentials.</a:t>
            </a:r>
          </a:p>
        </p:txBody>
      </p:sp>
      <p:sp>
        <p:nvSpPr>
          <p:cNvPr id="11" name="TextBox 10"/>
          <p:cNvSpPr txBox="1"/>
          <p:nvPr/>
        </p:nvSpPr>
        <p:spPr>
          <a:xfrm>
            <a:off x="502920" y="3429000"/>
            <a:ext cx="3200400" cy="201168"/>
          </a:xfrm>
          <a:prstGeom prst="rect">
            <a:avLst/>
          </a:prstGeom>
          <a:noFill/>
        </p:spPr>
        <p:txBody>
          <a:bodyPr wrap="square" lIns="0" rIns="0" tIns="0" bIns="0" anchor="t">
            <a:spAutoFit/>
          </a:bodyPr>
          <a:lstStyle/>
          <a:p>
            <a:pPr>
              <a:lnSpc>
                <a:spcPct val="112000"/>
              </a:lnSpc>
              <a:spcAft>
                <a:spcPts val="300"/>
              </a:spcAft>
              <a:defRPr sz="1050" b="1">
                <a:solidFill>
                  <a:srgbClr val="285D9C"/>
                </a:solidFill>
                <a:latin typeface="Arial"/>
              </a:defRPr>
            </a:pPr>
            <a:r>
              <a:t>PREFLIGHT</a:t>
            </a:r>
          </a:p>
        </p:txBody>
      </p:sp>
      <p:sp>
        <p:nvSpPr>
          <p:cNvPr id="12" name="TextBox 11"/>
          <p:cNvSpPr txBox="1"/>
          <p:nvPr/>
        </p:nvSpPr>
        <p:spPr>
          <a:xfrm>
            <a:off x="502920" y="3685032"/>
            <a:ext cx="3337560" cy="612648"/>
          </a:xfrm>
          <a:prstGeom prst="rect">
            <a:avLst/>
          </a:prstGeom>
          <a:noFill/>
        </p:spPr>
        <p:txBody>
          <a:bodyPr wrap="square" lIns="0" rIns="0" tIns="0" bIns="0" anchor="t">
            <a:spAutoFit/>
          </a:bodyPr>
          <a:lstStyle/>
          <a:p>
            <a:pPr>
              <a:lnSpc>
                <a:spcPct val="112000"/>
              </a:lnSpc>
              <a:spcAft>
                <a:spcPts val="300"/>
              </a:spcAft>
              <a:defRPr sz="1300" b="0">
                <a:solidFill>
                  <a:srgbClr val="182B43"/>
                </a:solidFill>
                <a:latin typeface="Arial"/>
              </a:defRPr>
            </a:pPr>
            <a:r>
              <a:t>Use the supplied illustrative handoff template and labeled rehearsal artifacts. No live cross-agent orchestration is required.</a:t>
            </a:r>
          </a:p>
        </p:txBody>
      </p:sp>
      <p:sp>
        <p:nvSpPr>
          <p:cNvPr id="13" name="TextBox 12"/>
          <p:cNvSpPr txBox="1"/>
          <p:nvPr/>
        </p:nvSpPr>
        <p:spPr>
          <a:xfrm>
            <a:off x="502920" y="4389120"/>
            <a:ext cx="3200400" cy="201168"/>
          </a:xfrm>
          <a:prstGeom prst="rect">
            <a:avLst/>
          </a:prstGeom>
          <a:noFill/>
        </p:spPr>
        <p:txBody>
          <a:bodyPr wrap="square" lIns="0" rIns="0" tIns="0" bIns="0" anchor="t">
            <a:spAutoFit/>
          </a:bodyPr>
          <a:lstStyle/>
          <a:p>
            <a:pPr>
              <a:lnSpc>
                <a:spcPct val="112000"/>
              </a:lnSpc>
              <a:spcAft>
                <a:spcPts val="300"/>
              </a:spcAft>
              <a:defRPr sz="1050" b="1">
                <a:solidFill>
                  <a:srgbClr val="285D9C"/>
                </a:solidFill>
                <a:latin typeface="Arial"/>
              </a:defRPr>
            </a:pPr>
            <a:r>
              <a:t>SUCCESS</a:t>
            </a:r>
          </a:p>
        </p:txBody>
      </p:sp>
      <p:sp>
        <p:nvSpPr>
          <p:cNvPr id="14" name="TextBox 13"/>
          <p:cNvSpPr txBox="1"/>
          <p:nvPr/>
        </p:nvSpPr>
        <p:spPr>
          <a:xfrm>
            <a:off x="502920" y="4645152"/>
            <a:ext cx="3337560" cy="612648"/>
          </a:xfrm>
          <a:prstGeom prst="rect">
            <a:avLst/>
          </a:prstGeom>
          <a:noFill/>
        </p:spPr>
        <p:txBody>
          <a:bodyPr wrap="square" lIns="0" rIns="0" tIns="0" bIns="0" anchor="t">
            <a:spAutoFit/>
          </a:bodyPr>
          <a:lstStyle/>
          <a:p>
            <a:pPr>
              <a:lnSpc>
                <a:spcPct val="112000"/>
              </a:lnSpc>
              <a:spcAft>
                <a:spcPts val="300"/>
              </a:spcAft>
              <a:defRPr sz="1300" b="0">
                <a:solidFill>
                  <a:srgbClr val="182B43"/>
                </a:solidFill>
                <a:latin typeface="Arial"/>
              </a:defRPr>
            </a:pPr>
            <a:r>
              <a:t>Every transition carries evidence and a new task boundary; no transition carries implicit approval.</a:t>
            </a:r>
          </a:p>
        </p:txBody>
      </p:sp>
      <p:sp>
        <p:nvSpPr>
          <p:cNvPr id="15" name="TextBox 14"/>
          <p:cNvSpPr txBox="1"/>
          <p:nvPr/>
        </p:nvSpPr>
        <p:spPr>
          <a:xfrm>
            <a:off x="502920" y="5349240"/>
            <a:ext cx="3200400" cy="201168"/>
          </a:xfrm>
          <a:prstGeom prst="rect">
            <a:avLst/>
          </a:prstGeom>
          <a:noFill/>
        </p:spPr>
        <p:txBody>
          <a:bodyPr wrap="square" lIns="0" rIns="0" tIns="0" bIns="0" anchor="t">
            <a:spAutoFit/>
          </a:bodyPr>
          <a:lstStyle/>
          <a:p>
            <a:pPr>
              <a:lnSpc>
                <a:spcPct val="112000"/>
              </a:lnSpc>
              <a:spcAft>
                <a:spcPts val="300"/>
              </a:spcAft>
              <a:defRPr sz="1050" b="1">
                <a:solidFill>
                  <a:srgbClr val="285D9C"/>
                </a:solidFill>
                <a:latin typeface="Arial"/>
              </a:defRPr>
            </a:pPr>
            <a:r>
              <a:t>FALLBACK</a:t>
            </a:r>
          </a:p>
        </p:txBody>
      </p:sp>
      <p:sp>
        <p:nvSpPr>
          <p:cNvPr id="16" name="TextBox 15"/>
          <p:cNvSpPr txBox="1"/>
          <p:nvPr/>
        </p:nvSpPr>
        <p:spPr>
          <a:xfrm>
            <a:off x="502920" y="5605272"/>
            <a:ext cx="3337560" cy="612648"/>
          </a:xfrm>
          <a:prstGeom prst="rect">
            <a:avLst/>
          </a:prstGeom>
          <a:noFill/>
        </p:spPr>
        <p:txBody>
          <a:bodyPr wrap="square" lIns="0" rIns="0" tIns="0" bIns="0" anchor="t">
            <a:spAutoFit/>
          </a:bodyPr>
          <a:lstStyle/>
          <a:p>
            <a:pPr>
              <a:lnSpc>
                <a:spcPct val="112000"/>
              </a:lnSpc>
              <a:spcAft>
                <a:spcPts val="300"/>
              </a:spcAft>
              <a:defRPr sz="1300" b="0">
                <a:solidFill>
                  <a:srgbClr val="182B43"/>
                </a:solidFill>
                <a:latin typeface="Arial"/>
              </a:defRPr>
            </a:pPr>
            <a:r>
              <a:t>This tabletop is the default mode. A prepared recording may illustrate a real integration, but must be identified as replay.</a:t>
            </a:r>
          </a:p>
        </p:txBody>
      </p:sp>
      <p:sp>
        <p:nvSpPr>
          <p:cNvPr id="17" name="Rounded Rectangle 16"/>
          <p:cNvSpPr/>
          <p:nvPr/>
        </p:nvSpPr>
        <p:spPr>
          <a:xfrm>
            <a:off x="4096512" y="3410712"/>
            <a:ext cx="7589520" cy="501091"/>
          </a:xfrm>
          <a:prstGeom prst="roundRect">
            <a:avLst>
              <a:gd name="adj" fmla="val 8000"/>
            </a:avLst>
          </a:prstGeom>
          <a:solidFill>
            <a:srgbClr val="F1F5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233672" y="3520440"/>
            <a:ext cx="594360" cy="256032"/>
          </a:xfrm>
          <a:prstGeom prst="rect">
            <a:avLst/>
          </a:prstGeom>
          <a:noFill/>
        </p:spPr>
        <p:txBody>
          <a:bodyPr wrap="square" lIns="0" rIns="0" tIns="0" bIns="0" anchor="t">
            <a:spAutoFit/>
          </a:bodyPr>
          <a:lstStyle/>
          <a:p>
            <a:pPr>
              <a:lnSpc>
                <a:spcPct val="112000"/>
              </a:lnSpc>
              <a:spcAft>
                <a:spcPts val="300"/>
              </a:spcAft>
              <a:defRPr sz="1300" b="1">
                <a:solidFill>
                  <a:srgbClr val="285D9C"/>
                </a:solidFill>
                <a:latin typeface="Arial"/>
              </a:defRPr>
            </a:pPr>
            <a:r>
              <a:t>01:00</a:t>
            </a:r>
          </a:p>
        </p:txBody>
      </p:sp>
      <p:sp>
        <p:nvSpPr>
          <p:cNvPr id="19" name="TextBox 18"/>
          <p:cNvSpPr txBox="1"/>
          <p:nvPr/>
        </p:nvSpPr>
        <p:spPr>
          <a:xfrm>
            <a:off x="4937760" y="3483864"/>
            <a:ext cx="6537960" cy="219456"/>
          </a:xfrm>
          <a:prstGeom prst="rect">
            <a:avLst/>
          </a:prstGeom>
          <a:noFill/>
        </p:spPr>
        <p:txBody>
          <a:bodyPr wrap="square" lIns="0" rIns="0" tIns="0" bIns="0" anchor="t">
            <a:spAutoFit/>
          </a:bodyPr>
          <a:lstStyle/>
          <a:p>
            <a:pPr>
              <a:lnSpc>
                <a:spcPct val="112000"/>
              </a:lnSpc>
              <a:spcAft>
                <a:spcPts val="300"/>
              </a:spcAft>
              <a:defRPr sz="1350" b="1">
                <a:solidFill>
                  <a:srgbClr val="182B43"/>
                </a:solidFill>
                <a:latin typeface="Arial"/>
              </a:defRPr>
            </a:pPr>
            <a:r>
              <a:t>Open the work contract</a:t>
            </a:r>
          </a:p>
        </p:txBody>
      </p:sp>
      <p:sp>
        <p:nvSpPr>
          <p:cNvPr id="20" name="TextBox 19"/>
          <p:cNvSpPr txBox="1"/>
          <p:nvPr/>
        </p:nvSpPr>
        <p:spPr>
          <a:xfrm>
            <a:off x="4937760" y="3685032"/>
            <a:ext cx="6537960" cy="263347"/>
          </a:xfrm>
          <a:prstGeom prst="rect">
            <a:avLst/>
          </a:prstGeom>
          <a:noFill/>
        </p:spPr>
        <p:txBody>
          <a:bodyPr wrap="square" lIns="0" rIns="0" tIns="0" bIns="0" anchor="t">
            <a:spAutoFit/>
          </a:bodyPr>
          <a:lstStyle/>
          <a:p>
            <a:pPr>
              <a:lnSpc>
                <a:spcPct val="112000"/>
              </a:lnSpc>
              <a:spcAft>
                <a:spcPts val="300"/>
              </a:spcAft>
              <a:defRPr sz="1350" b="0">
                <a:solidFill>
                  <a:srgbClr val="182B43"/>
                </a:solidFill>
                <a:latin typeface="Arial"/>
              </a:defRPr>
            </a:pPr>
            <a:r>
              <a:t>Confirm service, environment, evidence and owner.</a:t>
            </a:r>
          </a:p>
        </p:txBody>
      </p:sp>
      <p:sp>
        <p:nvSpPr>
          <p:cNvPr id="21" name="Rounded Rectangle 20"/>
          <p:cNvSpPr/>
          <p:nvPr/>
        </p:nvSpPr>
        <p:spPr>
          <a:xfrm>
            <a:off x="4096512" y="3966667"/>
            <a:ext cx="7589520" cy="501091"/>
          </a:xfrm>
          <a:prstGeom prst="roundRect">
            <a:avLst>
              <a:gd name="adj" fmla="val 8000"/>
            </a:avLst>
          </a:prstGeom>
          <a:solidFill>
            <a:srgbClr val="F1F5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233672" y="4076395"/>
            <a:ext cx="594360" cy="256032"/>
          </a:xfrm>
          <a:prstGeom prst="rect">
            <a:avLst/>
          </a:prstGeom>
          <a:noFill/>
        </p:spPr>
        <p:txBody>
          <a:bodyPr wrap="square" lIns="0" rIns="0" tIns="0" bIns="0" anchor="t">
            <a:spAutoFit/>
          </a:bodyPr>
          <a:lstStyle/>
          <a:p>
            <a:pPr>
              <a:lnSpc>
                <a:spcPct val="112000"/>
              </a:lnSpc>
              <a:spcAft>
                <a:spcPts val="300"/>
              </a:spcAft>
              <a:defRPr sz="1300" b="1">
                <a:solidFill>
                  <a:srgbClr val="285D9C"/>
                </a:solidFill>
                <a:latin typeface="Arial"/>
              </a:defRPr>
            </a:pPr>
            <a:r>
              <a:t>02:00</a:t>
            </a:r>
          </a:p>
        </p:txBody>
      </p:sp>
      <p:sp>
        <p:nvSpPr>
          <p:cNvPr id="23" name="TextBox 22"/>
          <p:cNvSpPr txBox="1"/>
          <p:nvPr/>
        </p:nvSpPr>
        <p:spPr>
          <a:xfrm>
            <a:off x="4937760" y="4039819"/>
            <a:ext cx="6537960" cy="219456"/>
          </a:xfrm>
          <a:prstGeom prst="rect">
            <a:avLst/>
          </a:prstGeom>
          <a:noFill/>
        </p:spPr>
        <p:txBody>
          <a:bodyPr wrap="square" lIns="0" rIns="0" tIns="0" bIns="0" anchor="t">
            <a:spAutoFit/>
          </a:bodyPr>
          <a:lstStyle/>
          <a:p>
            <a:pPr>
              <a:lnSpc>
                <a:spcPct val="112000"/>
              </a:lnSpc>
              <a:spcAft>
                <a:spcPts val="300"/>
              </a:spcAft>
              <a:defRPr sz="1350" b="1">
                <a:solidFill>
                  <a:srgbClr val="182B43"/>
                </a:solidFill>
                <a:latin typeface="Arial"/>
              </a:defRPr>
            </a:pPr>
            <a:r>
              <a:t>Review operational evidence</a:t>
            </a:r>
          </a:p>
        </p:txBody>
      </p:sp>
      <p:sp>
        <p:nvSpPr>
          <p:cNvPr id="24" name="TextBox 23"/>
          <p:cNvSpPr txBox="1"/>
          <p:nvPr/>
        </p:nvSpPr>
        <p:spPr>
          <a:xfrm>
            <a:off x="4937760" y="4240987"/>
            <a:ext cx="6537960" cy="263347"/>
          </a:xfrm>
          <a:prstGeom prst="rect">
            <a:avLst/>
          </a:prstGeom>
          <a:noFill/>
        </p:spPr>
        <p:txBody>
          <a:bodyPr wrap="square" lIns="0" rIns="0" tIns="0" bIns="0" anchor="t">
            <a:spAutoFit/>
          </a:bodyPr>
          <a:lstStyle/>
          <a:p>
            <a:pPr>
              <a:lnSpc>
                <a:spcPct val="112000"/>
              </a:lnSpc>
              <a:spcAft>
                <a:spcPts val="300"/>
              </a:spcAft>
              <a:defRPr sz="1350" b="0">
                <a:solidFill>
                  <a:srgbClr val="182B43"/>
                </a:solidFill>
                <a:latin typeface="Arial"/>
              </a:defRPr>
            </a:pPr>
            <a:r>
              <a:t>Separate facts, candidate cause and missing data.</a:t>
            </a:r>
          </a:p>
        </p:txBody>
      </p:sp>
      <p:sp>
        <p:nvSpPr>
          <p:cNvPr id="25" name="Rounded Rectangle 24"/>
          <p:cNvSpPr/>
          <p:nvPr/>
        </p:nvSpPr>
        <p:spPr>
          <a:xfrm>
            <a:off x="4096512" y="4522622"/>
            <a:ext cx="7589520" cy="501091"/>
          </a:xfrm>
          <a:prstGeom prst="roundRect">
            <a:avLst>
              <a:gd name="adj" fmla="val 8000"/>
            </a:avLst>
          </a:prstGeom>
          <a:solidFill>
            <a:srgbClr val="F1F5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233672" y="4632350"/>
            <a:ext cx="594360" cy="256032"/>
          </a:xfrm>
          <a:prstGeom prst="rect">
            <a:avLst/>
          </a:prstGeom>
          <a:noFill/>
        </p:spPr>
        <p:txBody>
          <a:bodyPr wrap="square" lIns="0" rIns="0" tIns="0" bIns="0" anchor="t">
            <a:spAutoFit/>
          </a:bodyPr>
          <a:lstStyle/>
          <a:p>
            <a:pPr>
              <a:lnSpc>
                <a:spcPct val="112000"/>
              </a:lnSpc>
              <a:spcAft>
                <a:spcPts val="300"/>
              </a:spcAft>
              <a:defRPr sz="1300" b="1">
                <a:solidFill>
                  <a:srgbClr val="285D9C"/>
                </a:solidFill>
                <a:latin typeface="Arial"/>
              </a:defRPr>
            </a:pPr>
            <a:r>
              <a:t>02:00</a:t>
            </a:r>
          </a:p>
        </p:txBody>
      </p:sp>
      <p:sp>
        <p:nvSpPr>
          <p:cNvPr id="27" name="TextBox 26"/>
          <p:cNvSpPr txBox="1"/>
          <p:nvPr/>
        </p:nvSpPr>
        <p:spPr>
          <a:xfrm>
            <a:off x="4937760" y="4595774"/>
            <a:ext cx="6537960" cy="219456"/>
          </a:xfrm>
          <a:prstGeom prst="rect">
            <a:avLst/>
          </a:prstGeom>
          <a:noFill/>
        </p:spPr>
        <p:txBody>
          <a:bodyPr wrap="square" lIns="0" rIns="0" tIns="0" bIns="0" anchor="t">
            <a:spAutoFit/>
          </a:bodyPr>
          <a:lstStyle/>
          <a:p>
            <a:pPr>
              <a:lnSpc>
                <a:spcPct val="112000"/>
              </a:lnSpc>
              <a:spcAft>
                <a:spcPts val="300"/>
              </a:spcAft>
              <a:defRPr sz="1350" b="1">
                <a:solidFill>
                  <a:srgbClr val="182B43"/>
                </a:solidFill>
                <a:latin typeface="Arial"/>
              </a:defRPr>
            </a:pPr>
            <a:r>
              <a:t>Inspect the coding handoff</a:t>
            </a:r>
          </a:p>
        </p:txBody>
      </p:sp>
      <p:sp>
        <p:nvSpPr>
          <p:cNvPr id="28" name="TextBox 27"/>
          <p:cNvSpPr txBox="1"/>
          <p:nvPr/>
        </p:nvSpPr>
        <p:spPr>
          <a:xfrm>
            <a:off x="4937760" y="4796942"/>
            <a:ext cx="6537960" cy="263347"/>
          </a:xfrm>
          <a:prstGeom prst="rect">
            <a:avLst/>
          </a:prstGeom>
          <a:noFill/>
        </p:spPr>
        <p:txBody>
          <a:bodyPr wrap="square" lIns="0" rIns="0" tIns="0" bIns="0" anchor="t">
            <a:spAutoFit/>
          </a:bodyPr>
          <a:lstStyle/>
          <a:p>
            <a:pPr>
              <a:lnSpc>
                <a:spcPct val="112000"/>
              </a:lnSpc>
              <a:spcAft>
                <a:spcPts val="300"/>
              </a:spcAft>
              <a:defRPr sz="1350" b="0">
                <a:solidFill>
                  <a:srgbClr val="182B43"/>
                </a:solidFill>
                <a:latin typeface="Arial"/>
              </a:defRPr>
            </a:pPr>
            <a:r>
              <a:t>Show the task contract, scoped diff and independent checks.</a:t>
            </a:r>
          </a:p>
        </p:txBody>
      </p:sp>
      <p:sp>
        <p:nvSpPr>
          <p:cNvPr id="29" name="Rounded Rectangle 28"/>
          <p:cNvSpPr/>
          <p:nvPr/>
        </p:nvSpPr>
        <p:spPr>
          <a:xfrm>
            <a:off x="4096512" y="5078577"/>
            <a:ext cx="7589520" cy="501091"/>
          </a:xfrm>
          <a:prstGeom prst="roundRect">
            <a:avLst>
              <a:gd name="adj" fmla="val 8000"/>
            </a:avLst>
          </a:prstGeom>
          <a:solidFill>
            <a:srgbClr val="F1F5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233672" y="5188305"/>
            <a:ext cx="594360" cy="256032"/>
          </a:xfrm>
          <a:prstGeom prst="rect">
            <a:avLst/>
          </a:prstGeom>
          <a:noFill/>
        </p:spPr>
        <p:txBody>
          <a:bodyPr wrap="square" lIns="0" rIns="0" tIns="0" bIns="0" anchor="t">
            <a:spAutoFit/>
          </a:bodyPr>
          <a:lstStyle/>
          <a:p>
            <a:pPr>
              <a:lnSpc>
                <a:spcPct val="112000"/>
              </a:lnSpc>
              <a:spcAft>
                <a:spcPts val="300"/>
              </a:spcAft>
              <a:defRPr sz="1300" b="1">
                <a:solidFill>
                  <a:srgbClr val="285D9C"/>
                </a:solidFill>
                <a:latin typeface="Arial"/>
              </a:defRPr>
            </a:pPr>
            <a:r>
              <a:t>02:00</a:t>
            </a:r>
          </a:p>
        </p:txBody>
      </p:sp>
      <p:sp>
        <p:nvSpPr>
          <p:cNvPr id="31" name="TextBox 30"/>
          <p:cNvSpPr txBox="1"/>
          <p:nvPr/>
        </p:nvSpPr>
        <p:spPr>
          <a:xfrm>
            <a:off x="4937760" y="5151729"/>
            <a:ext cx="6537960" cy="219456"/>
          </a:xfrm>
          <a:prstGeom prst="rect">
            <a:avLst/>
          </a:prstGeom>
          <a:noFill/>
        </p:spPr>
        <p:txBody>
          <a:bodyPr wrap="square" lIns="0" rIns="0" tIns="0" bIns="0" anchor="t">
            <a:spAutoFit/>
          </a:bodyPr>
          <a:lstStyle/>
          <a:p>
            <a:pPr>
              <a:lnSpc>
                <a:spcPct val="112000"/>
              </a:lnSpc>
              <a:spcAft>
                <a:spcPts val="300"/>
              </a:spcAft>
              <a:defRPr sz="1350" b="1">
                <a:solidFill>
                  <a:srgbClr val="182B43"/>
                </a:solidFill>
                <a:latin typeface="Arial"/>
              </a:defRPr>
            </a:pPr>
            <a:r>
              <a:t>Choose conditional assurance</a:t>
            </a:r>
          </a:p>
        </p:txBody>
      </p:sp>
      <p:sp>
        <p:nvSpPr>
          <p:cNvPr id="32" name="TextBox 31"/>
          <p:cNvSpPr txBox="1"/>
          <p:nvPr/>
        </p:nvSpPr>
        <p:spPr>
          <a:xfrm>
            <a:off x="4937760" y="5352897"/>
            <a:ext cx="6537960" cy="263347"/>
          </a:xfrm>
          <a:prstGeom prst="rect">
            <a:avLst/>
          </a:prstGeom>
          <a:noFill/>
        </p:spPr>
        <p:txBody>
          <a:bodyPr wrap="square" lIns="0" rIns="0" tIns="0" bIns="0" anchor="t">
            <a:spAutoFit/>
          </a:bodyPr>
          <a:lstStyle/>
          <a:p>
            <a:pPr>
              <a:lnSpc>
                <a:spcPct val="112000"/>
              </a:lnSpc>
              <a:spcAft>
                <a:spcPts val="300"/>
              </a:spcAft>
              <a:defRPr sz="1350" b="0">
                <a:solidFill>
                  <a:srgbClr val="182B43"/>
                </a:solidFill>
                <a:latin typeface="Arial"/>
              </a:defRPr>
            </a:pPr>
            <a:r>
              <a:t>Add targeted security or cost work only when justified.</a:t>
            </a:r>
          </a:p>
        </p:txBody>
      </p:sp>
      <p:sp>
        <p:nvSpPr>
          <p:cNvPr id="33" name="Rounded Rectangle 32"/>
          <p:cNvSpPr/>
          <p:nvPr/>
        </p:nvSpPr>
        <p:spPr>
          <a:xfrm>
            <a:off x="4096512" y="5634532"/>
            <a:ext cx="7589520" cy="501091"/>
          </a:xfrm>
          <a:prstGeom prst="roundRect">
            <a:avLst>
              <a:gd name="adj" fmla="val 8000"/>
            </a:avLst>
          </a:prstGeom>
          <a:solidFill>
            <a:srgbClr val="F1F5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233672" y="5744260"/>
            <a:ext cx="594360" cy="256032"/>
          </a:xfrm>
          <a:prstGeom prst="rect">
            <a:avLst/>
          </a:prstGeom>
          <a:noFill/>
        </p:spPr>
        <p:txBody>
          <a:bodyPr wrap="square" lIns="0" rIns="0" tIns="0" bIns="0" anchor="t">
            <a:spAutoFit/>
          </a:bodyPr>
          <a:lstStyle/>
          <a:p>
            <a:pPr>
              <a:lnSpc>
                <a:spcPct val="112000"/>
              </a:lnSpc>
              <a:spcAft>
                <a:spcPts val="300"/>
              </a:spcAft>
              <a:defRPr sz="1300" b="1">
                <a:solidFill>
                  <a:srgbClr val="285D9C"/>
                </a:solidFill>
                <a:latin typeface="Arial"/>
              </a:defRPr>
            </a:pPr>
            <a:r>
              <a:t>01:00</a:t>
            </a:r>
          </a:p>
        </p:txBody>
      </p:sp>
      <p:sp>
        <p:nvSpPr>
          <p:cNvPr id="35" name="TextBox 34"/>
          <p:cNvSpPr txBox="1"/>
          <p:nvPr/>
        </p:nvSpPr>
        <p:spPr>
          <a:xfrm>
            <a:off x="4937760" y="5707684"/>
            <a:ext cx="6537960" cy="219456"/>
          </a:xfrm>
          <a:prstGeom prst="rect">
            <a:avLst/>
          </a:prstGeom>
          <a:noFill/>
        </p:spPr>
        <p:txBody>
          <a:bodyPr wrap="square" lIns="0" rIns="0" tIns="0" bIns="0" anchor="t">
            <a:spAutoFit/>
          </a:bodyPr>
          <a:lstStyle/>
          <a:p>
            <a:pPr>
              <a:lnSpc>
                <a:spcPct val="112000"/>
              </a:lnSpc>
              <a:spcAft>
                <a:spcPts val="300"/>
              </a:spcAft>
              <a:defRPr sz="1350" b="1">
                <a:solidFill>
                  <a:srgbClr val="182B43"/>
                </a:solidFill>
                <a:latin typeface="Arial"/>
              </a:defRPr>
            </a:pPr>
            <a:r>
              <a:t>Record the decision</a:t>
            </a:r>
          </a:p>
        </p:txBody>
      </p:sp>
      <p:sp>
        <p:nvSpPr>
          <p:cNvPr id="36" name="TextBox 35"/>
          <p:cNvSpPr txBox="1"/>
          <p:nvPr/>
        </p:nvSpPr>
        <p:spPr>
          <a:xfrm>
            <a:off x="4937760" y="5908852"/>
            <a:ext cx="6537960" cy="263347"/>
          </a:xfrm>
          <a:prstGeom prst="rect">
            <a:avLst/>
          </a:prstGeom>
          <a:noFill/>
        </p:spPr>
        <p:txBody>
          <a:bodyPr wrap="square" lIns="0" rIns="0" tIns="0" bIns="0" anchor="t">
            <a:spAutoFit/>
          </a:bodyPr>
          <a:lstStyle/>
          <a:p>
            <a:pPr>
              <a:lnSpc>
                <a:spcPct val="112000"/>
              </a:lnSpc>
              <a:spcAft>
                <a:spcPts val="300"/>
              </a:spcAft>
              <a:defRPr sz="1350" b="0">
                <a:solidFill>
                  <a:srgbClr val="182B43"/>
                </a:solidFill>
                <a:latin typeface="Arial"/>
              </a:defRPr>
            </a:pPr>
            <a:r>
              <a:t>Name the release owner and required post-change verification.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285D9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285D9C"/>
                </a:solidFill>
                <a:latin typeface="Arial"/>
              </a:defRPr>
            </a:pPr>
            <a:r>
              <a:t>COMMON ARCHITECTURAL PATTERNS  /  ADOPTION</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Prove the process before building orchestration</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Manual handoffs make authority and evidence defects visible early.</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17 / 18    Common architectural patterns</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02:00 allocated  |  32:30–34:30</a:t>
            </a:r>
          </a:p>
        </p:txBody>
      </p:sp>
      <p:graphicFrame>
        <p:nvGraphicFramePr>
          <p:cNvPr id="9" name="Table 8"/>
          <p:cNvGraphicFramePr>
            <a:graphicFrameLocks noGrp="1"/>
          </p:cNvGraphicFramePr>
          <p:nvPr/>
        </p:nvGraphicFramePr>
        <p:xfrm>
          <a:off x="502920" y="2313432"/>
          <a:ext cx="11183112" cy="3858768"/>
        </p:xfrm>
        <a:graphic>
          <a:graphicData uri="http://schemas.openxmlformats.org/drawingml/2006/table">
            <a:tbl>
              <a:tblPr firstRow="1" bandRow="1">
                <a:tableStyleId>{5C22544A-7EE6-4342-B048-85BDC9FD1C3A}</a:tableStyleId>
              </a:tblPr>
              <a:tblGrid>
                <a:gridCol w="3727704"/>
                <a:gridCol w="3727704"/>
                <a:gridCol w="3727704"/>
              </a:tblGrid>
              <a:tr h="771753">
                <a:tc>
                  <a:txBody>
                    <a:bodyPr/>
                    <a:lstStyle/>
                    <a:p>
                      <a:pPr>
                        <a:spcAft>
                          <a:spcPts val="0"/>
                        </a:spcAft>
                        <a:defRPr sz="1600" b="1">
                          <a:solidFill>
                            <a:srgbClr val="FFFFFF"/>
                          </a:solidFill>
                          <a:latin typeface="Arial"/>
                        </a:defRPr>
                      </a:pPr>
                      <a:r>
                        <a:t>Pilot phase</a:t>
                      </a:r>
                    </a:p>
                  </a:txBody>
                  <a:tcPr marL="128016" marR="128016" marT="82296" marB="54864">
                    <a:solidFill>
                      <a:srgbClr val="10243B"/>
                    </a:solidFill>
                  </a:tcPr>
                </a:tc>
                <a:tc>
                  <a:txBody>
                    <a:bodyPr/>
                    <a:lstStyle/>
                    <a:p>
                      <a:pPr>
                        <a:spcAft>
                          <a:spcPts val="0"/>
                        </a:spcAft>
                        <a:defRPr sz="1600" b="1">
                          <a:solidFill>
                            <a:srgbClr val="FFFFFF"/>
                          </a:solidFill>
                          <a:latin typeface="Arial"/>
                        </a:defRPr>
                      </a:pPr>
                      <a:r>
                        <a:t>Work to perform</a:t>
                      </a:r>
                    </a:p>
                  </a:txBody>
                  <a:tcPr marL="128016" marR="128016" marT="82296" marB="54864">
                    <a:solidFill>
                      <a:srgbClr val="10243B"/>
                    </a:solidFill>
                  </a:tcPr>
                </a:tc>
                <a:tc>
                  <a:txBody>
                    <a:bodyPr/>
                    <a:lstStyle/>
                    <a:p>
                      <a:pPr>
                        <a:spcAft>
                          <a:spcPts val="0"/>
                        </a:spcAft>
                        <a:defRPr sz="1600" b="1">
                          <a:solidFill>
                            <a:srgbClr val="FFFFFF"/>
                          </a:solidFill>
                          <a:latin typeface="Arial"/>
                        </a:defRPr>
                      </a:pPr>
                      <a:r>
                        <a:t>Expansion gate</a:t>
                      </a:r>
                    </a:p>
                  </a:txBody>
                  <a:tcPr marL="128016" marR="128016" marT="82296" marB="54864">
                    <a:solidFill>
                      <a:srgbClr val="10243B"/>
                    </a:solidFill>
                  </a:tcPr>
                </a:tc>
              </a:tr>
              <a:tr h="771753">
                <a:tc>
                  <a:txBody>
                    <a:bodyPr/>
                    <a:lstStyle/>
                    <a:p>
                      <a:pPr>
                        <a:spcAft>
                          <a:spcPts val="0"/>
                        </a:spcAft>
                        <a:defRPr sz="1600" b="0">
                          <a:solidFill>
                            <a:srgbClr val="182B43"/>
                          </a:solidFill>
                          <a:latin typeface="Arial"/>
                        </a:defRPr>
                      </a:pPr>
                      <a:r>
                        <a:t>Week 1</a:t>
                      </a:r>
                    </a:p>
                  </a:txBody>
                  <a:tcPr marL="128016" marR="128016" marT="82296" marB="54864">
                    <a:solidFill>
                      <a:srgbClr val="F1F5F8"/>
                    </a:solidFill>
                  </a:tcPr>
                </a:tc>
                <a:tc>
                  <a:txBody>
                    <a:bodyPr/>
                    <a:lstStyle/>
                    <a:p>
                      <a:pPr>
                        <a:spcAft>
                          <a:spcPts val="0"/>
                        </a:spcAft>
                        <a:defRPr sz="1600" b="0">
                          <a:solidFill>
                            <a:srgbClr val="182B43"/>
                          </a:solidFill>
                          <a:latin typeface="Arial"/>
                        </a:defRPr>
                      </a:pPr>
                      <a:r>
                        <a:t>Scope one workload and rehearse access boundaries</a:t>
                      </a:r>
                    </a:p>
                  </a:txBody>
                  <a:tcPr marL="128016" marR="128016" marT="82296" marB="54864">
                    <a:solidFill>
                      <a:srgbClr val="F1F5F8"/>
                    </a:solidFill>
                  </a:tcPr>
                </a:tc>
                <a:tc>
                  <a:txBody>
                    <a:bodyPr/>
                    <a:lstStyle/>
                    <a:p>
                      <a:pPr>
                        <a:spcAft>
                          <a:spcPts val="0"/>
                        </a:spcAft>
                        <a:defRPr sz="1600" b="0">
                          <a:solidFill>
                            <a:srgbClr val="182B43"/>
                          </a:solidFill>
                          <a:latin typeface="Arial"/>
                        </a:defRPr>
                      </a:pPr>
                      <a:r>
                        <a:t>Operators can explain and test the permissions</a:t>
                      </a:r>
                    </a:p>
                  </a:txBody>
                  <a:tcPr marL="128016" marR="128016" marT="82296" marB="54864">
                    <a:solidFill>
                      <a:srgbClr val="F1F5F8"/>
                    </a:solidFill>
                  </a:tcPr>
                </a:tc>
              </a:tr>
              <a:tr h="771753">
                <a:tc>
                  <a:txBody>
                    <a:bodyPr/>
                    <a:lstStyle/>
                    <a:p>
                      <a:pPr>
                        <a:spcAft>
                          <a:spcPts val="0"/>
                        </a:spcAft>
                        <a:defRPr sz="1600" b="0">
                          <a:solidFill>
                            <a:srgbClr val="182B43"/>
                          </a:solidFill>
                          <a:latin typeface="Arial"/>
                        </a:defRPr>
                      </a:pPr>
                      <a:r>
                        <a:t>Week 2</a:t>
                      </a:r>
                    </a:p>
                  </a:txBody>
                  <a:tcPr marL="128016" marR="128016" marT="82296" marB="54864">
                    <a:solidFill>
                      <a:srgbClr val="FFFFFF"/>
                    </a:solidFill>
                  </a:tcPr>
                </a:tc>
                <a:tc>
                  <a:txBody>
                    <a:bodyPr/>
                    <a:lstStyle/>
                    <a:p>
                      <a:pPr>
                        <a:spcAft>
                          <a:spcPts val="0"/>
                        </a:spcAft>
                        <a:defRPr sz="1600" b="0">
                          <a:solidFill>
                            <a:srgbClr val="182B43"/>
                          </a:solidFill>
                          <a:latin typeface="Arial"/>
                        </a:defRPr>
                      </a:pPr>
                      <a:r>
                        <a:t>Run manual incident-to-change handoff</a:t>
                      </a:r>
                    </a:p>
                  </a:txBody>
                  <a:tcPr marL="128016" marR="128016" marT="82296" marB="54864">
                    <a:solidFill>
                      <a:srgbClr val="FFFFFF"/>
                    </a:solidFill>
                  </a:tcPr>
                </a:tc>
                <a:tc>
                  <a:txBody>
                    <a:bodyPr/>
                    <a:lstStyle/>
                    <a:p>
                      <a:pPr>
                        <a:spcAft>
                          <a:spcPts val="0"/>
                        </a:spcAft>
                        <a:defRPr sz="1600" b="0">
                          <a:solidFill>
                            <a:srgbClr val="182B43"/>
                          </a:solidFill>
                          <a:latin typeface="Arial"/>
                        </a:defRPr>
                      </a:pPr>
                      <a:r>
                        <a:t>Evidence and ownership survive the transition</a:t>
                      </a:r>
                    </a:p>
                  </a:txBody>
                  <a:tcPr marL="128016" marR="128016" marT="82296" marB="54864">
                    <a:solidFill>
                      <a:srgbClr val="FFFFFF"/>
                    </a:solidFill>
                  </a:tcPr>
                </a:tc>
              </a:tr>
              <a:tr h="771753">
                <a:tc>
                  <a:txBody>
                    <a:bodyPr/>
                    <a:lstStyle/>
                    <a:p>
                      <a:pPr>
                        <a:spcAft>
                          <a:spcPts val="0"/>
                        </a:spcAft>
                        <a:defRPr sz="1600" b="0">
                          <a:solidFill>
                            <a:srgbClr val="182B43"/>
                          </a:solidFill>
                          <a:latin typeface="Arial"/>
                        </a:defRPr>
                      </a:pPr>
                      <a:r>
                        <a:t>Week 3</a:t>
                      </a:r>
                    </a:p>
                  </a:txBody>
                  <a:tcPr marL="128016" marR="128016" marT="82296" marB="54864">
                    <a:solidFill>
                      <a:srgbClr val="F1F5F8"/>
                    </a:solidFill>
                  </a:tcPr>
                </a:tc>
                <a:tc>
                  <a:txBody>
                    <a:bodyPr/>
                    <a:lstStyle/>
                    <a:p>
                      <a:pPr>
                        <a:spcAft>
                          <a:spcPts val="0"/>
                        </a:spcAft>
                        <a:defRPr sz="1600" b="0">
                          <a:solidFill>
                            <a:srgbClr val="182B43"/>
                          </a:solidFill>
                          <a:latin typeface="Arial"/>
                        </a:defRPr>
                      </a:pPr>
                      <a:r>
                        <a:t>Rehearse failure, cancellation and verification</a:t>
                      </a:r>
                    </a:p>
                  </a:txBody>
                  <a:tcPr marL="128016" marR="128016" marT="82296" marB="54864">
                    <a:solidFill>
                      <a:srgbClr val="F1F5F8"/>
                    </a:solidFill>
                  </a:tcPr>
                </a:tc>
                <a:tc>
                  <a:txBody>
                    <a:bodyPr/>
                    <a:lstStyle/>
                    <a:p>
                      <a:pPr>
                        <a:spcAft>
                          <a:spcPts val="0"/>
                        </a:spcAft>
                        <a:defRPr sz="1600" b="0">
                          <a:solidFill>
                            <a:srgbClr val="182B43"/>
                          </a:solidFill>
                          <a:latin typeface="Arial"/>
                        </a:defRPr>
                      </a:pPr>
                      <a:r>
                        <a:t>Stops and cleanup behave as expected</a:t>
                      </a:r>
                    </a:p>
                  </a:txBody>
                  <a:tcPr marL="128016" marR="128016" marT="82296" marB="54864">
                    <a:solidFill>
                      <a:srgbClr val="F1F5F8"/>
                    </a:solidFill>
                  </a:tcPr>
                </a:tc>
              </a:tr>
              <a:tr h="771756">
                <a:tc>
                  <a:txBody>
                    <a:bodyPr/>
                    <a:lstStyle/>
                    <a:p>
                      <a:pPr>
                        <a:spcAft>
                          <a:spcPts val="0"/>
                        </a:spcAft>
                        <a:defRPr sz="1600" b="0">
                          <a:solidFill>
                            <a:srgbClr val="182B43"/>
                          </a:solidFill>
                          <a:latin typeface="Arial"/>
                        </a:defRPr>
                      </a:pPr>
                      <a:r>
                        <a:t>Week 4</a:t>
                      </a:r>
                    </a:p>
                  </a:txBody>
                  <a:tcPr marL="128016" marR="128016" marT="82296" marB="54864">
                    <a:solidFill>
                      <a:srgbClr val="FFFFFF"/>
                    </a:solidFill>
                  </a:tcPr>
                </a:tc>
                <a:tc>
                  <a:txBody>
                    <a:bodyPr/>
                    <a:lstStyle/>
                    <a:p>
                      <a:pPr>
                        <a:spcAft>
                          <a:spcPts val="0"/>
                        </a:spcAft>
                        <a:defRPr sz="1600" b="0">
                          <a:solidFill>
                            <a:srgbClr val="182B43"/>
                          </a:solidFill>
                          <a:latin typeface="Arial"/>
                        </a:defRPr>
                      </a:pPr>
                      <a:r>
                        <a:t>Automate one proven adapter, if justified</a:t>
                      </a:r>
                    </a:p>
                  </a:txBody>
                  <a:tcPr marL="128016" marR="128016" marT="82296" marB="54864">
                    <a:solidFill>
                      <a:srgbClr val="FFFFFF"/>
                    </a:solidFill>
                  </a:tcPr>
                </a:tc>
                <a:tc>
                  <a:txBody>
                    <a:bodyPr/>
                    <a:lstStyle/>
                    <a:p>
                      <a:pPr>
                        <a:spcAft>
                          <a:spcPts val="0"/>
                        </a:spcAft>
                        <a:defRPr sz="1600" b="0">
                          <a:solidFill>
                            <a:srgbClr val="182B43"/>
                          </a:solidFill>
                          <a:latin typeface="Arial"/>
                        </a:defRPr>
                      </a:pPr>
                      <a:r>
                        <a:t>Useful output without hidden authority expansion</a:t>
                      </a:r>
                    </a:p>
                  </a:txBody>
                  <a:tcPr marL="128016" marR="128016" marT="82296" marB="54864">
                    <a:solidFill>
                      <a:srgbClr val="FFFFFF"/>
                    </a:solidFill>
                  </a:tcPr>
                </a:tc>
              </a:tr>
            </a:tbl>
          </a:graphicData>
        </a:graphic>
      </p:graphicFrame>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285D9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285D9C"/>
                </a:solidFill>
                <a:latin typeface="Arial"/>
              </a:defRPr>
            </a:pPr>
            <a:r>
              <a:t>COMMON ARCHITECTURAL PATTERNS  /  CLOSE</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Share the work contract; keep authority local</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The common architecture is an accountable engineering process.</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18 / 18    Common architectural patterns</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01:30 allocated  |  34:30–36:00</a:t>
            </a:r>
          </a:p>
        </p:txBody>
      </p:sp>
      <p:sp>
        <p:nvSpPr>
          <p:cNvPr id="9" name="Rounded Rectangle 8"/>
          <p:cNvSpPr/>
          <p:nvPr/>
        </p:nvSpPr>
        <p:spPr>
          <a:xfrm>
            <a:off x="502920" y="2313432"/>
            <a:ext cx="3593592"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2496312"/>
            <a:ext cx="3264408"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Standardize</a:t>
            </a:r>
          </a:p>
        </p:txBody>
      </p:sp>
      <p:sp>
        <p:nvSpPr>
          <p:cNvPr id="11" name="TextBox 10"/>
          <p:cNvSpPr txBox="1"/>
          <p:nvPr/>
        </p:nvSpPr>
        <p:spPr>
          <a:xfrm>
            <a:off x="667512" y="3099816"/>
            <a:ext cx="3264408" cy="2944368"/>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Work IDs, owners, evidence references and acceptance checks.</a:t>
            </a:r>
          </a:p>
        </p:txBody>
      </p:sp>
      <p:sp>
        <p:nvSpPr>
          <p:cNvPr id="12" name="Rounded Rectangle 11"/>
          <p:cNvSpPr/>
          <p:nvPr/>
        </p:nvSpPr>
        <p:spPr>
          <a:xfrm>
            <a:off x="4297680" y="2313432"/>
            <a:ext cx="3593592"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62272" y="2496312"/>
            <a:ext cx="3264408"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Keep distinct</a:t>
            </a:r>
          </a:p>
        </p:txBody>
      </p:sp>
      <p:sp>
        <p:nvSpPr>
          <p:cNvPr id="14" name="TextBox 13"/>
          <p:cNvSpPr txBox="1"/>
          <p:nvPr/>
        </p:nvSpPr>
        <p:spPr>
          <a:xfrm>
            <a:off x="4462272" y="3099816"/>
            <a:ext cx="3264408" cy="2944368"/>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Credentials, runtime isolation, approvals and data boundaries.</a:t>
            </a:r>
          </a:p>
        </p:txBody>
      </p:sp>
      <p:sp>
        <p:nvSpPr>
          <p:cNvPr id="15" name="Rounded Rectangle 14"/>
          <p:cNvSpPr/>
          <p:nvPr/>
        </p:nvSpPr>
        <p:spPr>
          <a:xfrm>
            <a:off x="8092440" y="2313432"/>
            <a:ext cx="3593592"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57032" y="2496312"/>
            <a:ext cx="3264408"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Scale deliberately</a:t>
            </a:r>
          </a:p>
        </p:txBody>
      </p:sp>
      <p:sp>
        <p:nvSpPr>
          <p:cNvPr id="17" name="TextBox 16"/>
          <p:cNvSpPr txBox="1"/>
          <p:nvPr/>
        </p:nvSpPr>
        <p:spPr>
          <a:xfrm>
            <a:off x="8257032" y="3099816"/>
            <a:ext cx="3264408" cy="2944368"/>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Automate a verified handoff—not an unbounded delegation chain.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285D9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285D9C"/>
                </a:solidFill>
                <a:latin typeface="Arial"/>
              </a:defRPr>
            </a:pPr>
            <a:r>
              <a:t>COMMON ARCHITECTURAL PATTERNS  /  UNTIMED APPENDIX</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Official evidence and delivery boundary</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Use the linked product documentation and the complete report source register.</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UNTIMED APPENDIX    Common architectural patterns</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Outside the timed session</a:t>
            </a:r>
          </a:p>
        </p:txBody>
      </p:sp>
      <p:sp>
        <p:nvSpPr>
          <p:cNvPr id="9" name="TextBox 8"/>
          <p:cNvSpPr txBox="1"/>
          <p:nvPr/>
        </p:nvSpPr>
        <p:spPr>
          <a:xfrm>
            <a:off x="594360" y="2331720"/>
            <a:ext cx="10927080" cy="320040"/>
          </a:xfrm>
          <a:prstGeom prst="rect">
            <a:avLst/>
          </a:prstGeom>
          <a:noFill/>
        </p:spPr>
        <p:txBody>
          <a:bodyPr wrap="square" lIns="0" rIns="0" tIns="0" bIns="0" anchor="t">
            <a:spAutoFit/>
          </a:bodyPr>
          <a:lstStyle/>
          <a:p>
            <a:pPr>
              <a:lnSpc>
                <a:spcPct val="112000"/>
              </a:lnSpc>
              <a:spcAft>
                <a:spcPts val="300"/>
              </a:spcAft>
              <a:defRPr sz="1800" b="1">
                <a:solidFill>
                  <a:srgbClr val="285D9C"/>
                </a:solidFill>
                <a:latin typeface="Arial"/>
              </a:defRPr>
            </a:pPr>
            <a:r>
              <a:rPr>
                <a:hlinkClick r:id="rId3"/>
              </a:rPr>
              <a:t>D01  About AWS DevOps Agent</a:t>
            </a:r>
          </a:p>
        </p:txBody>
      </p:sp>
      <p:sp>
        <p:nvSpPr>
          <p:cNvPr id="10" name="TextBox 9"/>
          <p:cNvSpPr txBox="1"/>
          <p:nvPr/>
        </p:nvSpPr>
        <p:spPr>
          <a:xfrm>
            <a:off x="594360" y="2862072"/>
            <a:ext cx="10927080" cy="320040"/>
          </a:xfrm>
          <a:prstGeom prst="rect">
            <a:avLst/>
          </a:prstGeom>
          <a:noFill/>
        </p:spPr>
        <p:txBody>
          <a:bodyPr wrap="square" lIns="0" rIns="0" tIns="0" bIns="0" anchor="t">
            <a:spAutoFit/>
          </a:bodyPr>
          <a:lstStyle/>
          <a:p>
            <a:pPr>
              <a:lnSpc>
                <a:spcPct val="112000"/>
              </a:lnSpc>
              <a:spcAft>
                <a:spcPts val="300"/>
              </a:spcAft>
              <a:defRPr sz="1800" b="1">
                <a:solidFill>
                  <a:srgbClr val="285D9C"/>
                </a:solidFill>
                <a:latin typeface="Arial"/>
              </a:defRPr>
            </a:pPr>
            <a:r>
              <a:rPr>
                <a:hlinkClick r:id="rId4"/>
              </a:rPr>
              <a:t>D03  Autonomous incident response</a:t>
            </a:r>
          </a:p>
        </p:txBody>
      </p:sp>
      <p:sp>
        <p:nvSpPr>
          <p:cNvPr id="11" name="TextBox 10"/>
          <p:cNvSpPr txBox="1"/>
          <p:nvPr/>
        </p:nvSpPr>
        <p:spPr>
          <a:xfrm>
            <a:off x="594360" y="3392424"/>
            <a:ext cx="10927080" cy="320040"/>
          </a:xfrm>
          <a:prstGeom prst="rect">
            <a:avLst/>
          </a:prstGeom>
          <a:noFill/>
        </p:spPr>
        <p:txBody>
          <a:bodyPr wrap="square" lIns="0" rIns="0" tIns="0" bIns="0" anchor="t">
            <a:spAutoFit/>
          </a:bodyPr>
          <a:lstStyle/>
          <a:p>
            <a:pPr>
              <a:lnSpc>
                <a:spcPct val="112000"/>
              </a:lnSpc>
              <a:spcAft>
                <a:spcPts val="300"/>
              </a:spcAft>
              <a:defRPr sz="1800" b="1">
                <a:solidFill>
                  <a:srgbClr val="285D9C"/>
                </a:solidFill>
                <a:latin typeface="Arial"/>
              </a:defRPr>
            </a:pPr>
            <a:r>
              <a:rPr>
                <a:hlinkClick r:id="rId5"/>
              </a:rPr>
              <a:t>D04  Proactive incident prevention</a:t>
            </a:r>
          </a:p>
        </p:txBody>
      </p:sp>
      <p:sp>
        <p:nvSpPr>
          <p:cNvPr id="12" name="TextBox 11"/>
          <p:cNvSpPr txBox="1"/>
          <p:nvPr/>
        </p:nvSpPr>
        <p:spPr>
          <a:xfrm>
            <a:off x="594360" y="3922775"/>
            <a:ext cx="10927080" cy="320040"/>
          </a:xfrm>
          <a:prstGeom prst="rect">
            <a:avLst/>
          </a:prstGeom>
          <a:noFill/>
        </p:spPr>
        <p:txBody>
          <a:bodyPr wrap="square" lIns="0" rIns="0" tIns="0" bIns="0" anchor="t">
            <a:spAutoFit/>
          </a:bodyPr>
          <a:lstStyle/>
          <a:p>
            <a:pPr>
              <a:lnSpc>
                <a:spcPct val="112000"/>
              </a:lnSpc>
              <a:spcAft>
                <a:spcPts val="300"/>
              </a:spcAft>
              <a:defRPr sz="1800" b="1">
                <a:solidFill>
                  <a:srgbClr val="285D9C"/>
                </a:solidFill>
                <a:latin typeface="Arial"/>
              </a:defRPr>
            </a:pPr>
            <a:r>
              <a:rPr>
                <a:hlinkClick r:id="rId6"/>
              </a:rPr>
              <a:t>D06  Custom Agents</a:t>
            </a:r>
          </a:p>
        </p:txBody>
      </p:sp>
      <p:sp>
        <p:nvSpPr>
          <p:cNvPr id="13" name="TextBox 12"/>
          <p:cNvSpPr txBox="1"/>
          <p:nvPr/>
        </p:nvSpPr>
        <p:spPr>
          <a:xfrm>
            <a:off x="594360" y="4453127"/>
            <a:ext cx="10927080" cy="320040"/>
          </a:xfrm>
          <a:prstGeom prst="rect">
            <a:avLst/>
          </a:prstGeom>
          <a:noFill/>
        </p:spPr>
        <p:txBody>
          <a:bodyPr wrap="square" lIns="0" rIns="0" tIns="0" bIns="0" anchor="t">
            <a:spAutoFit/>
          </a:bodyPr>
          <a:lstStyle/>
          <a:p>
            <a:pPr>
              <a:lnSpc>
                <a:spcPct val="112000"/>
              </a:lnSpc>
              <a:spcAft>
                <a:spcPts val="300"/>
              </a:spcAft>
              <a:defRPr sz="1800" b="1">
                <a:solidFill>
                  <a:srgbClr val="285D9C"/>
                </a:solidFill>
                <a:latin typeface="Arial"/>
              </a:defRPr>
            </a:pPr>
            <a:r>
              <a:rPr>
                <a:hlinkClick r:id="rId7"/>
              </a:rPr>
              <a:t>D11  Release testing</a:t>
            </a:r>
          </a:p>
        </p:txBody>
      </p:sp>
      <p:sp>
        <p:nvSpPr>
          <p:cNvPr id="14" name="TextBox 13"/>
          <p:cNvSpPr txBox="1"/>
          <p:nvPr/>
        </p:nvSpPr>
        <p:spPr>
          <a:xfrm>
            <a:off x="594360" y="4983479"/>
            <a:ext cx="10927080" cy="320040"/>
          </a:xfrm>
          <a:prstGeom prst="rect">
            <a:avLst/>
          </a:prstGeom>
          <a:noFill/>
        </p:spPr>
        <p:txBody>
          <a:bodyPr wrap="square" lIns="0" rIns="0" tIns="0" bIns="0" anchor="t">
            <a:spAutoFit/>
          </a:bodyPr>
          <a:lstStyle/>
          <a:p>
            <a:pPr>
              <a:lnSpc>
                <a:spcPct val="112000"/>
              </a:lnSpc>
              <a:spcAft>
                <a:spcPts val="300"/>
              </a:spcAft>
              <a:defRPr sz="1800" b="1">
                <a:solidFill>
                  <a:srgbClr val="285D9C"/>
                </a:solidFill>
                <a:latin typeface="Arial"/>
              </a:defRPr>
            </a:pPr>
            <a:r>
              <a:rPr>
                <a:hlinkClick r:id="rId8"/>
              </a:rPr>
              <a:t>D13  Working with directed actions</a:t>
            </a:r>
          </a:p>
        </p:txBody>
      </p:sp>
      <p:sp>
        <p:nvSpPr>
          <p:cNvPr id="15" name="TextBox 14"/>
          <p:cNvSpPr txBox="1"/>
          <p:nvPr/>
        </p:nvSpPr>
        <p:spPr>
          <a:xfrm>
            <a:off x="594360" y="5660136"/>
            <a:ext cx="10927080" cy="475488"/>
          </a:xfrm>
          <a:prstGeom prst="rect">
            <a:avLst/>
          </a:prstGeom>
          <a:noFill/>
        </p:spPr>
        <p:txBody>
          <a:bodyPr wrap="square" lIns="0" rIns="0" tIns="0" bIns="0" anchor="t">
            <a:spAutoFit/>
          </a:bodyPr>
          <a:lstStyle/>
          <a:p>
            <a:pPr>
              <a:lnSpc>
                <a:spcPct val="112000"/>
              </a:lnSpc>
              <a:spcAft>
                <a:spcPts val="300"/>
              </a:spcAft>
              <a:defRPr sz="1500" b="0">
                <a:solidFill>
                  <a:srgbClr val="55657A"/>
                </a:solidFill>
                <a:latin typeface="Arial"/>
              </a:defRPr>
            </a:pPr>
            <a:r>
              <a:t>Complete source URLs are embedded in speaker notes. Demo slots include fallback walkthroughs; questions and breaks are additional.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Common architectural patterns — engineering field guide</dc:title>
  <dc:subject>Source-aligned publication edition; timed demonstrations and official documentation.</dc:subject>
  <dc:creator>Frontier agents documentation</dc:creator>
  <cp:keywords/>
  <dc:description>Independent synthesis. No live AWS execution or measured benefit is claimed.</dc:description>
  <cp:lastModifiedBy>Steve Canny</cp:lastModifiedBy>
  <cp:revision>1</cp:revision>
  <dcterms:created xsi:type="dcterms:W3CDTF">2013-01-27T09:14:16Z</dcterms:created>
  <dcterms:modified xsi:type="dcterms:W3CDTF">2013-01-27T09:15:58Z</dcterms:modified>
  <cp:category/>
</cp:coreProperties>
</file>