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00:00–01:00; allocated 01:00.</a:t>
            </a:r>
          </a:p>
          <a:p/>
          <a:p>
            <a:r>
              <a:t>This is a team-level reference design assembled from the documented behavior of four products. It is not an AWS internal architecture or a shared four-agent runtime. The common unit is a bounded engineering work item with an owner, evidence, allowed effects and completion checks. Each product retains its own identity, execution and approval model. The demo is a tabletop handoff walkthrough, not an implemented orchestrator.</a:t>
            </a:r>
          </a:p>
          <a:p/>
          <a:p>
            <a:r>
              <a:t>Official evidence:</a:t>
            </a:r>
          </a:p>
          <a:p>
            <a:r>
              <a:t>D01 — About AWS DevOps Agent: https://docs.aws.amazon.com/devopsagent/latest/userguide/about-aws-devops-agent.html</a:t>
            </a:r>
          </a:p>
          <a:p>
            <a:r>
              <a:t>K02 — Kiro Web: https://kiro.dev/docs/web/</a:t>
            </a:r>
          </a:p>
          <a:p>
            <a:r>
              <a:t>S04 — What is AWS Security Agent?: https://docs.aws.amazon.com/securityagent/latest/userguide/what-is.html</a:t>
            </a:r>
          </a:p>
          <a:p>
            <a:r>
              <a:t>F03 — Create an agent: https://docs.aws.amazon.com/finops-agent/latest/userguide/creating-an-agent.html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01:00–02:30; allocated 01:30.</a:t>
            </a:r>
          </a:p>
          <a:p/>
          <a:p>
            <a:r>
              <a:t>DevOps Agent is the operational investigator, Kiro produces repository work, Security Agent supplies application-security assessment evidence, and FinOps Agent explains and routes cost work. These roles can overlap, but their output artifacts are different. A shared work-item schema makes the handoff legible without claiming shared sessions or permissions. The table is a recommended allocation of responsibility based on documented capabilities.</a:t>
            </a:r>
          </a:p>
          <a:p/>
          <a:p>
            <a:r>
              <a:t>Official evidence:</a:t>
            </a:r>
          </a:p>
          <a:p>
            <a:r>
              <a:t>D03 — Autonomous incident response: https://docs.aws.amazon.com/devopsagent/latest/userguide/production-operations-autonomous-incident-response.html</a:t>
            </a:r>
          </a:p>
          <a:p>
            <a:r>
              <a:t>K04 — Autonomous mode: https://kiro.dev/docs/web/autonomous-mode/</a:t>
            </a:r>
          </a:p>
          <a:p>
            <a:r>
              <a:t>S12 — Review penetration-test findings: https://docs.aws.amazon.com/securityagent/latest/userguide/review-penetration-findings.html</a:t>
            </a:r>
          </a:p>
          <a:p>
            <a:r>
              <a:t>F07 — Cost anomaly investigation: https://docs.aws.amazon.com/finops-agent/latest/userguide/cost-anomaly-detection.html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02:30–04:00; allocated 01:30.</a:t>
            </a:r>
          </a:p>
          <a:p/>
          <a:p>
            <a:r>
              <a:t>The contract is a team artifact, not a product-specific API. Start with the service, environment and question. Add exact evidence identifiers, allowed effects and non-goals. Name the person who can stop the work and the person who can accept its output. This prevents a vague request such as “fix checkout” from becoming an unlimited mandate. A contract carries intent; underlying product controls still enforce access.</a:t>
            </a:r>
          </a:p>
          <a:p/>
          <a:p>
            <a:r>
              <a:t>Official evidence:</a:t>
            </a:r>
          </a:p>
          <a:p>
            <a:r>
              <a:t>D03 — Autonomous incident response: https://docs.aws.amazon.com/devopsagent/latest/userguide/production-operations-autonomous-incident-response.html</a:t>
            </a:r>
          </a:p>
          <a:p>
            <a:r>
              <a:t>K08 — Specifications: https://kiro.dev/docs/specs/</a:t>
            </a:r>
          </a:p>
          <a:p>
            <a:r>
              <a:t>S08 — Create a penetration test: https://docs.aws.amazon.com/securityagent/latest/userguide/perform-penetration-test.html</a:t>
            </a:r>
          </a:p>
          <a:p>
            <a:r>
              <a:t>F11 — Task management: https://docs.aws.amazon.com/finops-agent/latest/userguide/task-management.html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04:00–06:00; allocated 02:00.</a:t>
            </a:r>
          </a:p>
          <a:p/>
          <a:p>
            <a:r>
              <a:t>An incident can lead to a code change, a security finding to a repair, or a cost anomaly to an infrastructure work item. The daily review aggregates accepted evidence into an owned backlog. Do not force all four agents into every task. Manual artifact handoffs are often sufficient to prove the operating model before building automation. Each row is a proposed team workflow, not a turnkey integration supplied by AWS.</a:t>
            </a:r>
          </a:p>
          <a:p/>
          <a:p>
            <a:r>
              <a:t>Official evidence:</a:t>
            </a:r>
          </a:p>
          <a:p>
            <a:r>
              <a:t>D04 — Proactive incident prevention: https://docs.aws.amazon.com/devopsagent/latest/userguide/production-operations-proactive-incident-prevention.html</a:t>
            </a:r>
          </a:p>
          <a:p>
            <a:r>
              <a:t>K04 — Autonomous mode: https://kiro.dev/docs/web/autonomous-mode/</a:t>
            </a:r>
          </a:p>
          <a:p>
            <a:r>
              <a:t>S14 — Revalidate findings: https://docs.aws.amazon.com/securityagent/latest/userguide/revalidate-findings.html</a:t>
            </a:r>
          </a:p>
          <a:p>
            <a:r>
              <a:t>F09 — Optimization recommendations: https://docs.aws.amazon.com/finops-agent/latest/userguide/optimization-recommendations.html</a:t>
            </a:r>
          </a:p>
          <a:p>
            <a:r>
              <a:t>F11 — Task management: https://docs.aws.amazon.com/finops-agent/latest/userguide/task-management.html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06:00–08:00; allocated 02:00.</a:t>
            </a:r>
          </a:p>
          <a:p/>
          <a:p>
            <a:r>
              <a:t>Use a service-oriented boundary record: accounts, repositories, targets, operators and output destinations. The name of a workspace does not prove that access outside it is denied. Test the actual role, repository integration or target configuration. Keep operator accountability visible even when a service role executes the work. Start with one team-owned workload so failures in the boundary model can be detected before wider adoption.</a:t>
            </a:r>
          </a:p>
          <a:p/>
          <a:p>
            <a:r>
              <a:t>Official evidence:</a:t>
            </a:r>
          </a:p>
          <a:p>
            <a:r>
              <a:t>D34 — Limiting Agent Access in an AWS Account: https://docs.aws.amazon.com/devopsagent/latest/userguide/aws-devops-agent-security-limiting-agent-access-in-an-aws-account.html</a:t>
            </a:r>
          </a:p>
          <a:p>
            <a:r>
              <a:t>K06 — GitHub integration: https://kiro.dev/docs/web/github/</a:t>
            </a:r>
          </a:p>
          <a:p>
            <a:r>
              <a:t>S08 — Create a penetration test: https://docs.aws.amazon.com/securityagent/latest/userguide/perform-penetration-test.html</a:t>
            </a:r>
          </a:p>
          <a:p>
            <a:r>
              <a:t>F03 — Create an agent: https://docs.aws.amazon.com/finops-agent/latest/userguide/creating-an-agent.html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08:00–09:30; allocated 01:30.</a:t>
            </a:r>
          </a:p>
          <a:p/>
          <a:p>
            <a:r>
              <a:t>A source link alone can be insufficient when the source changes. Record the revision or time interval, resource identity and relevant filters along with the conclusion. Distinguish observed evidence from an agent inference and a human decision. This is especially important in cost reports, where a different basis or date range can produce a different number, and in code work, where a later commit can invalidate an earlier check.</a:t>
            </a:r>
          </a:p>
          <a:p/>
          <a:p>
            <a:r>
              <a:t>Official evidence:</a:t>
            </a:r>
          </a:p>
          <a:p>
            <a:r>
              <a:t>D03 — Autonomous incident response: https://docs.aws.amazon.com/devopsagent/latest/userguide/production-operations-autonomous-incident-response.html</a:t>
            </a:r>
          </a:p>
          <a:p>
            <a:r>
              <a:t>K03 — Working with the agent: https://kiro.dev/docs/web/using-the-agent/</a:t>
            </a:r>
          </a:p>
          <a:p>
            <a:r>
              <a:t>S12 — Review penetration-test findings: https://docs.aws.amazon.com/securityagent/latest/userguide/review-penetration-findings.html</a:t>
            </a:r>
          </a:p>
          <a:p>
            <a:r>
              <a:t>F06 — Cost inquiry: https://docs.aws.amazon.com/finops-agent/latest/userguide/cost-inquiry.html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09:30–11:00; allocated 01:30.</a:t>
            </a:r>
          </a:p>
          <a:p/>
          <a:p>
            <a:r>
              <a:t>Steering, skills, memory and context files improve relevance. They must not be treated as permission boundaries or proof of policy enforcement. Treat source content as evidence, not as authority to ignore the task’s restrictions. Keep secrets out of context artifacts unless the approved workflow specifically requires them. When stable policy and learned context conflict, verify current policy and correct the context.</a:t>
            </a:r>
          </a:p>
          <a:p/>
          <a:p>
            <a:r>
              <a:t>Official evidence:</a:t>
            </a:r>
          </a:p>
          <a:p>
            <a:r>
              <a:t>K13 — Steering: https://kiro.dev/docs/steering/</a:t>
            </a:r>
          </a:p>
          <a:p>
            <a:r>
              <a:t>K14 — Memory: https://kiro.dev/docs/memory/</a:t>
            </a:r>
          </a:p>
          <a:p>
            <a:r>
              <a:t>D06 — Custom Agents: https://docs.aws.amazon.com/devopsagent/latest/userguide/working-with-devops-agent-custom-agents-index.html</a:t>
            </a:r>
          </a:p>
          <a:p>
            <a:r>
              <a:t>F12 — Context files and memory: https://docs.aws.amazon.com/finops-agent/latest/userguide/context-files-and-memory.html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11:00–13:00; allocated 02:00.</a:t>
            </a:r>
          </a:p>
          <a:p/>
          <a:p>
            <a:r>
              <a:t>A single “human in the loop” box hides important differences. DevOps directed actions require explicit enablement and approval. Active release tests can mutate a target through application requests. Kiro’s output reaches a reviewable branch, with merging under team control. FinOps collaboration writes have trigger-dependent approval rules. Model the real effect and apply the correct gate; do not assume a prompt before every mutation.</a:t>
            </a:r>
          </a:p>
          <a:p/>
          <a:p>
            <a:r>
              <a:t>Official evidence:</a:t>
            </a:r>
          </a:p>
          <a:p>
            <a:r>
              <a:t>D13 — Working with directed actions: https://docs.aws.amazon.com/devopsagent/latest/userguide/working-with-devops-agent-working-with-directed-actions.html</a:t>
            </a:r>
          </a:p>
          <a:p>
            <a:r>
              <a:t>D11 — Release testing: https://docs.aws.amazon.com/devopsagent/latest/userguide/release-management-release-testing.html</a:t>
            </a:r>
          </a:p>
          <a:p>
            <a:r>
              <a:t>K02 — Kiro Web: https://kiro.dev/docs/web/</a:t>
            </a:r>
          </a:p>
          <a:p>
            <a:r>
              <a:t>F15 — Agent guardrail controls: https://docs.aws.amazon.com/finops-agent/latest/userguide/agent-guardrail-control.html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13:00–14:30; allocated 01:30.</a:t>
            </a:r>
          </a:p>
          <a:p/>
          <a:p>
            <a:r>
              <a:t>Worker isolation reduces some risks, but it does not neutralize network side effects. A test may submit a form that charges a payment or sends a notification, and a sandbox command can use injected credentials. Design the target as carefully as the worker: synthetic data, disposable credentials, allowed endpoints, disabled business side effects and independent health checks. These are recommended controls around the documented execution paths.</a:t>
            </a:r>
          </a:p>
          <a:p/>
          <a:p>
            <a:r>
              <a:t>Official evidence:</a:t>
            </a:r>
          </a:p>
          <a:p>
            <a:r>
              <a:t>K10 — Cloud sandbox: https://kiro.dev/docs/web/sandbox/</a:t>
            </a:r>
          </a:p>
          <a:p>
            <a:r>
              <a:t>K19 — Sandbox internet access: https://kiro.dev/docs/web/sandbox/internet-access/</a:t>
            </a:r>
          </a:p>
          <a:p>
            <a:r>
              <a:t>K20 — Environment variables and secrets: https://kiro.dev/docs/web/sandbox/environment-variables/</a:t>
            </a:r>
          </a:p>
          <a:p>
            <a:r>
              <a:t>D11 — Release testing: https://docs.aws.amazon.com/devopsagent/latest/userguide/release-management-release-testing.html</a:t>
            </a:r>
          </a:p>
          <a:p>
            <a:r>
              <a:t>S10 — Security best practices: https://docs.aws.amazon.com/securityagent/latest/userguide/security-best-practices.html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14:30–16:00; allocated 01:30.</a:t>
            </a:r>
          </a:p>
          <a:p/>
          <a:p>
            <a:r>
              <a:t>MCP and the documented DevOps remote protocols can expose useful capabilities to clients. Repository and collaboration integrations provide other handoff paths. They still require their own identities, scopes and supported actions. There is no basis here to claim an out-of-the-box orchestrator across all four products. Start with a link or exported artifact, and automate only a documented interface whose failure modes the team can operate.</a:t>
            </a:r>
          </a:p>
          <a:p/>
          <a:p>
            <a:r>
              <a:t>Official evidence:</a:t>
            </a:r>
          </a:p>
          <a:p>
            <a:r>
              <a:t>D37 — DevOps Agent remote servers: https://docs.aws.amazon.com/devopsagent/latest/userguide/accessing-devops-agent-connecting-to-devops-agent-remote-servers-index.html</a:t>
            </a:r>
          </a:p>
          <a:p>
            <a:r>
              <a:t>D38 — Accessing DevOps Agent: https://docs.aws.amazon.com/devopsagent/latest/userguide/working-with-devops-agent-accessing-devops-agent-index.html</a:t>
            </a:r>
          </a:p>
          <a:p>
            <a:r>
              <a:t>K15 — Model Context Protocol: https://kiro.dev/docs/mcp/</a:t>
            </a:r>
          </a:p>
          <a:p>
            <a:r>
              <a:t>S26 — Code review from an IDE: https://docs.aws.amazon.com/securityagent/latest/userguide/code-review-ide-integration.html</a:t>
            </a:r>
          </a:p>
          <a:p>
            <a:r>
              <a:t>F13 — Jira integration: https://docs.aws.amazon.com/finops-agent/latest/userguide/jira-integration.html</a:t>
            </a:r>
          </a:p>
          <a:p>
            <a:r>
              <a:t>F14 — Slack integration: https://docs.aws.amazon.com/finops-agent/latest/userguide/slack-integration.html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16:00–18:00; allocated 02:00.</a:t>
            </a:r>
          </a:p>
          <a:p/>
          <a:p>
            <a:r>
              <a:t>The sample handoff is deliberately product-neutral. Keep the work-item ID, owner and original evidence references stable. Include the exact allowed effects and exclusions for the receiving task. The receiver must establish its own authorized access; a previous operator approval cannot be carried forward as permission to perform a different action. Capture missing evidence explicitly so the next specialist does not fill gaps with invented facts.</a:t>
            </a:r>
          </a:p>
          <a:p/>
          <a:p>
            <a:r>
              <a:t>Official evidence:</a:t>
            </a:r>
          </a:p>
          <a:p>
            <a:r>
              <a:t>D03 — Autonomous incident response: https://docs.aws.amazon.com/devopsagent/latest/userguide/production-operations-autonomous-incident-response.html</a:t>
            </a:r>
          </a:p>
          <a:p>
            <a:r>
              <a:t>K08 — Specifications: https://kiro.dev/docs/specs/</a:t>
            </a:r>
          </a:p>
          <a:p>
            <a:r>
              <a:t>S12 — Review penetration-test findings: https://docs.aws.amazon.com/securityagent/latest/userguide/review-penetration-findings.html</a:t>
            </a:r>
          </a:p>
          <a:p>
            <a:r>
              <a:t>F09 — Optimization recommendations: https://docs.aws.amazon.com/finops-agent/latest/userguide/optimization-recommendations.html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18:00–19:30; allocated 01:30.</a:t>
            </a:r>
          </a:p>
          <a:p/>
          <a:p>
            <a:r>
              <a:t>Asynchronous work needs an owner even when no one is watching the interface. Record retry or work limits and where to inspect the run state. A stopped client or CI job may not mean the server-side job has stopped, so verify termination and consumption. Review scheduled tasks periodically and disable those whose context or purpose has expired. The eight-minute demo is an exercise budget, not a promise about any job’s execution time.</a:t>
            </a:r>
          </a:p>
          <a:p/>
          <a:p>
            <a:r>
              <a:t>Official evidence:</a:t>
            </a:r>
          </a:p>
          <a:p>
            <a:r>
              <a:t>D06 — Custom Agents: https://docs.aws.amazon.com/devopsagent/latest/userguide/working-with-devops-agent-custom-agents-index.html</a:t>
            </a:r>
          </a:p>
          <a:p>
            <a:r>
              <a:t>K24 — Workflows: https://kiro.dev/docs/workflows/</a:t>
            </a:r>
          </a:p>
          <a:p>
            <a:r>
              <a:t>S28 — Run penetration tests from CI/CD: https://docs.aws.amazon.com/securityagent/latest/userguide/cicd-pentest.html</a:t>
            </a:r>
          </a:p>
          <a:p>
            <a:r>
              <a:t>F11 — Task management: https://docs.aws.amazon.com/finops-agent/latest/userguide/task-management.html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19:30–21:30; allocated 02:00.</a:t>
            </a:r>
          </a:p>
          <a:p/>
          <a:p>
            <a:r>
              <a:t>Independent verification does not always require another AI agent. It may be a source-system query, a known test, a human code review or a monitored deployment. Match the check to the promised result. A proposed root cause should explain source observations; code must pass relevant checks on the reviewed revision; a security fix must be deployed before revalidation; a cost explanation must reconcile to the same data scope. The team decides which checks are required for promotion.</a:t>
            </a:r>
          </a:p>
          <a:p/>
          <a:p>
            <a:r>
              <a:t>Official evidence:</a:t>
            </a:r>
          </a:p>
          <a:p>
            <a:r>
              <a:t>D03 — Autonomous incident response: https://docs.aws.amazon.com/devopsagent/latest/userguide/production-operations-autonomous-incident-response.html</a:t>
            </a:r>
          </a:p>
          <a:p>
            <a:r>
              <a:t>K09 — Built-in tools: https://kiro.dev/docs/tools/</a:t>
            </a:r>
          </a:p>
          <a:p>
            <a:r>
              <a:t>S14 — Revalidate findings: https://docs.aws.amazon.com/securityagent/latest/userguide/revalidate-findings.html</a:t>
            </a:r>
          </a:p>
          <a:p>
            <a:r>
              <a:t>F06 — Cost inquiry: https://docs.aws.amazon.com/finops-agent/latest/userguide/cost-inquiry.html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21:30–23:00; allocated 01:30.</a:t>
            </a:r>
          </a:p>
          <a:p/>
          <a:p>
            <a:r>
              <a:t>Keep authoritative records where their owners maintain them. The handoff links those records rather than flattening them into one untraceable narrative. Redact sensitive data before copying it to a wider audience, and retain version or time information. A summary may be useful for daily coordination, but reviewers should still be able to open the original investigation, commit, finding or cost query.</a:t>
            </a:r>
          </a:p>
          <a:p/>
          <a:p>
            <a:r>
              <a:t>Official evidence:</a:t>
            </a:r>
          </a:p>
          <a:p>
            <a:r>
              <a:t>D03 — Autonomous incident response: https://docs.aws.amazon.com/devopsagent/latest/userguide/production-operations-autonomous-incident-response.html</a:t>
            </a:r>
          </a:p>
          <a:p>
            <a:r>
              <a:t>K06 — GitHub integration: https://kiro.dev/docs/web/github/</a:t>
            </a:r>
          </a:p>
          <a:p>
            <a:r>
              <a:t>S14 — Revalidate findings: https://docs.aws.amazon.com/securityagent/latest/userguide/revalidate-findings.html</a:t>
            </a:r>
          </a:p>
          <a:p>
            <a:r>
              <a:t>F11 — Task management: https://docs.aws.amazon.com/finops-agent/latest/userguide/task-management.html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23:00–24:30; allocated 01:30.</a:t>
            </a:r>
          </a:p>
          <a:p/>
          <a:p>
            <a:r>
              <a:t>The team should record the product surface, feature maturity, service Region, inference behavior, retention and output destinations for the workflow it actually deploys. DevOps release preview has a more limited Region footprint than production operations. Kiro client capabilities and account rollout differ. Security capability maturity is mixed. FinOps remains preview with its documented US storage and inference boundaries. Do not use an organization-wide “AWS approved” label as a substitute for this feature-level review.</a:t>
            </a:r>
          </a:p>
          <a:p/>
          <a:p>
            <a:r>
              <a:t>Official evidence:</a:t>
            </a:r>
          </a:p>
          <a:p>
            <a:r>
              <a:t>D15 — Supported Regions: https://docs.aws.amazon.com/devopsagent/latest/userguide/about-aws-devops-agent-supported-regions.html</a:t>
            </a:r>
          </a:p>
          <a:p>
            <a:r>
              <a:t>K02 — Kiro Web: https://kiro.dev/docs/web/</a:t>
            </a:r>
          </a:p>
          <a:p>
            <a:r>
              <a:t>S05 — Pricing and billing: https://docs.aws.amazon.com/securityagent/latest/userguide/pricing.html</a:t>
            </a:r>
          </a:p>
          <a:p>
            <a:r>
              <a:t>S30 — Resilience and regional availability: https://docs.aws.amazon.com/securityagent/latest/userguide/resilience.html</a:t>
            </a:r>
          </a:p>
          <a:p>
            <a:r>
              <a:t>F16 — Cross-region inference: https://docs.aws.amazon.com/finops-agent/latest/userguide/cross-region-inference.html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24:30–32:30; allocated 08:00.</a:t>
            </a:r>
          </a:p>
          <a:p/>
          <a:p>
            <a:r>
              <a:t>The exercise tests the team’s operating model. Ask participants to identify the owner and stop condition at each handoff. Then introduce missing evidence or a request to expand scope and see whether the receiver stops. Security and cost work are conditional; not every incident needs all specialists. The final artifact is an accepted or rejected next action, not a claim that a new orchestrator has been built.</a:t>
            </a:r>
          </a:p>
          <a:p/>
          <a:p>
            <a:r>
              <a:t>Official evidence:</a:t>
            </a:r>
          </a:p>
          <a:p>
            <a:r>
              <a:t>D03 — Autonomous incident response: https://docs.aws.amazon.com/devopsagent/latest/userguide/production-operations-autonomous-incident-response.html</a:t>
            </a:r>
          </a:p>
          <a:p>
            <a:r>
              <a:t>K04 — Autonomous mode: https://kiro.dev/docs/web/autonomous-mode/</a:t>
            </a:r>
          </a:p>
          <a:p>
            <a:r>
              <a:t>S14 — Revalidate findings: https://docs.aws.amazon.com/securityagent/latest/userguide/revalidate-findings.html</a:t>
            </a:r>
          </a:p>
          <a:p>
            <a:r>
              <a:t>F09 — Optimization recommendations: https://docs.aws.amazon.com/finops-agent/latest/userguide/optimization-recommendations.html</a:t>
            </a:r>
          </a:p>
          <a:p/>
          <a:p>
            <a:r>
              <a:t>Preflight: Use the supplied illustrative handoff template and labeled rehearsal artifacts. No live cross-agent orchestration is required.</a:t>
            </a:r>
          </a:p>
          <a:p/>
          <a:p>
            <a:r>
              <a:t>Prompt: For the illustrative checkout incident, assemble an evidence-linked handoff with scope, owner, exact revision, allowed effects, exclusions and completion checks. Route code work to a reviewer-controlled PR. Add Security or FinOps assessment only when the issue requires it. Do not deploy or share credentials.</a:t>
            </a:r>
          </a:p>
          <a:p/>
          <a:p>
            <a:r>
              <a:t>Runbook:</a:t>
            </a:r>
          </a:p>
          <a:p>
            <a:r>
              <a:t>01:00 — Open the work contract: Confirm service, environment, evidence and owner.</a:t>
            </a:r>
          </a:p>
          <a:p>
            <a:r>
              <a:t>02:00 — Review operational evidence: Separate facts, candidate cause and missing data.</a:t>
            </a:r>
          </a:p>
          <a:p>
            <a:r>
              <a:t>02:00 — Inspect the coding handoff: Show the task contract, scoped diff and independent checks.</a:t>
            </a:r>
          </a:p>
          <a:p>
            <a:r>
              <a:t>02:00 — Choose conditional assurance: Add targeted security or cost work only when justified.</a:t>
            </a:r>
          </a:p>
          <a:p>
            <a:r>
              <a:t>01:00 — Record the decision: Name the release owner and required post-change verification.</a:t>
            </a:r>
          </a:p>
          <a:p/>
          <a:p>
            <a:r>
              <a:t>Success: Every transition carries evidence and a new task boundary; no transition carries implicit approval.</a:t>
            </a:r>
          </a:p>
          <a:p/>
          <a:p>
            <a:r>
              <a:t>Fallback: This tabletop is the default mode. A prepared recording may illustrate a real integration, but must be identified as replay.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32:30–34:30; allocated 02:00.</a:t>
            </a:r>
          </a:p>
          <a:p/>
          <a:p>
            <a:r>
              <a:t>Start with a manual evidence handoff and a small set of representative tasks. Verify actual denial of out-of-scope access and inspect failure recovery. Automate a connector only when the manual process has a clear owner and useful output. Measure accepted handoffs, missing evidence, approval violations, rework, consumption and closure quality. These are proposed operating metrics, not measured benefits from this documentation exercise.</a:t>
            </a:r>
          </a:p>
          <a:p/>
          <a:p>
            <a:r>
              <a:t>Official evidence:</a:t>
            </a:r>
          </a:p>
          <a:p>
            <a:r>
              <a:t>D13 — Working with directed actions: https://docs.aws.amazon.com/devopsagent/latest/userguide/working-with-devops-agent-working-with-directed-actions.html</a:t>
            </a:r>
          </a:p>
          <a:p>
            <a:r>
              <a:t>K06 — GitHub integration: https://kiro.dev/docs/web/github/</a:t>
            </a:r>
          </a:p>
          <a:p>
            <a:r>
              <a:t>S10 — Security best practices: https://docs.aws.amazon.com/securityagent/latest/userguide/security-best-practices.html</a:t>
            </a:r>
          </a:p>
          <a:p>
            <a:r>
              <a:t>F15 — Agent guardrail controls: https://docs.aws.amazon.com/finops-agent/latest/userguide/agent-guardrail-control.html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34:30–36:00; allocated 01:30.</a:t>
            </a:r>
          </a:p>
          <a:p/>
          <a:p>
            <a:r>
              <a:t>Close with the architecture decision: standardize scope, evidence, handoff and verification, but keep product-specific controls explicit. There is no need to invent a shared memory or privilege layer to gain value from specialist tools. Adopt only the integrations the team can observe and stop. The detailed report below preserves all twelve patterns, the action matrix and the proposed workflow material for implementation planning.</a:t>
            </a:r>
          </a:p>
          <a:p/>
          <a:p>
            <a:r>
              <a:t>Official evidence:</a:t>
            </a:r>
          </a:p>
          <a:p>
            <a:r>
              <a:t>D13 — Working with directed actions: https://docs.aws.amazon.com/devopsagent/latest/userguide/working-with-devops-agent-working-with-directed-actions.html</a:t>
            </a:r>
          </a:p>
          <a:p>
            <a:r>
              <a:t>K02 — Kiro Web: https://kiro.dev/docs/web/</a:t>
            </a:r>
          </a:p>
          <a:p>
            <a:r>
              <a:t>S10 — Security best practices: https://docs.aws.amazon.com/securityagent/latest/userguide/security-best-practices.html</a:t>
            </a:r>
          </a:p>
          <a:p>
            <a:r>
              <a:t>F15 — Agent guardrail controls: https://docs.aws.amazon.com/finops-agent/latest/userguide/agent-guardrail-control.html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36:00–36:00; allocated 00:00.</a:t>
            </a:r>
          </a:p>
          <a:p/>
          <a:p>
            <a:r>
              <a:t>This appendix is outside the timed session. All source URLs are listed below and in the relevant slide notes. No live workflow or measured benefit is claimed.</a:t>
            </a:r>
          </a:p>
          <a:p/>
          <a:p>
            <a:r>
              <a:t>Official evidence:</a:t>
            </a:r>
          </a:p>
          <a:p>
            <a:r>
              <a:t>D01 — About AWS DevOps Agent: https://docs.aws.amazon.com/devopsagent/latest/userguide/about-aws-devops-agent.html</a:t>
            </a:r>
          </a:p>
          <a:p>
            <a:r>
              <a:t>D03 — Autonomous incident response: https://docs.aws.amazon.com/devopsagent/latest/userguide/production-operations-autonomous-incident-response.html</a:t>
            </a:r>
          </a:p>
          <a:p>
            <a:r>
              <a:t>D04 — Proactive incident prevention: https://docs.aws.amazon.com/devopsagent/latest/userguide/production-operations-proactive-incident-prevention.html</a:t>
            </a:r>
          </a:p>
          <a:p>
            <a:r>
              <a:t>D06 — Custom Agents: https://docs.aws.amazon.com/devopsagent/latest/userguide/working-with-devops-agent-custom-agents-index.html</a:t>
            </a:r>
          </a:p>
          <a:p>
            <a:r>
              <a:t>D11 — Release testing: https://docs.aws.amazon.com/devopsagent/latest/userguide/release-management-release-testing.html</a:t>
            </a:r>
          </a:p>
          <a:p>
            <a:r>
              <a:t>D13 — Working with directed actions: https://docs.aws.amazon.com/devopsagent/latest/userguide/working-with-devops-agent-working-with-directed-actions.html</a:t>
            </a:r>
          </a:p>
          <a:p>
            <a:r>
              <a:t>D15 — Supported Regions: https://docs.aws.amazon.com/devopsagent/latest/userguide/about-aws-devops-agent-supported-regions.html</a:t>
            </a:r>
          </a:p>
          <a:p>
            <a:r>
              <a:t>D34 — Limiting Agent Access in an AWS Account: https://docs.aws.amazon.com/devopsagent/latest/userguide/aws-devops-agent-security-limiting-agent-access-in-an-aws-account.html</a:t>
            </a:r>
          </a:p>
          <a:p>
            <a:r>
              <a:t>D37 — DevOps Agent remote servers: https://docs.aws.amazon.com/devopsagent/latest/userguide/accessing-devops-agent-connecting-to-devops-agent-remote-servers-index.html</a:t>
            </a:r>
          </a:p>
          <a:p>
            <a:r>
              <a:t>D38 — Accessing DevOps Agent: https://docs.aws.amazon.com/devopsagent/latest/userguide/working-with-devops-agent-accessing-devops-agent-index.html</a:t>
            </a:r>
          </a:p>
          <a:p>
            <a:r>
              <a:t>F03 — Create an agent: https://docs.aws.amazon.com/finops-agent/latest/userguide/creating-an-agent.html</a:t>
            </a:r>
          </a:p>
          <a:p>
            <a:r>
              <a:t>F06 — Cost inquiry: https://docs.aws.amazon.com/finops-agent/latest/userguide/cost-inquiry.html</a:t>
            </a:r>
          </a:p>
          <a:p>
            <a:r>
              <a:t>F07 — Cost anomaly investigation: https://docs.aws.amazon.com/finops-agent/latest/userguide/cost-anomaly-detection.html</a:t>
            </a:r>
          </a:p>
          <a:p>
            <a:r>
              <a:t>F09 — Optimization recommendations: https://docs.aws.amazon.com/finops-agent/latest/userguide/optimization-recommendations.html</a:t>
            </a:r>
          </a:p>
          <a:p>
            <a:r>
              <a:t>F11 — Task management: https://docs.aws.amazon.com/finops-agent/latest/userguide/task-management.html</a:t>
            </a:r>
          </a:p>
          <a:p>
            <a:r>
              <a:t>F12 — Context files and memory: https://docs.aws.amazon.com/finops-agent/latest/userguide/context-files-and-memory.html</a:t>
            </a:r>
          </a:p>
          <a:p>
            <a:r>
              <a:t>F13 — Jira integration: https://docs.aws.amazon.com/finops-agent/latest/userguide/jira-integration.html</a:t>
            </a:r>
          </a:p>
          <a:p>
            <a:r>
              <a:t>F14 — Slack integration: https://docs.aws.amazon.com/finops-agent/latest/userguide/slack-integration.html</a:t>
            </a:r>
          </a:p>
          <a:p>
            <a:r>
              <a:t>F15 — Agent guardrail controls: https://docs.aws.amazon.com/finops-agent/latest/userguide/agent-guardrail-control.html</a:t>
            </a:r>
          </a:p>
          <a:p>
            <a:r>
              <a:t>F16 — Cross-region inference: https://docs.aws.amazon.com/finops-agent/latest/userguide/cross-region-inference.html</a:t>
            </a:r>
          </a:p>
          <a:p>
            <a:r>
              <a:t>K02 — Kiro Web: https://kiro.dev/docs/web/</a:t>
            </a:r>
          </a:p>
          <a:p>
            <a:r>
              <a:t>K03 — Working with the agent: https://kiro.dev/docs/web/using-the-agent/</a:t>
            </a:r>
          </a:p>
          <a:p>
            <a:r>
              <a:t>K04 — Autonomous mode: https://kiro.dev/docs/web/autonomous-mode/</a:t>
            </a:r>
          </a:p>
          <a:p>
            <a:r>
              <a:t>K06 — GitHub integration: https://kiro.dev/docs/web/github/</a:t>
            </a:r>
          </a:p>
          <a:p>
            <a:r>
              <a:t>K08 — Specifications: https://kiro.dev/docs/specs/</a:t>
            </a:r>
          </a:p>
          <a:p>
            <a:r>
              <a:t>K09 — Built-in tools: https://kiro.dev/docs/tools/</a:t>
            </a:r>
          </a:p>
          <a:p>
            <a:r>
              <a:t>K10 — Cloud sandbox: https://kiro.dev/docs/web/sandbox/</a:t>
            </a:r>
          </a:p>
          <a:p>
            <a:r>
              <a:t>K13 — Steering: https://kiro.dev/docs/steering/</a:t>
            </a:r>
          </a:p>
          <a:p>
            <a:r>
              <a:t>K14 — Memory: https://kiro.dev/docs/memory/</a:t>
            </a:r>
          </a:p>
          <a:p>
            <a:r>
              <a:t>K15 — Model Context Protocol: https://kiro.dev/docs/mcp/</a:t>
            </a:r>
          </a:p>
          <a:p>
            <a:r>
              <a:t>K19 — Sandbox internet access: https://kiro.dev/docs/web/sandbox/internet-access/</a:t>
            </a:r>
          </a:p>
          <a:p>
            <a:r>
              <a:t>K20 — Environment variables and secrets: https://kiro.dev/docs/web/sandbox/environment-variables/</a:t>
            </a:r>
          </a:p>
          <a:p>
            <a:r>
              <a:t>K24 — Workflows: https://kiro.dev/docs/workflows/</a:t>
            </a:r>
          </a:p>
          <a:p>
            <a:r>
              <a:t>S04 — What is AWS Security Agent?: https://docs.aws.amazon.com/securityagent/latest/userguide/what-is.html</a:t>
            </a:r>
          </a:p>
          <a:p>
            <a:r>
              <a:t>S05 — Pricing and billing: https://docs.aws.amazon.com/securityagent/latest/userguide/pricing.html</a:t>
            </a:r>
          </a:p>
          <a:p>
            <a:r>
              <a:t>S08 — Create a penetration test: https://docs.aws.amazon.com/securityagent/latest/userguide/perform-penetration-test.html</a:t>
            </a:r>
          </a:p>
          <a:p>
            <a:r>
              <a:t>S10 — Security best practices: https://docs.aws.amazon.com/securityagent/latest/userguide/security-best-practices.html</a:t>
            </a:r>
          </a:p>
          <a:p>
            <a:r>
              <a:t>S12 — Review penetration-test findings: https://docs.aws.amazon.com/securityagent/latest/userguide/review-penetration-findings.html</a:t>
            </a:r>
          </a:p>
          <a:p>
            <a:r>
              <a:t>S14 — Revalidate findings: https://docs.aws.amazon.com/securityagent/latest/userguide/revalidate-findings.html</a:t>
            </a:r>
          </a:p>
          <a:p>
            <a:r>
              <a:t>S26 — Code review from an IDE: https://docs.aws.amazon.com/securityagent/latest/userguide/code-review-ide-integration.html</a:t>
            </a:r>
          </a:p>
          <a:p>
            <a:r>
              <a:t>S28 — Run penetration tests from CI/CD: https://docs.aws.amazon.com/securityagent/latest/userguide/cicd-pentest.html</a:t>
            </a:r>
          </a:p>
          <a:p>
            <a:r>
              <a:t>S30 — Resilience and regional availability: https://docs.aws.amazon.com/securityagent/latest/userguide/resilience.html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hyperlink" Target="https://docs.aws.amazon.com/devopsagent/latest/userguide/about-aws-devops-agent.html" TargetMode="External"/><Relationship Id="rId4" Type="http://schemas.openxmlformats.org/officeDocument/2006/relationships/hyperlink" Target="https://docs.aws.amazon.com/devopsagent/latest/userguide/production-operations-autonomous-incident-response.html" TargetMode="External"/><Relationship Id="rId5" Type="http://schemas.openxmlformats.org/officeDocument/2006/relationships/hyperlink" Target="https://docs.aws.amazon.com/devopsagent/latest/userguide/production-operations-proactive-incident-prevention.html" TargetMode="External"/><Relationship Id="rId6" Type="http://schemas.openxmlformats.org/officeDocument/2006/relationships/hyperlink" Target="https://docs.aws.amazon.com/devopsagent/latest/userguide/working-with-devops-agent-custom-agents-index.html" TargetMode="External"/><Relationship Id="rId7" Type="http://schemas.openxmlformats.org/officeDocument/2006/relationships/hyperlink" Target="https://docs.aws.amazon.com/devopsagent/latest/userguide/release-management-release-testing.html" TargetMode="External"/><Relationship Id="rId8" Type="http://schemas.openxmlformats.org/officeDocument/2006/relationships/hyperlink" Target="https://docs.aws.amazon.com/devopsagent/latest/userguide/working-with-devops-agent-working-with-directed-actions.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POSITION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Common architectural patterns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Standardize the work and evidence—not the agent privileges.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01:00 allocated  |  00:00–01:00</a:t>
            </a:r>
          </a:p>
        </p:txBody>
      </p:sp>
      <p:sp>
        <p:nvSpPr>
          <p:cNvPr id="9" name="Rounded Rectangle 8"/>
          <p:cNvSpPr/>
          <p:nvPr/>
        </p:nvSpPr>
        <p:spPr>
          <a:xfrm>
            <a:off x="502920" y="2331720"/>
            <a:ext cx="11183112" cy="960120"/>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596896"/>
            <a:ext cx="10698480" cy="411480"/>
          </a:xfrm>
          <a:prstGeom prst="rect">
            <a:avLst/>
          </a:prstGeom>
          <a:noFill/>
        </p:spPr>
        <p:txBody>
          <a:bodyPr wrap="square" lIns="0" rIns="0" tIns="0" bIns="0" anchor="t">
            <a:spAutoFit/>
          </a:bodyPr>
          <a:lstStyle/>
          <a:p>
            <a:pPr>
              <a:lnSpc>
                <a:spcPct val="112000"/>
              </a:lnSpc>
              <a:spcAft>
                <a:spcPts val="300"/>
              </a:spcAft>
              <a:defRPr sz="2500" b="1">
                <a:solidFill>
                  <a:srgbClr val="FFFFFF"/>
                </a:solidFill>
                <a:latin typeface="Arial"/>
              </a:defRPr>
            </a:pPr>
            <a:r>
              <a:t>Scope → context → plan → authorized effect → verified handoff</a:t>
            </a:r>
          </a:p>
        </p:txBody>
      </p:sp>
      <p:sp>
        <p:nvSpPr>
          <p:cNvPr id="11" name="Rounded Rectangle 10"/>
          <p:cNvSpPr/>
          <p:nvPr/>
        </p:nvSpPr>
        <p:spPr>
          <a:xfrm>
            <a:off x="502920"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285D9C"/>
                </a:solidFill>
                <a:latin typeface="Arial"/>
              </a:defRPr>
            </a:pPr>
            <a:r>
              <a:t>36 min</a:t>
            </a:r>
          </a:p>
        </p:txBody>
      </p:sp>
      <p:sp>
        <p:nvSpPr>
          <p:cNvPr id="13" name="TextBox 12"/>
          <p:cNvSpPr txBox="1"/>
          <p:nvPr/>
        </p:nvSpPr>
        <p:spPr>
          <a:xfrm>
            <a:off x="704088"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session, including exercise</a:t>
            </a:r>
          </a:p>
        </p:txBody>
      </p:sp>
      <p:sp>
        <p:nvSpPr>
          <p:cNvPr id="14" name="Rounded Rectangle 13"/>
          <p:cNvSpPr/>
          <p:nvPr/>
        </p:nvSpPr>
        <p:spPr>
          <a:xfrm>
            <a:off x="4288536"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9703"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285D9C"/>
                </a:solidFill>
                <a:latin typeface="Arial"/>
              </a:defRPr>
            </a:pPr>
            <a:r>
              <a:t>8 min</a:t>
            </a:r>
          </a:p>
        </p:txBody>
      </p:sp>
      <p:sp>
        <p:nvSpPr>
          <p:cNvPr id="16" name="TextBox 15"/>
          <p:cNvSpPr txBox="1"/>
          <p:nvPr/>
        </p:nvSpPr>
        <p:spPr>
          <a:xfrm>
            <a:off x="4489703"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handoff tabletop demo</a:t>
            </a:r>
          </a:p>
        </p:txBody>
      </p:sp>
      <p:sp>
        <p:nvSpPr>
          <p:cNvPr id="17" name="Rounded Rectangle 16"/>
          <p:cNvSpPr/>
          <p:nvPr/>
        </p:nvSpPr>
        <p:spPr>
          <a:xfrm>
            <a:off x="8074152"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75320"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285D9C"/>
                </a:solidFill>
                <a:latin typeface="Arial"/>
              </a:defRPr>
            </a:pPr>
            <a:r>
              <a:t>4 agents</a:t>
            </a:r>
          </a:p>
        </p:txBody>
      </p:sp>
      <p:sp>
        <p:nvSpPr>
          <p:cNvPr id="19" name="TextBox 18"/>
          <p:cNvSpPr txBox="1"/>
          <p:nvPr/>
        </p:nvSpPr>
        <p:spPr>
          <a:xfrm>
            <a:off x="8275320" y="4553712"/>
            <a:ext cx="3200400" cy="338328"/>
          </a:xfrm>
          <a:prstGeom prst="rect">
            <a:avLst/>
          </a:prstGeom>
          <a:noFill/>
        </p:spPr>
        <p:txBody>
          <a:bodyPr wrap="square" lIns="0" rIns="0" tIns="0" bIns="0" anchor="t">
            <a:spAutoFit/>
          </a:bodyPr>
          <a:lstStyle/>
          <a:p>
            <a:pPr>
              <a:lnSpc>
                <a:spcPct val="112000"/>
              </a:lnSpc>
              <a:spcAft>
                <a:spcPts val="300"/>
              </a:spcAft>
              <a:defRPr sz="1650" b="0">
                <a:solidFill>
                  <a:srgbClr val="182B43"/>
                </a:solidFill>
                <a:latin typeface="Arial"/>
              </a:defRPr>
            </a:pPr>
            <a:r>
              <a:t>distinct execution boundaries</a:t>
            </a:r>
          </a:p>
        </p:txBody>
      </p:sp>
      <p:sp>
        <p:nvSpPr>
          <p:cNvPr id="20" name="TextBox 19"/>
          <p:cNvSpPr txBox="1"/>
          <p:nvPr/>
        </p:nvSpPr>
        <p:spPr>
          <a:xfrm>
            <a:off x="521207" y="5504688"/>
            <a:ext cx="11064240" cy="530352"/>
          </a:xfrm>
          <a:prstGeom prst="rect">
            <a:avLst/>
          </a:prstGeom>
          <a:noFill/>
        </p:spPr>
        <p:txBody>
          <a:bodyPr wrap="square" lIns="0" rIns="0" tIns="0" bIns="0" anchor="t">
            <a:spAutoFit/>
          </a:bodyPr>
          <a:lstStyle/>
          <a:p>
            <a:pPr>
              <a:lnSpc>
                <a:spcPct val="112000"/>
              </a:lnSpc>
              <a:spcAft>
                <a:spcPts val="300"/>
              </a:spcAft>
              <a:defRPr sz="1700" b="0">
                <a:solidFill>
                  <a:srgbClr val="55657A"/>
                </a:solidFill>
                <a:latin typeface="Arial"/>
              </a:defRPr>
            </a:pPr>
            <a:r>
              <a:t>Team-level synthesis of documented mechanisms. Not an AWS shared runtime, unified permission model or implemented multi-agent orchestrator.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POSITION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One operating model; four specialist roles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Assign work by the evidence and result needed, not by a generic “agent” label.</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01:00–02:30</a:t>
            </a:r>
          </a:p>
        </p:txBody>
      </p:sp>
      <p:graphicFrame>
        <p:nvGraphicFramePr>
          <p:cNvPr id="9" name="Table 8"/>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Specialist</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Useful daily input</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Reviewable result</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DevOps Agent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Incident window and operational context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Investigation, mitigation or prevention evidence</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Kiro</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Bounded change and repository context</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Spec, diff, tests and PR/MR</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Security Agent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Authorized target or design/source scope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Findings, proposed repair and reassessment</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FinOps Agent</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Cost scope and ownership context</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Reconciled explanation and cost-work handoff</a:t>
                      </a:r>
                    </a:p>
                  </a:txBody>
                  <a:tcPr marL="128016" marR="128016" marT="82296" marB="54864">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USE CASE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Use a work contract as the unit of delegation</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 task is ready when its owner, scope, allowed effects and done condition are explicit.</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03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02:30–04:00</a:t>
            </a:r>
          </a:p>
        </p:txBody>
      </p:sp>
      <p:sp>
        <p:nvSpPr>
          <p:cNvPr id="9" name="Rounded Rectangle 8"/>
          <p:cNvSpPr/>
          <p:nvPr/>
        </p:nvSpPr>
        <p:spPr>
          <a:xfrm>
            <a:off x="502920"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WHY NOW</a:t>
            </a:r>
          </a:p>
        </p:txBody>
      </p:sp>
      <p:sp>
        <p:nvSpPr>
          <p:cNvPr id="11" name="TextBox 10"/>
          <p:cNvSpPr txBox="1"/>
          <p:nvPr/>
        </p:nvSpPr>
        <p:spPr>
          <a:xfrm>
            <a:off x="667512"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Trigger</a:t>
            </a:r>
          </a:p>
        </p:txBody>
      </p:sp>
      <p:sp>
        <p:nvSpPr>
          <p:cNvPr id="12" name="TextBox 11"/>
          <p:cNvSpPr txBox="1"/>
          <p:nvPr/>
        </p:nvSpPr>
        <p:spPr>
          <a:xfrm>
            <a:off x="667512"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Incident, issue, finding, cost anomaly or review cadence.</a:t>
            </a:r>
          </a:p>
        </p:txBody>
      </p:sp>
      <p:sp>
        <p:nvSpPr>
          <p:cNvPr id="13" name="Rounded Rectangle 12"/>
          <p:cNvSpPr/>
          <p:nvPr/>
        </p:nvSpPr>
        <p:spPr>
          <a:xfrm>
            <a:off x="6195059"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9651"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WHERE</a:t>
            </a:r>
          </a:p>
        </p:txBody>
      </p:sp>
      <p:sp>
        <p:nvSpPr>
          <p:cNvPr id="15" name="TextBox 14"/>
          <p:cNvSpPr txBox="1"/>
          <p:nvPr/>
        </p:nvSpPr>
        <p:spPr>
          <a:xfrm>
            <a:off x="6359651"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Scope</a:t>
            </a:r>
          </a:p>
        </p:txBody>
      </p:sp>
      <p:sp>
        <p:nvSpPr>
          <p:cNvPr id="16" name="TextBox 15"/>
          <p:cNvSpPr txBox="1"/>
          <p:nvPr/>
        </p:nvSpPr>
        <p:spPr>
          <a:xfrm>
            <a:off x="6359651"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Service, environment, revisions and excluded systems.</a:t>
            </a:r>
          </a:p>
        </p:txBody>
      </p:sp>
      <p:sp>
        <p:nvSpPr>
          <p:cNvPr id="17" name="Rounded Rectangle 16"/>
          <p:cNvSpPr/>
          <p:nvPr/>
        </p:nvSpPr>
        <p:spPr>
          <a:xfrm>
            <a:off x="502920"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HOW FAR</a:t>
            </a:r>
          </a:p>
        </p:txBody>
      </p:sp>
      <p:sp>
        <p:nvSpPr>
          <p:cNvPr id="19" name="TextBox 18"/>
          <p:cNvSpPr txBox="1"/>
          <p:nvPr/>
        </p:nvSpPr>
        <p:spPr>
          <a:xfrm>
            <a:off x="667512"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Authority</a:t>
            </a:r>
          </a:p>
        </p:txBody>
      </p:sp>
      <p:sp>
        <p:nvSpPr>
          <p:cNvPr id="20" name="TextBox 19"/>
          <p:cNvSpPr txBox="1"/>
          <p:nvPr/>
        </p:nvSpPr>
        <p:spPr>
          <a:xfrm>
            <a:off x="667512"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Permitted reads/writes, approver and stop owner.</a:t>
            </a:r>
          </a:p>
        </p:txBody>
      </p:sp>
      <p:sp>
        <p:nvSpPr>
          <p:cNvPr id="21" name="Rounded Rectangle 20"/>
          <p:cNvSpPr/>
          <p:nvPr/>
        </p:nvSpPr>
        <p:spPr>
          <a:xfrm>
            <a:off x="6195059"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9651"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DONE</a:t>
            </a:r>
          </a:p>
        </p:txBody>
      </p:sp>
      <p:sp>
        <p:nvSpPr>
          <p:cNvPr id="23" name="TextBox 22"/>
          <p:cNvSpPr txBox="1"/>
          <p:nvPr/>
        </p:nvSpPr>
        <p:spPr>
          <a:xfrm>
            <a:off x="6359651"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Completion</a:t>
            </a:r>
          </a:p>
        </p:txBody>
      </p:sp>
      <p:sp>
        <p:nvSpPr>
          <p:cNvPr id="24" name="TextBox 23"/>
          <p:cNvSpPr txBox="1"/>
          <p:nvPr/>
        </p:nvSpPr>
        <p:spPr>
          <a:xfrm>
            <a:off x="6359651"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Evidence artifact plus an independent acceptance check.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USE CASE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Four handoffs cover most first-pass team needs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Compose only the specialists needed by the actual job.</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04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02:00 allocated  |  04:00–06:00</a:t>
            </a:r>
          </a:p>
        </p:txBody>
      </p:sp>
      <p:graphicFrame>
        <p:nvGraphicFramePr>
          <p:cNvPr id="9" name="Table 8"/>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Daily workflow</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Useful specialist output</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Team completion</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Incident → fix</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DevOps evidence → Kiro reviewable change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Owner verifies recovery after approved delivery</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Finding → repair</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Security evidence → reviewed code repair</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Deploy and revalidate the finding</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Cost anomaly → change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FinOps explanation → owned change request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Measure an approved change on a comparable basis</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Daily review → backlog</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Reports, recommendations and accepted findings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Deduplicate, assign owners and select next work</a:t>
                      </a:r>
                    </a:p>
                  </a:txBody>
                  <a:tcPr marL="128016" marR="128016" marT="82296" marB="54864">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P01 · bind the workspace to accountable ownership</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 product workspace is not automatically an enforced security boundary.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05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02:00 allocated  |  06:00–08:00</a:t>
            </a:r>
          </a:p>
        </p:txBody>
      </p:sp>
      <p:graphicFrame>
        <p:nvGraphicFramePr>
          <p:cNvPr id="9" name="Table 8"/>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Product</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Actual boundary to inspect</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Recommended acceptance check</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DevOps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AWS role and connected integrations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Allowed source read; harmless out-of-scope read denied</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Kiro</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Repository authorization and client/sandbox controls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Only selected repository/task access</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Security</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Target, credentials and network scope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Only authorized test systems reachable</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FinOps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Per-agent roles, context and connections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Cost scope and destination access match ownership</a:t>
                      </a:r>
                    </a:p>
                  </a:txBody>
                  <a:tcPr marL="128016" marR="128016" marT="82296" marB="54864">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EVIDENCE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P02 · retain provenance with every conclusion</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An answer must carry enough context to be checked after it leaves the original interface.</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06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08:00–09:30</a:t>
            </a:r>
          </a:p>
        </p:txBody>
      </p:sp>
      <p:sp>
        <p:nvSpPr>
          <p:cNvPr id="9" name="Rounded Rectangle 8"/>
          <p:cNvSpPr/>
          <p:nvPr/>
        </p:nvSpPr>
        <p:spPr>
          <a:xfrm>
            <a:off x="502920"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DEVOPS</a:t>
            </a:r>
          </a:p>
        </p:txBody>
      </p:sp>
      <p:sp>
        <p:nvSpPr>
          <p:cNvPr id="11" name="TextBox 10"/>
          <p:cNvSpPr txBox="1"/>
          <p:nvPr/>
        </p:nvSpPr>
        <p:spPr>
          <a:xfrm>
            <a:off x="667512"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Operational</a:t>
            </a:r>
          </a:p>
        </p:txBody>
      </p:sp>
      <p:sp>
        <p:nvSpPr>
          <p:cNvPr id="12" name="TextBox 11"/>
          <p:cNvSpPr txBox="1"/>
          <p:nvPr/>
        </p:nvSpPr>
        <p:spPr>
          <a:xfrm>
            <a:off x="667512"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Incident window, resource IDs, telemetry and deployment reference.</a:t>
            </a:r>
          </a:p>
        </p:txBody>
      </p:sp>
      <p:sp>
        <p:nvSpPr>
          <p:cNvPr id="13" name="Rounded Rectangle 12"/>
          <p:cNvSpPr/>
          <p:nvPr/>
        </p:nvSpPr>
        <p:spPr>
          <a:xfrm>
            <a:off x="6195059"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9651"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KIRO</a:t>
            </a:r>
          </a:p>
        </p:txBody>
      </p:sp>
      <p:sp>
        <p:nvSpPr>
          <p:cNvPr id="15" name="TextBox 14"/>
          <p:cNvSpPr txBox="1"/>
          <p:nvPr/>
        </p:nvSpPr>
        <p:spPr>
          <a:xfrm>
            <a:off x="6359651"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Repository</a:t>
            </a:r>
          </a:p>
        </p:txBody>
      </p:sp>
      <p:sp>
        <p:nvSpPr>
          <p:cNvPr id="16" name="TextBox 15"/>
          <p:cNvSpPr txBox="1"/>
          <p:nvPr/>
        </p:nvSpPr>
        <p:spPr>
          <a:xfrm>
            <a:off x="6359651"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Commit, file/symbol, requirement and check result.</a:t>
            </a:r>
          </a:p>
        </p:txBody>
      </p:sp>
      <p:sp>
        <p:nvSpPr>
          <p:cNvPr id="17" name="Rounded Rectangle 16"/>
          <p:cNvSpPr/>
          <p:nvPr/>
        </p:nvSpPr>
        <p:spPr>
          <a:xfrm>
            <a:off x="502920"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SECURITY</a:t>
            </a:r>
          </a:p>
        </p:txBody>
      </p:sp>
      <p:sp>
        <p:nvSpPr>
          <p:cNvPr id="19" name="TextBox 18"/>
          <p:cNvSpPr txBox="1"/>
          <p:nvPr/>
        </p:nvSpPr>
        <p:spPr>
          <a:xfrm>
            <a:off x="667512"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Assessment</a:t>
            </a:r>
          </a:p>
        </p:txBody>
      </p:sp>
      <p:sp>
        <p:nvSpPr>
          <p:cNvPr id="20" name="TextBox 19"/>
          <p:cNvSpPr txBox="1"/>
          <p:nvPr/>
        </p:nvSpPr>
        <p:spPr>
          <a:xfrm>
            <a:off x="667512"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Target version, identity, coverage, finding and run ID.</a:t>
            </a:r>
          </a:p>
        </p:txBody>
      </p:sp>
      <p:sp>
        <p:nvSpPr>
          <p:cNvPr id="21" name="Rounded Rectangle 20"/>
          <p:cNvSpPr/>
          <p:nvPr/>
        </p:nvSpPr>
        <p:spPr>
          <a:xfrm>
            <a:off x="6195059"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9651"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FINOPS</a:t>
            </a:r>
          </a:p>
        </p:txBody>
      </p:sp>
      <p:sp>
        <p:nvSpPr>
          <p:cNvPr id="23" name="TextBox 22"/>
          <p:cNvSpPr txBox="1"/>
          <p:nvPr/>
        </p:nvSpPr>
        <p:spPr>
          <a:xfrm>
            <a:off x="6359651"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Cost</a:t>
            </a:r>
          </a:p>
        </p:txBody>
      </p:sp>
      <p:sp>
        <p:nvSpPr>
          <p:cNvPr id="24" name="TextBox 23"/>
          <p:cNvSpPr txBox="1"/>
          <p:nvPr/>
        </p:nvSpPr>
        <p:spPr>
          <a:xfrm>
            <a:off x="6359651"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Period, accounts, filters, dimensions and cost basis.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P03 · keep instructions separate from authorization</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Guidance changes behavior; credentials and technical controls determine possible effects.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07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09:30–11:00</a:t>
            </a:r>
          </a:p>
        </p:txBody>
      </p:sp>
      <p:sp>
        <p:nvSpPr>
          <p:cNvPr id="9" name="Rounded Rectangle 8"/>
          <p:cNvSpPr/>
          <p:nvPr/>
        </p:nvSpPr>
        <p:spPr>
          <a:xfrm>
            <a:off x="502920"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GUIDANCE</a:t>
            </a:r>
          </a:p>
        </p:txBody>
      </p:sp>
      <p:sp>
        <p:nvSpPr>
          <p:cNvPr id="11" name="TextBox 10"/>
          <p:cNvSpPr txBox="1"/>
          <p:nvPr/>
        </p:nvSpPr>
        <p:spPr>
          <a:xfrm>
            <a:off x="667512"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Instruction plane</a:t>
            </a:r>
          </a:p>
        </p:txBody>
      </p:sp>
      <p:sp>
        <p:nvSpPr>
          <p:cNvPr id="12" name="TextBox 11"/>
          <p:cNvSpPr txBox="1"/>
          <p:nvPr/>
        </p:nvSpPr>
        <p:spPr>
          <a:xfrm>
            <a:off x="667512"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Prompts, steering, skills, memory and context explain the task and preferred procedure.</a:t>
            </a:r>
          </a:p>
        </p:txBody>
      </p:sp>
      <p:sp>
        <p:nvSpPr>
          <p:cNvPr id="13" name="Rounded Rectangle 12"/>
          <p:cNvSpPr/>
          <p:nvPr/>
        </p:nvSpPr>
        <p:spPr>
          <a:xfrm>
            <a:off x="6199632"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4224"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ENFORCEMENT</a:t>
            </a:r>
          </a:p>
        </p:txBody>
      </p:sp>
      <p:sp>
        <p:nvSpPr>
          <p:cNvPr id="15" name="TextBox 14"/>
          <p:cNvSpPr txBox="1"/>
          <p:nvPr/>
        </p:nvSpPr>
        <p:spPr>
          <a:xfrm>
            <a:off x="6364224"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Authority plane</a:t>
            </a:r>
          </a:p>
        </p:txBody>
      </p:sp>
      <p:sp>
        <p:nvSpPr>
          <p:cNvPr id="16" name="TextBox 15"/>
          <p:cNvSpPr txBox="1"/>
          <p:nvPr/>
        </p:nvSpPr>
        <p:spPr>
          <a:xfrm>
            <a:off x="6364224"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Roles, repository access, network rules, tool permissions and approval gates constrain effects.</a:t>
            </a:r>
          </a:p>
        </p:txBody>
      </p:sp>
      <p:sp>
        <p:nvSpPr>
          <p:cNvPr id="17" name="Rounded Rectangle 16"/>
          <p:cNvSpPr/>
          <p:nvPr/>
        </p:nvSpPr>
        <p:spPr>
          <a:xfrm>
            <a:off x="502920" y="5477256"/>
            <a:ext cx="11183112" cy="713232"/>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632704"/>
            <a:ext cx="10771632" cy="402336"/>
          </a:xfrm>
          <a:prstGeom prst="rect">
            <a:avLst/>
          </a:prstGeom>
          <a:noFill/>
        </p:spPr>
        <p:txBody>
          <a:bodyPr wrap="square" lIns="0" rIns="0" tIns="0" bIns="0" anchor="t">
            <a:spAutoFit/>
          </a:bodyPr>
          <a:lstStyle/>
          <a:p>
            <a:pPr>
              <a:lnSpc>
                <a:spcPct val="112000"/>
              </a:lnSpc>
              <a:spcAft>
                <a:spcPts val="300"/>
              </a:spcAft>
              <a:defRPr sz="1700" b="1">
                <a:solidFill>
                  <a:srgbClr val="FFFFFF"/>
                </a:solidFill>
                <a:latin typeface="Arial"/>
              </a:defRPr>
            </a:pPr>
            <a:r>
              <a:t>Anti-pattern: broad credentials plus a prompt saying “only touch checkout.”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P05 · classify the effect before selecting the gate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Approval is product- and entry-point-specific.</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08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02:00 allocated  |  11:00–13:00</a:t>
            </a:r>
          </a:p>
        </p:txBody>
      </p:sp>
      <p:graphicFrame>
        <p:nvGraphicFramePr>
          <p:cNvPr id="9" name="Table 8"/>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Effect path</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Documented native behavior</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Team responsibility</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DevOps directed action</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Layered opt-in and per-action approval</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Inspect exact operation and rollback</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Active application testing</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Real requests can modify target state</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Isolate data, dependencies and stop controls</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Kiro code change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Reviewable repository output; no automatic merge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Repository checks and merge ownership</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FinOps external post</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Jira and Slack approval differ by trigger</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Review destination scope and pre-authorization</a:t>
                      </a:r>
                    </a:p>
                  </a:txBody>
                  <a:tcPr marL="128016" marR="128016" marT="82296" marB="54864">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P06 · isolate the worker and the target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An isolated execution environment can still affect systems it can reach.</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09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13:00–14:30</a:t>
            </a:r>
          </a:p>
        </p:txBody>
      </p:sp>
      <p:sp>
        <p:nvSpPr>
          <p:cNvPr id="9" name="Rounded Rectangle 8"/>
          <p:cNvSpPr/>
          <p:nvPr/>
        </p:nvSpPr>
        <p:spPr>
          <a:xfrm>
            <a:off x="502920"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COMPUTE</a:t>
            </a:r>
          </a:p>
        </p:txBody>
      </p:sp>
      <p:sp>
        <p:nvSpPr>
          <p:cNvPr id="11" name="TextBox 10"/>
          <p:cNvSpPr txBox="1"/>
          <p:nvPr/>
        </p:nvSpPr>
        <p:spPr>
          <a:xfrm>
            <a:off x="667512"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Worker</a:t>
            </a:r>
          </a:p>
        </p:txBody>
      </p:sp>
      <p:sp>
        <p:nvSpPr>
          <p:cNvPr id="12" name="TextBox 11"/>
          <p:cNvSpPr txBox="1"/>
          <p:nvPr/>
        </p:nvSpPr>
        <p:spPr>
          <a:xfrm>
            <a:off x="667512"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Sandbox or service-managed execution.</a:t>
            </a:r>
          </a:p>
        </p:txBody>
      </p:sp>
      <p:sp>
        <p:nvSpPr>
          <p:cNvPr id="13" name="Rounded Rectangle 12"/>
          <p:cNvSpPr/>
          <p:nvPr/>
        </p:nvSpPr>
        <p:spPr>
          <a:xfrm>
            <a:off x="6195059"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9651"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ACCESS</a:t>
            </a:r>
          </a:p>
        </p:txBody>
      </p:sp>
      <p:sp>
        <p:nvSpPr>
          <p:cNvPr id="15" name="TextBox 14"/>
          <p:cNvSpPr txBox="1"/>
          <p:nvPr/>
        </p:nvSpPr>
        <p:spPr>
          <a:xfrm>
            <a:off x="6359651"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Reachability</a:t>
            </a:r>
          </a:p>
        </p:txBody>
      </p:sp>
      <p:sp>
        <p:nvSpPr>
          <p:cNvPr id="16" name="TextBox 15"/>
          <p:cNvSpPr txBox="1"/>
          <p:nvPr/>
        </p:nvSpPr>
        <p:spPr>
          <a:xfrm>
            <a:off x="6359651"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Network, endpoints, credentials and integrations.</a:t>
            </a:r>
          </a:p>
        </p:txBody>
      </p:sp>
      <p:sp>
        <p:nvSpPr>
          <p:cNvPr id="17" name="Rounded Rectangle 16"/>
          <p:cNvSpPr/>
          <p:nvPr/>
        </p:nvSpPr>
        <p:spPr>
          <a:xfrm>
            <a:off x="502920"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IMPACT</a:t>
            </a:r>
          </a:p>
        </p:txBody>
      </p:sp>
      <p:sp>
        <p:nvSpPr>
          <p:cNvPr id="19" name="TextBox 18"/>
          <p:cNvSpPr txBox="1"/>
          <p:nvPr/>
        </p:nvSpPr>
        <p:spPr>
          <a:xfrm>
            <a:off x="667512"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Target</a:t>
            </a:r>
          </a:p>
        </p:txBody>
      </p:sp>
      <p:sp>
        <p:nvSpPr>
          <p:cNvPr id="20" name="TextBox 19"/>
          <p:cNvSpPr txBox="1"/>
          <p:nvPr/>
        </p:nvSpPr>
        <p:spPr>
          <a:xfrm>
            <a:off x="667512"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Staging state and downstream business effects.</a:t>
            </a:r>
          </a:p>
        </p:txBody>
      </p:sp>
      <p:sp>
        <p:nvSpPr>
          <p:cNvPr id="21" name="Rounded Rectangle 20"/>
          <p:cNvSpPr/>
          <p:nvPr/>
        </p:nvSpPr>
        <p:spPr>
          <a:xfrm>
            <a:off x="6195059"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9651"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OPERATIONS</a:t>
            </a:r>
          </a:p>
        </p:txBody>
      </p:sp>
      <p:sp>
        <p:nvSpPr>
          <p:cNvPr id="23" name="TextBox 22"/>
          <p:cNvSpPr txBox="1"/>
          <p:nvPr/>
        </p:nvSpPr>
        <p:spPr>
          <a:xfrm>
            <a:off x="6359651"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Recovery</a:t>
            </a:r>
          </a:p>
        </p:txBody>
      </p:sp>
      <p:sp>
        <p:nvSpPr>
          <p:cNvPr id="24" name="TextBox 23"/>
          <p:cNvSpPr txBox="1"/>
          <p:nvPr/>
        </p:nvSpPr>
        <p:spPr>
          <a:xfrm>
            <a:off x="6359651"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Stop owner, cleanup and verified restoration.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INTEGRATION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P07 · integrate through explicit adapters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 protocol or connector is a building block—not a common permission model.</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10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14:30–16:00</a:t>
            </a:r>
          </a:p>
        </p:txBody>
      </p:sp>
      <p:graphicFrame>
        <p:nvGraphicFramePr>
          <p:cNvPr id="9" name="Table 8"/>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Interface</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Useful purpose</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Do not infer</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DevOps remote servers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Client/agent access to an Agent Space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Shared credentials with other specialists</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Kiro MCP / tools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Extend the coding workflow</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Universal provider or client parity</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Security IDE / pipeline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Submit assessment work from developer tooling</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Local-only execution or blanket coverage</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FinOps Jira / Slack</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Route approved outputs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General Jira administration or inbound Slack commands</a:t>
                      </a:r>
                    </a:p>
                  </a:txBody>
                  <a:tcPr marL="128016" marR="128016" marT="82296" marB="54864">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INTEGRATION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P08 · hand off artifacts, not inherited authority</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The next specialist receives evidence and scope—not credentials or another agent’s approval.</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11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02:00 allocated  |  16:00–18:00</a:t>
            </a:r>
          </a:p>
        </p:txBody>
      </p:sp>
      <p:sp>
        <p:nvSpPr>
          <p:cNvPr id="9" name="Rounded Rectangle 8"/>
          <p:cNvSpPr/>
          <p:nvPr/>
        </p:nvSpPr>
        <p:spPr>
          <a:xfrm>
            <a:off x="502920" y="2313432"/>
            <a:ext cx="11183112" cy="3877056"/>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560320"/>
            <a:ext cx="2560320" cy="365760"/>
          </a:xfrm>
          <a:prstGeom prst="rect">
            <a:avLst/>
          </a:prstGeom>
          <a:noFill/>
        </p:spPr>
        <p:txBody>
          <a:bodyPr wrap="square" lIns="0" rIns="0" tIns="0" bIns="0" anchor="t">
            <a:spAutoFit/>
          </a:bodyPr>
          <a:lstStyle/>
          <a:p>
            <a:pPr>
              <a:lnSpc>
                <a:spcPct val="112000"/>
              </a:lnSpc>
              <a:spcAft>
                <a:spcPts val="300"/>
              </a:spcAft>
              <a:defRPr sz="1600" b="1">
                <a:solidFill>
                  <a:srgbClr val="AFCBE8"/>
                </a:solidFill>
                <a:latin typeface="Arial"/>
              </a:defRPr>
            </a:pPr>
            <a:r>
              <a:t>work_item</a:t>
            </a:r>
          </a:p>
        </p:txBody>
      </p:sp>
      <p:sp>
        <p:nvSpPr>
          <p:cNvPr id="11" name="TextBox 10"/>
          <p:cNvSpPr txBox="1"/>
          <p:nvPr/>
        </p:nvSpPr>
        <p:spPr>
          <a:xfrm>
            <a:off x="3383280" y="2560320"/>
            <a:ext cx="8001000" cy="411480"/>
          </a:xfrm>
          <a:prstGeom prst="rect">
            <a:avLst/>
          </a:prstGeom>
          <a:noFill/>
        </p:spPr>
        <p:txBody>
          <a:bodyPr wrap="square" lIns="0" rIns="0" tIns="0" bIns="0" anchor="t">
            <a:spAutoFit/>
          </a:bodyPr>
          <a:lstStyle/>
          <a:p>
            <a:pPr>
              <a:lnSpc>
                <a:spcPct val="112000"/>
              </a:lnSpc>
              <a:spcAft>
                <a:spcPts val="300"/>
              </a:spcAft>
              <a:defRPr sz="1800" b="0">
                <a:solidFill>
                  <a:srgbClr val="FFFFFF"/>
                </a:solidFill>
                <a:latin typeface="Arial"/>
              </a:defRPr>
            </a:pPr>
            <a:r>
              <a:t>INC-DEMO-001 · illustrative</a:t>
            </a:r>
          </a:p>
        </p:txBody>
      </p:sp>
      <p:sp>
        <p:nvSpPr>
          <p:cNvPr id="12" name="TextBox 11"/>
          <p:cNvSpPr txBox="1"/>
          <p:nvPr/>
        </p:nvSpPr>
        <p:spPr>
          <a:xfrm>
            <a:off x="749808" y="3118103"/>
            <a:ext cx="2560320" cy="365760"/>
          </a:xfrm>
          <a:prstGeom prst="rect">
            <a:avLst/>
          </a:prstGeom>
          <a:noFill/>
        </p:spPr>
        <p:txBody>
          <a:bodyPr wrap="square" lIns="0" rIns="0" tIns="0" bIns="0" anchor="t">
            <a:spAutoFit/>
          </a:bodyPr>
          <a:lstStyle/>
          <a:p>
            <a:pPr>
              <a:lnSpc>
                <a:spcPct val="112000"/>
              </a:lnSpc>
              <a:spcAft>
                <a:spcPts val="300"/>
              </a:spcAft>
              <a:defRPr sz="1600" b="1">
                <a:solidFill>
                  <a:srgbClr val="AFCBE8"/>
                </a:solidFill>
                <a:latin typeface="Arial"/>
              </a:defRPr>
            </a:pPr>
            <a:r>
              <a:t>scope</a:t>
            </a:r>
          </a:p>
        </p:txBody>
      </p:sp>
      <p:sp>
        <p:nvSpPr>
          <p:cNvPr id="13" name="TextBox 12"/>
          <p:cNvSpPr txBox="1"/>
          <p:nvPr/>
        </p:nvSpPr>
        <p:spPr>
          <a:xfrm>
            <a:off x="3383280" y="3118103"/>
            <a:ext cx="8001000" cy="411480"/>
          </a:xfrm>
          <a:prstGeom prst="rect">
            <a:avLst/>
          </a:prstGeom>
          <a:noFill/>
        </p:spPr>
        <p:txBody>
          <a:bodyPr wrap="square" lIns="0" rIns="0" tIns="0" bIns="0" anchor="t">
            <a:spAutoFit/>
          </a:bodyPr>
          <a:lstStyle/>
          <a:p>
            <a:pPr>
              <a:lnSpc>
                <a:spcPct val="112000"/>
              </a:lnSpc>
              <a:spcAft>
                <a:spcPts val="300"/>
              </a:spcAft>
              <a:defRPr sz="1800" b="0">
                <a:solidFill>
                  <a:srgbClr val="FFFFFF"/>
                </a:solidFill>
                <a:latin typeface="Arial"/>
              </a:defRPr>
            </a:pPr>
            <a:r>
              <a:t>checkout-api / staging / revision DEMO-A</a:t>
            </a:r>
          </a:p>
        </p:txBody>
      </p:sp>
      <p:sp>
        <p:nvSpPr>
          <p:cNvPr id="14" name="TextBox 13"/>
          <p:cNvSpPr txBox="1"/>
          <p:nvPr/>
        </p:nvSpPr>
        <p:spPr>
          <a:xfrm>
            <a:off x="749808" y="3675887"/>
            <a:ext cx="2560320" cy="365760"/>
          </a:xfrm>
          <a:prstGeom prst="rect">
            <a:avLst/>
          </a:prstGeom>
          <a:noFill/>
        </p:spPr>
        <p:txBody>
          <a:bodyPr wrap="square" lIns="0" rIns="0" tIns="0" bIns="0" anchor="t">
            <a:spAutoFit/>
          </a:bodyPr>
          <a:lstStyle/>
          <a:p>
            <a:pPr>
              <a:lnSpc>
                <a:spcPct val="112000"/>
              </a:lnSpc>
              <a:spcAft>
                <a:spcPts val="300"/>
              </a:spcAft>
              <a:defRPr sz="1600" b="1">
                <a:solidFill>
                  <a:srgbClr val="AFCBE8"/>
                </a:solidFill>
                <a:latin typeface="Arial"/>
              </a:defRPr>
            </a:pPr>
            <a:r>
              <a:t>evidence</a:t>
            </a:r>
          </a:p>
        </p:txBody>
      </p:sp>
      <p:sp>
        <p:nvSpPr>
          <p:cNvPr id="15" name="TextBox 14"/>
          <p:cNvSpPr txBox="1"/>
          <p:nvPr/>
        </p:nvSpPr>
        <p:spPr>
          <a:xfrm>
            <a:off x="3383280" y="3675887"/>
            <a:ext cx="8001000" cy="411480"/>
          </a:xfrm>
          <a:prstGeom prst="rect">
            <a:avLst/>
          </a:prstGeom>
          <a:noFill/>
        </p:spPr>
        <p:txBody>
          <a:bodyPr wrap="square" lIns="0" rIns="0" tIns="0" bIns="0" anchor="t">
            <a:spAutoFit/>
          </a:bodyPr>
          <a:lstStyle/>
          <a:p>
            <a:pPr>
              <a:lnSpc>
                <a:spcPct val="112000"/>
              </a:lnSpc>
              <a:spcAft>
                <a:spcPts val="300"/>
              </a:spcAft>
              <a:defRPr sz="1800" b="0">
                <a:solidFill>
                  <a:srgbClr val="FFFFFF"/>
                </a:solidFill>
                <a:latin typeface="Arial"/>
              </a:defRPr>
            </a:pPr>
            <a:r>
              <a:t>incident window + telemetry links + candidate diff</a:t>
            </a:r>
          </a:p>
        </p:txBody>
      </p:sp>
      <p:sp>
        <p:nvSpPr>
          <p:cNvPr id="16" name="TextBox 15"/>
          <p:cNvSpPr txBox="1"/>
          <p:nvPr/>
        </p:nvSpPr>
        <p:spPr>
          <a:xfrm>
            <a:off x="749808" y="4233672"/>
            <a:ext cx="2560320" cy="365760"/>
          </a:xfrm>
          <a:prstGeom prst="rect">
            <a:avLst/>
          </a:prstGeom>
          <a:noFill/>
        </p:spPr>
        <p:txBody>
          <a:bodyPr wrap="square" lIns="0" rIns="0" tIns="0" bIns="0" anchor="t">
            <a:spAutoFit/>
          </a:bodyPr>
          <a:lstStyle/>
          <a:p>
            <a:pPr>
              <a:lnSpc>
                <a:spcPct val="112000"/>
              </a:lnSpc>
              <a:spcAft>
                <a:spcPts val="300"/>
              </a:spcAft>
              <a:defRPr sz="1600" b="1">
                <a:solidFill>
                  <a:srgbClr val="AFCBE8"/>
                </a:solidFill>
                <a:latin typeface="Arial"/>
              </a:defRPr>
            </a:pPr>
            <a:r>
              <a:t>allowed_effects</a:t>
            </a:r>
          </a:p>
        </p:txBody>
      </p:sp>
      <p:sp>
        <p:nvSpPr>
          <p:cNvPr id="17" name="TextBox 16"/>
          <p:cNvSpPr txBox="1"/>
          <p:nvPr/>
        </p:nvSpPr>
        <p:spPr>
          <a:xfrm>
            <a:off x="3383280" y="4233672"/>
            <a:ext cx="8001000" cy="411480"/>
          </a:xfrm>
          <a:prstGeom prst="rect">
            <a:avLst/>
          </a:prstGeom>
          <a:noFill/>
        </p:spPr>
        <p:txBody>
          <a:bodyPr wrap="square" lIns="0" rIns="0" tIns="0" bIns="0" anchor="t">
            <a:spAutoFit/>
          </a:bodyPr>
          <a:lstStyle/>
          <a:p>
            <a:pPr>
              <a:lnSpc>
                <a:spcPct val="112000"/>
              </a:lnSpc>
              <a:spcAft>
                <a:spcPts val="300"/>
              </a:spcAft>
              <a:defRPr sz="1800" b="0">
                <a:solidFill>
                  <a:srgbClr val="FFFFFF"/>
                </a:solidFill>
                <a:latin typeface="Arial"/>
              </a:defRPr>
            </a:pPr>
            <a:r>
              <a:t>read evidence; propose branch changes; no deployment</a:t>
            </a:r>
          </a:p>
        </p:txBody>
      </p:sp>
      <p:sp>
        <p:nvSpPr>
          <p:cNvPr id="18" name="TextBox 17"/>
          <p:cNvSpPr txBox="1"/>
          <p:nvPr/>
        </p:nvSpPr>
        <p:spPr>
          <a:xfrm>
            <a:off x="749808" y="4791456"/>
            <a:ext cx="2560320" cy="365760"/>
          </a:xfrm>
          <a:prstGeom prst="rect">
            <a:avLst/>
          </a:prstGeom>
          <a:noFill/>
        </p:spPr>
        <p:txBody>
          <a:bodyPr wrap="square" lIns="0" rIns="0" tIns="0" bIns="0" anchor="t">
            <a:spAutoFit/>
          </a:bodyPr>
          <a:lstStyle/>
          <a:p>
            <a:pPr>
              <a:lnSpc>
                <a:spcPct val="112000"/>
              </a:lnSpc>
              <a:spcAft>
                <a:spcPts val="300"/>
              </a:spcAft>
              <a:defRPr sz="1600" b="1">
                <a:solidFill>
                  <a:srgbClr val="AFCBE8"/>
                </a:solidFill>
                <a:latin typeface="Arial"/>
              </a:defRPr>
            </a:pPr>
            <a:r>
              <a:t>owner_and_stop</a:t>
            </a:r>
          </a:p>
        </p:txBody>
      </p:sp>
      <p:sp>
        <p:nvSpPr>
          <p:cNvPr id="19" name="TextBox 18"/>
          <p:cNvSpPr txBox="1"/>
          <p:nvPr/>
        </p:nvSpPr>
        <p:spPr>
          <a:xfrm>
            <a:off x="3383280" y="4791456"/>
            <a:ext cx="8001000" cy="411480"/>
          </a:xfrm>
          <a:prstGeom prst="rect">
            <a:avLst/>
          </a:prstGeom>
          <a:noFill/>
        </p:spPr>
        <p:txBody>
          <a:bodyPr wrap="square" lIns="0" rIns="0" tIns="0" bIns="0" anchor="t">
            <a:spAutoFit/>
          </a:bodyPr>
          <a:lstStyle/>
          <a:p>
            <a:pPr>
              <a:lnSpc>
                <a:spcPct val="112000"/>
              </a:lnSpc>
              <a:spcAft>
                <a:spcPts val="300"/>
              </a:spcAft>
              <a:defRPr sz="1800" b="0">
                <a:solidFill>
                  <a:srgbClr val="FFFFFF"/>
                </a:solidFill>
                <a:latin typeface="Arial"/>
              </a:defRPr>
            </a:pPr>
            <a:r>
              <a:t>service owner / named operator</a:t>
            </a:r>
          </a:p>
        </p:txBody>
      </p:sp>
      <p:sp>
        <p:nvSpPr>
          <p:cNvPr id="20" name="TextBox 19"/>
          <p:cNvSpPr txBox="1"/>
          <p:nvPr/>
        </p:nvSpPr>
        <p:spPr>
          <a:xfrm>
            <a:off x="749808" y="5349240"/>
            <a:ext cx="2560320" cy="365760"/>
          </a:xfrm>
          <a:prstGeom prst="rect">
            <a:avLst/>
          </a:prstGeom>
          <a:noFill/>
        </p:spPr>
        <p:txBody>
          <a:bodyPr wrap="square" lIns="0" rIns="0" tIns="0" bIns="0" anchor="t">
            <a:spAutoFit/>
          </a:bodyPr>
          <a:lstStyle/>
          <a:p>
            <a:pPr>
              <a:lnSpc>
                <a:spcPct val="112000"/>
              </a:lnSpc>
              <a:spcAft>
                <a:spcPts val="300"/>
              </a:spcAft>
              <a:defRPr sz="1600" b="1">
                <a:solidFill>
                  <a:srgbClr val="AFCBE8"/>
                </a:solidFill>
                <a:latin typeface="Arial"/>
              </a:defRPr>
            </a:pPr>
            <a:r>
              <a:t>done</a:t>
            </a:r>
          </a:p>
        </p:txBody>
      </p:sp>
      <p:sp>
        <p:nvSpPr>
          <p:cNvPr id="21" name="TextBox 20"/>
          <p:cNvSpPr txBox="1"/>
          <p:nvPr/>
        </p:nvSpPr>
        <p:spPr>
          <a:xfrm>
            <a:off x="3383280" y="5349240"/>
            <a:ext cx="8001000" cy="411480"/>
          </a:xfrm>
          <a:prstGeom prst="rect">
            <a:avLst/>
          </a:prstGeom>
          <a:noFill/>
        </p:spPr>
        <p:txBody>
          <a:bodyPr wrap="square" lIns="0" rIns="0" tIns="0" bIns="0" anchor="t">
            <a:spAutoFit/>
          </a:bodyPr>
          <a:lstStyle/>
          <a:p>
            <a:pPr>
              <a:lnSpc>
                <a:spcPct val="112000"/>
              </a:lnSpc>
              <a:spcAft>
                <a:spcPts val="300"/>
              </a:spcAft>
              <a:defRPr sz="1800" b="0">
                <a:solidFill>
                  <a:srgbClr val="FFFFFF"/>
                </a:solidFill>
                <a:latin typeface="Arial"/>
              </a:defRPr>
            </a:pPr>
            <a:r>
              <a:t>reviewed artifact + independent verification result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050" b="1">
                <a:solidFill>
                  <a:srgbClr val="182B43"/>
                </a:solidFill>
                <a:latin typeface="Arial"/>
              </a:defRPr>
            </a:pPr>
            <a:r>
              <a:t>P09 · bound jobs, retries, schedules and stop ownership</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Client completion and service-side termination are different events.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12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18:00–19:30</a:t>
            </a:r>
          </a:p>
        </p:txBody>
      </p:sp>
      <p:sp>
        <p:nvSpPr>
          <p:cNvPr id="9" name="Rounded Rectangle 8"/>
          <p:cNvSpPr/>
          <p:nvPr/>
        </p:nvSpPr>
        <p:spPr>
          <a:xfrm>
            <a:off x="502920"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BEFORE</a:t>
            </a:r>
          </a:p>
        </p:txBody>
      </p:sp>
      <p:sp>
        <p:nvSpPr>
          <p:cNvPr id="11" name="TextBox 10"/>
          <p:cNvSpPr txBox="1"/>
          <p:nvPr/>
        </p:nvSpPr>
        <p:spPr>
          <a:xfrm>
            <a:off x="667512"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Bound work</a:t>
            </a:r>
          </a:p>
        </p:txBody>
      </p:sp>
      <p:sp>
        <p:nvSpPr>
          <p:cNvPr id="12" name="TextBox 11"/>
          <p:cNvSpPr txBox="1"/>
          <p:nvPr/>
        </p:nvSpPr>
        <p:spPr>
          <a:xfrm>
            <a:off x="667512"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Task scope, retry cap or service-specific work budget.</a:t>
            </a:r>
          </a:p>
        </p:txBody>
      </p:sp>
      <p:sp>
        <p:nvSpPr>
          <p:cNvPr id="13" name="Rounded Rectangle 12"/>
          <p:cNvSpPr/>
          <p:nvPr/>
        </p:nvSpPr>
        <p:spPr>
          <a:xfrm>
            <a:off x="6195059"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9651"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DURING</a:t>
            </a:r>
          </a:p>
        </p:txBody>
      </p:sp>
      <p:sp>
        <p:nvSpPr>
          <p:cNvPr id="15" name="TextBox 14"/>
          <p:cNvSpPr txBox="1"/>
          <p:nvPr/>
        </p:nvSpPr>
        <p:spPr>
          <a:xfrm>
            <a:off x="6359651"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Observe</a:t>
            </a:r>
          </a:p>
        </p:txBody>
      </p:sp>
      <p:sp>
        <p:nvSpPr>
          <p:cNvPr id="16" name="TextBox 15"/>
          <p:cNvSpPr txBox="1"/>
          <p:nvPr/>
        </p:nvSpPr>
        <p:spPr>
          <a:xfrm>
            <a:off x="6359651"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Run ID, progress, failures and target health.</a:t>
            </a:r>
          </a:p>
        </p:txBody>
      </p:sp>
      <p:sp>
        <p:nvSpPr>
          <p:cNvPr id="17" name="Rounded Rectangle 16"/>
          <p:cNvSpPr/>
          <p:nvPr/>
        </p:nvSpPr>
        <p:spPr>
          <a:xfrm>
            <a:off x="502920"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ON ERROR</a:t>
            </a:r>
          </a:p>
        </p:txBody>
      </p:sp>
      <p:sp>
        <p:nvSpPr>
          <p:cNvPr id="19" name="TextBox 18"/>
          <p:cNvSpPr txBox="1"/>
          <p:nvPr/>
        </p:nvSpPr>
        <p:spPr>
          <a:xfrm>
            <a:off x="667512"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Stop</a:t>
            </a:r>
          </a:p>
        </p:txBody>
      </p:sp>
      <p:sp>
        <p:nvSpPr>
          <p:cNvPr id="20" name="TextBox 19"/>
          <p:cNvSpPr txBox="1"/>
          <p:nvPr/>
        </p:nvSpPr>
        <p:spPr>
          <a:xfrm>
            <a:off x="667512"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Named operator and documented cancellation procedure.</a:t>
            </a:r>
          </a:p>
        </p:txBody>
      </p:sp>
      <p:sp>
        <p:nvSpPr>
          <p:cNvPr id="21" name="Rounded Rectangle 20"/>
          <p:cNvSpPr/>
          <p:nvPr/>
        </p:nvSpPr>
        <p:spPr>
          <a:xfrm>
            <a:off x="6195059"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9651"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AFTER</a:t>
            </a:r>
          </a:p>
        </p:txBody>
      </p:sp>
      <p:sp>
        <p:nvSpPr>
          <p:cNvPr id="23" name="TextBox 22"/>
          <p:cNvSpPr txBox="1"/>
          <p:nvPr/>
        </p:nvSpPr>
        <p:spPr>
          <a:xfrm>
            <a:off x="6359651"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Confirm</a:t>
            </a:r>
          </a:p>
        </p:txBody>
      </p:sp>
      <p:sp>
        <p:nvSpPr>
          <p:cNvPr id="24" name="TextBox 23"/>
          <p:cNvSpPr txBox="1"/>
          <p:nvPr/>
        </p:nvSpPr>
        <p:spPr>
          <a:xfrm>
            <a:off x="6359651"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Terminal state, remaining jobs and cleanup evidence.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EVIDENCE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P10 · verify using evidence independent of the claim</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The same agent saying “done” is not a release or closure criterion.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13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02:00 allocated  |  19:30–21:30</a:t>
            </a:r>
          </a:p>
        </p:txBody>
      </p:sp>
      <p:graphicFrame>
        <p:nvGraphicFramePr>
          <p:cNvPr id="9" name="Table 8"/>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Claim</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Independent check</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Closure evidence</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Incident explained</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Compare timeline, telemetry and deployed change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Accepted hypothesis and recovery observation</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Code complete</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Run relevant tests and repository CI on the diff</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Reviewed PR/MR and check IDs</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Finding repaired</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Deploy then revalidate the known finding</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Linked reassessment result</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Cost understood</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Reproduce the total with identical filters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Reconciled view and owned next step</a:t>
                      </a:r>
                    </a:p>
                  </a:txBody>
                  <a:tcPr marL="128016" marR="128016" marT="82296" marB="54864">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EVIDENCE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P11 · preserve evidence across systems of record</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Do not replace incident, repository, security or cost records with a single chat summary.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14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21:30–23:00</a:t>
            </a:r>
          </a:p>
        </p:txBody>
      </p:sp>
      <p:sp>
        <p:nvSpPr>
          <p:cNvPr id="9" name="Rounded Rectangle 8"/>
          <p:cNvSpPr/>
          <p:nvPr/>
        </p:nvSpPr>
        <p:spPr>
          <a:xfrm>
            <a:off x="502920"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SYSTEM OF RECORD</a:t>
            </a:r>
          </a:p>
        </p:txBody>
      </p:sp>
      <p:sp>
        <p:nvSpPr>
          <p:cNvPr id="11" name="TextBox 10"/>
          <p:cNvSpPr txBox="1"/>
          <p:nvPr/>
        </p:nvSpPr>
        <p:spPr>
          <a:xfrm>
            <a:off x="667512"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Original record</a:t>
            </a:r>
          </a:p>
        </p:txBody>
      </p:sp>
      <p:sp>
        <p:nvSpPr>
          <p:cNvPr id="12" name="TextBox 11"/>
          <p:cNvSpPr txBox="1"/>
          <p:nvPr/>
        </p:nvSpPr>
        <p:spPr>
          <a:xfrm>
            <a:off x="667512"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Incident, source revision, assessment run or cost view.</a:t>
            </a:r>
          </a:p>
        </p:txBody>
      </p:sp>
      <p:sp>
        <p:nvSpPr>
          <p:cNvPr id="13" name="Rounded Rectangle 12"/>
          <p:cNvSpPr/>
          <p:nvPr/>
        </p:nvSpPr>
        <p:spPr>
          <a:xfrm>
            <a:off x="6195059"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9651"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WORK PRODUCT</a:t>
            </a:r>
          </a:p>
        </p:txBody>
      </p:sp>
      <p:sp>
        <p:nvSpPr>
          <p:cNvPr id="15" name="TextBox 14"/>
          <p:cNvSpPr txBox="1"/>
          <p:nvPr/>
        </p:nvSpPr>
        <p:spPr>
          <a:xfrm>
            <a:off x="6359651"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Derived artifact</a:t>
            </a:r>
          </a:p>
        </p:txBody>
      </p:sp>
      <p:sp>
        <p:nvSpPr>
          <p:cNvPr id="16" name="TextBox 15"/>
          <p:cNvSpPr txBox="1"/>
          <p:nvPr/>
        </p:nvSpPr>
        <p:spPr>
          <a:xfrm>
            <a:off x="6359651"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Summary, spec, proposed fix or report.</a:t>
            </a:r>
          </a:p>
        </p:txBody>
      </p:sp>
      <p:sp>
        <p:nvSpPr>
          <p:cNvPr id="17" name="Rounded Rectangle 16"/>
          <p:cNvSpPr/>
          <p:nvPr/>
        </p:nvSpPr>
        <p:spPr>
          <a:xfrm>
            <a:off x="502920"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ACCOUNTABILITY</a:t>
            </a:r>
          </a:p>
        </p:txBody>
      </p:sp>
      <p:sp>
        <p:nvSpPr>
          <p:cNvPr id="19" name="TextBox 18"/>
          <p:cNvSpPr txBox="1"/>
          <p:nvPr/>
        </p:nvSpPr>
        <p:spPr>
          <a:xfrm>
            <a:off x="667512"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Decision</a:t>
            </a:r>
          </a:p>
        </p:txBody>
      </p:sp>
      <p:sp>
        <p:nvSpPr>
          <p:cNvPr id="20" name="TextBox 19"/>
          <p:cNvSpPr txBox="1"/>
          <p:nvPr/>
        </p:nvSpPr>
        <p:spPr>
          <a:xfrm>
            <a:off x="667512"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Reviewer, approval, rejection or escalation.</a:t>
            </a:r>
          </a:p>
        </p:txBody>
      </p:sp>
      <p:sp>
        <p:nvSpPr>
          <p:cNvPr id="21" name="Rounded Rectangle 20"/>
          <p:cNvSpPr/>
          <p:nvPr/>
        </p:nvSpPr>
        <p:spPr>
          <a:xfrm>
            <a:off x="6195059"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9651"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CLOSURE</a:t>
            </a:r>
          </a:p>
        </p:txBody>
      </p:sp>
      <p:sp>
        <p:nvSpPr>
          <p:cNvPr id="23" name="TextBox 22"/>
          <p:cNvSpPr txBox="1"/>
          <p:nvPr/>
        </p:nvSpPr>
        <p:spPr>
          <a:xfrm>
            <a:off x="6359651"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Verification</a:t>
            </a:r>
          </a:p>
        </p:txBody>
      </p:sp>
      <p:sp>
        <p:nvSpPr>
          <p:cNvPr id="24" name="TextBox 23"/>
          <p:cNvSpPr txBox="1"/>
          <p:nvPr/>
        </p:nvSpPr>
        <p:spPr>
          <a:xfrm>
            <a:off x="6359651"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Observed result and unresolved limitations.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P12 · gate availability and data location per feature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Hosting Region, source location and inference routing are separate questions.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15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23:00–24:30</a:t>
            </a:r>
          </a:p>
        </p:txBody>
      </p:sp>
      <p:graphicFrame>
        <p:nvGraphicFramePr>
          <p:cNvPr id="9" name="Table 8"/>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Solution</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Availability distinction</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Readiness question</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DevOps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Production operations vs release preview</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Is the selected feature supported in this Agent Space Region?</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Kiro</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Web, IDE and CLI differ; account rollout matters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Does this client actually support the required control?</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Security</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Pentest GA; other workflows include preview</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What target, source and inference boundaries apply?</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FinOps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Whole service preview</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Is us-east-1 storage / US inference acceptable?</a:t>
                      </a:r>
                    </a:p>
                  </a:txBody>
                  <a:tcPr marL="128016" marR="128016" marT="82296" marB="54864">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DEMONSTRATION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Tabletop demo · incident to verified handoff</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Trace one work item through specialist artifacts without transferring authority.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16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08:00 allocated  |  24:30–32:30</a:t>
            </a:r>
          </a:p>
        </p:txBody>
      </p:sp>
      <p:sp>
        <p:nvSpPr>
          <p:cNvPr id="9" name="Rounded Rectangle 8"/>
          <p:cNvSpPr/>
          <p:nvPr/>
        </p:nvSpPr>
        <p:spPr>
          <a:xfrm>
            <a:off x="502920" y="2295144"/>
            <a:ext cx="11183112" cy="795528"/>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450592"/>
            <a:ext cx="10789920" cy="475488"/>
          </a:xfrm>
          <a:prstGeom prst="rect">
            <a:avLst/>
          </a:prstGeom>
          <a:noFill/>
        </p:spPr>
        <p:txBody>
          <a:bodyPr wrap="square" lIns="0" rIns="0" tIns="0" bIns="0" anchor="t">
            <a:spAutoFit/>
          </a:bodyPr>
          <a:lstStyle/>
          <a:p>
            <a:pPr>
              <a:lnSpc>
                <a:spcPct val="112000"/>
              </a:lnSpc>
              <a:spcAft>
                <a:spcPts val="300"/>
              </a:spcAft>
              <a:defRPr sz="1400" b="0">
                <a:solidFill>
                  <a:srgbClr val="FFFFFF"/>
                </a:solidFill>
                <a:latin typeface="Arial"/>
              </a:defRPr>
            </a:pPr>
            <a:r>
              <a:t>For the illustrative checkout incident, assemble an evidence-linked handoff with scope, owner, exact revision, allowed effects, exclusions and completion checks. Route code work to a reviewer-controlled PR. Add Security or FinOps assessment only when the issue requires it. Do not deploy or share credentials.</a:t>
            </a:r>
          </a:p>
        </p:txBody>
      </p:sp>
      <p:sp>
        <p:nvSpPr>
          <p:cNvPr id="11" name="TextBox 10"/>
          <p:cNvSpPr txBox="1"/>
          <p:nvPr/>
        </p:nvSpPr>
        <p:spPr>
          <a:xfrm>
            <a:off x="502920" y="3264408"/>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PREFLIGHT</a:t>
            </a:r>
          </a:p>
        </p:txBody>
      </p:sp>
      <p:sp>
        <p:nvSpPr>
          <p:cNvPr id="12" name="TextBox 11"/>
          <p:cNvSpPr txBox="1"/>
          <p:nvPr/>
        </p:nvSpPr>
        <p:spPr>
          <a:xfrm>
            <a:off x="502920" y="3520439"/>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Use the supplied illustrative handoff template and labeled rehearsal artifacts. No live cross-agent orchestration is required.</a:t>
            </a:r>
          </a:p>
        </p:txBody>
      </p:sp>
      <p:sp>
        <p:nvSpPr>
          <p:cNvPr id="13" name="TextBox 12"/>
          <p:cNvSpPr txBox="1"/>
          <p:nvPr/>
        </p:nvSpPr>
        <p:spPr>
          <a:xfrm>
            <a:off x="502920" y="4224528"/>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SUCCESS</a:t>
            </a:r>
          </a:p>
        </p:txBody>
      </p:sp>
      <p:sp>
        <p:nvSpPr>
          <p:cNvPr id="14" name="TextBox 13"/>
          <p:cNvSpPr txBox="1"/>
          <p:nvPr/>
        </p:nvSpPr>
        <p:spPr>
          <a:xfrm>
            <a:off x="502920" y="4480560"/>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Every transition carries evidence and a new task boundary; no transition carries implicit approval.</a:t>
            </a:r>
          </a:p>
        </p:txBody>
      </p:sp>
      <p:sp>
        <p:nvSpPr>
          <p:cNvPr id="15" name="TextBox 14"/>
          <p:cNvSpPr txBox="1"/>
          <p:nvPr/>
        </p:nvSpPr>
        <p:spPr>
          <a:xfrm>
            <a:off x="502920" y="5184648"/>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FALLBACK</a:t>
            </a:r>
          </a:p>
        </p:txBody>
      </p:sp>
      <p:sp>
        <p:nvSpPr>
          <p:cNvPr id="16" name="TextBox 15"/>
          <p:cNvSpPr txBox="1"/>
          <p:nvPr/>
        </p:nvSpPr>
        <p:spPr>
          <a:xfrm>
            <a:off x="502920" y="5440680"/>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This tabletop is the default mode. A prepared recording may illustrate a real integration, but must be identified as replay.</a:t>
            </a:r>
          </a:p>
        </p:txBody>
      </p:sp>
      <p:sp>
        <p:nvSpPr>
          <p:cNvPr id="17" name="Rounded Rectangle 16"/>
          <p:cNvSpPr/>
          <p:nvPr/>
        </p:nvSpPr>
        <p:spPr>
          <a:xfrm>
            <a:off x="4096512" y="3246120"/>
            <a:ext cx="7589520" cy="534009"/>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33672" y="3355848"/>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285D9C"/>
                </a:solidFill>
                <a:latin typeface="Arial"/>
              </a:defRPr>
            </a:pPr>
            <a:r>
              <a:t>01:00</a:t>
            </a:r>
          </a:p>
        </p:txBody>
      </p:sp>
      <p:sp>
        <p:nvSpPr>
          <p:cNvPr id="19" name="TextBox 18"/>
          <p:cNvSpPr txBox="1"/>
          <p:nvPr/>
        </p:nvSpPr>
        <p:spPr>
          <a:xfrm>
            <a:off x="4937760" y="3319272"/>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Open the work contract</a:t>
            </a:r>
          </a:p>
        </p:txBody>
      </p:sp>
      <p:sp>
        <p:nvSpPr>
          <p:cNvPr id="20" name="TextBox 19"/>
          <p:cNvSpPr txBox="1"/>
          <p:nvPr/>
        </p:nvSpPr>
        <p:spPr>
          <a:xfrm>
            <a:off x="4937760" y="3557015"/>
            <a:ext cx="6537960" cy="232257"/>
          </a:xfrm>
          <a:prstGeom prst="rect">
            <a:avLst/>
          </a:prstGeom>
          <a:noFill/>
        </p:spPr>
        <p:txBody>
          <a:bodyPr wrap="square" lIns="0" rIns="0" tIns="0" bIns="0" anchor="t">
            <a:spAutoFit/>
          </a:bodyPr>
          <a:lstStyle/>
          <a:p>
            <a:pPr>
              <a:lnSpc>
                <a:spcPct val="112000"/>
              </a:lnSpc>
              <a:spcAft>
                <a:spcPts val="300"/>
              </a:spcAft>
              <a:defRPr sz="1400" b="0">
                <a:solidFill>
                  <a:srgbClr val="182B43"/>
                </a:solidFill>
                <a:latin typeface="Arial"/>
              </a:defRPr>
            </a:pPr>
            <a:r>
              <a:t>Confirm service, environment, evidence and owner.</a:t>
            </a:r>
          </a:p>
        </p:txBody>
      </p:sp>
      <p:sp>
        <p:nvSpPr>
          <p:cNvPr id="21" name="Rounded Rectangle 20"/>
          <p:cNvSpPr/>
          <p:nvPr/>
        </p:nvSpPr>
        <p:spPr>
          <a:xfrm>
            <a:off x="4096512" y="3834993"/>
            <a:ext cx="7589520" cy="534009"/>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33672" y="3944721"/>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285D9C"/>
                </a:solidFill>
                <a:latin typeface="Arial"/>
              </a:defRPr>
            </a:pPr>
            <a:r>
              <a:t>02:00</a:t>
            </a:r>
          </a:p>
        </p:txBody>
      </p:sp>
      <p:sp>
        <p:nvSpPr>
          <p:cNvPr id="23" name="TextBox 22"/>
          <p:cNvSpPr txBox="1"/>
          <p:nvPr/>
        </p:nvSpPr>
        <p:spPr>
          <a:xfrm>
            <a:off x="4937760" y="3908145"/>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Review operational evidence</a:t>
            </a:r>
          </a:p>
        </p:txBody>
      </p:sp>
      <p:sp>
        <p:nvSpPr>
          <p:cNvPr id="24" name="TextBox 23"/>
          <p:cNvSpPr txBox="1"/>
          <p:nvPr/>
        </p:nvSpPr>
        <p:spPr>
          <a:xfrm>
            <a:off x="4937760" y="4145889"/>
            <a:ext cx="6537960" cy="232257"/>
          </a:xfrm>
          <a:prstGeom prst="rect">
            <a:avLst/>
          </a:prstGeom>
          <a:noFill/>
        </p:spPr>
        <p:txBody>
          <a:bodyPr wrap="square" lIns="0" rIns="0" tIns="0" bIns="0" anchor="t">
            <a:spAutoFit/>
          </a:bodyPr>
          <a:lstStyle/>
          <a:p>
            <a:pPr>
              <a:lnSpc>
                <a:spcPct val="112000"/>
              </a:lnSpc>
              <a:spcAft>
                <a:spcPts val="300"/>
              </a:spcAft>
              <a:defRPr sz="1400" b="0">
                <a:solidFill>
                  <a:srgbClr val="182B43"/>
                </a:solidFill>
                <a:latin typeface="Arial"/>
              </a:defRPr>
            </a:pPr>
            <a:r>
              <a:t>Separate facts, candidate cause and missing data.</a:t>
            </a:r>
          </a:p>
        </p:txBody>
      </p:sp>
      <p:sp>
        <p:nvSpPr>
          <p:cNvPr id="25" name="Rounded Rectangle 24"/>
          <p:cNvSpPr/>
          <p:nvPr/>
        </p:nvSpPr>
        <p:spPr>
          <a:xfrm>
            <a:off x="4096512" y="4423867"/>
            <a:ext cx="7589520" cy="534009"/>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33672" y="4533595"/>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285D9C"/>
                </a:solidFill>
                <a:latin typeface="Arial"/>
              </a:defRPr>
            </a:pPr>
            <a:r>
              <a:t>02:00</a:t>
            </a:r>
          </a:p>
        </p:txBody>
      </p:sp>
      <p:sp>
        <p:nvSpPr>
          <p:cNvPr id="27" name="TextBox 26"/>
          <p:cNvSpPr txBox="1"/>
          <p:nvPr/>
        </p:nvSpPr>
        <p:spPr>
          <a:xfrm>
            <a:off x="4937760" y="4497019"/>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Inspect the coding handoff</a:t>
            </a:r>
          </a:p>
        </p:txBody>
      </p:sp>
      <p:sp>
        <p:nvSpPr>
          <p:cNvPr id="28" name="TextBox 27"/>
          <p:cNvSpPr txBox="1"/>
          <p:nvPr/>
        </p:nvSpPr>
        <p:spPr>
          <a:xfrm>
            <a:off x="4937760" y="4734763"/>
            <a:ext cx="6537960" cy="232257"/>
          </a:xfrm>
          <a:prstGeom prst="rect">
            <a:avLst/>
          </a:prstGeom>
          <a:noFill/>
        </p:spPr>
        <p:txBody>
          <a:bodyPr wrap="square" lIns="0" rIns="0" tIns="0" bIns="0" anchor="t">
            <a:spAutoFit/>
          </a:bodyPr>
          <a:lstStyle/>
          <a:p>
            <a:pPr>
              <a:lnSpc>
                <a:spcPct val="112000"/>
              </a:lnSpc>
              <a:spcAft>
                <a:spcPts val="300"/>
              </a:spcAft>
              <a:defRPr sz="1400" b="0">
                <a:solidFill>
                  <a:srgbClr val="182B43"/>
                </a:solidFill>
                <a:latin typeface="Arial"/>
              </a:defRPr>
            </a:pPr>
            <a:r>
              <a:t>Show the task contract, scoped diff and independent checks.</a:t>
            </a:r>
          </a:p>
        </p:txBody>
      </p:sp>
      <p:sp>
        <p:nvSpPr>
          <p:cNvPr id="29" name="Rounded Rectangle 28"/>
          <p:cNvSpPr/>
          <p:nvPr/>
        </p:nvSpPr>
        <p:spPr>
          <a:xfrm>
            <a:off x="4096512" y="5012740"/>
            <a:ext cx="7589520" cy="534009"/>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33672" y="5122468"/>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285D9C"/>
                </a:solidFill>
                <a:latin typeface="Arial"/>
              </a:defRPr>
            </a:pPr>
            <a:r>
              <a:t>02:00</a:t>
            </a:r>
          </a:p>
        </p:txBody>
      </p:sp>
      <p:sp>
        <p:nvSpPr>
          <p:cNvPr id="31" name="TextBox 30"/>
          <p:cNvSpPr txBox="1"/>
          <p:nvPr/>
        </p:nvSpPr>
        <p:spPr>
          <a:xfrm>
            <a:off x="4937760" y="5085892"/>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Choose conditional assurance</a:t>
            </a:r>
          </a:p>
        </p:txBody>
      </p:sp>
      <p:sp>
        <p:nvSpPr>
          <p:cNvPr id="32" name="TextBox 31"/>
          <p:cNvSpPr txBox="1"/>
          <p:nvPr/>
        </p:nvSpPr>
        <p:spPr>
          <a:xfrm>
            <a:off x="4937760" y="5323636"/>
            <a:ext cx="6537960" cy="232257"/>
          </a:xfrm>
          <a:prstGeom prst="rect">
            <a:avLst/>
          </a:prstGeom>
          <a:noFill/>
        </p:spPr>
        <p:txBody>
          <a:bodyPr wrap="square" lIns="0" rIns="0" tIns="0" bIns="0" anchor="t">
            <a:spAutoFit/>
          </a:bodyPr>
          <a:lstStyle/>
          <a:p>
            <a:pPr>
              <a:lnSpc>
                <a:spcPct val="112000"/>
              </a:lnSpc>
              <a:spcAft>
                <a:spcPts val="300"/>
              </a:spcAft>
              <a:defRPr sz="1400" b="0">
                <a:solidFill>
                  <a:srgbClr val="182B43"/>
                </a:solidFill>
                <a:latin typeface="Arial"/>
              </a:defRPr>
            </a:pPr>
            <a:r>
              <a:t>Add targeted security or cost work only when justified.</a:t>
            </a:r>
          </a:p>
        </p:txBody>
      </p:sp>
      <p:sp>
        <p:nvSpPr>
          <p:cNvPr id="33" name="Rounded Rectangle 32"/>
          <p:cNvSpPr/>
          <p:nvPr/>
        </p:nvSpPr>
        <p:spPr>
          <a:xfrm>
            <a:off x="4096512" y="5601614"/>
            <a:ext cx="7589520" cy="534009"/>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233672" y="5711342"/>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285D9C"/>
                </a:solidFill>
                <a:latin typeface="Arial"/>
              </a:defRPr>
            </a:pPr>
            <a:r>
              <a:t>01:00</a:t>
            </a:r>
          </a:p>
        </p:txBody>
      </p:sp>
      <p:sp>
        <p:nvSpPr>
          <p:cNvPr id="35" name="TextBox 34"/>
          <p:cNvSpPr txBox="1"/>
          <p:nvPr/>
        </p:nvSpPr>
        <p:spPr>
          <a:xfrm>
            <a:off x="4937760" y="5674766"/>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Record the decision</a:t>
            </a:r>
          </a:p>
        </p:txBody>
      </p:sp>
      <p:sp>
        <p:nvSpPr>
          <p:cNvPr id="36" name="TextBox 35"/>
          <p:cNvSpPr txBox="1"/>
          <p:nvPr/>
        </p:nvSpPr>
        <p:spPr>
          <a:xfrm>
            <a:off x="4937760" y="5912510"/>
            <a:ext cx="6537960" cy="232257"/>
          </a:xfrm>
          <a:prstGeom prst="rect">
            <a:avLst/>
          </a:prstGeom>
          <a:noFill/>
        </p:spPr>
        <p:txBody>
          <a:bodyPr wrap="square" lIns="0" rIns="0" tIns="0" bIns="0" anchor="t">
            <a:spAutoFit/>
          </a:bodyPr>
          <a:lstStyle/>
          <a:p>
            <a:pPr>
              <a:lnSpc>
                <a:spcPct val="112000"/>
              </a:lnSpc>
              <a:spcAft>
                <a:spcPts val="300"/>
              </a:spcAft>
              <a:defRPr sz="1400" b="0">
                <a:solidFill>
                  <a:srgbClr val="182B43"/>
                </a:solidFill>
                <a:latin typeface="Arial"/>
              </a:defRPr>
            </a:pPr>
            <a:r>
              <a:t>Name the release owner and required post-change verification.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ADOPTION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Prove the process before building orchestration</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Manual handoffs make authority and evidence defects visible early.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17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02:00 allocated  |  32:30–34:30</a:t>
            </a:r>
          </a:p>
        </p:txBody>
      </p:sp>
      <p:graphicFrame>
        <p:nvGraphicFramePr>
          <p:cNvPr id="9" name="Table 8"/>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Pilot phase</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Work to perform</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Expansion gate</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Week 1</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Scope one workload and rehearse access boundaries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Operators can explain and test the permissions</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Week 2</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Run manual incident-to-change handoff</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Evidence and ownership survive the transition</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Week 3</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Rehearse failure, cancellation and verification</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Stops and cleanup behave as expected</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Week 4</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Automate one proven adapter, if justified</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Useful output without hidden authority expansion</a:t>
                      </a:r>
                    </a:p>
                  </a:txBody>
                  <a:tcPr marL="128016" marR="128016" marT="82296" marB="54864">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CLOSE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Share the work contract; keep authority local</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The common architecture is an accountable engineering process.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18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34:30–36:00</a:t>
            </a:r>
          </a:p>
        </p:txBody>
      </p:sp>
      <p:sp>
        <p:nvSpPr>
          <p:cNvPr id="9" name="Rounded Rectangle 8"/>
          <p:cNvSpPr/>
          <p:nvPr/>
        </p:nvSpPr>
        <p:spPr>
          <a:xfrm>
            <a:off x="50292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Standardize</a:t>
            </a:r>
          </a:p>
        </p:txBody>
      </p:sp>
      <p:sp>
        <p:nvSpPr>
          <p:cNvPr id="11" name="TextBox 10"/>
          <p:cNvSpPr txBox="1"/>
          <p:nvPr/>
        </p:nvSpPr>
        <p:spPr>
          <a:xfrm>
            <a:off x="66751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Work IDs, owners, evidence references and acceptance checks.</a:t>
            </a:r>
          </a:p>
        </p:txBody>
      </p:sp>
      <p:sp>
        <p:nvSpPr>
          <p:cNvPr id="12" name="Rounded Rectangle 11"/>
          <p:cNvSpPr/>
          <p:nvPr/>
        </p:nvSpPr>
        <p:spPr>
          <a:xfrm>
            <a:off x="429768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6227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Keep distinct</a:t>
            </a:r>
          </a:p>
        </p:txBody>
      </p:sp>
      <p:sp>
        <p:nvSpPr>
          <p:cNvPr id="14" name="TextBox 13"/>
          <p:cNvSpPr txBox="1"/>
          <p:nvPr/>
        </p:nvSpPr>
        <p:spPr>
          <a:xfrm>
            <a:off x="446227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Credentials, runtime isolation, approvals and data boundaries.</a:t>
            </a:r>
          </a:p>
        </p:txBody>
      </p:sp>
      <p:sp>
        <p:nvSpPr>
          <p:cNvPr id="15" name="Rounded Rectangle 14"/>
          <p:cNvSpPr/>
          <p:nvPr/>
        </p:nvSpPr>
        <p:spPr>
          <a:xfrm>
            <a:off x="809244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5703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Scale deliberately</a:t>
            </a:r>
          </a:p>
        </p:txBody>
      </p:sp>
      <p:sp>
        <p:nvSpPr>
          <p:cNvPr id="17" name="TextBox 16"/>
          <p:cNvSpPr txBox="1"/>
          <p:nvPr/>
        </p:nvSpPr>
        <p:spPr>
          <a:xfrm>
            <a:off x="825703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Automate a verified handoff—not an unbounded delegation chain.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Official evidence and delivery boundary</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Use the linked product documentation and the complete report source register.</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TextBox 8"/>
          <p:cNvSpPr txBox="1"/>
          <p:nvPr/>
        </p:nvSpPr>
        <p:spPr>
          <a:xfrm>
            <a:off x="594360" y="2331720"/>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285D9C"/>
                </a:solidFill>
                <a:latin typeface="Arial"/>
              </a:defRPr>
            </a:pPr>
            <a:r>
              <a:rPr>
                <a:hlinkClick r:id="rId3"/>
              </a:rPr>
              <a:t>D01  About AWS DevOps Agent</a:t>
            </a:r>
          </a:p>
        </p:txBody>
      </p:sp>
      <p:sp>
        <p:nvSpPr>
          <p:cNvPr id="10" name="TextBox 9"/>
          <p:cNvSpPr txBox="1"/>
          <p:nvPr/>
        </p:nvSpPr>
        <p:spPr>
          <a:xfrm>
            <a:off x="594360" y="2862072"/>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285D9C"/>
                </a:solidFill>
                <a:latin typeface="Arial"/>
              </a:defRPr>
            </a:pPr>
            <a:r>
              <a:rPr>
                <a:hlinkClick r:id="rId4"/>
              </a:rPr>
              <a:t>D03  Autonomous incident response</a:t>
            </a:r>
          </a:p>
        </p:txBody>
      </p:sp>
      <p:sp>
        <p:nvSpPr>
          <p:cNvPr id="11" name="TextBox 10"/>
          <p:cNvSpPr txBox="1"/>
          <p:nvPr/>
        </p:nvSpPr>
        <p:spPr>
          <a:xfrm>
            <a:off x="594360" y="3392424"/>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285D9C"/>
                </a:solidFill>
                <a:latin typeface="Arial"/>
              </a:defRPr>
            </a:pPr>
            <a:r>
              <a:rPr>
                <a:hlinkClick r:id="rId5"/>
              </a:rPr>
              <a:t>D04  Proactive incident prevention</a:t>
            </a:r>
          </a:p>
        </p:txBody>
      </p:sp>
      <p:sp>
        <p:nvSpPr>
          <p:cNvPr id="12" name="TextBox 11"/>
          <p:cNvSpPr txBox="1"/>
          <p:nvPr/>
        </p:nvSpPr>
        <p:spPr>
          <a:xfrm>
            <a:off x="594360" y="3922775"/>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285D9C"/>
                </a:solidFill>
                <a:latin typeface="Arial"/>
              </a:defRPr>
            </a:pPr>
            <a:r>
              <a:rPr>
                <a:hlinkClick r:id="rId6"/>
              </a:rPr>
              <a:t>D06  Custom Agents</a:t>
            </a:r>
          </a:p>
        </p:txBody>
      </p:sp>
      <p:sp>
        <p:nvSpPr>
          <p:cNvPr id="13" name="TextBox 12"/>
          <p:cNvSpPr txBox="1"/>
          <p:nvPr/>
        </p:nvSpPr>
        <p:spPr>
          <a:xfrm>
            <a:off x="594360" y="4453127"/>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285D9C"/>
                </a:solidFill>
                <a:latin typeface="Arial"/>
              </a:defRPr>
            </a:pPr>
            <a:r>
              <a:rPr>
                <a:hlinkClick r:id="rId7"/>
              </a:rPr>
              <a:t>D11  Release testing</a:t>
            </a:r>
          </a:p>
        </p:txBody>
      </p:sp>
      <p:sp>
        <p:nvSpPr>
          <p:cNvPr id="14" name="TextBox 13"/>
          <p:cNvSpPr txBox="1"/>
          <p:nvPr/>
        </p:nvSpPr>
        <p:spPr>
          <a:xfrm>
            <a:off x="594360" y="4983479"/>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285D9C"/>
                </a:solidFill>
                <a:latin typeface="Arial"/>
              </a:defRPr>
            </a:pPr>
            <a:r>
              <a:rPr>
                <a:hlinkClick r:id="rId8"/>
              </a:rPr>
              <a:t>D13  Working with directed actions</a:t>
            </a:r>
          </a:p>
        </p:txBody>
      </p:sp>
      <p:sp>
        <p:nvSpPr>
          <p:cNvPr id="15" name="TextBox 14"/>
          <p:cNvSpPr txBox="1"/>
          <p:nvPr/>
        </p:nvSpPr>
        <p:spPr>
          <a:xfrm>
            <a:off x="594360" y="5660136"/>
            <a:ext cx="10927080" cy="475488"/>
          </a:xfrm>
          <a:prstGeom prst="rect">
            <a:avLst/>
          </a:prstGeom>
          <a:noFill/>
        </p:spPr>
        <p:txBody>
          <a:bodyPr wrap="square" lIns="0" rIns="0" tIns="0" bIns="0" anchor="t">
            <a:spAutoFit/>
          </a:bodyPr>
          <a:lstStyle/>
          <a:p>
            <a:pPr>
              <a:lnSpc>
                <a:spcPct val="112000"/>
              </a:lnSpc>
              <a:spcAft>
                <a:spcPts val="300"/>
              </a:spcAft>
              <a:defRPr sz="1500" b="0">
                <a:solidFill>
                  <a:srgbClr val="55657A"/>
                </a:solidFill>
                <a:latin typeface="Arial"/>
              </a:defRPr>
            </a:pPr>
            <a:r>
              <a:t>Complete source URLs are embedded in speaker notes. Demo slots include fallback walkthroughs; questions and breaks are additional.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Common architectural patterns — engineering field guide</dc:title>
  <dc:subject>Source-aligned publication edition; timed demonstrations and official documentation.</dc:subject>
  <dc:creator>Frontier agents documentation</dc:creator>
  <cp:keywords/>
  <dc:description>Independent synthesis. No live AWS execution or measured benefit is claimed.</dc:description>
  <cp:lastModifiedBy>Steve Canny</cp:lastModifiedBy>
  <cp:revision>1</cp:revision>
  <dcterms:created xsi:type="dcterms:W3CDTF">2013-01-27T09:14:16Z</dcterms:created>
  <dcterms:modified xsi:type="dcterms:W3CDTF">2013-01-27T09:15:58Z</dcterms:modified>
  <cp:category/>
</cp:coreProperties>
</file>