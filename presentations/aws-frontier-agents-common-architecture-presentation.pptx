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00:00–01:00; allocated 01:00.</a:t>
            </a:r>
          </a:p>
          <a:p/>
          <a:p>
            <a:r>
              <a:t>This is a team-level reference design assembled from the documented behavior of four products. It is not an AWS internal architecture or a shared four-agent runtime. The common unit is a bounded engineering work item with an owner, evidence, allowed effects and completion checks. Each product retains its own identity, execution and approval model. The demo is a tabletop handoff walkthrough, not an implemented orchestrator.</a:t>
            </a:r>
          </a:p>
          <a:p/>
          <a:p>
            <a:r>
              <a:t>Official evidence:</a:t>
            </a:r>
          </a:p>
          <a:p>
            <a:r>
              <a:t>D01 — About AWS DevOps Agent: https://docs.aws.amazon.com/devopsagent/latest/userguide/about-aws-devops-agent.html</a:t>
            </a:r>
          </a:p>
          <a:p>
            <a:r>
              <a:t>K02 — Kiro Web: https://kiro.dev/docs/web/</a:t>
            </a:r>
          </a:p>
          <a:p>
            <a:r>
              <a:t>S04 — What is AWS Security Agent?: https://docs.aws.amazon.com/securityagent/latest/userguide/what-is.html</a:t>
            </a:r>
          </a:p>
          <a:p>
            <a:r>
              <a:t>F03 — Create an agent: https://docs.aws.amazon.com/finops-agent/latest/userguide/creating-an-agent.html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01:00–02:30; allocated 01:30.</a:t>
            </a:r>
          </a:p>
          <a:p/>
          <a:p>
            <a:r>
              <a:t>DevOps Agent is the operational investigator, Kiro produces repository work, Security Agent supplies application-security assessment evidence, and FinOps Agent explains and routes cost work. These roles can overlap, but their output artifacts are different. A shared work-item schema makes the handoff legible without claiming shared sessions or permissions. The table is a recommended allocation of responsibility based on documented capabilities.</a:t>
            </a:r>
          </a:p>
          <a:p/>
          <a:p>
            <a:r>
              <a:t>Official evidence:</a:t>
            </a:r>
          </a:p>
          <a:p>
            <a:r>
              <a:t>D03 — Autonomous incident response: https://docs.aws.amazon.com/devopsagent/latest/userguide/production-operations-autonomous-incident-response.html</a:t>
            </a:r>
          </a:p>
          <a:p>
            <a:r>
              <a:t>K04 — Autonomous mode: https://kiro.dev/docs/web/autonomous-mode/</a:t>
            </a:r>
          </a:p>
          <a:p>
            <a:r>
              <a:t>S12 — Review penetration-test findings: https://docs.aws.amazon.com/securityagent/latest/userguide/review-penetration-findings.html</a:t>
            </a:r>
          </a:p>
          <a:p>
            <a:r>
              <a:t>F07 — Cost anomaly investigation: https://docs.aws.amazon.com/finops-agent/latest/userguide/cost-anomaly-detection.html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02:30–04:00; allocated 01:30.</a:t>
            </a:r>
          </a:p>
          <a:p/>
          <a:p>
            <a:r>
              <a:t>The contract is a team artifact, not a product-specific API. Start with the service, environment and question. Add exact evidence identifiers, allowed effects and non-goals. Name the person who can stop the work and the person who can accept its output. This prevents a vague request such as “fix checkout” from becoming an unlimited mandate. A contract carries intent; underlying product controls still enforce access.</a:t>
            </a:r>
          </a:p>
          <a:p/>
          <a:p>
            <a:r>
              <a:t>Official evidence:</a:t>
            </a:r>
          </a:p>
          <a:p>
            <a:r>
              <a:t>D03 — Autonomous incident response: https://docs.aws.amazon.com/devopsagent/latest/userguide/production-operations-autonomous-incident-response.html</a:t>
            </a:r>
          </a:p>
          <a:p>
            <a:r>
              <a:t>K08 — Specifications: https://kiro.dev/docs/specs/</a:t>
            </a:r>
          </a:p>
          <a:p>
            <a:r>
              <a:t>S08 — Create a penetration test: https://docs.aws.amazon.com/securityagent/latest/userguide/perform-penetration-test.html</a:t>
            </a:r>
          </a:p>
          <a:p>
            <a:r>
              <a:t>F11 — Task management: https://docs.aws.amazon.com/finops-agent/latest/userguide/task-management.html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04:00–06:00; allocated 02:00.</a:t>
            </a:r>
          </a:p>
          <a:p/>
          <a:p>
            <a:r>
              <a:t>An incident can lead to a code change, a security finding to a repair, or a cost anomaly to an infrastructure work item. The daily review aggregates accepted evidence into an owned backlog. Do not force all four agents into every task. Manual artifact handoffs are often sufficient to prove the operating model before building automation. Each row is a proposed team workflow, not a turnkey integration supplied by AWS.</a:t>
            </a:r>
          </a:p>
          <a:p/>
          <a:p>
            <a:r>
              <a:t>Official evidence:</a:t>
            </a:r>
          </a:p>
          <a:p>
            <a:r>
              <a:t>D04 — Proactive incident prevention: https://docs.aws.amazon.com/devopsagent/latest/userguide/production-operations-proactive-incident-prevention.html</a:t>
            </a:r>
          </a:p>
          <a:p>
            <a:r>
              <a:t>K04 — Autonomous mode: https://kiro.dev/docs/web/autonomous-mode/</a:t>
            </a:r>
          </a:p>
          <a:p>
            <a:r>
              <a:t>S14 — Revalidate findings: https://docs.aws.amazon.com/securityagent/latest/userguide/revalidate-findings.html</a:t>
            </a:r>
          </a:p>
          <a:p>
            <a:r>
              <a:t>F09 — Optimization recommendations: https://docs.aws.amazon.com/finops-agent/latest/userguide/optimization-recommendations.html</a:t>
            </a:r>
          </a:p>
          <a:p>
            <a:r>
              <a:t>F11 — Task management: https://docs.aws.amazon.com/finops-agent/latest/userguide/task-management.html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06:00–08:00; allocated 02:00.</a:t>
            </a:r>
          </a:p>
          <a:p/>
          <a:p>
            <a:r>
              <a:t>Use a service-oriented boundary record: accounts, repositories, targets, operators and output destinations. The name of a workspace does not prove that access outside it is denied. Test the actual role, repository integration or target configuration. Keep operator accountability visible even when a service role executes the work. Start with one team-owned workload so failures in the boundary model can be detected before wider adoption.</a:t>
            </a:r>
          </a:p>
          <a:p/>
          <a:p>
            <a:r>
              <a:t>Official evidence:</a:t>
            </a:r>
          </a:p>
          <a:p>
            <a:r>
              <a:t>D34 — Limiting Agent Access in an AWS Account: https://docs.aws.amazon.com/devopsagent/latest/userguide/aws-devops-agent-security-limiting-agent-access-in-an-aws-account.html</a:t>
            </a:r>
          </a:p>
          <a:p>
            <a:r>
              <a:t>K06 — GitHub integration: https://kiro.dev/docs/web/github/</a:t>
            </a:r>
          </a:p>
          <a:p>
            <a:r>
              <a:t>S08 — Create a penetration test: https://docs.aws.amazon.com/securityagent/latest/userguide/perform-penetration-test.html</a:t>
            </a:r>
          </a:p>
          <a:p>
            <a:r>
              <a:t>F03 — Create an agent: https://docs.aws.amazon.com/finops-agent/latest/userguide/creating-an-agent.html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08:00–09:30; allocated 01:30.</a:t>
            </a:r>
          </a:p>
          <a:p/>
          <a:p>
            <a:r>
              <a:t>A source link alone can be insufficient when the source changes. Record the revision or time interval, resource identity and relevant filters along with the conclusion. Distinguish observed evidence from an agent inference and a human decision. This is especially important in cost reports, where a different basis or date range can produce a different number, and in code work, where a later commit can invalidate an earlier check.</a:t>
            </a:r>
          </a:p>
          <a:p/>
          <a:p>
            <a:r>
              <a:t>Official evidence:</a:t>
            </a:r>
          </a:p>
          <a:p>
            <a:r>
              <a:t>D03 — Autonomous incident response: https://docs.aws.amazon.com/devopsagent/latest/userguide/production-operations-autonomous-incident-response.html</a:t>
            </a:r>
          </a:p>
          <a:p>
            <a:r>
              <a:t>K03 — Working with the agent: https://kiro.dev/docs/web/using-the-agent/</a:t>
            </a:r>
          </a:p>
          <a:p>
            <a:r>
              <a:t>S12 — Review penetration-test findings: https://docs.aws.amazon.com/securityagent/latest/userguide/review-penetration-findings.html</a:t>
            </a:r>
          </a:p>
          <a:p>
            <a:r>
              <a:t>F06 — Cost inquiry: https://docs.aws.amazon.com/finops-agent/latest/userguide/cost-inquiry.html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09:30–11:00; allocated 01:30.</a:t>
            </a:r>
          </a:p>
          <a:p/>
          <a:p>
            <a:r>
              <a:t>Steering, skills, memory and context files improve relevance. They must not be treated as permission boundaries or proof of policy enforcement. Treat source content as evidence, not as authority to ignore the task’s restrictions. Keep secrets out of context artifacts unless the approved workflow specifically requires them. When stable policy and learned context conflict, verify current policy and correct the context.</a:t>
            </a:r>
          </a:p>
          <a:p/>
          <a:p>
            <a:r>
              <a:t>Official evidence:</a:t>
            </a:r>
          </a:p>
          <a:p>
            <a:r>
              <a:t>K13 — Steering: https://kiro.dev/docs/steering/</a:t>
            </a:r>
          </a:p>
          <a:p>
            <a:r>
              <a:t>K14 — Memory: https://kiro.dev/docs/memory/</a:t>
            </a:r>
          </a:p>
          <a:p>
            <a:r>
              <a:t>D06 — Custom Agents: https://docs.aws.amazon.com/devopsagent/latest/userguide/working-with-devops-agent-custom-agents-index.html</a:t>
            </a:r>
          </a:p>
          <a:p>
            <a:r>
              <a:t>F12 — Context files and memory: https://docs.aws.amazon.com/finops-agent/latest/userguide/context-files-and-memory.html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11:00–13:00; allocated 02:00.</a:t>
            </a:r>
          </a:p>
          <a:p/>
          <a:p>
            <a:r>
              <a:t>A single “human in the loop” box hides important differences. DevOps directed actions require explicit enablement and approval. Active release tests can mutate a target through application requests. Kiro’s output reaches a reviewable branch, with merging under team control. FinOps collaboration writes have trigger-dependent approval rules. Model the real effect and apply the correct gate; do not assume a prompt before every mutation.</a:t>
            </a:r>
          </a:p>
          <a:p/>
          <a:p>
            <a:r>
              <a:t>Official evidence:</a:t>
            </a:r>
          </a:p>
          <a:p>
            <a:r>
              <a:t>D13 — Working with directed actions: https://docs.aws.amazon.com/devopsagent/latest/userguide/working-with-devops-agent-working-with-directed-actions.html</a:t>
            </a:r>
          </a:p>
          <a:p>
            <a:r>
              <a:t>D11 — Release testing: https://docs.aws.amazon.com/devopsagent/latest/userguide/release-management-release-testing.html</a:t>
            </a:r>
          </a:p>
          <a:p>
            <a:r>
              <a:t>K02 — Kiro Web: https://kiro.dev/docs/web/</a:t>
            </a:r>
          </a:p>
          <a:p>
            <a:r>
              <a:t>F15 — Agent guardrail controls: 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13:00–14:30; allocated 01:30.</a:t>
            </a:r>
          </a:p>
          <a:p/>
          <a:p>
            <a:r>
              <a:t>Worker isolation reduces some risks, but it does not neutralize network side effects. A test may submit a form that charges a payment or sends a notification, and a sandbox command can use injected credentials. Design the target as carefully as the worker: synthetic data, disposable credentials, allowed endpoints, disabled business side effects and independent health checks. These are recommended controls around the documented execution paths.</a:t>
            </a:r>
          </a:p>
          <a:p/>
          <a:p>
            <a:r>
              <a:t>Official evidence:</a:t>
            </a:r>
          </a:p>
          <a:p>
            <a:r>
              <a:t>K10 — Cloud sandbox: https://kiro.dev/docs/web/sandbox/</a:t>
            </a:r>
          </a:p>
          <a:p>
            <a:r>
              <a:t>K19 — Sandbox internet access: https://kiro.dev/docs/web/sandbox/internet-access/</a:t>
            </a:r>
          </a:p>
          <a:p>
            <a:r>
              <a:t>K20 — Environment variables and secrets: https://kiro.dev/docs/web/sandbox/environment-variables/</a:t>
            </a:r>
          </a:p>
          <a:p>
            <a:r>
              <a:t>D11 — Release testing: https://docs.aws.amazon.com/devopsagent/latest/userguide/release-management-release-testing.html</a:t>
            </a:r>
          </a:p>
          <a:p>
            <a:r>
              <a:t>S10 — Security best practices: https://docs.aws.amazon.com/securityagent/latest/userguide/security-best-practices.html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14:30–16:00; allocated 01:30.</a:t>
            </a:r>
          </a:p>
          <a:p/>
          <a:p>
            <a:r>
              <a:t>MCP and the documented DevOps remote protocols can expose useful capabilities to clients. Repository and collaboration integrations provide other handoff paths. They still require their own identities, scopes and supported actions. There is no basis here to claim an out-of-the-box orchestrator across all four products. Start with a link or exported artifact, and automate only a documented interface whose failure modes the team can operate.</a:t>
            </a:r>
          </a:p>
          <a:p/>
          <a:p>
            <a:r>
              <a:t>Official evidence:</a:t>
            </a:r>
          </a:p>
          <a:p>
            <a:r>
              <a:t>D37 — DevOps Agent remote servers: https://docs.aws.amazon.com/devopsagent/latest/userguide/accessing-devops-agent-connecting-to-devops-agent-remote-servers-index.html</a:t>
            </a:r>
          </a:p>
          <a:p>
            <a:r>
              <a:t>D38 — Accessing DevOps Agent: https://docs.aws.amazon.com/devopsagent/latest/userguide/working-with-devops-agent-accessing-devops-agent-index.html</a:t>
            </a:r>
          </a:p>
          <a:p>
            <a:r>
              <a:t>K15 — Model Context Protocol: https://kiro.dev/docs/mcp/</a:t>
            </a:r>
          </a:p>
          <a:p>
            <a:r>
              <a:t>S26 — Code review from an IDE: https://docs.aws.amazon.com/securityagent/latest/userguide/code-review-ide-integration.html</a:t>
            </a:r>
          </a:p>
          <a:p>
            <a:r>
              <a:t>F13 — Jira integration: https://docs.aws.amazon.com/finops-agent/latest/userguide/jira-integration.html</a:t>
            </a:r>
          </a:p>
          <a:p>
            <a:r>
              <a:t>F14 — Slack integration: https://docs.aws.amazon.com/finops-agent/latest/userguide/slack-integration.html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16:00–18:00; allocated 02:00.</a:t>
            </a:r>
          </a:p>
          <a:p/>
          <a:p>
            <a:r>
              <a:t>The sample handoff is deliberately product-neutral. Keep the work-item ID, owner and original evidence references stable. Include the exact allowed effects and exclusions for the receiving task. The receiver must establish its own authorized access; a previous operator approval cannot be carried forward as permission to perform a different action. Capture missing evidence explicitly so the next specialist does not fill gaps with invented facts.</a:t>
            </a:r>
          </a:p>
          <a:p/>
          <a:p>
            <a:r>
              <a:t>Official evidence:</a:t>
            </a:r>
          </a:p>
          <a:p>
            <a:r>
              <a:t>D03 — Autonomous incident response: https://docs.aws.amazon.com/devopsagent/latest/userguide/production-operations-autonomous-incident-response.html</a:t>
            </a:r>
          </a:p>
          <a:p>
            <a:r>
              <a:t>K08 — Specifications: https://kiro.dev/docs/specs/</a:t>
            </a:r>
          </a:p>
          <a:p>
            <a:r>
              <a:t>S12 — Review penetration-test findings: https://docs.aws.amazon.com/securityagent/latest/userguide/review-penetration-findings.html</a:t>
            </a:r>
          </a:p>
          <a:p>
            <a:r>
              <a:t>F09 — Optimization recommendations: https://docs.aws.amazon.com/finops-agent/latest/userguide/optimization-recommendations.html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18:00–19:30; allocated 01:30.</a:t>
            </a:r>
          </a:p>
          <a:p/>
          <a:p>
            <a:r>
              <a:t>Asynchronous work needs an owner even when no one is watching the interface. Record retry or work limits and where to inspect the run state. A stopped client or CI job may not mean the server-side job has stopped, so verify termination and consumption. Review scheduled tasks periodically and disable those whose context or purpose has expired. The eight-minute demo is an exercise budget, not a promise about any job’s execution time.</a:t>
            </a:r>
          </a:p>
          <a:p/>
          <a:p>
            <a:r>
              <a:t>Official evidence:</a:t>
            </a:r>
          </a:p>
          <a:p>
            <a:r>
              <a:t>D06 — Custom Agents: https://docs.aws.amazon.com/devopsagent/latest/userguide/working-with-devops-agent-custom-agents-index.html</a:t>
            </a:r>
          </a:p>
          <a:p>
            <a:r>
              <a:t>K24 — Workflows: https://kiro.dev/docs/workflows/</a:t>
            </a:r>
          </a:p>
          <a:p>
            <a:r>
              <a:t>S28 — Run penetration tests from CI/CD: https://docs.aws.amazon.com/securityagent/latest/userguide/cicd-pentest.html</a:t>
            </a:r>
          </a:p>
          <a:p>
            <a:r>
              <a:t>F11 — Task management: https://docs.aws.amazon.com/finops-agent/latest/userguide/task-management.html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19:30–21:30; allocated 02:00.</a:t>
            </a:r>
          </a:p>
          <a:p/>
          <a:p>
            <a:r>
              <a:t>Independent verification does not always require another AI agent. It may be a source-system query, a known test, a human code review or a monitored deployment. Match the check to the promised result. A proposed root cause should explain source observations; code must pass relevant checks on the reviewed revision; a security fix must be deployed before revalidation; a cost explanation must reconcile to the same data scope. The team decides which checks are required for promotion.</a:t>
            </a:r>
          </a:p>
          <a:p/>
          <a:p>
            <a:r>
              <a:t>Official evidence:</a:t>
            </a:r>
          </a:p>
          <a:p>
            <a:r>
              <a:t>D03 — Autonomous incident response: https://docs.aws.amazon.com/devopsagent/latest/userguide/production-operations-autonomous-incident-response.html</a:t>
            </a:r>
          </a:p>
          <a:p>
            <a:r>
              <a:t>K09 — Built-in tools: https://kiro.dev/docs/tools/</a:t>
            </a:r>
          </a:p>
          <a:p>
            <a:r>
              <a:t>S14 — Revalidate findings: https://docs.aws.amazon.com/securityagent/latest/userguide/revalidate-findings.html</a:t>
            </a:r>
          </a:p>
          <a:p>
            <a:r>
              <a:t>F06 — Cost inquiry: https://docs.aws.amazon.com/finops-agent/latest/userguide/cost-inquiry.html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21:30–23:00; allocated 01:30.</a:t>
            </a:r>
          </a:p>
          <a:p/>
          <a:p>
            <a:r>
              <a:t>Keep authoritative records where their owners maintain them. The handoff links those records rather than flattening them into one untraceable narrative. Redact sensitive data before copying it to a wider audience, and retain version or time information. A summary may be useful for daily coordination, but reviewers should still be able to open the original investigation, commit, finding or cost query.</a:t>
            </a:r>
          </a:p>
          <a:p/>
          <a:p>
            <a:r>
              <a:t>Official evidence:</a:t>
            </a:r>
          </a:p>
          <a:p>
            <a:r>
              <a:t>D03 — Autonomous incident response: https://docs.aws.amazon.com/devopsagent/latest/userguide/production-operations-autonomous-incident-response.html</a:t>
            </a:r>
          </a:p>
          <a:p>
            <a:r>
              <a:t>K06 — GitHub integration: https://kiro.dev/docs/web/github/</a:t>
            </a:r>
          </a:p>
          <a:p>
            <a:r>
              <a:t>S14 — Revalidate findings: https://docs.aws.amazon.com/securityagent/latest/userguide/revalidate-findings.html</a:t>
            </a:r>
          </a:p>
          <a:p>
            <a:r>
              <a:t>F11 — Task management: https://docs.aws.amazon.com/finops-agent/latest/userguide/task-management.html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23:00–24:30; allocated 01:30.</a:t>
            </a:r>
          </a:p>
          <a:p/>
          <a:p>
            <a:r>
              <a:t>The team should record the product surface, feature maturity, service Region, inference behavior, retention and output destinations for the workflow it actually deploys. DevOps release preview has a more limited Region footprint than production operations. Kiro client capabilities and account rollout differ. Security capability maturity is mixed. FinOps remains preview with its documented US storage and inference boundaries. Do not use an organization-wide “AWS approved” label as a substitute for this feature-level review.</a:t>
            </a:r>
          </a:p>
          <a:p/>
          <a:p>
            <a:r>
              <a:t>Official evidence:</a:t>
            </a:r>
          </a:p>
          <a:p>
            <a:r>
              <a:t>D15 — Supported Regions: https://docs.aws.amazon.com/devopsagent/latest/userguide/about-aws-devops-agent-supported-regions.html</a:t>
            </a:r>
          </a:p>
          <a:p>
            <a:r>
              <a:t>K02 — Kiro Web: https://kiro.dev/docs/web/</a:t>
            </a:r>
          </a:p>
          <a:p>
            <a:r>
              <a:t>S05 — Pricing and billing: https://docs.aws.amazon.com/securityagent/latest/userguide/pricing.html</a:t>
            </a:r>
          </a:p>
          <a:p>
            <a:r>
              <a:t>S30 — Resilience and regional availability: https://docs.aws.amazon.com/securityagent/latest/userguide/resilience.html</a:t>
            </a:r>
          </a:p>
          <a:p>
            <a:r>
              <a:t>F16 — Cross-region inference: https://docs.aws.amazon.com/finops-agent/latest/userguide/cross-region-inference.html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24:30–32:30; allocated 08:00.</a:t>
            </a:r>
          </a:p>
          <a:p/>
          <a:p>
            <a:r>
              <a:t>The exercise tests the team’s operating model. Ask participants to identify the owner and stop condition at each handoff. Then introduce missing evidence or a request to expand scope and see whether the receiver stops. Security and cost work are conditional; not every incident needs all specialists. The final artifact is an accepted or rejected next action, not a claim that a new orchestrator has been built.</a:t>
            </a:r>
          </a:p>
          <a:p/>
          <a:p>
            <a:r>
              <a:t>Official evidence:</a:t>
            </a:r>
          </a:p>
          <a:p>
            <a:r>
              <a:t>D03 — Autonomous incident response: https://docs.aws.amazon.com/devopsagent/latest/userguide/production-operations-autonomous-incident-response.html</a:t>
            </a:r>
          </a:p>
          <a:p>
            <a:r>
              <a:t>K04 — Autonomous mode: https://kiro.dev/docs/web/autonomous-mode/</a:t>
            </a:r>
          </a:p>
          <a:p>
            <a:r>
              <a:t>S14 — Revalidate findings: https://docs.aws.amazon.com/securityagent/latest/userguide/revalidate-findings.html</a:t>
            </a:r>
          </a:p>
          <a:p>
            <a:r>
              <a:t>F09 — Optimization recommendations: https://docs.aws.amazon.com/finops-agent/latest/userguide/optimization-recommendations.html</a:t>
            </a:r>
          </a:p>
          <a:p/>
          <a:p>
            <a:r>
              <a:t>Preflight: Use the supplied illustrative handoff template and labeled rehearsal artifacts. No live cross-agent orchestration is required.</a:t>
            </a:r>
          </a:p>
          <a:p/>
          <a:p>
            <a:r>
              <a:t>Prompt: For the illustrative checkout incident, assemble an evidence-linked handoff with scope, owner, exact revision, allowed effects, exclusions and completion checks. Route code work to a reviewer-controlled PR. Add Security or FinOps assessment only when the issue requires it. Do not deploy or share credentials.</a:t>
            </a:r>
          </a:p>
          <a:p/>
          <a:p>
            <a:r>
              <a:t>Runbook:</a:t>
            </a:r>
          </a:p>
          <a:p>
            <a:r>
              <a:t>01:00 — Open the work contract: Confirm service, environment, evidence and owner.</a:t>
            </a:r>
          </a:p>
          <a:p>
            <a:r>
              <a:t>02:00 — Review operational evidence: Separate facts, candidate cause and missing data.</a:t>
            </a:r>
          </a:p>
          <a:p>
            <a:r>
              <a:t>02:00 — Inspect the coding handoff: Show the task contract, scoped diff and independent checks.</a:t>
            </a:r>
          </a:p>
          <a:p>
            <a:r>
              <a:t>02:00 — Choose conditional assurance: Add targeted security or cost work only when justified.</a:t>
            </a:r>
          </a:p>
          <a:p>
            <a:r>
              <a:t>01:00 — Record the decision: Name the release owner and required post-change verification.</a:t>
            </a:r>
          </a:p>
          <a:p/>
          <a:p>
            <a:r>
              <a:t>Success: Every transition carries evidence and a new task boundary; no transition carries implicit approval.</a:t>
            </a:r>
          </a:p>
          <a:p/>
          <a:p>
            <a:r>
              <a:t>Fallback: This tabletop is the default mode. A prepared recording may illustrate a real integration, but must be identified as replay.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32:30–34:30; allocated 02:00.</a:t>
            </a:r>
          </a:p>
          <a:p/>
          <a:p>
            <a:r>
              <a:t>Start with a manual evidence handoff and a small set of representative tasks. Verify actual denial of out-of-scope access and inspect failure recovery. Automate a connector only when the manual process has a clear owner and useful output. Measure accepted handoffs, missing evidence, approval violations, rework, consumption and closure quality. These are proposed operating metrics, not measured benefits from this documentation exercise.</a:t>
            </a:r>
          </a:p>
          <a:p/>
          <a:p>
            <a:r>
              <a:t>Official evidence:</a:t>
            </a:r>
          </a:p>
          <a:p>
            <a:r>
              <a:t>D13 — Working with directed actions: https://docs.aws.amazon.com/devopsagent/latest/userguide/working-with-devops-agent-working-with-directed-actions.html</a:t>
            </a:r>
          </a:p>
          <a:p>
            <a:r>
              <a:t>K06 — GitHub integration: https://kiro.dev/docs/web/github/</a:t>
            </a:r>
          </a:p>
          <a:p>
            <a:r>
              <a:t>S10 — Security best practices: https://docs.aws.amazon.com/securityagent/latest/userguide/security-best-practices.html</a:t>
            </a:r>
          </a:p>
          <a:p>
            <a:r>
              <a:t>F15 — Agent guardrail controls: 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34:30–36:00; allocated 01:30.</a:t>
            </a:r>
          </a:p>
          <a:p/>
          <a:p>
            <a:r>
              <a:t>Close with the architecture decision: standardize scope, evidence, handoff and verification, but keep product-specific controls explicit. There is no need to invent a shared memory or privilege layer to gain value from specialist tools. Adopt only the integrations the team can observe and stop. The detailed report below preserves all twelve patterns, the action matrix and the proposed workflow material for implementation planning.</a:t>
            </a:r>
          </a:p>
          <a:p/>
          <a:p>
            <a:r>
              <a:t>Official evidence:</a:t>
            </a:r>
          </a:p>
          <a:p>
            <a:r>
              <a:t>D13 — Working with directed actions: https://docs.aws.amazon.com/devopsagent/latest/userguide/working-with-devops-agent-working-with-directed-actions.html</a:t>
            </a:r>
          </a:p>
          <a:p>
            <a:r>
              <a:t>K02 — Kiro Web: https://kiro.dev/docs/web/</a:t>
            </a:r>
          </a:p>
          <a:p>
            <a:r>
              <a:t>S10 — Security best practices: https://docs.aws.amazon.com/securityagent/latest/userguide/security-best-practices.html</a:t>
            </a:r>
          </a:p>
          <a:p>
            <a:r>
              <a:t>F15 — Agent guardrail controls: 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D01 — About AWS DevOps Agent: https://docs.aws.amazon.com/devopsagent/latest/userguide/about-aws-devops-agent.html</a:t>
            </a:r>
          </a:p>
          <a:p>
            <a:r>
              <a:t>D05 — Limiting Agent Access in an AWS Account: https://docs.aws.amazon.com/devopsagent/latest/userguide/aws-devops-agent-security-limiting-agent-access-in-an-aws-account.html</a:t>
            </a:r>
          </a:p>
          <a:p>
            <a:r>
              <a:t>K02 — GitHub integration: https://kiro.dev/docs/web/github/</a:t>
            </a:r>
          </a:p>
          <a:p>
            <a:r>
              <a:t>K03 — Cloud sandbox: https://kiro.dev/docs/web/sandbox/</a:t>
            </a:r>
          </a:p>
          <a:p>
            <a:r>
              <a:t>S02 — Set up AWS Security Agent: https://docs.aws.amazon.com/securityagent/latest/userguide/setup-security-agent.html</a:t>
            </a:r>
          </a:p>
          <a:p>
            <a:r>
              <a:t>S03 — Create a penetration test: https://docs.aws.amazon.com/securityagent/latest/userguide/perform-penetration-test.html</a:t>
            </a:r>
          </a:p>
          <a:p>
            <a:r>
              <a:t>F01 — Creating an agent: https://docs.aws.amazon.com/finops-agent/latest/userguide/creating-an-agent.html</a:t>
            </a:r>
          </a:p>
          <a:p>
            <a:r>
              <a:t>F02 — IAM setup guide: https://docs.aws.amazon.com/finops-agent/latest/userguide/setting-up.html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D02 — Production operations: https://docs.aws.amazon.com/devopsagent/latest/userguide/working-with-devops-agent-production-operations-index.html</a:t>
            </a:r>
          </a:p>
          <a:p>
            <a:r>
              <a:t>K11 — Specifications: https://kiro.dev/docs/specs/</a:t>
            </a:r>
          </a:p>
          <a:p>
            <a:r>
              <a:t>K02 — GitHub integration: https://kiro.dev/docs/web/github/</a:t>
            </a:r>
          </a:p>
          <a:p>
            <a:r>
              <a:t>S03 — Create a penetration test: https://docs.aws.amazon.com/securityagent/latest/userguide/perform-penetration-test.html</a:t>
            </a:r>
          </a:p>
          <a:p>
            <a:r>
              <a:t>F09 — Asking about costs: https://docs.aws.amazon.com/finops-agent/latest/userguide/cost-inquiry.html</a:t>
            </a:r>
          </a:p>
          <a:p>
            <a:r>
              <a:t>F04 — Context files and memory: https://docs.aws.amazon.com/finops-agent/latest/userguide/context-files-and-memory.html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D03 — Custom Agents: https://docs.aws.amazon.com/devopsagent/latest/userguide/working-with-devops-agent-custom-agents-index.html</a:t>
            </a:r>
          </a:p>
          <a:p>
            <a:r>
              <a:t>K07 — Steering: https://kiro.dev/docs/steering/</a:t>
            </a:r>
          </a:p>
          <a:p>
            <a:r>
              <a:t>K08 — Memory: https://kiro.dev/docs/memory/</a:t>
            </a:r>
          </a:p>
          <a:p>
            <a:r>
              <a:t>K04 — Permissions: https://kiro.dev/docs/permissions/</a:t>
            </a:r>
          </a:p>
          <a:p>
            <a:r>
              <a:t>S09 — Manage security requirements: https://docs.aws.amazon.com/securityagent/latest/userguide/security-requirements.html</a:t>
            </a:r>
          </a:p>
          <a:p>
            <a:r>
              <a:t>S13 — Pricing and billing: https://docs.aws.amazon.com/securityagent/latest/userguide/pricing.html</a:t>
            </a:r>
          </a:p>
          <a:p>
            <a:r>
              <a:t>S02 — Set up AWS Security Agent: https://docs.aws.amazon.com/securityagent/latest/userguide/setup-security-agent.html</a:t>
            </a:r>
          </a:p>
          <a:p>
            <a:r>
              <a:t>F04 — Context files and memory: https://docs.aws.amazon.com/finops-agent/latest/userguide/context-files-and-memory.html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D02 — Production operations: https://docs.aws.amazon.com/devopsagent/latest/userguide/working-with-devops-agent-production-operations-index.html</a:t>
            </a:r>
          </a:p>
          <a:p>
            <a:r>
              <a:t>D03 — Custom Agents: https://docs.aws.amazon.com/devopsagent/latest/userguide/working-with-devops-agent-custom-agents-index.html</a:t>
            </a:r>
          </a:p>
          <a:p>
            <a:r>
              <a:t>K09 — Automations: https://kiro.dev/docs/web/automations/</a:t>
            </a:r>
          </a:p>
          <a:p>
            <a:r>
              <a:t>K02 — GitHub integration: https://kiro.dev/docs/web/github/</a:t>
            </a:r>
          </a:p>
          <a:p>
            <a:r>
              <a:t>S03 — Create a penetration test: https://docs.aws.amazon.com/securityagent/latest/userguide/perform-penetration-test.html</a:t>
            </a:r>
          </a:p>
          <a:p>
            <a:r>
              <a:t>S11 — Scoped-pentest GitHub Actions tutorial: https://docs.aws.amazon.com/securityagent/latest/userguide/sample-cicd-github.html</a:t>
            </a:r>
          </a:p>
          <a:p>
            <a:r>
              <a:t>F05 — Task management: https://docs.aws.amazon.com/finops-agent/latest/userguide/task-management.html</a:t>
            </a:r>
          </a:p>
          <a:p>
            <a:r>
              <a:t>F08 — Event-triggered cost anomaly investigation: https://docs.aws.amazon.com/finops-agent/latest/userguide/automated-anomaly-response.html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D04 — Working with directed actions: https://docs.aws.amazon.com/devopsagent/latest/userguide/working-with-devops-agent-working-with-directed-actions.html</a:t>
            </a:r>
          </a:p>
          <a:p>
            <a:r>
              <a:t>D05 — Limiting Agent Access in an AWS Account: https://docs.aws.amazon.com/devopsagent/latest/userguide/aws-devops-agent-security-limiting-agent-access-in-an-aws-account.html</a:t>
            </a:r>
          </a:p>
          <a:p>
            <a:r>
              <a:t>K04 — Permissions: https://kiro.dev/docs/permissions/</a:t>
            </a:r>
          </a:p>
          <a:p>
            <a:r>
              <a:t>S03 — Create a penetration test: https://docs.aws.amazon.com/securityagent/latest/userguide/perform-penetration-test.html</a:t>
            </a:r>
          </a:p>
          <a:p>
            <a:r>
              <a:t>S04 — Security best practices: https://docs.aws.amazon.com/securityagent/latest/userguide/security-best-practices.html</a:t>
            </a:r>
          </a:p>
          <a:p>
            <a:r>
              <a:t>F03 — Agent guardrail controls: https://docs.aws.amazon.com/finops-agent/latest/userguide/agent-guardrail-control.html</a:t>
            </a:r>
          </a:p>
          <a:p>
            <a:r>
              <a:t>F05 — Task management: https://docs.aws.amazon.com/finops-agent/latest/userguide/task-management.html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D08 — Release testing: https://docs.aws.amazon.com/devopsagent/latest/userguide/release-management-release-testing.html</a:t>
            </a:r>
          </a:p>
          <a:p>
            <a:r>
              <a:t>D09 — Supported Regions: https://docs.aws.amazon.com/devopsagent/latest/userguide/about-aws-devops-agent-supported-regions.html</a:t>
            </a:r>
          </a:p>
          <a:p>
            <a:r>
              <a:t>K03 — Cloud sandbox: https://kiro.dev/docs/web/sandbox/</a:t>
            </a:r>
          </a:p>
          <a:p>
            <a:r>
              <a:t>K05 — Sandbox internet access: https://kiro.dev/docs/web/sandbox/internet-access/</a:t>
            </a:r>
          </a:p>
          <a:p>
            <a:r>
              <a:t>K06 — Sandbox environment variables and secrets: https://kiro.dev/docs/web/sandbox/environment-variables/</a:t>
            </a:r>
          </a:p>
          <a:p>
            <a:r>
              <a:t>S04 — Security best practices: https://docs.aws.amazon.com/securityagent/latest/userguide/security-best-practices.html</a:t>
            </a:r>
          </a:p>
          <a:p>
            <a:r>
              <a:t>F01 — Creating an agent: https://docs.aws.amazon.com/finops-agent/latest/userguide/creating-an-agent.html</a:t>
            </a:r>
          </a:p>
          <a:p>
            <a:r>
              <a:t>F03 — Agent guardrail controls: 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D06 — Accessing DevOps Agent: https://docs.aws.amazon.com/devopsagent/latest/userguide/working-with-devops-agent-accessing-devops-agent-index.html</a:t>
            </a:r>
          </a:p>
          <a:p>
            <a:r>
              <a:t>D07 — Connecting to the DevOps Agent MCP server: https://docs.aws.amazon.com/devopsagent/latest/userguide/connecting-to-devops-agent-remote-servers-connecting-to-the-devops-agent-mcp-server.html</a:t>
            </a:r>
          </a:p>
          <a:p>
            <a:r>
              <a:t>K10 — Model Context Protocol: https://kiro.dev/docs/mcp/</a:t>
            </a:r>
          </a:p>
          <a:p>
            <a:r>
              <a:t>S08 — Run code security scans from your IDE: https://docs.aws.amazon.com/securityagent/latest/userguide/code-review-ide-integration.html</a:t>
            </a:r>
          </a:p>
          <a:p>
            <a:r>
              <a:t>S13 — Pricing and billing: https://docs.aws.amazon.com/securityagent/latest/userguide/pricing.html</a:t>
            </a:r>
          </a:p>
          <a:p>
            <a:r>
              <a:t>F10 — Jira integration: https://docs.aws.amazon.com/finops-agent/latest/userguide/jira-integration.html</a:t>
            </a:r>
          </a:p>
          <a:p>
            <a:r>
              <a:t>F11 — Slack integration: https://docs.aws.amazon.com/finops-agent/latest/userguide/slack-integration.html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D10 — Proactive incident prevention: https://docs.aws.amazon.com/devopsagent/latest/userguide/production-operations-proactive-incident-prevention.html</a:t>
            </a:r>
          </a:p>
          <a:p>
            <a:r>
              <a:t>K12 — Autonomous mode: https://kiro.dev/docs/web/autonomous-mode/</a:t>
            </a:r>
          </a:p>
          <a:p>
            <a:r>
              <a:t>K11 — Specifications: https://kiro.dev/docs/specs/</a:t>
            </a:r>
          </a:p>
          <a:p>
            <a:r>
              <a:t>S05 — Review penetration-test findings: https://docs.aws.amazon.com/securityagent/latest/userguide/review-penetration-findings.html</a:t>
            </a:r>
          </a:p>
          <a:p>
            <a:r>
              <a:t>S07 — Enable finding remediation: https://docs.aws.amazon.com/securityagent/latest/userguide/enable-remediate-findings.html</a:t>
            </a:r>
          </a:p>
          <a:p>
            <a:r>
              <a:t>F07 — Optimization recommendations: https://docs.aws.amazon.com/finops-agent/latest/userguide/optimization-recommendations.html</a:t>
            </a:r>
          </a:p>
          <a:p>
            <a:r>
              <a:t>F10 — Jira integration: https://docs.aws.amazon.com/finops-agent/latest/userguide/jira-integration.html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D03 — Custom Agents: https://docs.aws.amazon.com/devopsagent/latest/userguide/working-with-devops-agent-custom-agents-index.html</a:t>
            </a:r>
          </a:p>
          <a:p>
            <a:r>
              <a:t>K12 — Autonomous mode: https://kiro.dev/docs/web/autonomous-mode/</a:t>
            </a:r>
          </a:p>
          <a:p>
            <a:r>
              <a:t>K02 — GitHub integration: https://kiro.dev/docs/web/github/</a:t>
            </a:r>
          </a:p>
          <a:p>
            <a:r>
              <a:t>S03 — Create a penetration test: https://docs.aws.amazon.com/securityagent/latest/userguide/perform-penetration-test.html</a:t>
            </a:r>
          </a:p>
          <a:p>
            <a:r>
              <a:t>S10 — Run penetration tests from CI/CD: https://docs.aws.amazon.com/securityagent/latest/userguide/cicd-pentest.html</a:t>
            </a:r>
          </a:p>
          <a:p>
            <a:r>
              <a:t>S13 — Pricing and billing: https://docs.aws.amazon.com/securityagent/latest/userguide/pricing.html</a:t>
            </a:r>
          </a:p>
          <a:p>
            <a:r>
              <a:t>F05 — Task management: https://docs.aws.amazon.com/finops-agent/latest/userguide/task-management.html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D11 — Autonomous incident response: https://docs.aws.amazon.com/devopsagent/latest/userguide/production-operations-autonomous-incident-response.html</a:t>
            </a:r>
          </a:p>
          <a:p>
            <a:r>
              <a:t>K01 — Kiro Web: https://kiro.dev/docs/web/</a:t>
            </a:r>
          </a:p>
          <a:p>
            <a:r>
              <a:t>K02 — GitHub integration: https://kiro.dev/docs/web/github/</a:t>
            </a:r>
          </a:p>
          <a:p>
            <a:r>
              <a:t>S04 — Security best practices: https://docs.aws.amazon.com/securityagent/latest/userguide/security-best-practices.html</a:t>
            </a:r>
          </a:p>
          <a:p>
            <a:r>
              <a:t>S06 — Revalidate findings: https://docs.aws.amazon.com/securityagent/latest/userguide/revalidate-findings.html</a:t>
            </a:r>
          </a:p>
          <a:p>
            <a:r>
              <a:t>F03 — Agent guardrail controls: https://docs.aws.amazon.com/finops-agent/latest/userguide/agent-guardrail-control.html</a:t>
            </a:r>
          </a:p>
          <a:p>
            <a:r>
              <a:t>F07 — Optimization recommendations: https://docs.aws.amazon.com/finops-agent/latest/userguide/optimization-recommendations.html</a:t>
            </a:r>
          </a:p>
          <a:p>
            <a:r>
              <a:t>F09 — Asking about costs: https://docs.aws.amazon.com/finops-agent/latest/userguide/cost-inquiry.html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D04 — Working with directed actions: https://docs.aws.amazon.com/devopsagent/latest/userguide/working-with-devops-agent-working-with-directed-actions.html</a:t>
            </a:r>
          </a:p>
          <a:p>
            <a:r>
              <a:t>D03 — Custom Agents: https://docs.aws.amazon.com/devopsagent/latest/userguide/working-with-devops-agent-custom-agents-index.html</a:t>
            </a:r>
          </a:p>
          <a:p>
            <a:r>
              <a:t>K12 — Autonomous mode: https://kiro.dev/docs/web/autonomous-mode/</a:t>
            </a:r>
          </a:p>
          <a:p>
            <a:r>
              <a:t>K02 — GitHub integration: https://kiro.dev/docs/web/github/</a:t>
            </a:r>
          </a:p>
          <a:p>
            <a:r>
              <a:t>S05 — Review penetration-test findings: https://docs.aws.amazon.com/securityagent/latest/userguide/review-penetration-findings.html</a:t>
            </a:r>
          </a:p>
          <a:p>
            <a:r>
              <a:t>S06 — Revalidate findings: https://docs.aws.amazon.com/securityagent/latest/userguide/revalidate-findings.html</a:t>
            </a:r>
          </a:p>
          <a:p>
            <a:r>
              <a:t>F05 — Task management: https://docs.aws.amazon.com/finops-agent/latest/userguide/task-management.html</a:t>
            </a:r>
          </a:p>
          <a:p>
            <a:r>
              <a:t>F09 — Asking about costs: https://docs.aws.amazon.com/finops-agent/latest/userguide/cost-inquiry.html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D09 — Supported Regions: https://docs.aws.amazon.com/devopsagent/latest/userguide/about-aws-devops-agent-supported-regions.html</a:t>
            </a:r>
          </a:p>
          <a:p>
            <a:r>
              <a:t>K01 — Kiro Web: https://kiro.dev/docs/web/</a:t>
            </a:r>
          </a:p>
          <a:p>
            <a:r>
              <a:t>S12 — Resilience and regional availability: https://docs.aws.amazon.com/securityagent/latest/userguide/resilience.html</a:t>
            </a:r>
          </a:p>
          <a:p>
            <a:r>
              <a:t>F06 — Cross-region inference: https://docs.aws.amazon.com/finops-agent/latest/userguide/cross-region-inference.html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36:00–36:00; allocated 00:00.</a:t>
            </a:r>
          </a:p>
          <a:p/>
          <a:p>
            <a:r>
              <a:t>This appendix is outside the timed session. All source URLs are listed below and in the relevant slide notes. No live workflow or measured benefit is claimed.</a:t>
            </a:r>
          </a:p>
          <a:p/>
          <a:p>
            <a:r>
              <a:t>Official evidence:</a:t>
            </a:r>
          </a:p>
          <a:p>
            <a:r>
              <a:t>D01 — About AWS DevOps Agent: https://docs.aws.amazon.com/devopsagent/latest/userguide/about-aws-devops-agent.html</a:t>
            </a:r>
          </a:p>
          <a:p>
            <a:r>
              <a:t>D03 — Autonomous incident response: https://docs.aws.amazon.com/devopsagent/latest/userguide/production-operations-autonomous-incident-response.html</a:t>
            </a:r>
          </a:p>
          <a:p>
            <a:r>
              <a:t>D04 — Proactive incident prevention: https://docs.aws.amazon.com/devopsagent/latest/userguide/production-operations-proactive-incident-prevention.html</a:t>
            </a:r>
          </a:p>
          <a:p>
            <a:r>
              <a:t>D06 — Custom Agents: https://docs.aws.amazon.com/devopsagent/latest/userguide/working-with-devops-agent-custom-agents-index.html</a:t>
            </a:r>
          </a:p>
          <a:p>
            <a:r>
              <a:t>D11 — Release testing: https://docs.aws.amazon.com/devopsagent/latest/userguide/release-management-release-testing.html</a:t>
            </a:r>
          </a:p>
          <a:p>
            <a:r>
              <a:t>D13 — Working with directed actions: https://docs.aws.amazon.com/devopsagent/latest/userguide/working-with-devops-agent-working-with-directed-actions.html</a:t>
            </a:r>
          </a:p>
          <a:p>
            <a:r>
              <a:t>D15 — Supported Regions: https://docs.aws.amazon.com/devopsagent/latest/userguide/about-aws-devops-agent-supported-regions.html</a:t>
            </a:r>
          </a:p>
          <a:p>
            <a:r>
              <a:t>D34 — Limiting Agent Access in an AWS Account: https://docs.aws.amazon.com/devopsagent/latest/userguide/aws-devops-agent-security-limiting-agent-access-in-an-aws-account.html</a:t>
            </a:r>
          </a:p>
          <a:p>
            <a:r>
              <a:t>D37 — DevOps Agent remote servers: https://docs.aws.amazon.com/devopsagent/latest/userguide/accessing-devops-agent-connecting-to-devops-agent-remote-servers-index.html</a:t>
            </a:r>
          </a:p>
          <a:p>
            <a:r>
              <a:t>D38 — Accessing DevOps Agent: https://docs.aws.amazon.com/devopsagent/latest/userguide/working-with-devops-agent-accessing-devops-agent-index.html</a:t>
            </a:r>
          </a:p>
          <a:p>
            <a:r>
              <a:t>F03 — Create an agent: https://docs.aws.amazon.com/finops-agent/latest/userguide/creating-an-agent.html</a:t>
            </a:r>
          </a:p>
          <a:p>
            <a:r>
              <a:t>F06 — Cost inquiry: https://docs.aws.amazon.com/finops-agent/latest/userguide/cost-inquiry.html</a:t>
            </a:r>
          </a:p>
          <a:p>
            <a:r>
              <a:t>F07 — Cost anomaly investigation: https://docs.aws.amazon.com/finops-agent/latest/userguide/cost-anomaly-detection.html</a:t>
            </a:r>
          </a:p>
          <a:p>
            <a:r>
              <a:t>F09 — Optimization recommendations: https://docs.aws.amazon.com/finops-agent/latest/userguide/optimization-recommendations.html</a:t>
            </a:r>
          </a:p>
          <a:p>
            <a:r>
              <a:t>F11 — Task management: https://docs.aws.amazon.com/finops-agent/latest/userguide/task-management.html</a:t>
            </a:r>
          </a:p>
          <a:p>
            <a:r>
              <a:t>F12 — Context files and memory: https://docs.aws.amazon.com/finops-agent/latest/userguide/context-files-and-memory.html</a:t>
            </a:r>
          </a:p>
          <a:p>
            <a:r>
              <a:t>F13 — Jira integration: https://docs.aws.amazon.com/finops-agent/latest/userguide/jira-integration.html</a:t>
            </a:r>
          </a:p>
          <a:p>
            <a:r>
              <a:t>F14 — Slack integration: https://docs.aws.amazon.com/finops-agent/latest/userguide/slack-integration.html</a:t>
            </a:r>
          </a:p>
          <a:p>
            <a:r>
              <a:t>F15 — Agent guardrail controls: https://docs.aws.amazon.com/finops-agent/latest/userguide/agent-guardrail-control.html</a:t>
            </a:r>
          </a:p>
          <a:p>
            <a:r>
              <a:t>F16 — Cross-region inference: https://docs.aws.amazon.com/finops-agent/latest/userguide/cross-region-inference.html</a:t>
            </a:r>
          </a:p>
          <a:p>
            <a:r>
              <a:t>K02 — Kiro Web: https://kiro.dev/docs/web/</a:t>
            </a:r>
          </a:p>
          <a:p>
            <a:r>
              <a:t>K03 — Working with the agent: https://kiro.dev/docs/web/using-the-agent/</a:t>
            </a:r>
          </a:p>
          <a:p>
            <a:r>
              <a:t>K04 — Autonomous mode: https://kiro.dev/docs/web/autonomous-mode/</a:t>
            </a:r>
          </a:p>
          <a:p>
            <a:r>
              <a:t>K06 — GitHub integration: https://kiro.dev/docs/web/github/</a:t>
            </a:r>
          </a:p>
          <a:p>
            <a:r>
              <a:t>K08 — Specifications: https://kiro.dev/docs/specs/</a:t>
            </a:r>
          </a:p>
          <a:p>
            <a:r>
              <a:t>K09 — Built-in tools: https://kiro.dev/docs/tools/</a:t>
            </a:r>
          </a:p>
          <a:p>
            <a:r>
              <a:t>K10 — Cloud sandbox: https://kiro.dev/docs/web/sandbox/</a:t>
            </a:r>
          </a:p>
          <a:p>
            <a:r>
              <a:t>K13 — Steering: https://kiro.dev/docs/steering/</a:t>
            </a:r>
          </a:p>
          <a:p>
            <a:r>
              <a:t>K14 — Memory: https://kiro.dev/docs/memory/</a:t>
            </a:r>
          </a:p>
          <a:p>
            <a:r>
              <a:t>K15 — Model Context Protocol: https://kiro.dev/docs/mcp/</a:t>
            </a:r>
          </a:p>
          <a:p>
            <a:r>
              <a:t>K19 — Sandbox internet access: https://kiro.dev/docs/web/sandbox/internet-access/</a:t>
            </a:r>
          </a:p>
          <a:p>
            <a:r>
              <a:t>K20 — Environment variables and secrets: https://kiro.dev/docs/web/sandbox/environment-variables/</a:t>
            </a:r>
          </a:p>
          <a:p>
            <a:r>
              <a:t>K24 — Workflows: https://kiro.dev/docs/workflows/</a:t>
            </a:r>
          </a:p>
          <a:p>
            <a:r>
              <a:t>S04 — What is AWS Security Agent?: https://docs.aws.amazon.com/securityagent/latest/userguide/what-is.html</a:t>
            </a:r>
          </a:p>
          <a:p>
            <a:r>
              <a:t>S05 — Pricing and billing: https://docs.aws.amazon.com/securityagent/latest/userguide/pricing.html</a:t>
            </a:r>
          </a:p>
          <a:p>
            <a:r>
              <a:t>S08 — Create a penetration test: https://docs.aws.amazon.com/securityagent/latest/userguide/perform-penetration-test.html</a:t>
            </a:r>
          </a:p>
          <a:p>
            <a:r>
              <a:t>S10 — Security best practices: https://docs.aws.amazon.com/securityagent/latest/userguide/security-best-practices.html</a:t>
            </a:r>
          </a:p>
          <a:p>
            <a:r>
              <a:t>S12 — Review penetration-test findings: https://docs.aws.amazon.com/securityagent/latest/userguide/review-penetration-findings.html</a:t>
            </a:r>
          </a:p>
          <a:p>
            <a:r>
              <a:t>S14 — Revalidate findings: https://docs.aws.amazon.com/securityagent/latest/userguide/revalidate-findings.html</a:t>
            </a:r>
          </a:p>
          <a:p>
            <a:r>
              <a:t>S26 — Code review from an IDE: https://docs.aws.amazon.com/securityagent/latest/userguide/code-review-ide-integration.html</a:t>
            </a:r>
          </a:p>
          <a:p>
            <a:r>
              <a:t>S28 — Run penetration tests from CI/CD: https://docs.aws.amazon.com/securityagent/latest/userguide/cicd-pentest.html</a:t>
            </a:r>
          </a:p>
          <a:p>
            <a:r>
              <a:t>S30 — Resilience and regional availability: https://docs.aws.amazon.com/securityagent/latest/userguide/resilience.html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docs.aws.amazon.com/devopsagent/latest/userguide/about-aws-devops-agent.html" TargetMode="External"/><Relationship Id="rId4" Type="http://schemas.openxmlformats.org/officeDocument/2006/relationships/hyperlink" Target="https://docs.aws.amazon.com/devopsagent/latest/userguide/production-operations-autonomous-incident-response.html" TargetMode="External"/><Relationship Id="rId5" Type="http://schemas.openxmlformats.org/officeDocument/2006/relationships/hyperlink" Target="https://docs.aws.amazon.com/devopsagent/latest/userguide/production-operations-proactive-incident-prevention.html" TargetMode="External"/><Relationship Id="rId6" Type="http://schemas.openxmlformats.org/officeDocument/2006/relationships/hyperlink" Target="https://docs.aws.amazon.com/devopsagent/latest/userguide/working-with-devops-agent-custom-agents-index.html" TargetMode="External"/><Relationship Id="rId7" Type="http://schemas.openxmlformats.org/officeDocument/2006/relationships/hyperlink" Target="https://docs.aws.amazon.com/devopsagent/latest/userguide/release-management-release-testing.html" TargetMode="External"/><Relationship Id="rId8" Type="http://schemas.openxmlformats.org/officeDocument/2006/relationships/hyperlink" Target="https://docs.aws.amazon.com/devopsagent/latest/userguide/working-with-devops-agent-working-with-directed-actions.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POSITION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Common architectural patterns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Common task records do not imply shared permissions across products.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00:00–01:00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D01, K02, S04, F03</a:t>
            </a:r>
          </a:p>
        </p:txBody>
      </p:sp>
      <p:sp>
        <p:nvSpPr>
          <p:cNvPr id="10" name="Rounded Rectangle 9"/>
          <p:cNvSpPr/>
          <p:nvPr/>
        </p:nvSpPr>
        <p:spPr>
          <a:xfrm>
            <a:off x="502920" y="2331720"/>
            <a:ext cx="11183112" cy="960120"/>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96896"/>
            <a:ext cx="10698480" cy="411480"/>
          </a:xfrm>
          <a:prstGeom prst="rect">
            <a:avLst/>
          </a:prstGeom>
          <a:noFill/>
        </p:spPr>
        <p:txBody>
          <a:bodyPr wrap="square" lIns="0" rIns="0" tIns="0" bIns="0" anchor="t">
            <a:spAutoFit/>
          </a:bodyPr>
          <a:lstStyle/>
          <a:p>
            <a:pPr>
              <a:lnSpc>
                <a:spcPct val="112000"/>
              </a:lnSpc>
              <a:spcAft>
                <a:spcPts val="300"/>
              </a:spcAft>
              <a:defRPr sz="2500" b="1">
                <a:solidFill>
                  <a:srgbClr val="FFFFFF"/>
                </a:solidFill>
                <a:latin typeface="Arial"/>
              </a:defRPr>
            </a:pPr>
            <a:r>
              <a:t>Scope → context → plan → authorized effect → verified handoff</a:t>
            </a:r>
          </a:p>
        </p:txBody>
      </p:sp>
      <p:sp>
        <p:nvSpPr>
          <p:cNvPr id="12" name="Rounded Rectangle 11"/>
          <p:cNvSpPr/>
          <p:nvPr/>
        </p:nvSpPr>
        <p:spPr>
          <a:xfrm>
            <a:off x="502920"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285D9C"/>
                </a:solidFill>
                <a:latin typeface="Arial"/>
              </a:defRPr>
            </a:pPr>
            <a:r>
              <a:t>36 min</a:t>
            </a:r>
          </a:p>
        </p:txBody>
      </p:sp>
      <p:sp>
        <p:nvSpPr>
          <p:cNvPr id="14" name="TextBox 13"/>
          <p:cNvSpPr txBox="1"/>
          <p:nvPr/>
        </p:nvSpPr>
        <p:spPr>
          <a:xfrm>
            <a:off x="704088"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session, including exercise</a:t>
            </a:r>
          </a:p>
        </p:txBody>
      </p:sp>
      <p:sp>
        <p:nvSpPr>
          <p:cNvPr id="15" name="Rounded Rectangle 14"/>
          <p:cNvSpPr/>
          <p:nvPr/>
        </p:nvSpPr>
        <p:spPr>
          <a:xfrm>
            <a:off x="4288536"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3"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285D9C"/>
                </a:solidFill>
                <a:latin typeface="Arial"/>
              </a:defRPr>
            </a:pPr>
            <a:r>
              <a:t>8 min</a:t>
            </a:r>
          </a:p>
        </p:txBody>
      </p:sp>
      <p:sp>
        <p:nvSpPr>
          <p:cNvPr id="17" name="TextBox 16"/>
          <p:cNvSpPr txBox="1"/>
          <p:nvPr/>
        </p:nvSpPr>
        <p:spPr>
          <a:xfrm>
            <a:off x="4489703"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handoff tabletop demo</a:t>
            </a:r>
          </a:p>
        </p:txBody>
      </p:sp>
      <p:sp>
        <p:nvSpPr>
          <p:cNvPr id="18" name="Rounded Rectangle 17"/>
          <p:cNvSpPr/>
          <p:nvPr/>
        </p:nvSpPr>
        <p:spPr>
          <a:xfrm>
            <a:off x="8074152"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285D9C"/>
                </a:solidFill>
                <a:latin typeface="Arial"/>
              </a:defRPr>
            </a:pPr>
            <a:r>
              <a:t>4 agents</a:t>
            </a:r>
          </a:p>
        </p:txBody>
      </p:sp>
      <p:sp>
        <p:nvSpPr>
          <p:cNvPr id="20" name="TextBox 19"/>
          <p:cNvSpPr txBox="1"/>
          <p:nvPr/>
        </p:nvSpPr>
        <p:spPr>
          <a:xfrm>
            <a:off x="8275320" y="4553712"/>
            <a:ext cx="3200400" cy="338328"/>
          </a:xfrm>
          <a:prstGeom prst="rect">
            <a:avLst/>
          </a:prstGeom>
          <a:noFill/>
        </p:spPr>
        <p:txBody>
          <a:bodyPr wrap="square" lIns="0" rIns="0" tIns="0" bIns="0" anchor="t">
            <a:spAutoFit/>
          </a:bodyPr>
          <a:lstStyle/>
          <a:p>
            <a:pPr>
              <a:lnSpc>
                <a:spcPct val="112000"/>
              </a:lnSpc>
              <a:spcAft>
                <a:spcPts val="300"/>
              </a:spcAft>
              <a:defRPr sz="1650" b="0">
                <a:solidFill>
                  <a:srgbClr val="182B43"/>
                </a:solidFill>
                <a:latin typeface="Arial"/>
              </a:defRPr>
            </a:pPr>
            <a:r>
              <a:t>distinct execution boundaries</a:t>
            </a:r>
          </a:p>
        </p:txBody>
      </p:sp>
      <p:sp>
        <p:nvSpPr>
          <p:cNvPr id="21" name="TextBox 20"/>
          <p:cNvSpPr txBox="1"/>
          <p:nvPr/>
        </p:nvSpPr>
        <p:spPr>
          <a:xfrm>
            <a:off x="521207" y="5504688"/>
            <a:ext cx="11064240" cy="530352"/>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Team-level synthesis of documented mechanisms. Not an AWS shared runtime, unified permission model or implemented multi-agent orchestrator.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POSITION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Different agent functions require separate authorities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Assign work by the evidence and result needed, not by a generic “agent” label.</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01:00–02:30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K04, S12, F07</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Specialist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Useful daily input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Reviewable result</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DevOps Agent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Incident window and operational context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Investigation, mitigation or prevention evidence</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Kiro</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Bounded change and repository context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Spec, diff, tests and PR/MR</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Security Agent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Authorized target or design/source scope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Findings, proposed repair and reassessment</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FinOps Agent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Cost scope and ownership context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Reconciled explanation and cost-work handoff</a:t>
                      </a:r>
                    </a:p>
                  </a:txBody>
                  <a:tcPr marL="128016" marR="128016" marT="82296" marB="54864">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USE CASE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800" b="1">
                <a:solidFill>
                  <a:srgbClr val="182B43"/>
                </a:solidFill>
                <a:latin typeface="Arial"/>
              </a:defRPr>
            </a:pPr>
            <a:r>
              <a:t>Define task scope, effects and acceptance in a work contract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task is ready when its owner, scope, allowed effects and done condition are explicit.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03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02:30–04:00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K08, S08, F11</a:t>
            </a:r>
          </a:p>
        </p:txBody>
      </p:sp>
      <p:sp>
        <p:nvSpPr>
          <p:cNvPr id="10" name="Rounded Rectangle 9"/>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WHY NOW</a:t>
            </a:r>
          </a:p>
        </p:txBody>
      </p:sp>
      <p:sp>
        <p:nvSpPr>
          <p:cNvPr id="12" name="TextBox 11"/>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Trigger</a:t>
            </a:r>
          </a:p>
        </p:txBody>
      </p:sp>
      <p:sp>
        <p:nvSpPr>
          <p:cNvPr id="13" name="TextBox 12"/>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Incident, issue, finding, cost anomaly or review cadence.</a:t>
            </a:r>
          </a:p>
        </p:txBody>
      </p:sp>
      <p:sp>
        <p:nvSpPr>
          <p:cNvPr id="14" name="Rounded Rectangle 13"/>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WHERE</a:t>
            </a:r>
          </a:p>
        </p:txBody>
      </p:sp>
      <p:sp>
        <p:nvSpPr>
          <p:cNvPr id="16" name="TextBox 15"/>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Scope</a:t>
            </a:r>
          </a:p>
        </p:txBody>
      </p:sp>
      <p:sp>
        <p:nvSpPr>
          <p:cNvPr id="17" name="TextBox 16"/>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Service, environment, revisions and excluded systems.</a:t>
            </a:r>
          </a:p>
        </p:txBody>
      </p:sp>
      <p:sp>
        <p:nvSpPr>
          <p:cNvPr id="18" name="Rounded Rectangle 17"/>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HOW FAR</a:t>
            </a:r>
          </a:p>
        </p:txBody>
      </p:sp>
      <p:sp>
        <p:nvSpPr>
          <p:cNvPr id="20" name="TextBox 19"/>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Authority</a:t>
            </a:r>
          </a:p>
        </p:txBody>
      </p:sp>
      <p:sp>
        <p:nvSpPr>
          <p:cNvPr id="21" name="TextBox 20"/>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Permitted reads/writes, approver and stop owner.</a:t>
            </a:r>
          </a:p>
        </p:txBody>
      </p:sp>
      <p:sp>
        <p:nvSpPr>
          <p:cNvPr id="22" name="Rounded Rectangle 21"/>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DONE</a:t>
            </a:r>
          </a:p>
        </p:txBody>
      </p:sp>
      <p:sp>
        <p:nvSpPr>
          <p:cNvPr id="24" name="TextBox 23"/>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Completion</a:t>
            </a:r>
          </a:p>
        </p:txBody>
      </p:sp>
      <p:sp>
        <p:nvSpPr>
          <p:cNvPr id="25" name="TextBox 24"/>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Evidence artifact plus an independent acceptance check.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USE CASE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Four illustrative cross-agent handoff sequences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Compose only the specialists needed by the actual job.</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04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04:00–06:00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D04, K04, S14, F09, F11</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Daily workflow</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Useful specialist output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Team completion</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Incident → fix</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DevOps evidence → Kiro reviewable change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Owner verifies recovery after approved delivery</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Finding → repair</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Security evidence → reviewed code repair</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Deploy and revalidate the finding</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Cost anomaly → change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FinOps explanation → owned change request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Measure an approved change on a comparable basis</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Daily review → backlog</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Reports, recommendations and accepted findings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Deduplicate, assign owners and select next work</a:t>
                      </a:r>
                    </a:p>
                  </a:txBody>
                  <a:tcPr marL="128016" marR="128016" marT="82296" marB="54864">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P01 · bind the workspace to accountable ownership</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product workspace is not automatically an enforced security boundary.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05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06:00–08:00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D34, K06, S08, F03</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Product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Actual boundary to inspect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Recommended acceptance check</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DevOps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AWS role and connected integrations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Allowed source read; harmless out-of-scope read denied</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Kiro</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Repository authorization and client/sandbox controls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Only selected repository/task access</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Security</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Target, credentials and network scope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Only authorized test systems reachable</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FinOps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Per-agent roles, context and connections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Cost scope and destination access match ownership</a:t>
                      </a:r>
                    </a:p>
                  </a:txBody>
                  <a:tcPr marL="128016" marR="128016" marT="82296" marB="54864">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EVIDENCE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P02 · retain source provenance for reported findings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An answer must carry enough context to be checked after it leaves the original interface.</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06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08:00–09:30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K03, S12, F06</a:t>
            </a:r>
          </a:p>
        </p:txBody>
      </p:sp>
      <p:sp>
        <p:nvSpPr>
          <p:cNvPr id="10" name="Rounded Rectangle 9"/>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DEVOPS</a:t>
            </a:r>
          </a:p>
        </p:txBody>
      </p:sp>
      <p:sp>
        <p:nvSpPr>
          <p:cNvPr id="12" name="TextBox 11"/>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Operational</a:t>
            </a:r>
          </a:p>
        </p:txBody>
      </p:sp>
      <p:sp>
        <p:nvSpPr>
          <p:cNvPr id="13" name="TextBox 12"/>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Incident window, resource IDs, telemetry and deployment reference.</a:t>
            </a:r>
          </a:p>
        </p:txBody>
      </p:sp>
      <p:sp>
        <p:nvSpPr>
          <p:cNvPr id="14" name="Rounded Rectangle 13"/>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KIRO</a:t>
            </a:r>
          </a:p>
        </p:txBody>
      </p:sp>
      <p:sp>
        <p:nvSpPr>
          <p:cNvPr id="16" name="TextBox 15"/>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Repository</a:t>
            </a:r>
          </a:p>
        </p:txBody>
      </p:sp>
      <p:sp>
        <p:nvSpPr>
          <p:cNvPr id="17" name="TextBox 16"/>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Commit, file/symbol, requirement and check result.</a:t>
            </a:r>
          </a:p>
        </p:txBody>
      </p:sp>
      <p:sp>
        <p:nvSpPr>
          <p:cNvPr id="18" name="Rounded Rectangle 17"/>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SECURITY</a:t>
            </a:r>
          </a:p>
        </p:txBody>
      </p:sp>
      <p:sp>
        <p:nvSpPr>
          <p:cNvPr id="20" name="TextBox 19"/>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Assessment</a:t>
            </a:r>
          </a:p>
        </p:txBody>
      </p:sp>
      <p:sp>
        <p:nvSpPr>
          <p:cNvPr id="21" name="TextBox 20"/>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Target version, identity, coverage, finding and run ID.</a:t>
            </a:r>
          </a:p>
        </p:txBody>
      </p:sp>
      <p:sp>
        <p:nvSpPr>
          <p:cNvPr id="22" name="Rounded Rectangle 21"/>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FINOPS</a:t>
            </a:r>
          </a:p>
        </p:txBody>
      </p:sp>
      <p:sp>
        <p:nvSpPr>
          <p:cNvPr id="24" name="TextBox 23"/>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Cost</a:t>
            </a:r>
          </a:p>
        </p:txBody>
      </p:sp>
      <p:sp>
        <p:nvSpPr>
          <p:cNvPr id="25" name="TextBox 24"/>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Period, accounts, filters, dimensions and cost basis.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P03 · keep instructions separate from authorization</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Guidance changes behavior; credentials and technical controls determine possible effects.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07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09:30–11:00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K13, K14, D06, F12</a:t>
            </a:r>
          </a:p>
        </p:txBody>
      </p:sp>
      <p:sp>
        <p:nvSpPr>
          <p:cNvPr id="10" name="Rounded Rectangle 9"/>
          <p:cNvSpPr/>
          <p:nvPr/>
        </p:nvSpPr>
        <p:spPr>
          <a:xfrm>
            <a:off x="502920"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GUIDANCE</a:t>
            </a:r>
          </a:p>
        </p:txBody>
      </p:sp>
      <p:sp>
        <p:nvSpPr>
          <p:cNvPr id="12" name="TextBox 11"/>
          <p:cNvSpPr txBox="1"/>
          <p:nvPr/>
        </p:nvSpPr>
        <p:spPr>
          <a:xfrm>
            <a:off x="667512"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Instruction plane</a:t>
            </a:r>
          </a:p>
        </p:txBody>
      </p:sp>
      <p:sp>
        <p:nvSpPr>
          <p:cNvPr id="13" name="TextBox 12"/>
          <p:cNvSpPr txBox="1"/>
          <p:nvPr/>
        </p:nvSpPr>
        <p:spPr>
          <a:xfrm>
            <a:off x="667512"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Prompts, steering, skills, memory and context explain the task and preferred procedure.</a:t>
            </a:r>
          </a:p>
        </p:txBody>
      </p:sp>
      <p:sp>
        <p:nvSpPr>
          <p:cNvPr id="14" name="Rounded Rectangle 13"/>
          <p:cNvSpPr/>
          <p:nvPr/>
        </p:nvSpPr>
        <p:spPr>
          <a:xfrm>
            <a:off x="6199632"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ENFORCEMENT</a:t>
            </a:r>
          </a:p>
        </p:txBody>
      </p:sp>
      <p:sp>
        <p:nvSpPr>
          <p:cNvPr id="16" name="TextBox 15"/>
          <p:cNvSpPr txBox="1"/>
          <p:nvPr/>
        </p:nvSpPr>
        <p:spPr>
          <a:xfrm>
            <a:off x="6364224"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Authority plane</a:t>
            </a:r>
          </a:p>
        </p:txBody>
      </p:sp>
      <p:sp>
        <p:nvSpPr>
          <p:cNvPr id="17" name="TextBox 16"/>
          <p:cNvSpPr txBox="1"/>
          <p:nvPr/>
        </p:nvSpPr>
        <p:spPr>
          <a:xfrm>
            <a:off x="6364224"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Roles, repository access, network rules, tool permissions and approval gates constrain effects.</a:t>
            </a:r>
          </a:p>
        </p:txBody>
      </p:sp>
      <p:sp>
        <p:nvSpPr>
          <p:cNvPr id="18" name="Rounded Rectangle 17"/>
          <p:cNvSpPr/>
          <p:nvPr/>
        </p:nvSpPr>
        <p:spPr>
          <a:xfrm>
            <a:off x="502920" y="5477256"/>
            <a:ext cx="11183112" cy="713232"/>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632704"/>
            <a:ext cx="10771632" cy="402336"/>
          </a:xfrm>
          <a:prstGeom prst="rect">
            <a:avLst/>
          </a:prstGeom>
          <a:noFill/>
        </p:spPr>
        <p:txBody>
          <a:bodyPr wrap="square" lIns="0" rIns="0" tIns="0" bIns="0" anchor="t">
            <a:spAutoFit/>
          </a:bodyPr>
          <a:lstStyle/>
          <a:p>
            <a:pPr>
              <a:lnSpc>
                <a:spcPct val="112000"/>
              </a:lnSpc>
              <a:spcAft>
                <a:spcPts val="300"/>
              </a:spcAft>
              <a:defRPr sz="1700" b="1">
                <a:solidFill>
                  <a:srgbClr val="FFFFFF"/>
                </a:solidFill>
                <a:latin typeface="Arial"/>
              </a:defRPr>
            </a:pPr>
            <a:r>
              <a:t>Anti-pattern: broad credentials plus a prompt saying “only touch checkout.”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P05 · classify the effect before selecting the gate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Approval is product- and entry-point-specific.</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08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11:00–13:00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D13, D11, K02, F15</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Effect path</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Documented native behavior</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Team responsibility</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DevOps directed action</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Layered opt-in and per-action approval</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Inspect exact operation and rollback</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Active application testing</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Real requests can modify target state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Isolate data, dependencies and stop controls</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Kiro code change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Reviewable repository output; no automatic merge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Repository checks and merge ownership</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FinOps external post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Jira and Slack approval differ by trigger</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Review destination scope and pre-authorization</a:t>
                      </a:r>
                    </a:p>
                  </a:txBody>
                  <a:tcPr marL="128016" marR="128016" marT="82296" marB="54864">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P06 · isolate the worker and the target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An isolated execution environment can still affect systems it can reach.</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09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13:00–14:30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K10, K19, K20, D11, S10</a:t>
            </a:r>
          </a:p>
        </p:txBody>
      </p:sp>
      <p:sp>
        <p:nvSpPr>
          <p:cNvPr id="10" name="Rounded Rectangle 9"/>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COMPUTE</a:t>
            </a:r>
          </a:p>
        </p:txBody>
      </p:sp>
      <p:sp>
        <p:nvSpPr>
          <p:cNvPr id="12" name="TextBox 11"/>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Worker</a:t>
            </a:r>
          </a:p>
        </p:txBody>
      </p:sp>
      <p:sp>
        <p:nvSpPr>
          <p:cNvPr id="13" name="TextBox 12"/>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Sandbox or service-managed execution.</a:t>
            </a:r>
          </a:p>
        </p:txBody>
      </p:sp>
      <p:sp>
        <p:nvSpPr>
          <p:cNvPr id="14" name="Rounded Rectangle 13"/>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ACCESS</a:t>
            </a:r>
          </a:p>
        </p:txBody>
      </p:sp>
      <p:sp>
        <p:nvSpPr>
          <p:cNvPr id="16" name="TextBox 15"/>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Reachability</a:t>
            </a:r>
          </a:p>
        </p:txBody>
      </p:sp>
      <p:sp>
        <p:nvSpPr>
          <p:cNvPr id="17" name="TextBox 16"/>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Network, endpoints, credentials and integrations.</a:t>
            </a:r>
          </a:p>
        </p:txBody>
      </p:sp>
      <p:sp>
        <p:nvSpPr>
          <p:cNvPr id="18" name="Rounded Rectangle 17"/>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IMPACT</a:t>
            </a:r>
          </a:p>
        </p:txBody>
      </p:sp>
      <p:sp>
        <p:nvSpPr>
          <p:cNvPr id="20" name="TextBox 19"/>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Target</a:t>
            </a:r>
          </a:p>
        </p:txBody>
      </p:sp>
      <p:sp>
        <p:nvSpPr>
          <p:cNvPr id="21" name="TextBox 20"/>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Staging state and downstream business effects.</a:t>
            </a:r>
          </a:p>
        </p:txBody>
      </p:sp>
      <p:sp>
        <p:nvSpPr>
          <p:cNvPr id="22" name="Rounded Rectangle 21"/>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OPERATIONS</a:t>
            </a:r>
          </a:p>
        </p:txBody>
      </p:sp>
      <p:sp>
        <p:nvSpPr>
          <p:cNvPr id="24" name="TextBox 23"/>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Recovery</a:t>
            </a:r>
          </a:p>
        </p:txBody>
      </p:sp>
      <p:sp>
        <p:nvSpPr>
          <p:cNvPr id="25" name="TextBox 24"/>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Stop owner, cleanup and verified restoration.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INTEGRATION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P07 · integrate through explicit adapters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protocol or connector is a building block—not a common permission model.</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10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14:30–16:00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D37, D38, K15, S26, F13, F14</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Interface</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Useful purpose</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Do not infer</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DevOps remote servers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Client/agent access to an Agent Space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Shared credentials with other specialists</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Kiro MCP / tools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Extend the coding workflow</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Universal provider or client parity</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Security IDE / pipeline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Submit assessment work from developer tooling</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Local-only execution or blanket coverage</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FinOps Jira / Slack</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Route approved outputs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General Jira administration or inbound Slack commands</a:t>
                      </a:r>
                    </a:p>
                  </a:txBody>
                  <a:tcPr marL="128016" marR="128016" marT="82296" marB="54864">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INTEGRATION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P08 · hand off artifacts, not inherited authority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The next specialist receives evidence and scope—not credentials or another agent’s approval.</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11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16:00–18:00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K08, S12, F09</a:t>
            </a:r>
          </a:p>
        </p:txBody>
      </p:sp>
      <p:sp>
        <p:nvSpPr>
          <p:cNvPr id="10" name="Rounded Rectangle 9"/>
          <p:cNvSpPr/>
          <p:nvPr/>
        </p:nvSpPr>
        <p:spPr>
          <a:xfrm>
            <a:off x="502920" y="2313432"/>
            <a:ext cx="11183112" cy="3877056"/>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60320"/>
            <a:ext cx="2560320" cy="365760"/>
          </a:xfrm>
          <a:prstGeom prst="rect">
            <a:avLst/>
          </a:prstGeom>
          <a:noFill/>
        </p:spPr>
        <p:txBody>
          <a:bodyPr wrap="square" lIns="0" rIns="0" tIns="0" bIns="0" anchor="t">
            <a:spAutoFit/>
          </a:bodyPr>
          <a:lstStyle/>
          <a:p>
            <a:pPr>
              <a:lnSpc>
                <a:spcPct val="112000"/>
              </a:lnSpc>
              <a:spcAft>
                <a:spcPts val="300"/>
              </a:spcAft>
              <a:defRPr sz="1600" b="1">
                <a:solidFill>
                  <a:srgbClr val="AFCBE8"/>
                </a:solidFill>
                <a:latin typeface="Arial"/>
              </a:defRPr>
            </a:pPr>
            <a:r>
              <a:t>work_item</a:t>
            </a:r>
          </a:p>
        </p:txBody>
      </p:sp>
      <p:sp>
        <p:nvSpPr>
          <p:cNvPr id="12" name="TextBox 11"/>
          <p:cNvSpPr txBox="1"/>
          <p:nvPr/>
        </p:nvSpPr>
        <p:spPr>
          <a:xfrm>
            <a:off x="3383280" y="2560320"/>
            <a:ext cx="8001000" cy="411480"/>
          </a:xfrm>
          <a:prstGeom prst="rect">
            <a:avLst/>
          </a:prstGeom>
          <a:noFill/>
        </p:spPr>
        <p:txBody>
          <a:bodyPr wrap="square" lIns="0" rIns="0" tIns="0" bIns="0" anchor="t">
            <a:spAutoFit/>
          </a:bodyPr>
          <a:lstStyle/>
          <a:p>
            <a:pPr>
              <a:lnSpc>
                <a:spcPct val="112000"/>
              </a:lnSpc>
              <a:spcAft>
                <a:spcPts val="300"/>
              </a:spcAft>
              <a:defRPr sz="1800" b="0">
                <a:solidFill>
                  <a:srgbClr val="FFFFFF"/>
                </a:solidFill>
                <a:latin typeface="Arial"/>
              </a:defRPr>
            </a:pPr>
            <a:r>
              <a:t>INC-DEMO-001 · illustrative</a:t>
            </a:r>
          </a:p>
        </p:txBody>
      </p:sp>
      <p:sp>
        <p:nvSpPr>
          <p:cNvPr id="13" name="TextBox 12"/>
          <p:cNvSpPr txBox="1"/>
          <p:nvPr/>
        </p:nvSpPr>
        <p:spPr>
          <a:xfrm>
            <a:off x="749808" y="3118103"/>
            <a:ext cx="2560320" cy="365760"/>
          </a:xfrm>
          <a:prstGeom prst="rect">
            <a:avLst/>
          </a:prstGeom>
          <a:noFill/>
        </p:spPr>
        <p:txBody>
          <a:bodyPr wrap="square" lIns="0" rIns="0" tIns="0" bIns="0" anchor="t">
            <a:spAutoFit/>
          </a:bodyPr>
          <a:lstStyle/>
          <a:p>
            <a:pPr>
              <a:lnSpc>
                <a:spcPct val="112000"/>
              </a:lnSpc>
              <a:spcAft>
                <a:spcPts val="300"/>
              </a:spcAft>
              <a:defRPr sz="1600" b="1">
                <a:solidFill>
                  <a:srgbClr val="AFCBE8"/>
                </a:solidFill>
                <a:latin typeface="Arial"/>
              </a:defRPr>
            </a:pPr>
            <a:r>
              <a:t>scope</a:t>
            </a:r>
          </a:p>
        </p:txBody>
      </p:sp>
      <p:sp>
        <p:nvSpPr>
          <p:cNvPr id="14" name="TextBox 13"/>
          <p:cNvSpPr txBox="1"/>
          <p:nvPr/>
        </p:nvSpPr>
        <p:spPr>
          <a:xfrm>
            <a:off x="3383280" y="3118103"/>
            <a:ext cx="8001000" cy="411480"/>
          </a:xfrm>
          <a:prstGeom prst="rect">
            <a:avLst/>
          </a:prstGeom>
          <a:noFill/>
        </p:spPr>
        <p:txBody>
          <a:bodyPr wrap="square" lIns="0" rIns="0" tIns="0" bIns="0" anchor="t">
            <a:spAutoFit/>
          </a:bodyPr>
          <a:lstStyle/>
          <a:p>
            <a:pPr>
              <a:lnSpc>
                <a:spcPct val="112000"/>
              </a:lnSpc>
              <a:spcAft>
                <a:spcPts val="300"/>
              </a:spcAft>
              <a:defRPr sz="1800" b="0">
                <a:solidFill>
                  <a:srgbClr val="FFFFFF"/>
                </a:solidFill>
                <a:latin typeface="Arial"/>
              </a:defRPr>
            </a:pPr>
            <a:r>
              <a:t>checkout-api / staging / revision DEMO-A</a:t>
            </a:r>
          </a:p>
        </p:txBody>
      </p:sp>
      <p:sp>
        <p:nvSpPr>
          <p:cNvPr id="15" name="TextBox 14"/>
          <p:cNvSpPr txBox="1"/>
          <p:nvPr/>
        </p:nvSpPr>
        <p:spPr>
          <a:xfrm>
            <a:off x="749808" y="3675887"/>
            <a:ext cx="2560320" cy="365760"/>
          </a:xfrm>
          <a:prstGeom prst="rect">
            <a:avLst/>
          </a:prstGeom>
          <a:noFill/>
        </p:spPr>
        <p:txBody>
          <a:bodyPr wrap="square" lIns="0" rIns="0" tIns="0" bIns="0" anchor="t">
            <a:spAutoFit/>
          </a:bodyPr>
          <a:lstStyle/>
          <a:p>
            <a:pPr>
              <a:lnSpc>
                <a:spcPct val="112000"/>
              </a:lnSpc>
              <a:spcAft>
                <a:spcPts val="300"/>
              </a:spcAft>
              <a:defRPr sz="1600" b="1">
                <a:solidFill>
                  <a:srgbClr val="AFCBE8"/>
                </a:solidFill>
                <a:latin typeface="Arial"/>
              </a:defRPr>
            </a:pPr>
            <a:r>
              <a:t>evidence</a:t>
            </a:r>
          </a:p>
        </p:txBody>
      </p:sp>
      <p:sp>
        <p:nvSpPr>
          <p:cNvPr id="16" name="TextBox 15"/>
          <p:cNvSpPr txBox="1"/>
          <p:nvPr/>
        </p:nvSpPr>
        <p:spPr>
          <a:xfrm>
            <a:off x="3383280" y="3675887"/>
            <a:ext cx="8001000" cy="411480"/>
          </a:xfrm>
          <a:prstGeom prst="rect">
            <a:avLst/>
          </a:prstGeom>
          <a:noFill/>
        </p:spPr>
        <p:txBody>
          <a:bodyPr wrap="square" lIns="0" rIns="0" tIns="0" bIns="0" anchor="t">
            <a:spAutoFit/>
          </a:bodyPr>
          <a:lstStyle/>
          <a:p>
            <a:pPr>
              <a:lnSpc>
                <a:spcPct val="112000"/>
              </a:lnSpc>
              <a:spcAft>
                <a:spcPts val="300"/>
              </a:spcAft>
              <a:defRPr sz="1800" b="0">
                <a:solidFill>
                  <a:srgbClr val="FFFFFF"/>
                </a:solidFill>
                <a:latin typeface="Arial"/>
              </a:defRPr>
            </a:pPr>
            <a:r>
              <a:t>incident window + telemetry links + candidate diff</a:t>
            </a:r>
          </a:p>
        </p:txBody>
      </p:sp>
      <p:sp>
        <p:nvSpPr>
          <p:cNvPr id="17" name="TextBox 16"/>
          <p:cNvSpPr txBox="1"/>
          <p:nvPr/>
        </p:nvSpPr>
        <p:spPr>
          <a:xfrm>
            <a:off x="749808" y="4233672"/>
            <a:ext cx="2560320" cy="365760"/>
          </a:xfrm>
          <a:prstGeom prst="rect">
            <a:avLst/>
          </a:prstGeom>
          <a:noFill/>
        </p:spPr>
        <p:txBody>
          <a:bodyPr wrap="square" lIns="0" rIns="0" tIns="0" bIns="0" anchor="t">
            <a:spAutoFit/>
          </a:bodyPr>
          <a:lstStyle/>
          <a:p>
            <a:pPr>
              <a:lnSpc>
                <a:spcPct val="112000"/>
              </a:lnSpc>
              <a:spcAft>
                <a:spcPts val="300"/>
              </a:spcAft>
              <a:defRPr sz="1600" b="1">
                <a:solidFill>
                  <a:srgbClr val="AFCBE8"/>
                </a:solidFill>
                <a:latin typeface="Arial"/>
              </a:defRPr>
            </a:pPr>
            <a:r>
              <a:t>allowed_effects</a:t>
            </a:r>
          </a:p>
        </p:txBody>
      </p:sp>
      <p:sp>
        <p:nvSpPr>
          <p:cNvPr id="18" name="TextBox 17"/>
          <p:cNvSpPr txBox="1"/>
          <p:nvPr/>
        </p:nvSpPr>
        <p:spPr>
          <a:xfrm>
            <a:off x="3383280" y="4233672"/>
            <a:ext cx="8001000" cy="411480"/>
          </a:xfrm>
          <a:prstGeom prst="rect">
            <a:avLst/>
          </a:prstGeom>
          <a:noFill/>
        </p:spPr>
        <p:txBody>
          <a:bodyPr wrap="square" lIns="0" rIns="0" tIns="0" bIns="0" anchor="t">
            <a:spAutoFit/>
          </a:bodyPr>
          <a:lstStyle/>
          <a:p>
            <a:pPr>
              <a:lnSpc>
                <a:spcPct val="112000"/>
              </a:lnSpc>
              <a:spcAft>
                <a:spcPts val="300"/>
              </a:spcAft>
              <a:defRPr sz="1800" b="0">
                <a:solidFill>
                  <a:srgbClr val="FFFFFF"/>
                </a:solidFill>
                <a:latin typeface="Arial"/>
              </a:defRPr>
            </a:pPr>
            <a:r>
              <a:t>read evidence; propose branch changes; no deployment</a:t>
            </a:r>
          </a:p>
        </p:txBody>
      </p:sp>
      <p:sp>
        <p:nvSpPr>
          <p:cNvPr id="19" name="TextBox 18"/>
          <p:cNvSpPr txBox="1"/>
          <p:nvPr/>
        </p:nvSpPr>
        <p:spPr>
          <a:xfrm>
            <a:off x="749808" y="4791456"/>
            <a:ext cx="2560320" cy="365760"/>
          </a:xfrm>
          <a:prstGeom prst="rect">
            <a:avLst/>
          </a:prstGeom>
          <a:noFill/>
        </p:spPr>
        <p:txBody>
          <a:bodyPr wrap="square" lIns="0" rIns="0" tIns="0" bIns="0" anchor="t">
            <a:spAutoFit/>
          </a:bodyPr>
          <a:lstStyle/>
          <a:p>
            <a:pPr>
              <a:lnSpc>
                <a:spcPct val="112000"/>
              </a:lnSpc>
              <a:spcAft>
                <a:spcPts val="300"/>
              </a:spcAft>
              <a:defRPr sz="1600" b="1">
                <a:solidFill>
                  <a:srgbClr val="AFCBE8"/>
                </a:solidFill>
                <a:latin typeface="Arial"/>
              </a:defRPr>
            </a:pPr>
            <a:r>
              <a:t>owner_and_stop</a:t>
            </a:r>
          </a:p>
        </p:txBody>
      </p:sp>
      <p:sp>
        <p:nvSpPr>
          <p:cNvPr id="20" name="TextBox 19"/>
          <p:cNvSpPr txBox="1"/>
          <p:nvPr/>
        </p:nvSpPr>
        <p:spPr>
          <a:xfrm>
            <a:off x="3383280" y="4791456"/>
            <a:ext cx="8001000" cy="411480"/>
          </a:xfrm>
          <a:prstGeom prst="rect">
            <a:avLst/>
          </a:prstGeom>
          <a:noFill/>
        </p:spPr>
        <p:txBody>
          <a:bodyPr wrap="square" lIns="0" rIns="0" tIns="0" bIns="0" anchor="t">
            <a:spAutoFit/>
          </a:bodyPr>
          <a:lstStyle/>
          <a:p>
            <a:pPr>
              <a:lnSpc>
                <a:spcPct val="112000"/>
              </a:lnSpc>
              <a:spcAft>
                <a:spcPts val="300"/>
              </a:spcAft>
              <a:defRPr sz="1800" b="0">
                <a:solidFill>
                  <a:srgbClr val="FFFFFF"/>
                </a:solidFill>
                <a:latin typeface="Arial"/>
              </a:defRPr>
            </a:pPr>
            <a:r>
              <a:t>service owner / named operator</a:t>
            </a:r>
          </a:p>
        </p:txBody>
      </p:sp>
      <p:sp>
        <p:nvSpPr>
          <p:cNvPr id="21" name="TextBox 20"/>
          <p:cNvSpPr txBox="1"/>
          <p:nvPr/>
        </p:nvSpPr>
        <p:spPr>
          <a:xfrm>
            <a:off x="749808" y="5349240"/>
            <a:ext cx="2560320" cy="365760"/>
          </a:xfrm>
          <a:prstGeom prst="rect">
            <a:avLst/>
          </a:prstGeom>
          <a:noFill/>
        </p:spPr>
        <p:txBody>
          <a:bodyPr wrap="square" lIns="0" rIns="0" tIns="0" bIns="0" anchor="t">
            <a:spAutoFit/>
          </a:bodyPr>
          <a:lstStyle/>
          <a:p>
            <a:pPr>
              <a:lnSpc>
                <a:spcPct val="112000"/>
              </a:lnSpc>
              <a:spcAft>
                <a:spcPts val="300"/>
              </a:spcAft>
              <a:defRPr sz="1600" b="1">
                <a:solidFill>
                  <a:srgbClr val="AFCBE8"/>
                </a:solidFill>
                <a:latin typeface="Arial"/>
              </a:defRPr>
            </a:pPr>
            <a:r>
              <a:t>done</a:t>
            </a:r>
          </a:p>
        </p:txBody>
      </p:sp>
      <p:sp>
        <p:nvSpPr>
          <p:cNvPr id="22" name="TextBox 21"/>
          <p:cNvSpPr txBox="1"/>
          <p:nvPr/>
        </p:nvSpPr>
        <p:spPr>
          <a:xfrm>
            <a:off x="3383280" y="5349240"/>
            <a:ext cx="8001000" cy="411480"/>
          </a:xfrm>
          <a:prstGeom prst="rect">
            <a:avLst/>
          </a:prstGeom>
          <a:noFill/>
        </p:spPr>
        <p:txBody>
          <a:bodyPr wrap="square" lIns="0" rIns="0" tIns="0" bIns="0" anchor="t">
            <a:spAutoFit/>
          </a:bodyPr>
          <a:lstStyle/>
          <a:p>
            <a:pPr>
              <a:lnSpc>
                <a:spcPct val="112000"/>
              </a:lnSpc>
              <a:spcAft>
                <a:spcPts val="300"/>
              </a:spcAft>
              <a:defRPr sz="1800" b="0">
                <a:solidFill>
                  <a:srgbClr val="FFFFFF"/>
                </a:solidFill>
                <a:latin typeface="Arial"/>
              </a:defRPr>
            </a:pPr>
            <a:r>
              <a:t>reviewed artifact + independent verification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P09 · define job limits, retries and stop ownership</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Client completion and service-side termination are different events.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12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18:00–19:30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D06, K24, S28, F11</a:t>
            </a:r>
          </a:p>
        </p:txBody>
      </p:sp>
      <p:sp>
        <p:nvSpPr>
          <p:cNvPr id="10" name="Rounded Rectangle 9"/>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BEFORE</a:t>
            </a:r>
          </a:p>
        </p:txBody>
      </p:sp>
      <p:sp>
        <p:nvSpPr>
          <p:cNvPr id="12" name="TextBox 11"/>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Bound work</a:t>
            </a:r>
          </a:p>
        </p:txBody>
      </p:sp>
      <p:sp>
        <p:nvSpPr>
          <p:cNvPr id="13" name="TextBox 12"/>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Task scope, retry cap or service-specific work budget.</a:t>
            </a:r>
          </a:p>
        </p:txBody>
      </p:sp>
      <p:sp>
        <p:nvSpPr>
          <p:cNvPr id="14" name="Rounded Rectangle 13"/>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DURING</a:t>
            </a:r>
          </a:p>
        </p:txBody>
      </p:sp>
      <p:sp>
        <p:nvSpPr>
          <p:cNvPr id="16" name="TextBox 15"/>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Observe</a:t>
            </a:r>
          </a:p>
        </p:txBody>
      </p:sp>
      <p:sp>
        <p:nvSpPr>
          <p:cNvPr id="17" name="TextBox 16"/>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Run ID, progress, failures and target health.</a:t>
            </a:r>
          </a:p>
        </p:txBody>
      </p:sp>
      <p:sp>
        <p:nvSpPr>
          <p:cNvPr id="18" name="Rounded Rectangle 17"/>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ON ERROR</a:t>
            </a:r>
          </a:p>
        </p:txBody>
      </p:sp>
      <p:sp>
        <p:nvSpPr>
          <p:cNvPr id="20" name="TextBox 19"/>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Stop</a:t>
            </a:r>
          </a:p>
        </p:txBody>
      </p:sp>
      <p:sp>
        <p:nvSpPr>
          <p:cNvPr id="21" name="TextBox 20"/>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Named operator and documented cancellation procedure.</a:t>
            </a:r>
          </a:p>
        </p:txBody>
      </p:sp>
      <p:sp>
        <p:nvSpPr>
          <p:cNvPr id="22" name="Rounded Rectangle 21"/>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AFTER</a:t>
            </a:r>
          </a:p>
        </p:txBody>
      </p:sp>
      <p:sp>
        <p:nvSpPr>
          <p:cNvPr id="24" name="TextBox 23"/>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Confirm</a:t>
            </a:r>
          </a:p>
        </p:txBody>
      </p:sp>
      <p:sp>
        <p:nvSpPr>
          <p:cNvPr id="25" name="TextBox 24"/>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Terminal state, remaining jobs and cleanup evidence.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EVIDENCE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P10 · verify using evidence independent of the claim</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The same agent saying “done” is not a release or closure criterion.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13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19:30–21:30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K09, S14, F06</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Claim</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Independent check</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Closure evidence</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Incident explained</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Compare timeline, telemetry and deployed change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Accepted hypothesis and recovery observation</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Code complete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Run relevant tests and repository CI on the diff</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Reviewed PR/MR and check IDs</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Finding repaired</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Deploy then revalidate the known finding</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Linked reassessment result</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Cost understood</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Reproduce the total with identical filters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Reconciled view and owned next step</a:t>
                      </a:r>
                    </a:p>
                  </a:txBody>
                  <a:tcPr marL="128016" marR="128016" marT="82296" marB="54864">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EVIDENCE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P11 · preserve evidence across systems of record</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Do not replace incident, repository, security or cost records with a single chat summary.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14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21:30–23:00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K06, S14, F11</a:t>
            </a:r>
          </a:p>
        </p:txBody>
      </p:sp>
      <p:sp>
        <p:nvSpPr>
          <p:cNvPr id="10" name="Rounded Rectangle 9"/>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SYSTEM OF RECORD</a:t>
            </a:r>
          </a:p>
        </p:txBody>
      </p:sp>
      <p:sp>
        <p:nvSpPr>
          <p:cNvPr id="12" name="TextBox 11"/>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Original record</a:t>
            </a:r>
          </a:p>
        </p:txBody>
      </p:sp>
      <p:sp>
        <p:nvSpPr>
          <p:cNvPr id="13" name="TextBox 12"/>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Incident, source revision, assessment run or cost view.</a:t>
            </a:r>
          </a:p>
        </p:txBody>
      </p:sp>
      <p:sp>
        <p:nvSpPr>
          <p:cNvPr id="14" name="Rounded Rectangle 13"/>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WORK PRODUCT</a:t>
            </a:r>
          </a:p>
        </p:txBody>
      </p:sp>
      <p:sp>
        <p:nvSpPr>
          <p:cNvPr id="16" name="TextBox 15"/>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Derived artifact</a:t>
            </a:r>
          </a:p>
        </p:txBody>
      </p:sp>
      <p:sp>
        <p:nvSpPr>
          <p:cNvPr id="17" name="TextBox 16"/>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Summary, spec, proposed fix or report.</a:t>
            </a:r>
          </a:p>
        </p:txBody>
      </p:sp>
      <p:sp>
        <p:nvSpPr>
          <p:cNvPr id="18" name="Rounded Rectangle 17"/>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ACCOUNTABILITY</a:t>
            </a:r>
          </a:p>
        </p:txBody>
      </p:sp>
      <p:sp>
        <p:nvSpPr>
          <p:cNvPr id="20" name="TextBox 19"/>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Decision</a:t>
            </a:r>
          </a:p>
        </p:txBody>
      </p:sp>
      <p:sp>
        <p:nvSpPr>
          <p:cNvPr id="21" name="TextBox 20"/>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Reviewer, approval, rejection or escalation.</a:t>
            </a:r>
          </a:p>
        </p:txBody>
      </p:sp>
      <p:sp>
        <p:nvSpPr>
          <p:cNvPr id="22" name="Rounded Rectangle 21"/>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CLOSURE</a:t>
            </a:r>
          </a:p>
        </p:txBody>
      </p:sp>
      <p:sp>
        <p:nvSpPr>
          <p:cNvPr id="24" name="TextBox 23"/>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Verification</a:t>
            </a:r>
          </a:p>
        </p:txBody>
      </p:sp>
      <p:sp>
        <p:nvSpPr>
          <p:cNvPr id="25" name="TextBox 24"/>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Observed result and unresolved limitations.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P12 · gate availability and data location per feature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Hosting Region, source location and inference routing are separate questions.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15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23:00–24:30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D15, K02, S05, S30, F16</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Solution</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Availability distinction</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Readiness question</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DevOps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Production operations vs release preview</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Is the selected feature supported in this Agent Space Region?</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Kiro</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Web, IDE and CLI differ; account rollout matters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Does this client actually support the required control?</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Security</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Pentest GA; other workflows include preview</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What target, source and inference boundaries apply?</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FinOps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Whole service preview</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Is us-east-1 storage / US inference acceptable?</a:t>
                      </a:r>
                    </a:p>
                  </a:txBody>
                  <a:tcPr marL="128016" marR="128016" marT="82296" marB="54864">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DEMONSTRATION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Tabletop demo · incident to verified handoff</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Trace one work item through specialist artifacts without transferring authority.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16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08:00 allocated  |  24:30–32:30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K04, S14, F09</a:t>
            </a:r>
          </a:p>
        </p:txBody>
      </p:sp>
      <p:sp>
        <p:nvSpPr>
          <p:cNvPr id="10" name="Rounded Rectangle 9"/>
          <p:cNvSpPr/>
          <p:nvPr/>
        </p:nvSpPr>
        <p:spPr>
          <a:xfrm>
            <a:off x="502920" y="2295144"/>
            <a:ext cx="11183112" cy="969264"/>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432304"/>
            <a:ext cx="10789920" cy="713232"/>
          </a:xfrm>
          <a:prstGeom prst="rect">
            <a:avLst/>
          </a:prstGeom>
          <a:noFill/>
        </p:spPr>
        <p:txBody>
          <a:bodyPr wrap="square" lIns="0" rIns="0" tIns="0" bIns="0" anchor="t">
            <a:spAutoFit/>
          </a:bodyPr>
          <a:lstStyle/>
          <a:p>
            <a:pPr>
              <a:lnSpc>
                <a:spcPct val="112000"/>
              </a:lnSpc>
              <a:spcAft>
                <a:spcPts val="300"/>
              </a:spcAft>
              <a:defRPr sz="1500" b="0">
                <a:solidFill>
                  <a:srgbClr val="FFFFFF"/>
                </a:solidFill>
                <a:latin typeface="Arial"/>
              </a:defRPr>
            </a:pPr>
            <a:r>
              <a:t>For the illustrative checkout incident, assemble an evidence-linked handoff with scope, owner, exact revision, allowed effects, exclusions and completion checks. Route code work to a reviewer-controlled PR. Add Security or FinOps assessment only when the issue requires it. Do not deploy or share credentials.</a:t>
            </a:r>
          </a:p>
        </p:txBody>
      </p:sp>
      <p:sp>
        <p:nvSpPr>
          <p:cNvPr id="12" name="TextBox 11"/>
          <p:cNvSpPr txBox="1"/>
          <p:nvPr/>
        </p:nvSpPr>
        <p:spPr>
          <a:xfrm>
            <a:off x="502920" y="342900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PREFLIGHT</a:t>
            </a:r>
          </a:p>
        </p:txBody>
      </p:sp>
      <p:sp>
        <p:nvSpPr>
          <p:cNvPr id="13" name="TextBox 12"/>
          <p:cNvSpPr txBox="1"/>
          <p:nvPr/>
        </p:nvSpPr>
        <p:spPr>
          <a:xfrm>
            <a:off x="502920" y="368503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Use the supplied illustrative handoff template and labeled rehearsal artifacts. No live cross-agent orchestration is required.</a:t>
            </a:r>
          </a:p>
        </p:txBody>
      </p:sp>
      <p:sp>
        <p:nvSpPr>
          <p:cNvPr id="14" name="TextBox 13"/>
          <p:cNvSpPr txBox="1"/>
          <p:nvPr/>
        </p:nvSpPr>
        <p:spPr>
          <a:xfrm>
            <a:off x="502920" y="438912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SUCCESS</a:t>
            </a:r>
          </a:p>
        </p:txBody>
      </p:sp>
      <p:sp>
        <p:nvSpPr>
          <p:cNvPr id="15" name="TextBox 14"/>
          <p:cNvSpPr txBox="1"/>
          <p:nvPr/>
        </p:nvSpPr>
        <p:spPr>
          <a:xfrm>
            <a:off x="502920" y="464515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Every transition carries evidence and a new task boundary; no transition carries implicit approval.</a:t>
            </a:r>
          </a:p>
        </p:txBody>
      </p:sp>
      <p:sp>
        <p:nvSpPr>
          <p:cNvPr id="16" name="TextBox 15"/>
          <p:cNvSpPr txBox="1"/>
          <p:nvPr/>
        </p:nvSpPr>
        <p:spPr>
          <a:xfrm>
            <a:off x="502920" y="534924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FALLBACK</a:t>
            </a:r>
          </a:p>
        </p:txBody>
      </p:sp>
      <p:sp>
        <p:nvSpPr>
          <p:cNvPr id="17" name="TextBox 16"/>
          <p:cNvSpPr txBox="1"/>
          <p:nvPr/>
        </p:nvSpPr>
        <p:spPr>
          <a:xfrm>
            <a:off x="502920" y="560527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This tabletop is the default mode. A prepared recording may illustrate a real integration, but must be identified as replay.</a:t>
            </a:r>
          </a:p>
        </p:txBody>
      </p:sp>
      <p:sp>
        <p:nvSpPr>
          <p:cNvPr id="18" name="Rounded Rectangle 17"/>
          <p:cNvSpPr/>
          <p:nvPr/>
        </p:nvSpPr>
        <p:spPr>
          <a:xfrm>
            <a:off x="4096512" y="341071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33672" y="352044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285D9C"/>
                </a:solidFill>
                <a:latin typeface="Arial"/>
              </a:defRPr>
            </a:pPr>
            <a:r>
              <a:t>01:00</a:t>
            </a:r>
          </a:p>
        </p:txBody>
      </p:sp>
      <p:sp>
        <p:nvSpPr>
          <p:cNvPr id="20" name="TextBox 19"/>
          <p:cNvSpPr txBox="1"/>
          <p:nvPr/>
        </p:nvSpPr>
        <p:spPr>
          <a:xfrm>
            <a:off x="4937760" y="348386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Open the work contract</a:t>
            </a:r>
          </a:p>
        </p:txBody>
      </p:sp>
      <p:sp>
        <p:nvSpPr>
          <p:cNvPr id="21" name="TextBox 20"/>
          <p:cNvSpPr txBox="1"/>
          <p:nvPr/>
        </p:nvSpPr>
        <p:spPr>
          <a:xfrm>
            <a:off x="4937760" y="368503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Confirm service, environment, evidence and owner.</a:t>
            </a:r>
          </a:p>
        </p:txBody>
      </p:sp>
      <p:sp>
        <p:nvSpPr>
          <p:cNvPr id="22" name="Rounded Rectangle 21"/>
          <p:cNvSpPr/>
          <p:nvPr/>
        </p:nvSpPr>
        <p:spPr>
          <a:xfrm>
            <a:off x="4096512" y="3966667"/>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33672" y="407639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285D9C"/>
                </a:solidFill>
                <a:latin typeface="Arial"/>
              </a:defRPr>
            </a:pPr>
            <a:r>
              <a:t>02:00</a:t>
            </a:r>
          </a:p>
        </p:txBody>
      </p:sp>
      <p:sp>
        <p:nvSpPr>
          <p:cNvPr id="24" name="TextBox 23"/>
          <p:cNvSpPr txBox="1"/>
          <p:nvPr/>
        </p:nvSpPr>
        <p:spPr>
          <a:xfrm>
            <a:off x="4937760" y="403981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Review operational evidence</a:t>
            </a:r>
          </a:p>
        </p:txBody>
      </p:sp>
      <p:sp>
        <p:nvSpPr>
          <p:cNvPr id="25" name="TextBox 24"/>
          <p:cNvSpPr txBox="1"/>
          <p:nvPr/>
        </p:nvSpPr>
        <p:spPr>
          <a:xfrm>
            <a:off x="4937760" y="4240987"/>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Separate facts, candidate cause and missing data.</a:t>
            </a:r>
          </a:p>
        </p:txBody>
      </p:sp>
      <p:sp>
        <p:nvSpPr>
          <p:cNvPr id="26" name="Rounded Rectangle 25"/>
          <p:cNvSpPr/>
          <p:nvPr/>
        </p:nvSpPr>
        <p:spPr>
          <a:xfrm>
            <a:off x="4096512" y="452262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33672" y="463235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285D9C"/>
                </a:solidFill>
                <a:latin typeface="Arial"/>
              </a:defRPr>
            </a:pPr>
            <a:r>
              <a:t>02:00</a:t>
            </a:r>
          </a:p>
        </p:txBody>
      </p:sp>
      <p:sp>
        <p:nvSpPr>
          <p:cNvPr id="28" name="TextBox 27"/>
          <p:cNvSpPr txBox="1"/>
          <p:nvPr/>
        </p:nvSpPr>
        <p:spPr>
          <a:xfrm>
            <a:off x="4937760" y="459577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the coding handoff</a:t>
            </a:r>
          </a:p>
        </p:txBody>
      </p:sp>
      <p:sp>
        <p:nvSpPr>
          <p:cNvPr id="29" name="TextBox 28"/>
          <p:cNvSpPr txBox="1"/>
          <p:nvPr/>
        </p:nvSpPr>
        <p:spPr>
          <a:xfrm>
            <a:off x="4937760" y="479694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Show the task contract, scoped diff and independent checks.</a:t>
            </a:r>
          </a:p>
        </p:txBody>
      </p:sp>
      <p:sp>
        <p:nvSpPr>
          <p:cNvPr id="30" name="Rounded Rectangle 29"/>
          <p:cNvSpPr/>
          <p:nvPr/>
        </p:nvSpPr>
        <p:spPr>
          <a:xfrm>
            <a:off x="4096512" y="5078577"/>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33672" y="518830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285D9C"/>
                </a:solidFill>
                <a:latin typeface="Arial"/>
              </a:defRPr>
            </a:pPr>
            <a:r>
              <a:t>02:00</a:t>
            </a:r>
          </a:p>
        </p:txBody>
      </p:sp>
      <p:sp>
        <p:nvSpPr>
          <p:cNvPr id="32" name="TextBox 31"/>
          <p:cNvSpPr txBox="1"/>
          <p:nvPr/>
        </p:nvSpPr>
        <p:spPr>
          <a:xfrm>
            <a:off x="4937760" y="515172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Choose conditional assurance</a:t>
            </a:r>
          </a:p>
        </p:txBody>
      </p:sp>
      <p:sp>
        <p:nvSpPr>
          <p:cNvPr id="33" name="TextBox 32"/>
          <p:cNvSpPr txBox="1"/>
          <p:nvPr/>
        </p:nvSpPr>
        <p:spPr>
          <a:xfrm>
            <a:off x="4937760" y="5352897"/>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Add targeted security or cost work only when justified.</a:t>
            </a:r>
          </a:p>
        </p:txBody>
      </p:sp>
      <p:sp>
        <p:nvSpPr>
          <p:cNvPr id="34" name="Rounded Rectangle 33"/>
          <p:cNvSpPr/>
          <p:nvPr/>
        </p:nvSpPr>
        <p:spPr>
          <a:xfrm>
            <a:off x="4096512" y="563453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33672" y="574426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285D9C"/>
                </a:solidFill>
                <a:latin typeface="Arial"/>
              </a:defRPr>
            </a:pPr>
            <a:r>
              <a:t>01:00</a:t>
            </a:r>
          </a:p>
        </p:txBody>
      </p:sp>
      <p:sp>
        <p:nvSpPr>
          <p:cNvPr id="36" name="TextBox 35"/>
          <p:cNvSpPr txBox="1"/>
          <p:nvPr/>
        </p:nvSpPr>
        <p:spPr>
          <a:xfrm>
            <a:off x="4937760" y="570768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Record the decision</a:t>
            </a:r>
          </a:p>
        </p:txBody>
      </p:sp>
      <p:sp>
        <p:nvSpPr>
          <p:cNvPr id="37" name="TextBox 36"/>
          <p:cNvSpPr txBox="1"/>
          <p:nvPr/>
        </p:nvSpPr>
        <p:spPr>
          <a:xfrm>
            <a:off x="4937760" y="590885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Name the release owner and required post-change verification.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ADOPTION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Test manual handoffs before orchestration</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Manual handoffs make authority and evidence defects visible early.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17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32:30–34:30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D13, K06, S10, F15</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Pilot phase</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Work to perform</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Expansion gate</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Week 1</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Scope one workload and rehearse access boundaries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Operators can explain and test the permissions</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Week 2</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Run manual incident-to-change handoff</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Evidence and ownership survive the transition</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Week 3</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Rehearse failure, cancellation and verification</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Stops and cleanup behave as expected</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Week 4</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Automate one proven adapter, if justified</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Useful output without hidden authority expansion</a:t>
                      </a:r>
                    </a:p>
                  </a:txBody>
                  <a:tcPr marL="128016" marR="128016" marT="82296" marB="54864">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CLOSE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Standardize work records; authorize actions separately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The proposed common model defines work records; product permissions remain separate.</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18 / 18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34:30–36:00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D13, K02, S10, F15</a:t>
            </a:r>
          </a:p>
        </p:txBody>
      </p:sp>
      <p:sp>
        <p:nvSpPr>
          <p:cNvPr id="10" name="Rounded Rectangle 9"/>
          <p:cNvSpPr/>
          <p:nvPr/>
        </p:nvSpPr>
        <p:spPr>
          <a:xfrm>
            <a:off x="50292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Standardize</a:t>
            </a:r>
          </a:p>
        </p:txBody>
      </p:sp>
      <p:sp>
        <p:nvSpPr>
          <p:cNvPr id="12" name="TextBox 11"/>
          <p:cNvSpPr txBox="1"/>
          <p:nvPr/>
        </p:nvSpPr>
        <p:spPr>
          <a:xfrm>
            <a:off x="66751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Work IDs, owners, evidence references and acceptance checks.</a:t>
            </a:r>
          </a:p>
        </p:txBody>
      </p:sp>
      <p:sp>
        <p:nvSpPr>
          <p:cNvPr id="13" name="Rounded Rectangle 12"/>
          <p:cNvSpPr/>
          <p:nvPr/>
        </p:nvSpPr>
        <p:spPr>
          <a:xfrm>
            <a:off x="429768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Keep distinct</a:t>
            </a:r>
          </a:p>
        </p:txBody>
      </p:sp>
      <p:sp>
        <p:nvSpPr>
          <p:cNvPr id="15" name="TextBox 14"/>
          <p:cNvSpPr txBox="1"/>
          <p:nvPr/>
        </p:nvSpPr>
        <p:spPr>
          <a:xfrm>
            <a:off x="446227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Credentials, runtime isolation, approvals and data boundaries.</a:t>
            </a:r>
          </a:p>
        </p:txBody>
      </p:sp>
      <p:sp>
        <p:nvSpPr>
          <p:cNvPr id="16" name="Rounded Rectangle 15"/>
          <p:cNvSpPr/>
          <p:nvPr/>
        </p:nvSpPr>
        <p:spPr>
          <a:xfrm>
            <a:off x="809244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Scale deliberately</a:t>
            </a:r>
          </a:p>
        </p:txBody>
      </p:sp>
      <p:sp>
        <p:nvSpPr>
          <p:cNvPr id="18" name="TextBox 17"/>
          <p:cNvSpPr txBox="1"/>
          <p:nvPr/>
        </p:nvSpPr>
        <p:spPr>
          <a:xfrm>
            <a:off x="825703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Automate a verified handoff—not an unbounded delegation chain.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P01 · Bounded workspaces and accountable owners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Documented analogue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500" b="0">
                <a:solidFill>
                  <a:srgbClr val="182B43"/>
                </a:solidFill>
                <a:latin typeface="Arial"/>
              </a:defRPr>
            </a:pPr>
            <a:r>
              <a:t>Define a service, repository set, or account group before delegating work. Give that boundary a named platform owner and a separate operational owner.</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Create a boundary record with application ID, environment, accounts, repositories, targets, authorized operators, and output destinations. Start with one team-owned workload.</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Workload scope record with named owners and tested authorization boundary.</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Attempt a harmless read of an explicitly out-of-scope test resource. Confirm denial at the actual integration or identity layer, not merely a refusal in chat.</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 workspace name, topology view, or prompt is not proof of an enforced security boundary. Test the underlying role and integration scope.</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D01, D05, K02, K03, S02, S03, F01, F02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P02 · Source-grounded context, with provenance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Documented analogue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Supply a minimum evidence packet: exact code or deployment version, relevant time window, authoritative source links, and known gaps. Separate observations from inferred explanations.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500" b="0">
                <a:solidFill>
                  <a:srgbClr val="182B43"/>
                </a:solidFill>
                <a:latin typeface="Arial"/>
              </a:defRPr>
            </a:pPr>
            <a:r>
              <a:t>Record a source owner, revision or timestamp, classification, and refresh rule for every context input. Keep one canonical owner map outside the agent.</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Source inventory with timestamps, versions, query filters, and known omissions.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Reproduce one material claim in the source system. Check the commit, application version, observation period, filters, and whether data was actually accessible.</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Connected data is not necessarily complete or current. A missing signal must remain missing rather than being filled in with a plausible narrative.</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D02, K11, K02, S03, F09, F04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P03 · Instructions and memory are not authorization</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Different mechanisms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Version explicit team instructions and review learned context separately. Enforce access, network reach, and execution authority in the controls that actually govern the chosen interface.</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Maintain approved runbooks, conventions, and owner mappings with review dates. Treat repository text, tool responses, and generated memory as inputs that can be wrong or untrusted.</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Versioned instruction record plus independently enforced IAM and tool permissions.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Change a non-sensitive convention in a test workspace and check its effect. Separately verify that instructions cannot grant a denied operation or broaden repository access.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Do not assume one shared memory store, instruction format, or permission configuration across the portfolio. A policy written in a document is not an IAM policy.</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K07, K08, K04, S09, S13, S02, F04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P04 · Explicit task contracts and trigger ownership</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Different mechanisms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Wrap every interactive, scheduled, or event-driven request in a bounded task: objective, inputs, allowed effects, owner, expected output, and completion criteria.</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Prove an on-demand task first. Then add only a supported trigger, one owner, a deduplication key, an escalation destination, and a way to disable recurrence.</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Task contract with objective, trigger, allowed effects, stop owner, and checks.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Replay the same sample event twice in a test setup. Ensure your team process or adapter prevents duplicate actionable work; no universal native deduplication is assumed.</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“Event-driven” does not mean every event type is supported. A schedule, webhook, issue trigger, and local IDE hook are different integration paths.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D02, D03, K09, K02, S03, S11, F05, F08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P05 · Authorize effects, not product labels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Different mechanisms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Classify each proposed effect as observation, repository change, external publication, application testing, or infrastructure mutation. Apply the destination’s native gate to that exact effect.</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Maintain an action register with initiator, tool, target, permissions, approval behavior, output visibility, and revocation owner. Classify custom tools before enabling them.</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Action classification and the applicable human or system approval record.</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Test one permitted action and one denied action for each configured path. Verify the identity, target, parameters, and whether approval is per call or pre-authorized.</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No portfolio-wide “human approval” switch exists in this design. The ability to generate a recommendation never transfers permission to execute it.</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D04, D05, K04, S03, S04, F03, F05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P06 · Isolate both execution and its targets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Different mechanisms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Constrain the worker environment and every system it can reach. Use disposable test data, narrow credentials, limited egress, and explicit non-production targets for active testing.</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Inventory egress, environment variables, test identities, external callbacks, and data-reset procedures. Remove live payment, email, and production-data paths from the test environment.</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Sandbox/target isolation evidence including blocked effects and cleanup ownership.</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 a controlled test, confirm an out-of-scope endpoint is blocked and a non-production write can be reset. Review logs and generated diffs for accidental secret disclosure.</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An isolated runner is not a guarantee that reachable databases, APIs, payment endpoints, or communication channels are isolated. Secrets can escape through permitted outputs.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D08, D09, K03, K05, K06, S04, F01, F03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P07 · Integrate through explicit adapters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Different mechanisms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Use documented product interfaces with their own authentication and scope. Keep the shared contract agent-neutral; put provider-specific request and response handling in small adapters.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250" b="0">
                <a:solidFill>
                  <a:srgbClr val="182B43"/>
                </a:solidFill>
                <a:latin typeface="Arial"/>
              </a:defRPr>
            </a:pPr>
            <a:r>
              <a:t>For each proposed connection, record client, server, protocol, authentication, enabled tools, data transferred, feature status, and failure behavior. A manual artifact handoff is a valid first implementation.</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Integration inventory showing adapter, credentials boundary, and supported actions.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Demonstrate one permitted call with a narrow identity. Remove the connection and verify access stops without breaking unrelated agents.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MCP compatibility is not a shared authorization domain. This report does not establish a generic FinOps MCP endpoint, common cross-agent API, or built-in four-agent orchestration service.</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D06, D07, K10, S08, S13, F10, F11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P08 · Artifact-first handoff between specialists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Recommended standard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Pass a small, reviewable evidence packet rather than raw conversation history: finding, affected scope, evidence links, proposed change, owner, acceptance tests, and expiry.</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Use the existing issue, pull request, or change record as the durable handoff. Give linked agent runs the same work-item ID and keep sensitive findings in approved locations.</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Handoff packet with referenced source evidence, exclusions, owner, and pending approvals.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Ask the receiving engineer to reconstruct the problem without reading the original chat. Reject packets with unresolved source access, missing versions, or no accountable owner.</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650" b="0">
                <a:solidFill>
                  <a:srgbClr val="182B43"/>
                </a:solidFill>
                <a:latin typeface="Arial"/>
              </a:defRPr>
            </a:pPr>
            <a:r>
              <a:t>The handoff contract below is a team convention, not an AWS schema. It carries context and provenance—not credentials, delegated authority, or transferable approvals.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D10, K12, K11, S05, S07, F07, F10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050" b="1">
                <a:solidFill>
                  <a:srgbClr val="182B43"/>
                </a:solidFill>
                <a:latin typeface="Arial"/>
              </a:defRPr>
            </a:pPr>
            <a:r>
              <a:t>P09 · Bounded asynchronous work and stop responsibility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Different mechanisms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Track every run as a job with a lifecycle, an owner, a work budget, and a stop procedure. Reconcile completed, partial, failed, cancelled, and waiting-for-input states explicitly.</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Set team-level concurrency and retry limits; use native caps where available. Record run identifiers, last observed state, budget consumption, and the operator who can stop the job.</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Job record with lifecycle transitions, time/cost budget, and stop/retry decisions.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Exercise cancellation on a safe task and confirm the server reaches a terminal state. Check partial outputs and duplicate retries before closing the work item.</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Client timeout is not proof that server work stopped. Product quotas, elapsed time, billable work, and spending caps are different concepts.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D03, K12, K02, S03, S10, S13, F05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P10 · Independent verification before promotion</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Recommended standard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Define acceptance criteria before a run and verify the result with evidence independent of the generated narrative. Keep merge, deployment, security acceptance, and financial decisions with accountable owners.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Write separate checks for code behavior, operational recovery, finding reproduction, and billing reconciliation. Use ordinary CI and source dashboards wherever possible.</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Acceptance test evidence independent of the agent-generated assertion.</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Re-run the relevant test against the exact proposed commit or deployed version. Document unresolved coverage and compare cost results with matched periods and dimensions.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Completed is not correct; a passing gate is not complete coverage; an estimate is not realized savings. Confidence and scope must remain attached to the result.</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D11, K01, K02, S04, S06, F03, F07, F09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P11 · Evidence lineage and separate systems of record</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Recommended standard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Correlate request, run, source version, evidence, approval, change, and observed outcome in a durable work record. Store evidence under the access and retention policy appropriate to its sensitivity.</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Use one correlation ID across links; retain minimal structured metadata and source references. Define access to evidence separately from access to the generated executive summary.</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Linked identifiers across source, run, finding, change, approval, and observed result.</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Sample a completed work item. Reconstruct who requested it, what it read, what it changed or published, who authorized the effect, and how the result was verified.</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There is no common portfolio-wide audit trail asserted here. A chat log does not replace Git history, cloud audit events, security evidence, or billing records.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D04, D03, K12, K02, S05, S06, F05, F09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000" b="1">
                <a:solidFill>
                  <a:srgbClr val="182B43"/>
                </a:solidFill>
                <a:latin typeface="Arial"/>
              </a:defRPr>
            </a:pPr>
            <a:r>
              <a:t>P12 · Feature-level availability and data-location gates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Different mechanisms · Architecture pattern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PROPOSED ARCHITECTURE PATTERN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Approve the exact combination of feature, interface, Region, inference route, data classification, and integration destination. Recheck it when the configuration or product changes.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450" b="0">
                <a:solidFill>
                  <a:srgbClr val="182B43"/>
                </a:solidFill>
                <a:latin typeface="Arial"/>
              </a:defRPr>
            </a:pPr>
            <a:r>
              <a:t>Keep a feature register with status, storage Region, processing geography, eligible users/plans, source links, owner, and review date. Treat preview use as an explicit exception decision.</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Feature-specific availability and data-route decision with approved target and Region.</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Trace one representative artifact from source through service processing to PR, ticket, or channel. Confirm each destination is approved before providing sensitive data.</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Availability in a Region does not establish end-to-end data residency. Source location, service storage, model inference, and third-party output destinations are separate boundaries.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D09, K01, S12, F06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285D9C"/>
                </a:solidFill>
                <a:latin typeface="Arial"/>
              </a:defRPr>
            </a:pPr>
            <a:r>
              <a:t>COMMON ARCHITECTURAL PATTERNS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Official evidence and delivery boundary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Use the linked product documentation and the complete report source register.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Common architectural patterns</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TextBox 8"/>
          <p:cNvSpPr txBox="1"/>
          <p:nvPr/>
        </p:nvSpPr>
        <p:spPr>
          <a:xfrm>
            <a:off x="594360" y="2331720"/>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285D9C"/>
                </a:solidFill>
                <a:latin typeface="Arial"/>
              </a:defRPr>
            </a:pPr>
            <a:r>
              <a:rPr>
                <a:hlinkClick r:id="rId3"/>
              </a:rPr>
              <a:t>D01  About AWS DevOps Agent</a:t>
            </a:r>
          </a:p>
        </p:txBody>
      </p:sp>
      <p:sp>
        <p:nvSpPr>
          <p:cNvPr id="10" name="TextBox 9"/>
          <p:cNvSpPr txBox="1"/>
          <p:nvPr/>
        </p:nvSpPr>
        <p:spPr>
          <a:xfrm>
            <a:off x="594360" y="2862072"/>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285D9C"/>
                </a:solidFill>
                <a:latin typeface="Arial"/>
              </a:defRPr>
            </a:pPr>
            <a:r>
              <a:rPr>
                <a:hlinkClick r:id="rId4"/>
              </a:rPr>
              <a:t>D03  Autonomous incident response</a:t>
            </a:r>
          </a:p>
        </p:txBody>
      </p:sp>
      <p:sp>
        <p:nvSpPr>
          <p:cNvPr id="11" name="TextBox 10"/>
          <p:cNvSpPr txBox="1"/>
          <p:nvPr/>
        </p:nvSpPr>
        <p:spPr>
          <a:xfrm>
            <a:off x="594360" y="3392424"/>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285D9C"/>
                </a:solidFill>
                <a:latin typeface="Arial"/>
              </a:defRPr>
            </a:pPr>
            <a:r>
              <a:rPr>
                <a:hlinkClick r:id="rId5"/>
              </a:rPr>
              <a:t>D04  Proactive incident prevention</a:t>
            </a:r>
          </a:p>
        </p:txBody>
      </p:sp>
      <p:sp>
        <p:nvSpPr>
          <p:cNvPr id="12" name="TextBox 11"/>
          <p:cNvSpPr txBox="1"/>
          <p:nvPr/>
        </p:nvSpPr>
        <p:spPr>
          <a:xfrm>
            <a:off x="594360" y="3922775"/>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285D9C"/>
                </a:solidFill>
                <a:latin typeface="Arial"/>
              </a:defRPr>
            </a:pPr>
            <a:r>
              <a:rPr>
                <a:hlinkClick r:id="rId6"/>
              </a:rPr>
              <a:t>D06  Custom Agents</a:t>
            </a:r>
          </a:p>
        </p:txBody>
      </p:sp>
      <p:sp>
        <p:nvSpPr>
          <p:cNvPr id="13" name="TextBox 12"/>
          <p:cNvSpPr txBox="1"/>
          <p:nvPr/>
        </p:nvSpPr>
        <p:spPr>
          <a:xfrm>
            <a:off x="594360" y="4453127"/>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285D9C"/>
                </a:solidFill>
                <a:latin typeface="Arial"/>
              </a:defRPr>
            </a:pPr>
            <a:r>
              <a:rPr>
                <a:hlinkClick r:id="rId7"/>
              </a:rPr>
              <a:t>D11  Release testing</a:t>
            </a:r>
          </a:p>
        </p:txBody>
      </p:sp>
      <p:sp>
        <p:nvSpPr>
          <p:cNvPr id="14" name="TextBox 13"/>
          <p:cNvSpPr txBox="1"/>
          <p:nvPr/>
        </p:nvSpPr>
        <p:spPr>
          <a:xfrm>
            <a:off x="594360" y="4983479"/>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285D9C"/>
                </a:solidFill>
                <a:latin typeface="Arial"/>
              </a:defRPr>
            </a:pPr>
            <a:r>
              <a:rPr>
                <a:hlinkClick r:id="rId8"/>
              </a:rPr>
              <a:t>D13  Working with directed actions</a:t>
            </a:r>
          </a:p>
        </p:txBody>
      </p:sp>
      <p:sp>
        <p:nvSpPr>
          <p:cNvPr id="15" name="TextBox 14"/>
          <p:cNvSpPr txBox="1"/>
          <p:nvPr/>
        </p:nvSpPr>
        <p:spPr>
          <a:xfrm>
            <a:off x="594360" y="5660136"/>
            <a:ext cx="10927080" cy="475488"/>
          </a:xfrm>
          <a:prstGeom prst="rect">
            <a:avLst/>
          </a:prstGeom>
          <a:noFill/>
        </p:spPr>
        <p:txBody>
          <a:bodyPr wrap="square" lIns="0" rIns="0" tIns="0" bIns="0" anchor="t">
            <a:spAutoFit/>
          </a:bodyPr>
          <a:lstStyle/>
          <a:p>
            <a:pPr>
              <a:lnSpc>
                <a:spcPct val="112000"/>
              </a:lnSpc>
              <a:spcAft>
                <a:spcPts val="300"/>
              </a:spcAft>
              <a:defRPr sz="1500" b="0">
                <a:solidFill>
                  <a:srgbClr val="55657A"/>
                </a:solidFill>
                <a:latin typeface="Arial"/>
              </a:defRPr>
            </a:pPr>
            <a:r>
              <a:t>Complete source URLs are embedded in speaker notes. Demo slots include fallback walkthroughs; questions and breaks are additional.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architectural patterns — engineering field guide</dc:title>
  <dc:subject>Source-aligned publication edition; timed demonstrations and official documentation.</dc:subject>
  <dc:creator>Frontier agents documentation</dc:creator>
  <cp:keywords/>
  <dc:description>Independent synthesis. No live AWS execution or measured benefit is claimed.</dc:description>
  <cp:lastModifiedBy>Steve Canny</cp:lastModifiedBy>
  <cp:revision>1</cp:revision>
  <dcterms:created xsi:type="dcterms:W3CDTF">2013-01-27T09:14:16Z</dcterms:created>
  <dcterms:modified xsi:type="dcterms:W3CDTF">2013-01-27T09:15:58Z</dcterms:modified>
  <cp:category/>
</cp:coreProperties>
</file>