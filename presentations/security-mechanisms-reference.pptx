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Additional Learning Resources are application inputs, not evidence of a cross-incident training mechanism. A penetration test can use source code and design information, validate findings, propose repairs and rerun selected checks. Each stage has a different authorization and acceptance boundary.</a:t>
            </a:r>
          </a:p>
          <a:p/>
          <a:p>
            <a:r>
              <a:t>Updated application context → scoped assessment → evidence and findings → reviewed/deployed repair → targeted revalidation. No configurable cross-run incident-memory switch was identified in the reviewed guidance. This is an evidence limitation, not a claim about undisclosed internals.</a:t>
            </a:r>
          </a:p>
          <a:p/>
          <a:p>
            <a:r>
              <a:t>Documented configuration, not a claim about undisclosed internals. No live AWS test or measured improvement. Retained context does not establish customer-controlled model training.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 AWS Security Agent / AWS Continuum — mechanisms and enablement</a:t>
            </a:r>
          </a:p>
          <a:p/>
          <a:p>
            <a:r>
              <a:t>Reviewed 21 October 2026. Independent checks and examples are proposed; no live workflow was executed.</a:t>
            </a:r>
          </a:p>
          <a:p/>
          <a:p>
            <a:r>
              <a:t>## Mechanism model</a:t>
            </a:r>
          </a:p>
          <a:p/>
          <a:p>
            <a:r>
              <a:t>Additional Learning Resources are application inputs, not evidence of a cross-incident training mechanism. A penetration test can use source code and design information, validate findings, propose repairs and rerun selected checks. Each stage has a different authorization and acceptance boundary.</a:t>
            </a:r>
          </a:p>
          <a:p/>
          <a:p>
            <a:r>
              <a:t>Updated application context → scoped assessment → evidence and findings → reviewed/deployed repair → targeted revalidation. No configurable cross-run incident-memory switch was identified in the reviewed guidance. This is an evidence limitation, not a claim about undisclosed internals.</a:t>
            </a:r>
          </a:p>
          <a:p/>
          <a:p>
            <a:r>
              <a:t>Penetration testing is generally available. Code review, design review and threat modeling are documented as preview; check feature and Region access before setup.</a:t>
            </a:r>
          </a:p>
          <a:p/>
          <a:p>
            <a:r>
              <a:t>## S-M01 — Supply application context for a scoped test</a:t>
            </a:r>
          </a:p>
          <a:p/>
          <a:p>
            <a:r>
              <a:t>**Surface:** Penetration-test creation / web application</a:t>
            </a:r>
          </a:p>
          <a:p/>
          <a:p>
            <a:r>
              <a:t>**Availability:** Penetration testing GA</a:t>
            </a:r>
          </a:p>
          <a:p/>
          <a:p>
            <a:r>
              <a:t>**Activation:** Select connected resources per test</a:t>
            </a:r>
          </a:p>
          <a:p/>
          <a:p>
            <a:r>
              <a:t>### Documented mechanism</a:t>
            </a:r>
          </a:p>
          <a:p/>
          <a:p>
            <a:r>
              <a:t>Additional Learning Resources supply source and application documents to the assessment. This is task context; the reviewed guidance does not identify it as a persistent incident-memory control.</a:t>
            </a:r>
          </a:p>
          <a:p/>
          <a:p>
            <a:r>
              <a:t>### Enable and configure</a:t>
            </a:r>
          </a:p>
          <a:p/>
          <a:p>
            <a:r>
              <a:t>An enabled Agent Space, authorized and verified target, and permission to provide the selected application materials.</a:t>
            </a:r>
          </a:p>
          <a:p/>
          <a:p>
            <a:r>
              <a:t>1. Create a penetration test and define the target and exclusions.</a:t>
            </a:r>
          </a:p>
          <a:p/>
          <a:p>
            <a:r>
              <a:t>2. At Additional Learning Resources, select connected resources or upload the relevant material.</a:t>
            </a:r>
          </a:p>
          <a:p/>
          <a:p>
            <a:r>
              <a:t>3. Confirm the selected revision and network access needed by connected sources before starting.</a:t>
            </a:r>
          </a:p>
          <a:p/>
          <a:p>
            <a:r>
              <a:t>### Scope and persistence</a:t>
            </a:r>
          </a:p>
          <a:p/>
          <a:p>
            <a:r>
              <a:t>Test-selected context may contain source, API or design information. Connected sources can expose updated versions on subsequent use.</a:t>
            </a:r>
          </a:p>
          <a:p/>
          <a:p>
            <a:r>
              <a:t>### Independent checks — proposed</a:t>
            </a:r>
          </a:p>
          <a:p/>
          <a:p>
            <a:r>
              <a:t>- Use a staging target and a non-sensitive application note with a traceable revision.</a:t>
            </a:r>
          </a:p>
          <a:p/>
          <a:p>
            <a:r>
              <a:t>- Inspect test context and coverage against that revision; verify the deployed application matches it.</a:t>
            </a:r>
          </a:p>
          <a:p/>
          <a:p>
            <a:r>
              <a:t>### Record to retain — proposed</a:t>
            </a:r>
          </a:p>
          <a:p/>
          <a:p>
            <a:r>
              <a:t>Target authorization, resource selection, revision identifiers, exclusions and test ID.</a:t>
            </a:r>
          </a:p>
          <a:p/>
          <a:p>
            <a:r>
              <a:t>### Stop, correct or remove</a:t>
            </a:r>
          </a:p>
          <a:p/>
          <a:p>
            <a:r>
              <a:t>Change selected resources for the next test. Use integration and repository access controls to restrict the available material.</a:t>
            </a:r>
          </a:p>
          <a:p/>
          <a:p>
            <a:r>
              <a:t>### Limits and fallback</a:t>
            </a:r>
          </a:p>
          <a:p/>
          <a:p>
            <a:r>
              <a:t>Adding context does not authorize out-of-scope testing or establish cross-run model training.</a:t>
            </a:r>
          </a:p>
          <a:p/>
          <a:p>
            <a:r>
              <a:t>Exclude an unavailable source and record the coverage limitation; do not widen target access to resolve a document problem.</a:t>
            </a:r>
          </a:p>
          <a:p/>
          <a:p>
            <a:r>
              <a:t>### Illustrative task — not executed</a:t>
            </a:r>
          </a:p>
          <a:p/>
          <a:p>
            <a:r>
              <a:t>Illustrative context: a sanitized API description identifying a staging endpoint and the test roles permitted to use it.</a:t>
            </a:r>
          </a:p>
          <a:p/>
          <a:p>
            <a:r>
              <a:t>### Official guidance</a:t>
            </a:r>
          </a:p>
          <a:p/>
          <a:p>
            <a:r>
              <a:t>[SC: Create a penetration test](https://docs.aws.amazon.com/securityagent/latest/userguide/perform-penetration-test.html)</a:t>
            </a:r>
          </a:p>
          <a:p/>
          <a:p>
            <a:r>
              <a:t>[SG: Security considerations and finding validation](https://docs.aws.amazon.com/securityagent/latest/userguide/security-guidance.html)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 AWS Security Agent / AWS Continuum — mechanisms and enablement</a:t>
            </a:r>
          </a:p>
          <a:p/>
          <a:p>
            <a:r>
              <a:t>Reviewed 21 October 2026. Independent checks and examples are proposed; no live workflow was executed.</a:t>
            </a:r>
          </a:p>
          <a:p/>
          <a:p>
            <a:r>
              <a:t>## Mechanism model</a:t>
            </a:r>
          </a:p>
          <a:p/>
          <a:p>
            <a:r>
              <a:t>Additional Learning Resources are application inputs, not evidence of a cross-incident training mechanism. A penetration test can use source code and design information, validate findings, propose repairs and rerun selected checks. Each stage has a different authorization and acceptance boundary.</a:t>
            </a:r>
          </a:p>
          <a:p/>
          <a:p>
            <a:r>
              <a:t>Updated application context → scoped assessment → evidence and findings → reviewed/deployed repair → targeted revalidation. No configurable cross-run incident-memory switch was identified in the reviewed guidance. This is an evidence limitation, not a claim about undisclosed internals.</a:t>
            </a:r>
          </a:p>
          <a:p/>
          <a:p>
            <a:r>
              <a:t>Penetration testing is generally available. Code review, design review and threat modeling are documented as preview; check feature and Region access before setup.</a:t>
            </a:r>
          </a:p>
          <a:p/>
          <a:p>
            <a:r>
              <a:t>## S-M02 — Authenticate a test without expanding its scope</a:t>
            </a:r>
          </a:p>
          <a:p/>
          <a:p>
            <a:r>
              <a:t>**Surface:** Penetration-test authentication configuration</a:t>
            </a:r>
          </a:p>
          <a:p/>
          <a:p>
            <a:r>
              <a:t>**Availability:** Penetration testing GA</a:t>
            </a:r>
          </a:p>
          <a:p/>
          <a:p>
            <a:r>
              <a:t>**Activation:** Explicit test credentials or advanced credential flow</a:t>
            </a:r>
          </a:p>
          <a:p/>
          <a:p>
            <a:r>
              <a:t>### Documented mechanism</a:t>
            </a:r>
          </a:p>
          <a:p/>
          <a:p>
            <a:r>
              <a:t>Authentication lets the assessment reach authorized application behavior. The guide distinguishes direct credentials from advanced flows using IAM, Secrets Manager and Lambda.</a:t>
            </a:r>
          </a:p>
          <a:p/>
          <a:p>
            <a:r>
              <a:t>### Enable and configure</a:t>
            </a:r>
          </a:p>
          <a:p/>
          <a:p>
            <a:r>
              <a:t>Owner authorization, test identities with bounded privileges, valid login behavior and approved secret handling.</a:t>
            </a:r>
          </a:p>
          <a:p/>
          <a:p>
            <a:r>
              <a:t>1. Open the authentication configuration for the test.</a:t>
            </a:r>
          </a:p>
          <a:p/>
          <a:p>
            <a:r>
              <a:t>2. Choose the documented credential method; configure the login target and instructions where required.</a:t>
            </a:r>
          </a:p>
          <a:p/>
          <a:p>
            <a:r>
              <a:t>3. Verify the test account and its allowed roles before launching the assessment.</a:t>
            </a:r>
          </a:p>
          <a:p/>
          <a:p>
            <a:r>
              <a:t>### Scope and persistence</a:t>
            </a:r>
          </a:p>
          <a:p/>
          <a:p>
            <a:r>
              <a:t>The credential method grants application access only within the intended test scope; network connectivity and target exclusions remain separate.</a:t>
            </a:r>
          </a:p>
          <a:p/>
          <a:p>
            <a:r>
              <a:t>### Independent checks — proposed</a:t>
            </a:r>
          </a:p>
          <a:p/>
          <a:p>
            <a:r>
              <a:t>- Sign in with the test identity through an approved manual check.</a:t>
            </a:r>
          </a:p>
          <a:p/>
          <a:p>
            <a:r>
              <a:t>- Confirm both an allowed operation and a forbidden operation; inspect test logs for authentication failures.</a:t>
            </a:r>
          </a:p>
          <a:p/>
          <a:p>
            <a:r>
              <a:t>### Record to retain — proposed</a:t>
            </a:r>
          </a:p>
          <a:p/>
          <a:p>
            <a:r>
              <a:t>Redacted authentication method, test role, allowed operations, login check and revocation record.</a:t>
            </a:r>
          </a:p>
          <a:p/>
          <a:p>
            <a:r>
              <a:t>### Stop, correct or remove</a:t>
            </a:r>
          </a:p>
          <a:p/>
          <a:p>
            <a:r>
              <a:t>Revoke or rotate the test identity after the exercise. Stop the test if observed activity exceeds authorization.</a:t>
            </a:r>
          </a:p>
          <a:p/>
          <a:p>
            <a:r>
              <a:t>### Limits and fallback</a:t>
            </a:r>
          </a:p>
          <a:p/>
          <a:p>
            <a:r>
              <a:t>Credentials do not belong in steering, persistent memory, exported evidence or this repository.</a:t>
            </a:r>
          </a:p>
          <a:p/>
          <a:p>
            <a:r>
              <a:t>Pause the test and repair the authorized credential flow; label unauthenticated coverage as incomplete.</a:t>
            </a:r>
          </a:p>
          <a:p/>
          <a:p>
            <a:r>
              <a:t>### Illustrative task — not executed</a:t>
            </a:r>
          </a:p>
          <a:p/>
          <a:p>
            <a:r>
              <a:t>Illustrative: configure a staging-only reviewer account with no billing, administrative or production privileges.</a:t>
            </a:r>
          </a:p>
          <a:p/>
          <a:p>
            <a:r>
              <a:t>### Official guidance</a:t>
            </a:r>
          </a:p>
          <a:p/>
          <a:p>
            <a:r>
              <a:t>[SA: Provide authentication credentials](https://docs.aws.amazon.com/securityagent/latest/userguide/provide-testing-credentials.html)</a:t>
            </a:r>
          </a:p>
          <a:p/>
          <a:p>
            <a:r>
              <a:t>[SC: Create a penetration test](https://docs.aws.amazon.com/securityagent/latest/userguide/perform-penetration-test.html)</a:t>
            </a:r>
          </a:p>
          <a:p/>
          <a:p>
            <a:r>
              <a:t>[SG: Security considerations and finding validation](https://docs.aws.amazon.com/securityagent/latest/userguide/security-guidance.html)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 AWS Security Agent / AWS Continuum — mechanisms and enablement</a:t>
            </a:r>
          </a:p>
          <a:p/>
          <a:p>
            <a:r>
              <a:t>Reviewed 21 October 2026. Independent checks and examples are proposed; no live workflow was executed.</a:t>
            </a:r>
          </a:p>
          <a:p/>
          <a:p>
            <a:r>
              <a:t>## Mechanism model</a:t>
            </a:r>
          </a:p>
          <a:p/>
          <a:p>
            <a:r>
              <a:t>Additional Learning Resources are application inputs, not evidence of a cross-incident training mechanism. A penetration test can use source code and design information, validate findings, propose repairs and rerun selected checks. Each stage has a different authorization and acceptance boundary.</a:t>
            </a:r>
          </a:p>
          <a:p/>
          <a:p>
            <a:r>
              <a:t>Updated application context → scoped assessment → evidence and findings → reviewed/deployed repair → targeted revalidation. No configurable cross-run incident-memory switch was identified in the reviewed guidance. This is an evidence limitation, not a claim about undisclosed internals.</a:t>
            </a:r>
          </a:p>
          <a:p/>
          <a:p>
            <a:r>
              <a:t>Penetration testing is generally available. Code review, design review and threat modeling are documented as preview; check feature and Region access before setup.</a:t>
            </a:r>
          </a:p>
          <a:p/>
          <a:p>
            <a:r>
              <a:t>## S-M03 — Validate and review reported findings</a:t>
            </a:r>
          </a:p>
          <a:p/>
          <a:p>
            <a:r>
              <a:t>**Surface:** Penetration-test results</a:t>
            </a:r>
          </a:p>
          <a:p/>
          <a:p>
            <a:r>
              <a:t>**Availability:** Penetration testing GA</a:t>
            </a:r>
          </a:p>
          <a:p/>
          <a:p>
            <a:r>
              <a:t>**Activation:** Service validation plus reviewer inspection</a:t>
            </a:r>
          </a:p>
          <a:p/>
          <a:p>
            <a:r>
              <a:t>### Documented mechanism</a:t>
            </a:r>
          </a:p>
          <a:p/>
          <a:p>
            <a:r>
              <a:t>The service uses deterministic checks where possible and independent replay in other cases. Results distinguish validated findings from lower-confidence or unverified candidates.</a:t>
            </a:r>
          </a:p>
          <a:p/>
          <a:p>
            <a:r>
              <a:t>### Enable and configure</a:t>
            </a:r>
          </a:p>
          <a:p/>
          <a:p>
            <a:r>
              <a:t>A completed or progressing authorized assessment and access to its results.</a:t>
            </a:r>
          </a:p>
          <a:p/>
          <a:p>
            <a:r>
              <a:t>1. Open the penetration-test results and inspect the finding evidence.</a:t>
            </a:r>
          </a:p>
          <a:p/>
          <a:p>
            <a:r>
              <a:t>2. Review confidence, reproduction material and coverage, not just severity.</a:t>
            </a:r>
          </a:p>
          <a:p/>
          <a:p>
            <a:r>
              <a:t>3. Inspect unverified candidates separately where the interface permits; do not silently promote them to confirmed defects.</a:t>
            </a:r>
          </a:p>
          <a:p/>
          <a:p>
            <a:r>
              <a:t>### Scope and persistence</a:t>
            </a:r>
          </a:p>
          <a:p/>
          <a:p>
            <a:r>
              <a:t>A finding relates to the tested application state and selected scope.</a:t>
            </a:r>
          </a:p>
          <a:p/>
          <a:p>
            <a:r>
              <a:t>### Independent checks — proposed</a:t>
            </a:r>
          </a:p>
          <a:p/>
          <a:p>
            <a:r>
              <a:t>- Have an authorized reviewer reproduce a selected finding safely in staging.</a:t>
            </a:r>
          </a:p>
          <a:p/>
          <a:p>
            <a:r>
              <a:t>- Compare the request, identity, application version and impact with the report.</a:t>
            </a:r>
          </a:p>
          <a:p/>
          <a:p>
            <a:r>
              <a:t>### Record to retain — proposed</a:t>
            </a:r>
          </a:p>
          <a:p/>
          <a:p>
            <a:r>
              <a:t>Finding ID, evidence, confidence, affected version, reproduction decision and unresolved coverage.</a:t>
            </a:r>
          </a:p>
          <a:p/>
          <a:p>
            <a:r>
              <a:t>### Stop, correct or remove</a:t>
            </a:r>
          </a:p>
          <a:p/>
          <a:p>
            <a:r>
              <a:t>Keep active-test monitoring and stop responsibility with the authorized operator.</a:t>
            </a:r>
          </a:p>
          <a:p/>
          <a:p>
            <a:r>
              <a:t>### Limits and fallback</a:t>
            </a:r>
          </a:p>
          <a:p/>
          <a:p>
            <a:r>
              <a:t>Validation does not prove complete security coverage. A missing finding is not proof that a defect is absent.</a:t>
            </a:r>
          </a:p>
          <a:p/>
          <a:p>
            <a:r>
              <a:t>Classify the finding as unresolved when reproduction or evidence is insufficient; do not convert uncertainty into a pass.</a:t>
            </a:r>
          </a:p>
          <a:p/>
          <a:p>
            <a:r>
              <a:t>### Illustrative task — not executed</a:t>
            </a:r>
          </a:p>
          <a:p/>
          <a:p>
            <a:r>
              <a:t>Illustrative review: distinguish an observed access-control violation from a hypothesis inferred from source code.</a:t>
            </a:r>
          </a:p>
          <a:p/>
          <a:p>
            <a:r>
              <a:t>### Official guidance</a:t>
            </a:r>
          </a:p>
          <a:p/>
          <a:p>
            <a:r>
              <a:t>[SG: Security considerations and finding validation](https://docs.aws.amazon.com/securityagent/latest/userguide/security-guidance.html)</a:t>
            </a:r>
          </a:p>
          <a:p/>
          <a:p>
            <a:r>
              <a:t>[SV: Review penetration-test findings](https://docs.aws.amazon.com/securityagent/latest/userguide/review-penetration-findings.html)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 AWS Security Agent / AWS Continuum — mechanisms and enablement</a:t>
            </a:r>
          </a:p>
          <a:p/>
          <a:p>
            <a:r>
              <a:t>Reviewed 21 October 2026. Independent checks and examples are proposed; no live workflow was executed.</a:t>
            </a:r>
          </a:p>
          <a:p/>
          <a:p>
            <a:r>
              <a:t>## Mechanism model</a:t>
            </a:r>
          </a:p>
          <a:p/>
          <a:p>
            <a:r>
              <a:t>Additional Learning Resources are application inputs, not evidence of a cross-incident training mechanism. A penetration test can use source code and design information, validate findings, propose repairs and rerun selected checks. Each stage has a different authorization and acceptance boundary.</a:t>
            </a:r>
          </a:p>
          <a:p/>
          <a:p>
            <a:r>
              <a:t>Updated application context → scoped assessment → evidence and findings → reviewed/deployed repair → targeted revalidation. No configurable cross-run incident-memory switch was identified in the reviewed guidance. This is an evidence limitation, not a claim about undisclosed internals.</a:t>
            </a:r>
          </a:p>
          <a:p/>
          <a:p>
            <a:r>
              <a:t>Penetration testing is generally available. Code review, design review and threat modeling are documented as preview; check feature and Region access before setup.</a:t>
            </a:r>
          </a:p>
          <a:p/>
          <a:p>
            <a:r>
              <a:t>## S-M04 — Maintain security requirements as explicit policy context</a:t>
            </a:r>
          </a:p>
          <a:p/>
          <a:p>
            <a:r>
              <a:t>**Surface:** Security requirements console</a:t>
            </a:r>
          </a:p>
          <a:p/>
          <a:p>
            <a:r>
              <a:t>**Availability:** Design/code review are preview</a:t>
            </a:r>
          </a:p>
          <a:p/>
          <a:p>
            <a:r>
              <a:t>**Activation:** Enable a managed or custom requirement pack</a:t>
            </a:r>
          </a:p>
          <a:p/>
          <a:p>
            <a:r>
              <a:t>### Documented mechanism</a:t>
            </a:r>
          </a:p>
          <a:p/>
          <a:p>
            <a:r>
              <a:t>Requirement packs define criteria used during design and code reviews. They are shared across Agent Spaces, not a private memory of one application.</a:t>
            </a:r>
          </a:p>
          <a:p/>
          <a:p>
            <a:r>
              <a:t>### Enable and configure</a:t>
            </a:r>
          </a:p>
          <a:p/>
          <a:p>
            <a:r>
              <a:t>Access to security-requirement administration and an approved applicability definition.</a:t>
            </a:r>
          </a:p>
          <a:p/>
          <a:p>
            <a:r>
              <a:t>1. Open Security requirements and select a managed pack or create a custom pack.</a:t>
            </a:r>
          </a:p>
          <a:p/>
          <a:p>
            <a:r>
              <a:t>2. For a custom requirement, define applicability, compliance criteria and remediation guidance.</a:t>
            </a:r>
          </a:p>
          <a:p/>
          <a:p>
            <a:r>
              <a:t>3. Enable the pack and run a new review to evaluate the change.</a:t>
            </a:r>
          </a:p>
          <a:p/>
          <a:p>
            <a:r>
              <a:t>### Scope and persistence</a:t>
            </a:r>
          </a:p>
          <a:p/>
          <a:p>
            <a:r>
              <a:t>Pack changes affect new reviews, not existing review results. Managed requirements are read-only.</a:t>
            </a:r>
          </a:p>
          <a:p/>
          <a:p>
            <a:r>
              <a:t>### Independent checks — proposed</a:t>
            </a:r>
          </a:p>
          <a:p/>
          <a:p>
            <a:r>
              <a:t>- Use one applicable example and one deliberately not-applicable example.</a:t>
            </a:r>
          </a:p>
          <a:p/>
          <a:p>
            <a:r>
              <a:t>- Check the reported requirement identifier and retain the pack revision used for the review.</a:t>
            </a:r>
          </a:p>
          <a:p/>
          <a:p>
            <a:r>
              <a:t>### Record to retain — proposed</a:t>
            </a:r>
          </a:p>
          <a:p/>
          <a:p>
            <a:r>
              <a:t>Pack and requirement IDs, applicability, revision, review ID and reviewer decision.</a:t>
            </a:r>
          </a:p>
          <a:p/>
          <a:p>
            <a:r>
              <a:t>### Stop, correct or remove</a:t>
            </a:r>
          </a:p>
          <a:p/>
          <a:p>
            <a:r>
              <a:t>Disable a pack to exclude it from new reviews; preserve the approved custom definition before editing.</a:t>
            </a:r>
          </a:p>
          <a:p/>
          <a:p>
            <a:r>
              <a:t>### Limits and fallback</a:t>
            </a:r>
          </a:p>
          <a:p/>
          <a:p>
            <a:r>
              <a:t>Uploading new source documents regenerates the pack and replaces existing requirements, including manual entries. Framework packs do not certify compliance.</a:t>
            </a:r>
          </a:p>
          <a:p/>
          <a:p>
            <a:r>
              <a:t>Keep a manually reviewed policy checklist while resolving pack applicability; do not reuse an old review as evidence of a new pack.</a:t>
            </a:r>
          </a:p>
          <a:p/>
          <a:p>
            <a:r>
              <a:t>### Illustrative task — not executed</a:t>
            </a:r>
          </a:p>
          <a:p/>
          <a:p>
            <a:r>
              <a:t>Illustrative policy: authenticated service endpoints must enforce ownership checks; explicitly exclude public health endpoints.</a:t>
            </a:r>
          </a:p>
          <a:p/>
          <a:p>
            <a:r>
              <a:t>### Official guidance</a:t>
            </a:r>
          </a:p>
          <a:p/>
          <a:p>
            <a:r>
              <a:t>[SP: Manage security requirements](https://docs.aws.amazon.com/securityagent/latest/userguide/security-requirements.html)</a:t>
            </a:r>
          </a:p>
          <a:p/>
          <a:p>
            <a:r>
              <a:t>[SL: Resource hierarchy and lifecycle](https://docs.aws.amazon.com/securityagent/latest/userguide/understand-lifecycle.html)</a:t>
            </a:r>
          </a:p>
          <a:p/>
          <a:p>
            <a:r>
              <a:t>[SB: Pricing and preview capability status](https://docs.aws.amazon.com/securityagent/latest/userguide/pricing.html)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 AWS Security Agent / AWS Continuum — mechanisms and enablement</a:t>
            </a:r>
          </a:p>
          <a:p/>
          <a:p>
            <a:r>
              <a:t>Reviewed 21 October 2026. Independent checks and examples are proposed; no live workflow was executed.</a:t>
            </a:r>
          </a:p>
          <a:p/>
          <a:p>
            <a:r>
              <a:t>## Mechanism model</a:t>
            </a:r>
          </a:p>
          <a:p/>
          <a:p>
            <a:r>
              <a:t>Additional Learning Resources are application inputs, not evidence of a cross-incident training mechanism. A penetration test can use source code and design information, validate findings, propose repairs and rerun selected checks. Each stage has a different authorization and acceptance boundary.</a:t>
            </a:r>
          </a:p>
          <a:p/>
          <a:p>
            <a:r>
              <a:t>Updated application context → scoped assessment → evidence and findings → reviewed/deployed repair → targeted revalidation. No configurable cross-run incident-memory switch was identified in the reviewed guidance. This is an evidence limitation, not a claim about undisclosed internals.</a:t>
            </a:r>
          </a:p>
          <a:p/>
          <a:p>
            <a:r>
              <a:t>Penetration testing is generally available. Code review, design review and threat modeling are documented as preview; check feature and Region access before setup.</a:t>
            </a:r>
          </a:p>
          <a:p/>
          <a:p>
            <a:r>
              <a:t>## S-M05 — Enable proposed code repair per repository</a:t>
            </a:r>
          </a:p>
          <a:p/>
          <a:p>
            <a:r>
              <a:t>**Surface:** Agent Space repository configuration / finding detail</a:t>
            </a:r>
          </a:p>
          <a:p/>
          <a:p>
            <a:r>
              <a:t>**Availability:** Capability availability follows the originating review or test</a:t>
            </a:r>
          </a:p>
          <a:p/>
          <a:p>
            <a:r>
              <a:t>**Activation:** Administrator enablement, then a finding repair request</a:t>
            </a:r>
          </a:p>
          <a:p/>
          <a:p>
            <a:r>
              <a:t>### Documented mechanism</a:t>
            </a:r>
          </a:p>
          <a:p/>
          <a:p>
            <a:r>
              <a:t>Repository remediation produces a proposed change for review. For the private GitHub path used here, the artifact is a pull request; other source providers can return different artifacts.</a:t>
            </a:r>
          </a:p>
          <a:p/>
          <a:p>
            <a:r>
              <a:t>### Enable and configure</a:t>
            </a:r>
          </a:p>
          <a:p/>
          <a:p>
            <a:r>
              <a:t>Enabled testing or code review, an authorized GitHub App registration and the relevant private repository.</a:t>
            </a:r>
          </a:p>
          <a:p/>
          <a:p>
            <a:r>
              <a:t>1. Open the Agent Space Penetration test tab and choose the GitHub registration, or edit its Code review repository entry.</a:t>
            </a:r>
          </a:p>
          <a:p/>
          <a:p>
            <a:r>
              <a:t>2. In the repository-capability wizard, enable Automatic remediation for the selected repository and choose Connect.</a:t>
            </a:r>
          </a:p>
          <a:p/>
          <a:p>
            <a:r>
              <a:t>3. From a supported finding, request remediation and inspect the resulting change.</a:t>
            </a:r>
          </a:p>
          <a:p/>
          <a:p>
            <a:r>
              <a:t>### Scope and persistence</a:t>
            </a:r>
          </a:p>
          <a:p/>
          <a:p>
            <a:r>
              <a:t>The setting is repository-specific. It does not authorize merging or deployment.</a:t>
            </a:r>
          </a:p>
          <a:p/>
          <a:p>
            <a:r>
              <a:t>### Independent checks — proposed</a:t>
            </a:r>
          </a:p>
          <a:p/>
          <a:p>
            <a:r>
              <a:t>- Match the finding to changed lines and inspect the PR scope.</a:t>
            </a:r>
          </a:p>
          <a:p/>
          <a:p>
            <a:r>
              <a:t>- Run regression and security checks independently before any approved merge.</a:t>
            </a:r>
          </a:p>
          <a:p/>
          <a:p>
            <a:r>
              <a:t>### Record to retain — proposed</a:t>
            </a:r>
          </a:p>
          <a:p/>
          <a:p>
            <a:r>
              <a:t>Finding-to-PR link, repository setting, commit IDs, test evidence and human review decision.</a:t>
            </a:r>
          </a:p>
          <a:p/>
          <a:p>
            <a:r>
              <a:t>### Stop, correct or remove</a:t>
            </a:r>
          </a:p>
          <a:p/>
          <a:p>
            <a:r>
              <a:t>Review or disable the repository remediation setting when no longer needed; keep branch protection independent.</a:t>
            </a:r>
          </a:p>
          <a:p/>
          <a:p>
            <a:r>
              <a:t>### Limits and fallback</a:t>
            </a:r>
          </a:p>
          <a:p/>
          <a:p>
            <a:r>
              <a:t>A proposed repair may be incomplete or introduce regressions. An open PR is not evidence that the running application is fixed.</a:t>
            </a:r>
          </a:p>
          <a:p/>
          <a:p>
            <a:r>
              <a:t>Implement a reviewed manual repair when the repository or finding is unsupported; retain the original evidence.</a:t>
            </a:r>
          </a:p>
          <a:p/>
          <a:p>
            <a:r>
              <a:t>### Illustrative task — not executed</a:t>
            </a:r>
          </a:p>
          <a:p/>
          <a:p>
            <a:r>
              <a:t>Illustrative: request a repair for a confirmed staging access-control finding, without allowing auto-merge.</a:t>
            </a:r>
          </a:p>
          <a:p/>
          <a:p>
            <a:r>
              <a:t>### Official guidance</a:t>
            </a:r>
          </a:p>
          <a:p/>
          <a:p>
            <a:r>
              <a:t>[SE: Enable finding remediation](https://docs.aws.amazon.com/securityagent/latest/userguide/enable-remediate-findings.html)</a:t>
            </a:r>
          </a:p>
          <a:p/>
          <a:p>
            <a:r>
              <a:t>[SR: Remediate a penetration-test finding](https://docs.aws.amazon.com/securityagent/latest/userguide/remediate-finding.html)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 AWS Security Agent / AWS Continuum — mechanisms and enablement</a:t>
            </a:r>
          </a:p>
          <a:p/>
          <a:p>
            <a:r>
              <a:t>Reviewed 21 October 2026. Independent checks and examples are proposed; no live workflow was executed.</a:t>
            </a:r>
          </a:p>
          <a:p/>
          <a:p>
            <a:r>
              <a:t>## Mechanism model</a:t>
            </a:r>
          </a:p>
          <a:p/>
          <a:p>
            <a:r>
              <a:t>Additional Learning Resources are application inputs, not evidence of a cross-incident training mechanism. A penetration test can use source code and design information, validate findings, propose repairs and rerun selected checks. Each stage has a different authorization and acceptance boundary.</a:t>
            </a:r>
          </a:p>
          <a:p/>
          <a:p>
            <a:r>
              <a:t>Updated application context → scoped assessment → evidence and findings → reviewed/deployed repair → targeted revalidation. No configurable cross-run incident-memory switch was identified in the reviewed guidance. This is an evidence limitation, not a claim about undisclosed internals.</a:t>
            </a:r>
          </a:p>
          <a:p/>
          <a:p>
            <a:r>
              <a:t>Penetration testing is generally available. Code review, design review and threat modeling are documented as preview; check feature and Region access before setup.</a:t>
            </a:r>
          </a:p>
          <a:p/>
          <a:p>
            <a:r>
              <a:t>## S-M06 — Revalidate a deployed repair</a:t>
            </a:r>
          </a:p>
          <a:p/>
          <a:p>
            <a:r>
              <a:t>**Surface:** Completed test → findings panel</a:t>
            </a:r>
          </a:p>
          <a:p/>
          <a:p>
            <a:r>
              <a:t>**Availability:** Documented penetration-test revalidation</a:t>
            </a:r>
          </a:p>
          <a:p/>
          <a:p>
            <a:r>
              <a:t>**Activation:** Explicit selection of findings</a:t>
            </a:r>
          </a:p>
          <a:p/>
          <a:p>
            <a:r>
              <a:t>### Documented mechanism</a:t>
            </a:r>
          </a:p>
          <a:p/>
          <a:p>
            <a:r>
              <a:t>Revalidation repeats checks for selected findings against the running target. It creates a separate job and does not replace the original finding record.</a:t>
            </a:r>
          </a:p>
          <a:p/>
          <a:p>
            <a:r>
              <a:t>### Enable and configure</a:t>
            </a:r>
          </a:p>
          <a:p/>
          <a:p>
            <a:r>
              <a:t>A completed test, selected findings, a deployed candidate fix, reachable target and valid test authentication.</a:t>
            </a:r>
          </a:p>
          <a:p/>
          <a:p>
            <a:r>
              <a:t>1. Deploy the reviewed repair to the originally authorized environment.</a:t>
            </a:r>
          </a:p>
          <a:p/>
          <a:p>
            <a:r>
              <a:t>2. Select findings in the completed test and choose revalidation.</a:t>
            </a:r>
          </a:p>
          <a:p/>
          <a:p>
            <a:r>
              <a:t>3. Review the new job status and evidence against the deployed version.</a:t>
            </a:r>
          </a:p>
          <a:p/>
          <a:p>
            <a:r>
              <a:t>### Scope and persistence</a:t>
            </a:r>
          </a:p>
          <a:p/>
          <a:p>
            <a:r>
              <a:t>This is targeted checking of known findings, not a new assessment for unrelated vulnerabilities.</a:t>
            </a:r>
          </a:p>
          <a:p/>
          <a:p>
            <a:r>
              <a:t>### Independent checks — proposed</a:t>
            </a:r>
          </a:p>
          <a:p/>
          <a:p>
            <a:r>
              <a:t>- Record the deployed commit and verify target/authentication health before interpreting the result.</a:t>
            </a:r>
          </a:p>
          <a:p/>
          <a:p>
            <a:r>
              <a:t>- Distinguish a negative reproduction from an unreachable target or failed test.</a:t>
            </a:r>
          </a:p>
          <a:p/>
          <a:p>
            <a:r>
              <a:t>### Record to retain — proposed</a:t>
            </a:r>
          </a:p>
          <a:p/>
          <a:p>
            <a:r>
              <a:t>Original finding, deployed commit, revalidation job, result evidence and residual risk.</a:t>
            </a:r>
          </a:p>
          <a:p/>
          <a:p>
            <a:r>
              <a:t>### Stop, correct or remove</a:t>
            </a:r>
          </a:p>
          <a:p/>
          <a:p>
            <a:r>
              <a:t>Keep the original test record and the subsequent verification record; authorization remains scoped to the target.</a:t>
            </a:r>
          </a:p>
          <a:p/>
          <a:p>
            <a:r>
              <a:t>### Limits and fallback</a:t>
            </a:r>
          </a:p>
          <a:p/>
          <a:p>
            <a:r>
              <a:t>Resolved means the issue was not reproduced by that check. It is not an exhaustive assurance statement.</a:t>
            </a:r>
          </a:p>
          <a:p/>
          <a:p>
            <a:r>
              <a:t>Mark verification inconclusive if the target or credentials fail; repair the test conditions before rerunning.</a:t>
            </a:r>
          </a:p>
          <a:p/>
          <a:p>
            <a:r>
              <a:t>### Illustrative task — not executed</a:t>
            </a:r>
          </a:p>
          <a:p/>
          <a:p>
            <a:r>
              <a:t>Illustrative: revalidate one repaired staging finding after deployment, with no expansion of the original scope.</a:t>
            </a:r>
          </a:p>
          <a:p/>
          <a:p>
            <a:r>
              <a:t>### Official guidance</a:t>
            </a:r>
          </a:p>
          <a:p/>
          <a:p>
            <a:r>
              <a:t>[ST: Revalidate penetration-test findings](https://docs.aws.amazon.com/securityagent/latest/userguide/revalidate-findings.html)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PROPOSED EXERCISE. Use an owned staging application and explicit test authorization. Have a completed finding and a prepared deployed-fix result; do not wait for a full penetration test.</a:t>
            </a:r>
          </a:p>
          <a:p>
            <a:r>
              <a:t>Exit: The finding, proposed code change, deployed version and revalidation result are linked. “Not reproduced” is not rewritten as complete security assurance.</a:t>
            </a:r>
          </a:p>
          <a:p>
            <a:r>
              <a:t>Fallback: Use previously authorized prepared results and label the demonstration as a walkthrough; no test runs against an unapproved target.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PROPOSED EXERCISE. Use an owned staging application and explicit test authorization. Have a completed finding and a prepared deployed-fix result; do not wait for a full penetration test.</a:t>
            </a:r>
          </a:p>
          <a:p>
            <a:r>
              <a:t>Exit: The finding, proposed code change, deployed version and revalidation result are linked. “Not reproduced” is not rewritten as complete security assurance.</a:t>
            </a:r>
          </a:p>
          <a:p>
            <a:r>
              <a:t>Fallback: Use previously authorized prepared results and label the demonstration as a walkthrough; no test runs against an unapproved target.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Create a penetration test</a:t>
            </a:r>
          </a:p>
          <a:p>
            <a:r>
              <a:t>https://docs.aws.amazon.com/securityagent/latest/userguide/perform-penetration-test.html</a:t>
            </a:r>
          </a:p>
          <a:p>
            <a:r>
              <a:t>Security considerations and finding validation</a:t>
            </a:r>
          </a:p>
          <a:p>
            <a:r>
              <a:t>https://docs.aws.amazon.com/securityagent/latest/userguide/security-guidance.html</a:t>
            </a:r>
          </a:p>
          <a:p>
            <a:r>
              <a:t>Provide authentication credentials</a:t>
            </a:r>
          </a:p>
          <a:p>
            <a:r>
              <a:t>https://docs.aws.amazon.com/securityagent/latest/userguide/provide-testing-credentials.html</a:t>
            </a:r>
          </a:p>
          <a:p>
            <a:r>
              <a:t>Review penetration-test findings</a:t>
            </a:r>
          </a:p>
          <a:p>
            <a:r>
              <a:t>https://docs.aws.amazon.com/securityagent/latest/userguide/review-penetration-findings.html</a:t>
            </a:r>
          </a:p>
          <a:p>
            <a:r>
              <a:t>Manage security requirements</a:t>
            </a:r>
          </a:p>
          <a:p>
            <a:r>
              <a:t>https://docs.aws.amazon.com/securityagent/latest/userguide/security-requirements.html</a:t>
            </a:r>
          </a:p>
          <a:p>
            <a:r>
              <a:t>Resource hierarchy and lifecycle</a:t>
            </a:r>
          </a:p>
          <a:p>
            <a:r>
              <a:t>https://docs.aws.amazon.com/securityagent/latest/userguide/understand-lifecycle.html</a:t>
            </a:r>
          </a:p>
          <a:p>
            <a:r>
              <a:t>Pricing and preview capability status</a:t>
            </a:r>
          </a:p>
          <a:p>
            <a:r>
              <a:t>https://docs.aws.amazon.com/securityagent/latest/userguide/pricing.html</a:t>
            </a:r>
          </a:p>
          <a:p>
            <a:r>
              <a:t>Enable finding remediation</a:t>
            </a:r>
          </a:p>
          <a:p>
            <a:r>
              <a:t>https://docs.aws.amazon.com/securityagent/latest/userguide/enable-remediate-findings.html</a:t>
            </a:r>
          </a:p>
          <a:p>
            <a:r>
              <a:t>Remediate a penetration-test finding</a:t>
            </a:r>
          </a:p>
          <a:p>
            <a:r>
              <a:t>https://docs.aws.amazon.com/securityagent/latest/userguide/remediate-finding.html</a:t>
            </a:r>
          </a:p>
          <a:p>
            <a:r>
              <a:t>Revalidate penetration-test findings</a:t>
            </a:r>
          </a:p>
          <a:p>
            <a:r>
              <a:t>https://docs.aws.amazon.com/securityagent/latest/userguide/revalidate-findings.html</a:t>
            </a:r>
          </a:p>
          <a:p/>
          <a:p>
            <a:r>
              <a:t>Documented configuration, not a claim about undisclosed internals. No live AWS test or measured improvement. Retained context does not establish customer-controlled model training.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docs.aws.amazon.com/securityagent/latest/userguide/perform-penetration-test.html" TargetMode="External"/><Relationship Id="rId4" Type="http://schemas.openxmlformats.org/officeDocument/2006/relationships/hyperlink" Target="https://docs.aws.amazon.com/securityagent/latest/userguide/security-guidance.html" TargetMode="External"/><Relationship Id="rId5" Type="http://schemas.openxmlformats.org/officeDocument/2006/relationships/hyperlink" Target="https://docs.aws.amazon.com/securityagent/latest/userguide/provide-testing-credentials.html" TargetMode="External"/><Relationship Id="rId6" Type="http://schemas.openxmlformats.org/officeDocument/2006/relationships/hyperlink" Target="https://docs.aws.amazon.com/securityagent/latest/userguide/review-penetration-findings.html" TargetMode="External"/><Relationship Id="rId7" Type="http://schemas.openxmlformats.org/officeDocument/2006/relationships/hyperlink" Target="https://docs.aws.amazon.com/securityagent/latest/userguide/security-requirements.html" TargetMode="External"/><Relationship Id="rId8" Type="http://schemas.openxmlformats.org/officeDocument/2006/relationships/hyperlink" Target="https://docs.aws.amazon.com/securityagent/latest/userguide/understand-lifecycle.html" TargetMode="External"/><Relationship Id="rId9" Type="http://schemas.openxmlformats.org/officeDocument/2006/relationships/hyperlink" Target="https://docs.aws.amazon.com/securityagent/latest/userguide/pricing.html" TargetMode="External"/><Relationship Id="rId10" Type="http://schemas.openxmlformats.org/officeDocument/2006/relationships/hyperlink" Target="https://docs.aws.amazon.com/securityagent/latest/userguide/enable-remediate-findings.html" TargetMode="External"/><Relationship Id="rId11" Type="http://schemas.openxmlformats.org/officeDocument/2006/relationships/hyperlink" Target="https://docs.aws.amazon.com/securityagent/latest/userguide/remediate-finding.html" TargetMode="External"/><Relationship Id="rId12" Type="http://schemas.openxmlformats.org/officeDocument/2006/relationships/hyperlink" Target="https://docs.aws.amazon.com/securityagent/latest/userguide/revalidate-findings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24734A"/>
                </a:solidFill>
                <a:latin typeface="Aptos"/>
              </a:defRPr>
            </a:pPr>
            <a:r>
              <a:t>REFERENCE COMPANION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182D43"/>
                </a:solidFill>
                <a:latin typeface="Aptos"/>
              </a:defRPr>
            </a:pPr>
            <a:r>
              <a:t>AWS Security Agent / AWS Continuum — mechanisms and enablement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4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9601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2657A"/>
                </a:solidFill>
                <a:latin typeface="Aptos"/>
              </a:defRPr>
            </a:pPr>
            <a:r>
              <a:t>AWS Security Agent / AWS Continuum | Mechanism reference | 21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565392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2657A"/>
                </a:solidFill>
                <a:latin typeface="Aptos"/>
              </a:defRPr>
            </a:pPr>
            <a:r>
              <a:t>01 / UNTIMED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74519"/>
            <a:ext cx="6812280" cy="27889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011679"/>
            <a:ext cx="6446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24734A"/>
                </a:solidFill>
                <a:latin typeface="Aptos"/>
              </a:defRPr>
            </a:pPr>
            <a:r>
              <a:t>HOW RETAINED CONTEXT IS USED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77439"/>
            <a:ext cx="6446520" cy="2176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300" b="0">
                <a:solidFill>
                  <a:srgbClr val="182D43"/>
                </a:solidFill>
                <a:latin typeface="Aptos"/>
              </a:defRPr>
            </a:pPr>
            <a:r>
              <a:t>Updated application context → scoped assessment → evidence and findings → reviewed/deployed repair → targeted revalidation. No configurable cross-run incident-memory switch was identified in the reviewed guidance. This is an evidence limitation, not a claim about undisclosed internals.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43800" y="1874519"/>
            <a:ext cx="4142232" cy="27889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2011679"/>
            <a:ext cx="377647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24734A"/>
                </a:solidFill>
                <a:latin typeface="Aptos"/>
              </a:defRPr>
            </a:pPr>
            <a:r>
              <a:t>READING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377439"/>
            <a:ext cx="3776472" cy="2176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100" b="0">
                <a:solidFill>
                  <a:srgbClr val="182D43"/>
                </a:solidFill>
                <a:latin typeface="Aptos"/>
              </a:defRPr>
            </a:pPr>
            <a:r>
              <a:t>Documented operation</a:t>
            </a:r>
          </a:p>
          <a:p>
            <a:pPr>
              <a:spcAft>
                <a:spcPts val="600"/>
              </a:spcAft>
              <a:defRPr sz="2100" b="0">
                <a:solidFill>
                  <a:srgbClr val="182D43"/>
                </a:solidFill>
                <a:latin typeface="Aptos"/>
              </a:defRPr>
            </a:pPr>
            <a:r>
              <a:t>Official setup</a:t>
            </a:r>
          </a:p>
          <a:p>
            <a:pPr>
              <a:spcAft>
                <a:spcPts val="600"/>
              </a:spcAft>
              <a:defRPr sz="2100" b="0">
                <a:solidFill>
                  <a:srgbClr val="182D43"/>
                </a:solidFill>
                <a:latin typeface="Aptos"/>
              </a:defRPr>
            </a:pPr>
            <a:r>
              <a:t>Proposed independent checks</a:t>
            </a:r>
          </a:p>
          <a:p>
            <a:pPr>
              <a:spcAft>
                <a:spcPts val="600"/>
              </a:spcAft>
              <a:defRPr sz="2100" b="0">
                <a:solidFill>
                  <a:srgbClr val="182D43"/>
                </a:solidFill>
                <a:latin typeface="Aptos"/>
              </a:defRPr>
            </a:pPr>
            <a:r>
              <a:t>Stop and residual-data limits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02920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200" b="0">
                <a:solidFill>
                  <a:srgbClr val="52657A"/>
                </a:solidFill>
                <a:latin typeface="Aptos"/>
              </a:defRPr>
            </a:pPr>
            <a:r>
              <a:t>Untimed reference slides. The existing core programme and demonstration allocations remain unchanged.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24734A"/>
                </a:solidFill>
                <a:latin typeface="Aptos"/>
              </a:defRPr>
            </a:pPr>
            <a:r>
              <a:t>S-M01 /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182D43"/>
                </a:solidFill>
                <a:latin typeface="Aptos"/>
              </a:defRPr>
            </a:pPr>
            <a:r>
              <a:t>Supply application context for a scoped test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4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9601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2657A"/>
                </a:solidFill>
                <a:latin typeface="Aptos"/>
              </a:defRPr>
            </a:pPr>
            <a:r>
              <a:t>AWS Security Agent / AWS Continuum | Mechanism reference | 21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565392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2657A"/>
                </a:solidFill>
                <a:latin typeface="Aptos"/>
              </a:defRPr>
            </a:pPr>
            <a:r>
              <a:t>02 / UNTIMED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10512"/>
            <a:ext cx="5486400" cy="192938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947672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24734A"/>
                </a:solidFill>
                <a:latin typeface="Aptos"/>
              </a:defRPr>
            </a:pPr>
            <a:r>
              <a:t>DOCUMENTED OPERATION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13432"/>
            <a:ext cx="5120640" cy="1316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82D43"/>
                </a:solidFill>
                <a:latin typeface="Aptos"/>
              </a:defRPr>
            </a:pPr>
            <a:r>
              <a:t>Additional Learning Resources supply source and application documents to the assessment.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886200"/>
            <a:ext cx="5486400" cy="2286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023360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24734A"/>
                </a:solidFill>
                <a:latin typeface="Aptos"/>
              </a:defRPr>
            </a:pPr>
            <a:r>
              <a:t>ENABLE / CONFIGURE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389120"/>
            <a:ext cx="5120640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182D43"/>
                </a:solidFill>
                <a:latin typeface="Aptos"/>
              </a:defRPr>
            </a:pPr>
            <a:r>
              <a:t>1. Create the authorized test scope.</a:t>
            </a:r>
          </a:p>
          <a:p>
            <a:pPr>
              <a:spcAft>
                <a:spcPts val="600"/>
              </a:spcAft>
              <a:defRPr sz="2000" b="0">
                <a:solidFill>
                  <a:srgbClr val="182D43"/>
                </a:solidFill>
                <a:latin typeface="Aptos"/>
              </a:defRPr>
            </a:pPr>
            <a:r>
              <a:t>2. Select Additional Learning Resources.</a:t>
            </a:r>
          </a:p>
          <a:p>
            <a:pPr>
              <a:spcAft>
                <a:spcPts val="600"/>
              </a:spcAft>
              <a:defRPr sz="2000" b="0">
                <a:solidFill>
                  <a:srgbClr val="182D43"/>
                </a:solidFill>
                <a:latin typeface="Aptos"/>
              </a:defRPr>
            </a:pPr>
            <a:r>
              <a:t>3. Verify source and target revisions.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9632" y="1810512"/>
            <a:ext cx="5486400" cy="192938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947672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24734A"/>
                </a:solidFill>
                <a:latin typeface="Aptos"/>
              </a:defRPr>
            </a:pPr>
            <a:r>
              <a:t>INDEPENDENT CHECK — PROPOSED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313432"/>
            <a:ext cx="5120640" cy="1316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900" b="0">
                <a:solidFill>
                  <a:srgbClr val="182D43"/>
                </a:solidFill>
                <a:latin typeface="Aptos"/>
              </a:defRPr>
            </a:pPr>
            <a:r>
              <a:t>Inspect test context and coverage against that revision; verify the deployed application matches it.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9632" y="3886200"/>
            <a:ext cx="5486400" cy="2286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4023360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24734A"/>
                </a:solidFill>
                <a:latin typeface="Aptos"/>
              </a:defRPr>
            </a:pPr>
            <a:r>
              <a:t>CONTROL AND LIMITATION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4389120"/>
            <a:ext cx="5120640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182D43"/>
                </a:solidFill>
                <a:latin typeface="Aptos"/>
              </a:defRPr>
            </a:pPr>
            <a:r>
              <a:t>Context is not a learning toggle. Change selected resources for the next test.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236208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2657A"/>
                </a:solidFill>
                <a:latin typeface="Aptos"/>
              </a:defRPr>
            </a:pPr>
            <a:r>
              <a:t>Official sources: SC, SG · Penetration-test creation / web application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24734A"/>
                </a:solidFill>
                <a:latin typeface="Aptos"/>
              </a:defRPr>
            </a:pPr>
            <a:r>
              <a:t>S-M02 /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182D43"/>
                </a:solidFill>
                <a:latin typeface="Aptos"/>
              </a:defRPr>
            </a:pPr>
            <a:r>
              <a:t>Authenticate a test without expanding its 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4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9601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2657A"/>
                </a:solidFill>
                <a:latin typeface="Aptos"/>
              </a:defRPr>
            </a:pPr>
            <a:r>
              <a:t>AWS Security Agent / AWS Continuum | Mechanism reference | 21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565392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2657A"/>
                </a:solidFill>
                <a:latin typeface="Aptos"/>
              </a:defRPr>
            </a:pPr>
            <a:r>
              <a:t>03 / UNTIMED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10512"/>
            <a:ext cx="5486400" cy="192938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947672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24734A"/>
                </a:solidFill>
                <a:latin typeface="Aptos"/>
              </a:defRPr>
            </a:pPr>
            <a:r>
              <a:t>DOCUMENTED OPERATION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13432"/>
            <a:ext cx="5120640" cy="1316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82D43"/>
                </a:solidFill>
                <a:latin typeface="Aptos"/>
              </a:defRPr>
            </a:pPr>
            <a:r>
              <a:t>Authentication lets the assessment reach authorized application behavior.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886200"/>
            <a:ext cx="5486400" cy="2286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023360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24734A"/>
                </a:solidFill>
                <a:latin typeface="Aptos"/>
              </a:defRPr>
            </a:pPr>
            <a:r>
              <a:t>ENABLE / CONFIGURE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389120"/>
            <a:ext cx="5120640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182D43"/>
                </a:solidFill>
                <a:latin typeface="Aptos"/>
              </a:defRPr>
            </a:pPr>
            <a:r>
              <a:t>1. Choose a documented credential method.</a:t>
            </a:r>
          </a:p>
          <a:p>
            <a:pPr>
              <a:spcAft>
                <a:spcPts val="600"/>
              </a:spcAft>
              <a:defRPr sz="2000" b="0">
                <a:solidFill>
                  <a:srgbClr val="182D43"/>
                </a:solidFill>
                <a:latin typeface="Aptos"/>
              </a:defRPr>
            </a:pPr>
            <a:r>
              <a:t>2. Configure the approved test identity.</a:t>
            </a:r>
          </a:p>
          <a:p>
            <a:pPr>
              <a:spcAft>
                <a:spcPts val="600"/>
              </a:spcAft>
              <a:defRPr sz="2000" b="0">
                <a:solidFill>
                  <a:srgbClr val="182D43"/>
                </a:solidFill>
                <a:latin typeface="Aptos"/>
              </a:defRPr>
            </a:pPr>
            <a:r>
              <a:t>3. Verify allowed and forbidden actions.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9632" y="1810512"/>
            <a:ext cx="5486400" cy="192938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947672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24734A"/>
                </a:solidFill>
                <a:latin typeface="Aptos"/>
              </a:defRPr>
            </a:pPr>
            <a:r>
              <a:t>INDEPENDENT CHECK — PROPOSED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313432"/>
            <a:ext cx="5120640" cy="1316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900" b="0">
                <a:solidFill>
                  <a:srgbClr val="182D43"/>
                </a:solidFill>
                <a:latin typeface="Aptos"/>
              </a:defRPr>
            </a:pPr>
            <a:r>
              <a:t>Confirm both an allowed operation and a forbidden operation; inspect test logs for authentication failures.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9632" y="3886200"/>
            <a:ext cx="5486400" cy="2286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4023360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24734A"/>
                </a:solidFill>
                <a:latin typeface="Aptos"/>
              </a:defRPr>
            </a:pPr>
            <a:r>
              <a:t>CONTROL AND LIMITATION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4389120"/>
            <a:ext cx="5120640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182D43"/>
                </a:solidFill>
                <a:latin typeface="Aptos"/>
              </a:defRPr>
            </a:pPr>
            <a:r>
              <a:t>Never retain secrets as memory. Revoke or rotate the test identity after the exercise.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236208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2657A"/>
                </a:solidFill>
                <a:latin typeface="Aptos"/>
              </a:defRPr>
            </a:pPr>
            <a:r>
              <a:t>Official sources: SA, SC, SG · Penetration-test authentication configuration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24734A"/>
                </a:solidFill>
                <a:latin typeface="Aptos"/>
              </a:defRPr>
            </a:pPr>
            <a:r>
              <a:t>S-M03 /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182D43"/>
                </a:solidFill>
                <a:latin typeface="Aptos"/>
              </a:defRPr>
            </a:pPr>
            <a:r>
              <a:t>Validate and review reported findings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4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9601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2657A"/>
                </a:solidFill>
                <a:latin typeface="Aptos"/>
              </a:defRPr>
            </a:pPr>
            <a:r>
              <a:t>AWS Security Agent / AWS Continuum | Mechanism reference | 21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565392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2657A"/>
                </a:solidFill>
                <a:latin typeface="Aptos"/>
              </a:defRPr>
            </a:pPr>
            <a:r>
              <a:t>04 / UNTIMED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10512"/>
            <a:ext cx="5486400" cy="192938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947672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24734A"/>
                </a:solidFill>
                <a:latin typeface="Aptos"/>
              </a:defRPr>
            </a:pPr>
            <a:r>
              <a:t>DOCUMENTED OPERATION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13432"/>
            <a:ext cx="5120640" cy="1316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82D43"/>
                </a:solidFill>
                <a:latin typeface="Aptos"/>
              </a:defRPr>
            </a:pPr>
            <a:r>
              <a:t>The service uses deterministic checks where possible and independent replay in other cases.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886200"/>
            <a:ext cx="5486400" cy="2286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023360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24734A"/>
                </a:solidFill>
                <a:latin typeface="Aptos"/>
              </a:defRPr>
            </a:pPr>
            <a:r>
              <a:t>ENABLE / CONFIGURE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389120"/>
            <a:ext cx="5120640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182D43"/>
                </a:solidFill>
                <a:latin typeface="Aptos"/>
              </a:defRPr>
            </a:pPr>
            <a:r>
              <a:t>1. Open test results.</a:t>
            </a:r>
          </a:p>
          <a:p>
            <a:pPr>
              <a:spcAft>
                <a:spcPts val="600"/>
              </a:spcAft>
              <a:defRPr sz="2000" b="0">
                <a:solidFill>
                  <a:srgbClr val="182D43"/>
                </a:solidFill>
                <a:latin typeface="Aptos"/>
              </a:defRPr>
            </a:pPr>
            <a:r>
              <a:t>2. Inspect evidence and confidence.</a:t>
            </a:r>
          </a:p>
          <a:p>
            <a:pPr>
              <a:spcAft>
                <a:spcPts val="600"/>
              </a:spcAft>
              <a:defRPr sz="2000" b="0">
                <a:solidFill>
                  <a:srgbClr val="182D43"/>
                </a:solidFill>
                <a:latin typeface="Aptos"/>
              </a:defRPr>
            </a:pPr>
            <a:r>
              <a:t>3. Review unverified candidates separately.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9632" y="1810512"/>
            <a:ext cx="5486400" cy="192938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947672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24734A"/>
                </a:solidFill>
                <a:latin typeface="Aptos"/>
              </a:defRPr>
            </a:pPr>
            <a:r>
              <a:t>INDEPENDENT CHECK — PROPOSED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313432"/>
            <a:ext cx="5120640" cy="1316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900" b="0">
                <a:solidFill>
                  <a:srgbClr val="182D43"/>
                </a:solidFill>
                <a:latin typeface="Aptos"/>
              </a:defRPr>
            </a:pPr>
            <a:r>
              <a:t>Compare the request, identity, application version and impact with the report.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9632" y="3886200"/>
            <a:ext cx="5486400" cy="2286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4023360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24734A"/>
                </a:solidFill>
                <a:latin typeface="Aptos"/>
              </a:defRPr>
            </a:pPr>
            <a:r>
              <a:t>CONTROL AND LIMITATION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4389120"/>
            <a:ext cx="5120640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182D43"/>
                </a:solidFill>
                <a:latin typeface="Aptos"/>
              </a:defRPr>
            </a:pPr>
            <a:r>
              <a:t>No finding is not an assurance claim. Keep active-test monitoring and stop responsibility with the authorized operator.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236208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2657A"/>
                </a:solidFill>
                <a:latin typeface="Aptos"/>
              </a:defRPr>
            </a:pPr>
            <a:r>
              <a:t>Official sources: SG, SV · Penetration-test results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24734A"/>
                </a:solidFill>
                <a:latin typeface="Aptos"/>
              </a:defRPr>
            </a:pPr>
            <a:r>
              <a:t>S-M04 / INSTRUCTIONS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182D43"/>
                </a:solidFill>
                <a:latin typeface="Aptos"/>
              </a:defRPr>
            </a:pPr>
            <a:r>
              <a:t>Maintain security requirements as explicit policy 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4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9601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2657A"/>
                </a:solidFill>
                <a:latin typeface="Aptos"/>
              </a:defRPr>
            </a:pPr>
            <a:r>
              <a:t>AWS Security Agent / AWS Continuum | Mechanism reference | 21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565392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2657A"/>
                </a:solidFill>
                <a:latin typeface="Aptos"/>
              </a:defRPr>
            </a:pPr>
            <a:r>
              <a:t>05 / UNTIMED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10512"/>
            <a:ext cx="5486400" cy="192938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947672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24734A"/>
                </a:solidFill>
                <a:latin typeface="Aptos"/>
              </a:defRPr>
            </a:pPr>
            <a:r>
              <a:t>DOCUMENTED OPERATION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13432"/>
            <a:ext cx="5120640" cy="1316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82D43"/>
                </a:solidFill>
                <a:latin typeface="Aptos"/>
              </a:defRPr>
            </a:pPr>
            <a:r>
              <a:t>Requirement packs supply criteria for new design and code reviews. They are shared across Agent Spaces, not private incident memories.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886200"/>
            <a:ext cx="5486400" cy="2286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023360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24734A"/>
                </a:solidFill>
                <a:latin typeface="Aptos"/>
              </a:defRPr>
            </a:pPr>
            <a:r>
              <a:t>ENABLE / CONFIGURE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389120"/>
            <a:ext cx="5120640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182D43"/>
                </a:solidFill>
                <a:latin typeface="Aptos"/>
              </a:defRPr>
            </a:pPr>
            <a:r>
              <a:t>1. Choose or create a requirement pack.</a:t>
            </a:r>
          </a:p>
          <a:p>
            <a:pPr>
              <a:spcAft>
                <a:spcPts val="600"/>
              </a:spcAft>
              <a:defRPr sz="2000" b="0">
                <a:solidFill>
                  <a:srgbClr val="182D43"/>
                </a:solidFill>
                <a:latin typeface="Aptos"/>
              </a:defRPr>
            </a:pPr>
            <a:r>
              <a:t>2. Define applicability and criteria.</a:t>
            </a:r>
          </a:p>
          <a:p>
            <a:pPr>
              <a:spcAft>
                <a:spcPts val="600"/>
              </a:spcAft>
              <a:defRPr sz="2000" b="0">
                <a:solidFill>
                  <a:srgbClr val="182D43"/>
                </a:solidFill>
                <a:latin typeface="Aptos"/>
              </a:defRPr>
            </a:pPr>
            <a:r>
              <a:t>3. Enable it and run a new review.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9632" y="1810512"/>
            <a:ext cx="5486400" cy="192938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947672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24734A"/>
                </a:solidFill>
                <a:latin typeface="Aptos"/>
              </a:defRPr>
            </a:pPr>
            <a:r>
              <a:t>INDEPENDENT CHECK — PROPOSED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313432"/>
            <a:ext cx="5120640" cy="1316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900" b="0">
                <a:solidFill>
                  <a:srgbClr val="182D43"/>
                </a:solidFill>
                <a:latin typeface="Aptos"/>
              </a:defRPr>
            </a:pPr>
            <a:r>
              <a:t>Check the reported requirement identifier and retain the pack revision used for the review.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9632" y="3886200"/>
            <a:ext cx="5486400" cy="2286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4023360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24734A"/>
                </a:solidFill>
                <a:latin typeface="Aptos"/>
              </a:defRPr>
            </a:pPr>
            <a:r>
              <a:t>CONTROL AND LIMITATION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4389120"/>
            <a:ext cx="5120640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182D43"/>
                </a:solidFill>
                <a:latin typeface="Aptos"/>
              </a:defRPr>
            </a:pPr>
            <a:r>
              <a:t>Regeneration replaces pack contents. Disable a pack to exclude it from new reviews; preserve the approved custom definition before editing.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236208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2657A"/>
                </a:solidFill>
                <a:latin typeface="Aptos"/>
              </a:defRPr>
            </a:pPr>
            <a:r>
              <a:t>Official sources: SP, SL, SB · Security requirements console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24734A"/>
                </a:solidFill>
                <a:latin typeface="Aptos"/>
              </a:defRPr>
            </a:pPr>
            <a:r>
              <a:t>S-M05 /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182D43"/>
                </a:solidFill>
                <a:latin typeface="Aptos"/>
              </a:defRPr>
            </a:pPr>
            <a:r>
              <a:t>Enable proposed code repair per repository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4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9601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2657A"/>
                </a:solidFill>
                <a:latin typeface="Aptos"/>
              </a:defRPr>
            </a:pPr>
            <a:r>
              <a:t>AWS Security Agent / AWS Continuum | Mechanism reference | 21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565392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2657A"/>
                </a:solidFill>
                <a:latin typeface="Aptos"/>
              </a:defRPr>
            </a:pPr>
            <a:r>
              <a:t>06 / UNTIMED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10512"/>
            <a:ext cx="5486400" cy="192938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947672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24734A"/>
                </a:solidFill>
                <a:latin typeface="Aptos"/>
              </a:defRPr>
            </a:pPr>
            <a:r>
              <a:t>DOCUMENTED OPERATION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13432"/>
            <a:ext cx="5120640" cy="1316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82D43"/>
                </a:solidFill>
                <a:latin typeface="Aptos"/>
              </a:defRPr>
            </a:pPr>
            <a:r>
              <a:t>Repository remediation produces a proposed change for review.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886200"/>
            <a:ext cx="5486400" cy="2286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023360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24734A"/>
                </a:solidFill>
                <a:latin typeface="Aptos"/>
              </a:defRPr>
            </a:pPr>
            <a:r>
              <a:t>ENABLE / CONFIGURE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389120"/>
            <a:ext cx="5120640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182D43"/>
                </a:solidFill>
                <a:latin typeface="Aptos"/>
              </a:defRPr>
            </a:pPr>
            <a:r>
              <a:t>1. Open the repository-capability wizard.</a:t>
            </a:r>
          </a:p>
          <a:p>
            <a:pPr>
              <a:spcAft>
                <a:spcPts val="600"/>
              </a:spcAft>
              <a:defRPr sz="2000" b="0">
                <a:solidFill>
                  <a:srgbClr val="182D43"/>
                </a:solidFill>
                <a:latin typeface="Aptos"/>
              </a:defRPr>
            </a:pPr>
            <a:r>
              <a:t>2. Enable Automatic remediation; save.</a:t>
            </a:r>
          </a:p>
          <a:p>
            <a:pPr>
              <a:spcAft>
                <a:spcPts val="600"/>
              </a:spcAft>
              <a:defRPr sz="2000" b="0">
                <a:solidFill>
                  <a:srgbClr val="182D43"/>
                </a:solidFill>
                <a:latin typeface="Aptos"/>
              </a:defRPr>
            </a:pPr>
            <a:r>
              <a:t>3. Request repair of a supported finding.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9632" y="1810512"/>
            <a:ext cx="5486400" cy="192938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947672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24734A"/>
                </a:solidFill>
                <a:latin typeface="Aptos"/>
              </a:defRPr>
            </a:pPr>
            <a:r>
              <a:t>INDEPENDENT CHECK — PROPOSED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313432"/>
            <a:ext cx="5120640" cy="1316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900" b="0">
                <a:solidFill>
                  <a:srgbClr val="182D43"/>
                </a:solidFill>
                <a:latin typeface="Aptos"/>
              </a:defRPr>
            </a:pPr>
            <a:r>
              <a:t>Run regression and security checks independently before any approved merge.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9632" y="3886200"/>
            <a:ext cx="5486400" cy="2286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4023360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24734A"/>
                </a:solidFill>
                <a:latin typeface="Aptos"/>
              </a:defRPr>
            </a:pPr>
            <a:r>
              <a:t>CONTROL AND LIMITATION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4389120"/>
            <a:ext cx="5120640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182D43"/>
                </a:solidFill>
                <a:latin typeface="Aptos"/>
              </a:defRPr>
            </a:pPr>
            <a:r>
              <a:t>PR creation is not deployment. Review or disable the repository remediation setting when no longer needed; keep branch protection independent.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236208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2657A"/>
                </a:solidFill>
                <a:latin typeface="Aptos"/>
              </a:defRPr>
            </a:pPr>
            <a:r>
              <a:t>Official sources: SE, SR · Agent Space repository configuration / finding detail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24734A"/>
                </a:solidFill>
                <a:latin typeface="Aptos"/>
              </a:defRPr>
            </a:pPr>
            <a:r>
              <a:t>S-M06 /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182D43"/>
                </a:solidFill>
                <a:latin typeface="Aptos"/>
              </a:defRPr>
            </a:pPr>
            <a:r>
              <a:t>Revalidate a deployed repair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4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9601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2657A"/>
                </a:solidFill>
                <a:latin typeface="Aptos"/>
              </a:defRPr>
            </a:pPr>
            <a:r>
              <a:t>AWS Security Agent / AWS Continuum | Mechanism reference | 21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565392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2657A"/>
                </a:solidFill>
                <a:latin typeface="Aptos"/>
              </a:defRPr>
            </a:pPr>
            <a:r>
              <a:t>07 / UNTIMED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10512"/>
            <a:ext cx="5486400" cy="192938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947672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24734A"/>
                </a:solidFill>
                <a:latin typeface="Aptos"/>
              </a:defRPr>
            </a:pPr>
            <a:r>
              <a:t>DOCUMENTED OPERATION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13432"/>
            <a:ext cx="5120640" cy="1316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82D43"/>
                </a:solidFill>
                <a:latin typeface="Aptos"/>
              </a:defRPr>
            </a:pPr>
            <a:r>
              <a:t>Revalidation repeats checks for selected findings against the running target.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886200"/>
            <a:ext cx="5486400" cy="2286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023360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24734A"/>
                </a:solidFill>
                <a:latin typeface="Aptos"/>
              </a:defRPr>
            </a:pPr>
            <a:r>
              <a:t>ENABLE / CONFIGURE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389120"/>
            <a:ext cx="5120640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182D43"/>
                </a:solidFill>
                <a:latin typeface="Aptos"/>
              </a:defRPr>
            </a:pPr>
            <a:r>
              <a:t>1. Deploy the reviewed staging repair.</a:t>
            </a:r>
          </a:p>
          <a:p>
            <a:pPr>
              <a:spcAft>
                <a:spcPts val="600"/>
              </a:spcAft>
              <a:defRPr sz="2000" b="0">
                <a:solidFill>
                  <a:srgbClr val="182D43"/>
                </a:solidFill>
                <a:latin typeface="Aptos"/>
              </a:defRPr>
            </a:pPr>
            <a:r>
              <a:t>2. Select findings for revalidation.</a:t>
            </a:r>
          </a:p>
          <a:p>
            <a:pPr>
              <a:spcAft>
                <a:spcPts val="600"/>
              </a:spcAft>
              <a:defRPr sz="2000" b="0">
                <a:solidFill>
                  <a:srgbClr val="182D43"/>
                </a:solidFill>
                <a:latin typeface="Aptos"/>
              </a:defRPr>
            </a:pPr>
            <a:r>
              <a:t>3. Inspect the separate verification job.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9632" y="1810512"/>
            <a:ext cx="5486400" cy="192938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947672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24734A"/>
                </a:solidFill>
                <a:latin typeface="Aptos"/>
              </a:defRPr>
            </a:pPr>
            <a:r>
              <a:t>INDEPENDENT CHECK — PROPOSED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313432"/>
            <a:ext cx="5120640" cy="1316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900" b="0">
                <a:solidFill>
                  <a:srgbClr val="182D43"/>
                </a:solidFill>
                <a:latin typeface="Aptos"/>
              </a:defRPr>
            </a:pPr>
            <a:r>
              <a:t>Distinguish a negative reproduction from an unreachable target or failed test.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9632" y="3886200"/>
            <a:ext cx="5486400" cy="2286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4023360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24734A"/>
                </a:solidFill>
                <a:latin typeface="Aptos"/>
              </a:defRPr>
            </a:pPr>
            <a:r>
              <a:t>CONTROL AND LIMITATION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4389120"/>
            <a:ext cx="5120640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182D43"/>
                </a:solidFill>
                <a:latin typeface="Aptos"/>
              </a:defRPr>
            </a:pPr>
            <a:r>
              <a:t>Not a fresh discovery scan. Keep the original test record and the subsequent verification record; authorization remains scoped to the target.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236208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2657A"/>
                </a:solidFill>
                <a:latin typeface="Aptos"/>
              </a:defRPr>
            </a:pPr>
            <a:r>
              <a:t>Official sources: ST · Completed test → findings panel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24734A"/>
                </a:solidFill>
                <a:latin typeface="Aptos"/>
              </a:defRPr>
            </a:pPr>
            <a:r>
              <a:t>OPTIONAL 12-MINUTE EXERCISE / PART 1 OF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182D43"/>
                </a:solidFill>
                <a:latin typeface="Aptos"/>
              </a:defRPr>
            </a:pPr>
            <a:r>
              <a:t>Carry application evidence through repair and revalidation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4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9601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2657A"/>
                </a:solidFill>
                <a:latin typeface="Aptos"/>
              </a:defRPr>
            </a:pPr>
            <a:r>
              <a:t>AWS Security Agent / AWS Continuum | Mechanism reference | 21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565392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2657A"/>
                </a:solidFill>
                <a:latin typeface="Aptos"/>
              </a:defRPr>
            </a:pPr>
            <a:r>
              <a:t>08 / UNTIMED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28800"/>
            <a:ext cx="11183112" cy="12344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993392"/>
            <a:ext cx="132588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4734A"/>
                </a:solidFill>
                <a:latin typeface="Aptos"/>
              </a:defRPr>
            </a:pPr>
            <a:r>
              <a:t>00:00–02:00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30552" y="1938528"/>
            <a:ext cx="928116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82D43"/>
                </a:solidFill>
                <a:latin typeface="Aptos"/>
              </a:defRPr>
            </a:pPr>
            <a:r>
              <a:t>Fix the authorization boundary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30552" y="2331720"/>
            <a:ext cx="918972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182D43"/>
                </a:solidFill>
                <a:latin typeface="Aptos"/>
              </a:defRPr>
            </a:pPr>
            <a:r>
              <a:t>Identify the test target, identities, exclusions and stop owner. Gate: Written scope and approved test roles.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227832"/>
            <a:ext cx="11183112" cy="12344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3392424"/>
            <a:ext cx="132588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4734A"/>
                </a:solidFill>
                <a:latin typeface="Aptos"/>
              </a:defRPr>
            </a:pPr>
            <a:r>
              <a:t>02:00–03:30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30552" y="3337560"/>
            <a:ext cx="928116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82D43"/>
                </a:solidFill>
                <a:latin typeface="Aptos"/>
              </a:defRPr>
            </a:pPr>
            <a:r>
              <a:t>Identify the application inputs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30552" y="3730752"/>
            <a:ext cx="918972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182D43"/>
                </a:solidFill>
                <a:latin typeface="Aptos"/>
              </a:defRPr>
            </a:pPr>
            <a:r>
              <a:t>Select context at a known source and deployment revision. Gate: Context-to-target revision match.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626864"/>
            <a:ext cx="11183112" cy="12344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" y="4791456"/>
            <a:ext cx="132588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4734A"/>
                </a:solidFill>
                <a:latin typeface="Aptos"/>
              </a:defRPr>
            </a:pPr>
            <a:r>
              <a:t>03:30–05:30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30552" y="4736592"/>
            <a:ext cx="928116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82D43"/>
                </a:solidFill>
                <a:latin typeface="Aptos"/>
              </a:defRPr>
            </a:pPr>
            <a:r>
              <a:t>Review one finding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30552" y="5129784"/>
            <a:ext cx="918972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182D43"/>
                </a:solidFill>
                <a:latin typeface="Aptos"/>
              </a:defRPr>
            </a:pPr>
            <a:r>
              <a:t>Inspect evidence, confidence and reproducibility. Gate: Safe reproduction or an explicit inconclusive result.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24734A"/>
                </a:solidFill>
                <a:latin typeface="Aptos"/>
              </a:defRPr>
            </a:pPr>
            <a:r>
              <a:t>OPTIONAL 12-MINUTE EXERCISE / PART 2 OF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182D43"/>
                </a:solidFill>
                <a:latin typeface="Aptos"/>
              </a:defRPr>
            </a:pPr>
            <a:r>
              <a:t>Carry application evidence through repair and revalidation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4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9601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2657A"/>
                </a:solidFill>
                <a:latin typeface="Aptos"/>
              </a:defRPr>
            </a:pPr>
            <a:r>
              <a:t>AWS Security Agent / AWS Continuum | Mechanism reference | 21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565392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2657A"/>
                </a:solidFill>
                <a:latin typeface="Aptos"/>
              </a:defRPr>
            </a:pPr>
            <a:r>
              <a:t>09 / UNTIMED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28800"/>
            <a:ext cx="11183112" cy="12344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993392"/>
            <a:ext cx="132588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4734A"/>
                </a:solidFill>
                <a:latin typeface="Aptos"/>
              </a:defRPr>
            </a:pPr>
            <a:r>
              <a:t>05:30–07:30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30552" y="1938528"/>
            <a:ext cx="928116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82D43"/>
                </a:solidFill>
                <a:latin typeface="Aptos"/>
              </a:defRPr>
            </a:pPr>
            <a:r>
              <a:t>Inspect remediation setup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30552" y="2331720"/>
            <a:ext cx="918972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182D43"/>
                </a:solidFill>
                <a:latin typeface="Aptos"/>
              </a:defRPr>
            </a:pPr>
            <a:r>
              <a:t>Check per-repository enablement and inspect the proposed repair. Gate: Finding-linked PR, no merge implied.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227832"/>
            <a:ext cx="11183112" cy="12344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3392424"/>
            <a:ext cx="132588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4734A"/>
                </a:solidFill>
                <a:latin typeface="Aptos"/>
              </a:defRPr>
            </a:pPr>
            <a:r>
              <a:t>07:30–09:00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30552" y="3337560"/>
            <a:ext cx="928116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82D43"/>
                </a:solidFill>
                <a:latin typeface="Aptos"/>
              </a:defRPr>
            </a:pPr>
            <a:r>
              <a:t>Verify the deployed version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30552" y="3730752"/>
            <a:ext cx="918972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182D43"/>
                </a:solidFill>
                <a:latin typeface="Aptos"/>
              </a:defRPr>
            </a:pPr>
            <a:r>
              <a:t>Use the normal change process and confirm the staging commit. Gate: Independent tests and deployed revision recorded.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626864"/>
            <a:ext cx="11183112" cy="12344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" y="4791456"/>
            <a:ext cx="132588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4734A"/>
                </a:solidFill>
                <a:latin typeface="Aptos"/>
              </a:defRPr>
            </a:pPr>
            <a:r>
              <a:t>09:00–12:00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30552" y="4736592"/>
            <a:ext cx="928116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82D43"/>
                </a:solidFill>
                <a:latin typeface="Aptos"/>
              </a:defRPr>
            </a:pPr>
            <a:r>
              <a:t>Revalidate and record residual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30552" y="5129784"/>
            <a:ext cx="918972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182D43"/>
                </a:solidFill>
                <a:latin typeface="Aptos"/>
              </a:defRPr>
            </a:pPr>
            <a:r>
              <a:t>Review the targeted revalidation job and original finding together. Gate: Reachable target, correct identity and evidence for the result.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24734A"/>
                </a:solidFill>
                <a:latin typeface="Aptos"/>
              </a:defRPr>
            </a:pPr>
            <a:r>
              <a:t>OFFICIAL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182D43"/>
                </a:solidFill>
                <a:latin typeface="Aptos"/>
              </a:defRPr>
            </a:pPr>
            <a:r>
              <a:t>Evidence and delivery boundary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4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9601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2657A"/>
                </a:solidFill>
                <a:latin typeface="Aptos"/>
              </a:defRPr>
            </a:pPr>
            <a:r>
              <a:t>AWS Security Agent / AWS Continuum | Mechanism reference | 21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565392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2657A"/>
                </a:solidFill>
                <a:latin typeface="Aptos"/>
              </a:defRPr>
            </a:pPr>
            <a:r>
              <a:t>10 / UNTIMED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288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182D43"/>
                </a:solidFill>
                <a:latin typeface="Aptos"/>
              </a:defRPr>
            </a:pPr>
            <a:r>
              <a:t>Official source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560320"/>
            <a:ext cx="539496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4734A"/>
                </a:solidFill>
                <a:latin typeface="Aptos"/>
              </a:defRPr>
            </a:pPr>
            <a:r>
              <a:rPr>
                <a:hlinkClick r:id="rId3"/>
              </a:rPr>
              <a:t>[SC] Create a penetration 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2560320"/>
            <a:ext cx="539496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4734A"/>
                </a:solidFill>
                <a:latin typeface="Aptos"/>
              </a:defRPr>
            </a:pPr>
            <a:r>
              <a:rPr>
                <a:hlinkClick r:id="rId4"/>
              </a:rPr>
              <a:t>[SG] Security considerations and finding 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898648"/>
            <a:ext cx="539496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4734A"/>
                </a:solidFill>
                <a:latin typeface="Aptos"/>
              </a:defRPr>
            </a:pPr>
            <a:r>
              <a:rPr>
                <a:hlinkClick r:id="rId5"/>
              </a:rPr>
              <a:t>[SA] Provide authentication credentials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898648"/>
            <a:ext cx="539496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4734A"/>
                </a:solidFill>
                <a:latin typeface="Aptos"/>
              </a:defRPr>
            </a:pPr>
            <a:r>
              <a:rPr>
                <a:hlinkClick r:id="rId6"/>
              </a:rPr>
              <a:t>[SV] Review penetration-test findings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236976"/>
            <a:ext cx="539496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4734A"/>
                </a:solidFill>
                <a:latin typeface="Aptos"/>
              </a:defRPr>
            </a:pPr>
            <a:r>
              <a:rPr>
                <a:hlinkClick r:id="rId7"/>
              </a:rPr>
              <a:t>[SP] Manage security requirements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3236976"/>
            <a:ext cx="539496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4734A"/>
                </a:solidFill>
                <a:latin typeface="Aptos"/>
              </a:defRPr>
            </a:pPr>
            <a:r>
              <a:rPr>
                <a:hlinkClick r:id="rId8"/>
              </a:rPr>
              <a:t>[SL] Resource hierarchy and lifecycle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575303"/>
            <a:ext cx="539496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4734A"/>
                </a:solidFill>
                <a:latin typeface="Aptos"/>
              </a:defRPr>
            </a:pPr>
            <a:r>
              <a:rPr>
                <a:hlinkClick r:id="rId9"/>
              </a:rPr>
              <a:t>[SB] Pricing and preview capability status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3575303"/>
            <a:ext cx="539496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4734A"/>
                </a:solidFill>
                <a:latin typeface="Aptos"/>
              </a:defRPr>
            </a:pPr>
            <a:r>
              <a:rPr>
                <a:hlinkClick r:id="rId10"/>
              </a:rPr>
              <a:t>[SE] Enable finding remediation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913631"/>
            <a:ext cx="539496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4734A"/>
                </a:solidFill>
                <a:latin typeface="Aptos"/>
              </a:defRPr>
            </a:pPr>
            <a:r>
              <a:rPr>
                <a:hlinkClick r:id="rId11"/>
              </a:rPr>
              <a:t>[SR] Remediate a penetration-test finding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3913631"/>
            <a:ext cx="539496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4734A"/>
                </a:solidFill>
                <a:latin typeface="Aptos"/>
              </a:defRPr>
            </a:pPr>
            <a:r>
              <a:rPr>
                <a:hlinkClick r:id="rId12"/>
              </a:rPr>
              <a:t>[ST] Revalidate penetration-test findings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897880"/>
            <a:ext cx="10972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52657A"/>
                </a:solidFill>
                <a:latin typeface="Aptos"/>
              </a:defRPr>
            </a:pPr>
            <a:r>
              <a:t>Reviewed 21 October 2026. Proposed exercises were not executed. Consult the full HTML guide for qualifications and source changes.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