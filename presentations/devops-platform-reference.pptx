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Platform resources, configuration, contextual state, execution and authorization. Operational scenarios are applications of these capabilities, not capability names.</a:t>
            </a:r>
          </a:p>
          <a:p/>
          <a:p>
            <a:r>
              <a:t>Official product documentation supports the product statements. Configuration steps are documented guidance; verification exercises are proposed and were not executed. Selected critical sources were rechecked on 21 October 2026; other links are retained from the preceding review. This is not an exhaustive service catalog, a fresh audit of every historical claim, or a live AWS test.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Agent Space binds infrastructure access, integrations and operator access to a configured operational context.</a:t>
            </a:r>
          </a:p>
          <a:p/>
          <a:p>
            <a:r>
              <a:t>Resources: Agent Space; resource-investigation role; operator web-app role.</a:t>
            </a:r>
          </a:p>
          <a:p/>
          <a:p>
            <a:r>
              <a:t>Operations: Create a space; associate accounts and integrations; configure the separate roles.</a:t>
            </a:r>
          </a:p>
          <a:p/>
          <a:p>
            <a:r>
              <a:t>Boundary: Workspace membership does not override the permission policies on connected resources.</a:t>
            </a:r>
          </a:p>
          <a:p/>
          <a:p>
            <a:r>
              <a:t>Creating an Agent Space</a:t>
            </a:r>
          </a:p>
          <a:p>
            <a:r>
              <a:t>https://docs.aws.amazon.com/devopsagent/latest/userguide/getting-started-with-aws-devops-agent-creating-an-agent-space.html</a:t>
            </a:r>
          </a:p>
          <a:p/>
          <a:p>
            <a:r>
              <a:t>Official product documentation supports the product statements. Configuration steps are documented guidance; verification exercises are proposed and were not executed. Selected critical sources were rechecked on 21 October 2026; other links are retained from the preceding review. This is not an exhaustive service catalog, a fresh audit of every historical claim, or a live AWS test.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Account-level MCP providers expose tools that are explicitly associated with individual Agent Spaces.</a:t>
            </a:r>
          </a:p>
          <a:p/>
          <a:p>
            <a:r>
              <a:t>Resources: Capability provider; authentication configuration; Agent Space association; selected tools.</a:t>
            </a:r>
          </a:p>
          <a:p/>
          <a:p>
            <a:r>
              <a:t>Operations: Register and authenticate a provider; associate it; select tools; update supported connection settings.</a:t>
            </a:r>
          </a:p>
          <a:p/>
          <a:p>
            <a:r>
              <a:t>Boundary: Streamable HTTP transport, network reachability, authentication, selected tools and action classification are separate concerns.</a:t>
            </a:r>
          </a:p>
          <a:p/>
          <a:p>
            <a:r>
              <a:t>Connecting MCP servers</a:t>
            </a:r>
          </a:p>
          <a:p>
            <a:r>
              <a:t>https://docs.aws.amazon.com/devopsagent/latest/userguide/configuring-integrations-and-knowledge-connecting-mcp-servers.html</a:t>
            </a:r>
          </a:p>
          <a:p/>
          <a:p>
            <a:r>
              <a:t>Working with directed actions</a:t>
            </a:r>
          </a:p>
          <a:p>
            <a:r>
              <a:t>https://docs.aws.amazon.com/devopsagent/latest/userguide/working-with-devops-agent-working-with-directed-actions.html</a:t>
            </a:r>
          </a:p>
          <a:p/>
          <a:p>
            <a:r>
              <a:t>Official product documentation supports the product statements. Configuration steps are documented guidance; verification exercises are proposed and were not executed. Selected critical sources were rechecked on 21 October 2026; other links are retained from the preceding review. This is not an exhaustive service catalog, a fresh audit of every historical claim, or a live AWS test.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Private connections provide a network path to endpoints hosted inside a VPC.</a:t>
            </a:r>
          </a:p>
          <a:p/>
          <a:p>
            <a:r>
              <a:t>Resources: Private connection and endpoint configuration.</a:t>
            </a:r>
          </a:p>
          <a:p/>
          <a:p>
            <a:r>
              <a:t>Operations: Create a connection in the Agent Space Region; configure endpoint routing and network access.</a:t>
            </a:r>
          </a:p>
          <a:p/>
          <a:p>
            <a:r>
              <a:t>Boundary: Cross-Region reachability requires additional customer connectivity. Network access does not grant application authorization.</a:t>
            </a:r>
          </a:p>
          <a:p/>
          <a:p>
            <a:r>
              <a:t>Connecting to privately hosted tools</a:t>
            </a:r>
          </a:p>
          <a:p>
            <a:r>
              <a:t>https://docs.aws.amazon.com/devopsagent/latest/userguide/configuring-integrations-and-knowledge-connecting-to-privately-hosted-tools.html</a:t>
            </a:r>
          </a:p>
          <a:p/>
          <a:p>
            <a:r>
              <a:t>Official product documentation supports the product statements. Configuration steps are documented guidance; verification exercises are proposed and were not executed. Selected critical sources were rechecked on 21 October 2026; other links are retained from the preceding review. This is not an exhaustive service catalog, a fresh audit of every historical claim, or a live AWS test.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managed learning agent examines infrastructure, dependencies, pipelines and previous investigations to produce environment-specific knowledge.</a:t>
            </a:r>
          </a:p>
          <a:p/>
          <a:p>
            <a:r>
              <a:t>Resources: Managed learning agent; learned knowledge; History and Triggers views.</a:t>
            </a:r>
          </a:p>
          <a:p/>
          <a:p>
            <a:r>
              <a:t>Operations: Inspect learning runs and their triggers; inspect the produced knowledge.</a:t>
            </a:r>
          </a:p>
          <a:p/>
          <a:p>
            <a:r>
              <a:t>Boundary: Learning schedules are platform-owned. Learned skills are transitioning automatically to memory; consult the current memory representation rather than assuming a separate permanent store.</a:t>
            </a:r>
          </a:p>
          <a:p/>
          <a:p>
            <a:r>
              <a:t>Managed agents</a:t>
            </a:r>
          </a:p>
          <a:p>
            <a:r>
              <a:t>https://docs.aws.amazon.com/devopsagent/latest/userguide/working-with-devops-agent-managed-agents.html</a:t>
            </a:r>
          </a:p>
          <a:p/>
          <a:p>
            <a:r>
              <a:t>Learned skills and migration to memory</a:t>
            </a:r>
          </a:p>
          <a:p>
            <a:r>
              <a:t>https://docs.aws.amazon.com/devopsagent/latest/userguide/about-aws-devops-agent-learned-skills.html</a:t>
            </a:r>
          </a:p>
          <a:p/>
          <a:p>
            <a:r>
              <a:t>Official product documentation supports the product statements. Configuration steps are documented guidance; verification exercises are proposed and were not executed. Selected critical sources were rechecked on 21 October 2026; other links are retained from the preceding review. This is not an exhaustive service catalog, a fresh audit of every historical claim, or a live AWS test.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Managed and custom memory stores retain synthesized information that an agent can selectively retrieve across sessions.</a:t>
            </a:r>
          </a:p>
          <a:p/>
          <a:p>
            <a:r>
              <a:t>Resources: Memory store; Markdown memory entry; description; immutable versions; active state.</a:t>
            </a:r>
          </a:p>
          <a:p/>
          <a:p>
            <a:r>
              <a:t>Operations: Inspect entries and versions; activate or deactivate stores and entries; maintain custom context; attach stores to custom agents.</a:t>
            </a:r>
          </a:p>
          <a:p/>
          <a:p>
            <a:r>
              <a:t>Boundary: Context retrieval is not customer-controlled model-weight training. Stored information does not establish that it was used or that a new diagnosis is correct.</a:t>
            </a:r>
          </a:p>
          <a:p/>
          <a:p>
            <a:r>
              <a:t>DevOps Agent memories</a:t>
            </a:r>
          </a:p>
          <a:p>
            <a:r>
              <a:t>https://docs.aws.amazon.com/devopsagent/latest/userguide/about-aws-devops-agent-devops-agent-memories.html</a:t>
            </a:r>
          </a:p>
          <a:p/>
          <a:p>
            <a:r>
              <a:t>Custom agents</a:t>
            </a:r>
          </a:p>
          <a:p>
            <a:r>
              <a:t>https://docs.aws.amazon.com/devopsagent/latest/userguide/working-with-devops-agent-custom-agents-index.html</a:t>
            </a:r>
          </a:p>
          <a:p/>
          <a:p>
            <a:r>
              <a:t>Official product documentation supports the product statements. Configuration steps are documented guidance; verification exercises are proposed and were not executed. Selected critical sources were rechecked on 21 October 2026; other links are retained from the preceding review. This is not an exhaustive service catalog, a fresh audit of every historical claim, or a live AWS test.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Global and agent-specific AGENTS.md content is included at the start of applicable sessions.</a:t>
            </a:r>
          </a:p>
          <a:p/>
          <a:p>
            <a:r>
              <a:t>Resources: Global instructions and managed-agent instructions.</a:t>
            </a:r>
          </a:p>
          <a:p/>
          <a:p>
            <a:r>
              <a:t>Operations: Edit the appropriate Agent definition; save content; start a new session.</a:t>
            </a:r>
          </a:p>
          <a:p/>
          <a:p>
            <a:r>
              <a:t>Boundary: Existing sessions retain startup content. Prompt guidance is not a deterministic authorization control.</a:t>
            </a:r>
          </a:p>
          <a:p/>
          <a:p>
            <a:r>
              <a:t>Agent instructions</a:t>
            </a:r>
          </a:p>
          <a:p>
            <a:r>
              <a:t>https://docs.aws.amazon.com/devopsagent/latest/userguide/about-aws-devops-agent-agent-instructions.html</a:t>
            </a:r>
          </a:p>
          <a:p/>
          <a:p>
            <a:r>
              <a:t>Official product documentation supports the product statements. Configuration steps are documented guidance; verification exercises are proposed and were not executed. Selected critical sources were rechecked on 21 October 2026; other links are retained from the preceding review. This is not an exhaustive service catalog, a fresh audit of every historical claim, or a live AWS test.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Skills supply reusable procedures and supporting material when their descriptions match the work and their agent scope applies.</a:t>
            </a:r>
          </a:p>
          <a:p/>
          <a:p>
            <a:r>
              <a:t>Resources: SKILL.md; optional supporting resources; description; agent-type targeting.</a:t>
            </a:r>
          </a:p>
          <a:p/>
          <a:p>
            <a:r>
              <a:t>Operations: Create or import a skill; select its scope; revise its description and procedure.</a:t>
            </a:r>
          </a:p>
          <a:p/>
          <a:p>
            <a:r>
              <a:t>Boundary: An available skill is not necessarily selected. Procedural instructions, informational memory and always-loaded instructions are distinct.</a:t>
            </a:r>
          </a:p>
          <a:p/>
          <a:p>
            <a:r>
              <a:t>DevOps Agent skills</a:t>
            </a:r>
          </a:p>
          <a:p>
            <a:r>
              <a:t>https://docs.aws.amazon.com/devopsagent/latest/userguide/about-aws-devops-agent-devops-agent-skills.html</a:t>
            </a:r>
          </a:p>
          <a:p/>
          <a:p>
            <a:r>
              <a:t>Official product documentation supports the product statements. Configuration steps are documented guidance; verification exercises are proposed and were not executed. Selected critical sources were rechecked on 21 October 2026; other links are retained from the preceding review. This is not an exhaustive service catalog, a fresh audit of every historical claim, or a live AWS test.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custom-agent definition combines a system prompt with selected tools, skills and attached memory stores.</a:t>
            </a:r>
          </a:p>
          <a:p/>
          <a:p>
            <a:r>
              <a:t>Resources: Custom agent; prompt; tool selection; skill and store attachments.</a:t>
            </a:r>
          </a:p>
          <a:p/>
          <a:p>
            <a:r>
              <a:t>Operations: Create or edit the definition; use Chat to configure tools; attach only required stores.</a:t>
            </a:r>
          </a:p>
          <a:p/>
          <a:p>
            <a:r>
              <a:t>Boundary: New custom agents have no memory attachments. Attached managed stores are read-only to the custom agent; attached custom stores can support writes.</a:t>
            </a:r>
          </a:p>
          <a:p/>
          <a:p>
            <a:r>
              <a:t>Creating a custom agent</a:t>
            </a:r>
          </a:p>
          <a:p>
            <a:r>
              <a:t>https://docs.aws.amazon.com/devopsagent/latest/userguide/custom-agents-creating-a-custom-agent.html</a:t>
            </a:r>
          </a:p>
          <a:p/>
          <a:p>
            <a:r>
              <a:t>Custom agents</a:t>
            </a:r>
          </a:p>
          <a:p>
            <a:r>
              <a:t>https://docs.aws.amazon.com/devopsagent/latest/userguide/working-with-devops-agent-custom-agents-index.html</a:t>
            </a:r>
          </a:p>
          <a:p/>
          <a:p>
            <a:r>
              <a:t>Official product documentation supports the product statements. Configuration steps are documented guidance; verification exercises are proposed and were not executed. Selected critical sources were rechecked on 21 October 2026; other links are retained from the preceding review. This is not an exhaustive service catalog, a fresh audit of every historical claim, or a live AWS test.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Built-in investigations and custom-agent invocations expose different initiation paths.</a:t>
            </a:r>
          </a:p>
          <a:p/>
          <a:p>
            <a:r>
              <a:t>Resources: Investigation; webhook or connected incident system; custom-agent trigger; invocation.</a:t>
            </a:r>
          </a:p>
          <a:p/>
          <a:p>
            <a:r>
              <a:t>Operations: Start an investigation manually or through supported incident integration; run a custom agent on demand or on a schedule.</a:t>
            </a:r>
          </a:p>
          <a:p/>
          <a:p>
            <a:r>
              <a:t>Boundary: Do not describe built-in incident triggers and custom-agent schedules as one interchangeable event framework.</a:t>
            </a:r>
          </a:p>
          <a:p/>
          <a:p>
            <a:r>
              <a:t>Custom agents</a:t>
            </a:r>
          </a:p>
          <a:p>
            <a:r>
              <a:t>https://docs.aws.amazon.com/devopsagent/latest/userguide/working-with-devops-agent-custom-agents-index.html</a:t>
            </a:r>
          </a:p>
          <a:p/>
          <a:p>
            <a:r>
              <a:t>Incident initiation and corrective feedback</a:t>
            </a:r>
          </a:p>
          <a:p>
            <a:r>
              <a:t>https://docs.aws.amazon.com/devopsagent/latest/userguide/production-operations-autonomous-incident-response.html</a:t>
            </a:r>
          </a:p>
          <a:p/>
          <a:p>
            <a:r>
              <a:t>Official product documentation supports the product statements. Configuration steps are documented guidance; verification exercises are proposed and were not executed. Selected critical sources were rechecked on 21 October 2026; other links are retained from the preceding review. This is not an exhaustive service catalog, a fresh audit of every historical claim, or a live AWS test.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Sandbox supplies an ephemeral Linux execution environment with configurable dependencies and outbound access rules.</a:t>
            </a:r>
          </a:p>
          <a:p/>
          <a:p>
            <a:r>
              <a:t>Resources: Agent Space Sandbox settings; package configuration; network allowlist.</a:t>
            </a:r>
          </a:p>
          <a:p/>
          <a:p>
            <a:r>
              <a:t>Operations: Opt in; configure permitted packages and outbound endpoints; inspect a controlled investigation execution.</a:t>
            </a:r>
          </a:p>
          <a:p/>
          <a:p>
            <a:r>
              <a:t>Boundary: The reviewed preview guidance limits this execution surface to investigations. It is not durable memory or a general deployment runner.</a:t>
            </a:r>
          </a:p>
          <a:p/>
          <a:p>
            <a:r>
              <a:t>Set up a Sandbox</a:t>
            </a:r>
          </a:p>
          <a:p>
            <a:r>
              <a:t>https://docs.aws.amazon.com/devopsagent/latest/userguide/configuring-integrations-and-knowledge-sandbox.html</a:t>
            </a:r>
          </a:p>
          <a:p/>
          <a:p>
            <a:r>
              <a:t>Documented changes and defaults</a:t>
            </a:r>
          </a:p>
          <a:p>
            <a:r>
              <a:t>https://docs.aws.amazon.com/devopsagent/latest/userguide/whats-new.html</a:t>
            </a:r>
          </a:p>
          <a:p/>
          <a:p>
            <a:r>
              <a:t>Official product documentation supports the product statements. Configuration steps are documented guidance; verification exercises are proposed and were not executed. Selected critical sources were rechecked on 21 October 2026; other links are retained from the preceding review. This is not an exhaustive service catalog, a fresh audit of every historical claim, or a live AWS test.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Directed actions allow eligible mutations only after separate enablement, access configuration and specific approval.</a:t>
            </a:r>
          </a:p>
          <a:p/>
          <a:p>
            <a:r>
              <a:t>Resources: Agent Space setting; account elevated role; tool classification; approval record.</a:t>
            </a:r>
          </a:p>
          <a:p/>
          <a:p>
            <a:r>
              <a:t>Operations: Enable the feature; configure eligible accounts and tools; review, adjust, approve or reject a proposed operation.</a:t>
            </a:r>
          </a:p>
          <a:p/>
          <a:p>
            <a:r>
              <a:t>Boundary: A mitigation recommendation is not permission to execute it. A configured elevated role is a permission ceiling, not standing approval.</a:t>
            </a:r>
          </a:p>
          <a:p/>
          <a:p>
            <a:r>
              <a:t>Working with directed actions</a:t>
            </a:r>
          </a:p>
          <a:p>
            <a:r>
              <a:t>https://docs.aws.amazon.com/devopsagent/latest/userguide/working-with-devops-agent-working-with-directed-actions.html</a:t>
            </a:r>
          </a:p>
          <a:p/>
          <a:p>
            <a:r>
              <a:t>Official product documentation supports the product statements. Configuration steps are documented guidance; verification exercises are proposed and were not executed. Selected critical sources were rechecked on 21 October 2026; other links are retained from the preceding review. This is not an exhaustive service catalog, a fresh audit of every historical claim, or a live AWS test.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Asset APIs manage supported configuration resources; invocation trajectories expose tool calls and outputs for inspection.</a:t>
            </a:r>
          </a:p>
          <a:p/>
          <a:p>
            <a:r>
              <a:t>Resources: Asset records and identifiers; custom-agent invocation trajectory.</a:t>
            </a:r>
          </a:p>
          <a:p/>
          <a:p>
            <a:r>
              <a:t>Operations: Manage supported assets programmatically; inspect a run and its outputs.</a:t>
            </a:r>
          </a:p>
          <a:p/>
          <a:p>
            <a:r>
              <a:t>Boundary: Use asset identifiers where required by the API. A recorded trajectory is evidence of execution, not independent verification of the conclusion.</a:t>
            </a:r>
          </a:p>
          <a:p/>
          <a:p>
            <a:r>
              <a:t>Managing assets</a:t>
            </a:r>
          </a:p>
          <a:p>
            <a:r>
              <a:t>https://docs.aws.amazon.com/devopsagent/latest/userguide/about-aws-devops-agent-managing-assets.html</a:t>
            </a:r>
          </a:p>
          <a:p/>
          <a:p>
            <a:r>
              <a:t>Custom agents</a:t>
            </a:r>
          </a:p>
          <a:p>
            <a:r>
              <a:t>https://docs.aws.amazon.com/devopsagent/latest/userguide/working-with-devops-agent-custom-agents-index.html</a:t>
            </a:r>
          </a:p>
          <a:p/>
          <a:p>
            <a:r>
              <a:t>Official product documentation supports the product statements. Configuration steps are documented guidance; verification exercises are proposed and were not executed. Selected critical sources were rechecked on 21 October 2026; other links are retained from the preceding review. This is not an exhaustive service catalog, a fresh audit of every historical claim, or a live AWS test.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Recent investigations within the Agent Space.</a:t>
            </a:r>
          </a:p>
          <a:p/>
          <a:p>
            <a:r>
              <a:t>The monitors store groups recurring cause history by alarm or metric. The documented daily learning process runs when there are investigations within the preceding two weeks; it retains per-investigation evidence.</a:t>
            </a:r>
          </a:p>
          <a:p/>
          <a:p>
            <a:r>
              <a:t>Entries without updates for two weeks are removed; capacity pressure removes the oldest item. This store is bounded operational context, not an incident archive.</a:t>
            </a:r>
          </a:p>
          <a:p/>
          <a:p>
            <a:r>
              <a:t>Enablement: Confirm the Agent Space has completed investigations and inspect the managed learning agent History. Open Knowledge → Memories and inspect the monitors store and matching entry. Confirm the store and entry are active; monitor memory is documented as enabled by default.</a:t>
            </a:r>
          </a:p>
          <a:p/>
          <a:p>
            <a:r>
              <a:t>Keep current telemetry authoritative when it contradicts historical patterns. Learning runs and data retention are not a model-training control.</a:t>
            </a:r>
          </a:p>
          <a:p/>
          <a:p>
            <a:r>
              <a:t>Proposed verification: Proposed check: retain an earlier verified cause, inspect the resulting entry, then examine a later incident with a different cause but similar symptom. Distinguish entry existence, observable retrieval and diagnosis correctness.</a:t>
            </a:r>
          </a:p>
          <a:p/>
          <a:p>
            <a:r>
              <a:t>Managed agents</a:t>
            </a:r>
          </a:p>
          <a:p>
            <a:r>
              <a:t>https://docs.aws.amazon.com/devopsagent/latest/userguide/working-with-devops-agent-managed-agents.html</a:t>
            </a:r>
          </a:p>
          <a:p/>
          <a:p>
            <a:r>
              <a:t>DevOps Agent memories</a:t>
            </a:r>
          </a:p>
          <a:p>
            <a:r>
              <a:t>https://docs.aws.amazon.com/devopsagent/latest/userguide/about-aws-devops-agent-devops-agent-memories.html</a:t>
            </a:r>
          </a:p>
          <a:p/>
          <a:p>
            <a:r>
              <a:t>Documented changes and defaults</a:t>
            </a:r>
          </a:p>
          <a:p>
            <a:r>
              <a:t>https://docs.aws.amazon.com/devopsagent/latest/userguide/whats-new.html</a:t>
            </a:r>
          </a:p>
          <a:p/>
          <a:p>
            <a:r>
              <a:t>Official product documentation supports the product statements. Configuration steps are documented guidance; verification exercises are proposed and were not executed. Selected critical sources were rechecked on 21 October 2026; other links are retained from the preceding review. This is not an exhaustive service catalog, a fresh audit of every historical claim, or a live AWS test.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Recent investigations within the Agent Space.</a:t>
            </a:r>
          </a:p>
          <a:p/>
          <a:p>
            <a:r>
              <a:t>The monitors store groups recurring cause history by alarm or metric. The documented daily learning process runs when there are investigations within the preceding two weeks; it retains per-investigation evidence.</a:t>
            </a:r>
          </a:p>
          <a:p/>
          <a:p>
            <a:r>
              <a:t>Entries without updates for two weeks are removed; capacity pressure removes the oldest item. This store is bounded operational context, not an incident archive.</a:t>
            </a:r>
          </a:p>
          <a:p/>
          <a:p>
            <a:r>
              <a:t>Enablement: Confirm the Agent Space has completed investigations and inspect the managed learning agent History. Open Knowledge → Memories and inspect the monitors store and matching entry. Confirm the store and entry are active; monitor memory is documented as enabled by default.</a:t>
            </a:r>
          </a:p>
          <a:p/>
          <a:p>
            <a:r>
              <a:t>Keep current telemetry authoritative when it contradicts historical patterns. Learning runs and data retention are not a model-training control.</a:t>
            </a:r>
          </a:p>
          <a:p/>
          <a:p>
            <a:r>
              <a:t>Proposed verification: Proposed check: retain an earlier verified cause, inspect the resulting entry, then examine a later incident with a different cause but similar symptom. Distinguish entry existence, observable retrieval and diagnosis correctness.</a:t>
            </a:r>
          </a:p>
          <a:p/>
          <a:p>
            <a:r>
              <a:t>Managed agents</a:t>
            </a:r>
          </a:p>
          <a:p>
            <a:r>
              <a:t>https://docs.aws.amazon.com/devopsagent/latest/userguide/working-with-devops-agent-managed-agents.html</a:t>
            </a:r>
          </a:p>
          <a:p/>
          <a:p>
            <a:r>
              <a:t>DevOps Agent memories</a:t>
            </a:r>
          </a:p>
          <a:p>
            <a:r>
              <a:t>https://docs.aws.amazon.com/devopsagent/latest/userguide/about-aws-devops-agent-devops-agent-memories.html</a:t>
            </a:r>
          </a:p>
          <a:p/>
          <a:p>
            <a:r>
              <a:t>Documented changes and defaults</a:t>
            </a:r>
          </a:p>
          <a:p>
            <a:r>
              <a:t>https://docs.aws.amazon.com/devopsagent/latest/userguide/whats-new.html</a:t>
            </a:r>
          </a:p>
          <a:p/>
          <a:p>
            <a:r>
              <a:t>Official product documentation supports the product statements. Configuration steps are documented guidance; verification exercises are proposed and were not executed. Selected critical sources were rechecked on 21 October 2026; other links are retained from the preceding review. This is not an exhaustive service catalog, a fresh audit of every historical claim, or a live AWS test.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operator supplies corrective feedback on a completed investigation.</a:t>
            </a:r>
          </a:p>
          <a:p/>
          <a:p>
            <a:r>
              <a:t>The documented reflections store records lessons about a missed or incorrect cause. Feedback submission and recurring-monitor synthesis are different production paths.</a:t>
            </a:r>
          </a:p>
          <a:p/>
          <a:p>
            <a:r>
              <a:t>Feedback can be updated; the latest submission replaces prior feedback for that investigation. Do not assume that every downstream state is immediately refreshed.</a:t>
            </a:r>
          </a:p>
          <a:p/>
          <a:p>
            <a:r>
              <a:t>Enablement: Open the completed investigation and choose Add feedback, or provide the correction through Chat. Record the verdict and actual cause; inspect the relevant memory under Knowledge → Memories. Treat the separate opt-in to share feedback with AWS as a distinct decision.</a:t>
            </a:r>
          </a:p>
          <a:p/>
          <a:p>
            <a:r>
              <a:t>Use a verified correction, not a convenient hypothesis. AWS sharing requires explicit confirmation; local feedback and external sharing are not the same operation.</a:t>
            </a:r>
          </a:p>
          <a:p/>
          <a:p>
            <a:r>
              <a:t>Proposed verification: Proposed check: link the correction to the original evidence, inspect the stored lesson, and challenge the next diagnosis using current contradictory evidence. Without visible access evidence, report recall as unverified.</a:t>
            </a:r>
          </a:p>
          <a:p/>
          <a:p>
            <a:r>
              <a:t>Incident initiation and corrective feedback</a:t>
            </a:r>
          </a:p>
          <a:p>
            <a:r>
              <a:t>https://docs.aws.amazon.com/devopsagent/latest/userguide/production-operations-autonomous-incident-response.html</a:t>
            </a:r>
          </a:p>
          <a:p/>
          <a:p>
            <a:r>
              <a:t>DevOps Agent memories</a:t>
            </a:r>
          </a:p>
          <a:p>
            <a:r>
              <a:t>https://docs.aws.amazon.com/devopsagent/latest/userguide/about-aws-devops-agent-devops-agent-memories.html</a:t>
            </a:r>
          </a:p>
          <a:p/>
          <a:p>
            <a:r>
              <a:t>Documented changes and defaults</a:t>
            </a:r>
          </a:p>
          <a:p>
            <a:r>
              <a:t>https://docs.aws.amazon.com/devopsagent/latest/userguide/whats-new.html</a:t>
            </a:r>
          </a:p>
          <a:p/>
          <a:p>
            <a:r>
              <a:t>Official product documentation supports the product statements. Configuration steps are documented guidance; verification exercises are proposed and were not executed. Selected critical sources were rechecked on 21 October 2026; other links are retained from the preceding review. This is not an exhaustive service catalog, a fresh audit of every historical claim, or a live AWS test.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operator supplies corrective feedback on a completed investigation.</a:t>
            </a:r>
          </a:p>
          <a:p/>
          <a:p>
            <a:r>
              <a:t>The documented reflections store records lessons about a missed or incorrect cause. Feedback submission and recurring-monitor synthesis are different production paths.</a:t>
            </a:r>
          </a:p>
          <a:p/>
          <a:p>
            <a:r>
              <a:t>Feedback can be updated; the latest submission replaces prior feedback for that investigation. Do not assume that every downstream state is immediately refreshed.</a:t>
            </a:r>
          </a:p>
          <a:p/>
          <a:p>
            <a:r>
              <a:t>Enablement: Open the completed investigation and choose Add feedback, or provide the correction through Chat. Record the verdict and actual cause; inspect the relevant memory under Knowledge → Memories. Treat the separate opt-in to share feedback with AWS as a distinct decision.</a:t>
            </a:r>
          </a:p>
          <a:p/>
          <a:p>
            <a:r>
              <a:t>Use a verified correction, not a convenient hypothesis. AWS sharing requires explicit confirmation; local feedback and external sharing are not the same operation.</a:t>
            </a:r>
          </a:p>
          <a:p/>
          <a:p>
            <a:r>
              <a:t>Proposed verification: Proposed check: link the correction to the original evidence, inspect the stored lesson, and challenge the next diagnosis using current contradictory evidence. Without visible access evidence, report recall as unverified.</a:t>
            </a:r>
          </a:p>
          <a:p/>
          <a:p>
            <a:r>
              <a:t>Incident initiation and corrective feedback</a:t>
            </a:r>
          </a:p>
          <a:p>
            <a:r>
              <a:t>https://docs.aws.amazon.com/devopsagent/latest/userguide/production-operations-autonomous-incident-response.html</a:t>
            </a:r>
          </a:p>
          <a:p/>
          <a:p>
            <a:r>
              <a:t>DevOps Agent memories</a:t>
            </a:r>
          </a:p>
          <a:p>
            <a:r>
              <a:t>https://docs.aws.amazon.com/devopsagent/latest/userguide/about-aws-devops-agent-devops-agent-memories.html</a:t>
            </a:r>
          </a:p>
          <a:p/>
          <a:p>
            <a:r>
              <a:t>Documented changes and defaults</a:t>
            </a:r>
          </a:p>
          <a:p>
            <a:r>
              <a:t>https://docs.aws.amazon.com/devopsagent/latest/userguide/whats-new.html</a:t>
            </a:r>
          </a:p>
          <a:p/>
          <a:p>
            <a:r>
              <a:t>Official product documentation supports the product statements. Configuration steps are documented guidance; verification exercises are proposed and were not executed. Selected critical sources were rechecked on 21 October 2026; other links are retained from the preceding review. This is not an exhaustive service catalog, a fresh audit of every historical claim, or a live AWS test.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agent session needs contextual information relevant to its task.</a:t>
            </a:r>
          </a:p>
          <a:p/>
          <a:p>
            <a:r>
              <a:t>The documented retrieval sequence exposes descriptions before full content. For custom agents, store attachments constrain the accessible collection; new agents start without attachments.</a:t>
            </a:r>
          </a:p>
          <a:p/>
          <a:p>
            <a:r>
              <a:t>Updates create immutable entry versions. Deactivating a store or entry removes it from active access without deleting it.</a:t>
            </a:r>
          </a:p>
          <a:p/>
          <a:p>
            <a:r>
              <a:t>Enablement: Write specific descriptions stating the store subject and relevant situations. Edit the custom agent and attach only required stores; inspect the resulting definition. Use supported controls to deactivate stale entries and examine previous versions.</a:t>
            </a:r>
          </a:p>
          <a:p/>
          <a:p>
            <a:r>
              <a:t>A custom agent can write to attached custom stores; attached managed stores remain read-only. Retrieval internals beyond the documented description-selection process are not asserted.</a:t>
            </a:r>
          </a:p>
          <a:p/>
          <a:p>
            <a:r>
              <a:t>Proposed verification: Proposed check: compare an agent with and without a non-sensitive test-store attachment. Inspect observable reads and verify the answer independently. A repeated phrase alone does not prove retrieval.</a:t>
            </a:r>
          </a:p>
          <a:p/>
          <a:p>
            <a:r>
              <a:t>DevOps Agent memories</a:t>
            </a:r>
          </a:p>
          <a:p>
            <a:r>
              <a:t>https://docs.aws.amazon.com/devopsagent/latest/userguide/about-aws-devops-agent-devops-agent-memories.html</a:t>
            </a:r>
          </a:p>
          <a:p/>
          <a:p>
            <a:r>
              <a:t>Creating a custom agent</a:t>
            </a:r>
          </a:p>
          <a:p>
            <a:r>
              <a:t>https://docs.aws.amazon.com/devopsagent/latest/userguide/custom-agents-creating-a-custom-agent.html</a:t>
            </a:r>
          </a:p>
          <a:p/>
          <a:p>
            <a:r>
              <a:t>Custom agents</a:t>
            </a:r>
          </a:p>
          <a:p>
            <a:r>
              <a:t>https://docs.aws.amazon.com/devopsagent/latest/userguide/working-with-devops-agent-custom-agents-index.html</a:t>
            </a:r>
          </a:p>
          <a:p/>
          <a:p>
            <a:r>
              <a:t>Official product documentation supports the product statements. Configuration steps are documented guidance; verification exercises are proposed and were not executed. Selected critical sources were rechecked on 21 October 2026; other links are retained from the preceding review. This is not an exhaustive service catalog, a fresh audit of every historical claim, or a live AWS test.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agent session needs contextual information relevant to its task.</a:t>
            </a:r>
          </a:p>
          <a:p/>
          <a:p>
            <a:r>
              <a:t>The documented retrieval sequence exposes descriptions before full content. For custom agents, store attachments constrain the accessible collection; new agents start without attachments.</a:t>
            </a:r>
          </a:p>
          <a:p/>
          <a:p>
            <a:r>
              <a:t>Updates create immutable entry versions. Deactivating a store or entry removes it from active access without deleting it.</a:t>
            </a:r>
          </a:p>
          <a:p/>
          <a:p>
            <a:r>
              <a:t>Enablement: Write specific descriptions stating the store subject and relevant situations. Edit the custom agent and attach only required stores; inspect the resulting definition. Use supported controls to deactivate stale entries and examine previous versions.</a:t>
            </a:r>
          </a:p>
          <a:p/>
          <a:p>
            <a:r>
              <a:t>A custom agent can write to attached custom stores; attached managed stores remain read-only. Retrieval internals beyond the documented description-selection process are not asserted.</a:t>
            </a:r>
          </a:p>
          <a:p/>
          <a:p>
            <a:r>
              <a:t>Proposed verification: Proposed check: compare an agent with and without a non-sensitive test-store attachment. Inspect observable reads and verify the answer independently. A repeated phrase alone does not prove retrieval.</a:t>
            </a:r>
          </a:p>
          <a:p/>
          <a:p>
            <a:r>
              <a:t>DevOps Agent memories</a:t>
            </a:r>
          </a:p>
          <a:p>
            <a:r>
              <a:t>https://docs.aws.amazon.com/devopsagent/latest/userguide/about-aws-devops-agent-devops-agent-memories.html</a:t>
            </a:r>
          </a:p>
          <a:p/>
          <a:p>
            <a:r>
              <a:t>Creating a custom agent</a:t>
            </a:r>
          </a:p>
          <a:p>
            <a:r>
              <a:t>https://docs.aws.amazon.com/devopsagent/latest/userguide/custom-agents-creating-a-custom-agent.html</a:t>
            </a:r>
          </a:p>
          <a:p/>
          <a:p>
            <a:r>
              <a:t>Custom agents</a:t>
            </a:r>
          </a:p>
          <a:p>
            <a:r>
              <a:t>https://docs.aws.amazon.com/devopsagent/latest/userguide/working-with-devops-agent-custom-agents-index.html</a:t>
            </a:r>
          </a:p>
          <a:p/>
          <a:p>
            <a:r>
              <a:t>Official product documentation supports the product statements. Configuration steps are documented guidance; verification exercises are proposed and were not executed. Selected critical sources were rechecked on 21 October 2026; other links are retained from the preceding review. This is not an exhaustive service catalog, a fresh audit of every historical claim, or a live AWS test.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new applicable agent session starts.</a:t>
            </a:r>
          </a:p>
          <a:p/>
          <a:p>
            <a:r>
              <a:t>The service retrieves applicable AGENTS.md content at startup rather than letting the agent select it by relevance.</a:t>
            </a:r>
          </a:p>
          <a:p/>
          <a:p>
            <a:r>
              <a:t>Saved changes apply to new sessions; already-running sessions keep their startup content.</a:t>
            </a:r>
          </a:p>
          <a:p/>
          <a:p>
            <a:r>
              <a:t>Enablement: Open Agents → Managed agents and select the relevant agent. On Agent definition, edit Global instructions or that agent's own instructions. Save and start a new session to assess the change.</a:t>
            </a:r>
          </a:p>
          <a:p/>
          <a:p>
            <a:r>
              <a:t>Global changes affect all applicable managed agents. Instructions guide behavior but do not expand or restrict IAM authorization by themselves.</a:t>
            </a:r>
          </a:p>
          <a:p/>
          <a:p>
            <a:r>
              <a:t>Proposed verification: Proposed check: use a harmless output-format instruction, compare a pre-existing session with a new one, and record the content revision used. Treat compliance as observed behavior, not guaranteed policy enforcement.</a:t>
            </a:r>
          </a:p>
          <a:p/>
          <a:p>
            <a:r>
              <a:t>Agent instructions</a:t>
            </a:r>
          </a:p>
          <a:p>
            <a:r>
              <a:t>https://docs.aws.amazon.com/devopsagent/latest/userguide/about-aws-devops-agent-agent-instructions.html</a:t>
            </a:r>
          </a:p>
          <a:p/>
          <a:p>
            <a:r>
              <a:t>Official product documentation supports the product statements. Configuration steps are documented guidance; verification exercises are proposed and were not executed. Selected critical sources were rechecked on 21 October 2026; other links are retained from the preceding review. This is not an exhaustive service catalog, a fresh audit of every historical claim, or a live AWS test.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new applicable agent session starts.</a:t>
            </a:r>
          </a:p>
          <a:p/>
          <a:p>
            <a:r>
              <a:t>The service retrieves applicable AGENTS.md content at startup rather than letting the agent select it by relevance.</a:t>
            </a:r>
          </a:p>
          <a:p/>
          <a:p>
            <a:r>
              <a:t>Saved changes apply to new sessions; already-running sessions keep their startup content.</a:t>
            </a:r>
          </a:p>
          <a:p/>
          <a:p>
            <a:r>
              <a:t>Enablement: Open Agents → Managed agents and select the relevant agent. On Agent definition, edit Global instructions or that agent's own instructions. Save and start a new session to assess the change.</a:t>
            </a:r>
          </a:p>
          <a:p/>
          <a:p>
            <a:r>
              <a:t>Global changes affect all applicable managed agents. Instructions guide behavior but do not expand or restrict IAM authorization by themselves.</a:t>
            </a:r>
          </a:p>
          <a:p/>
          <a:p>
            <a:r>
              <a:t>Proposed verification: Proposed check: use a harmless output-format instruction, compare a pre-existing session with a new one, and record the content revision used. Treat compliance as observed behavior, not guaranteed policy enforcement.</a:t>
            </a:r>
          </a:p>
          <a:p/>
          <a:p>
            <a:r>
              <a:t>Agent instructions</a:t>
            </a:r>
          </a:p>
          <a:p>
            <a:r>
              <a:t>https://docs.aws.amazon.com/devopsagent/latest/userguide/about-aws-devops-agent-agent-instructions.html</a:t>
            </a:r>
          </a:p>
          <a:p/>
          <a:p>
            <a:r>
              <a:t>Official product documentation supports the product statements. Configuration steps are documented guidance; verification exercises are proposed and were not executed. Selected critical sources were rechecked on 21 October 2026; other links are retained from the preceding review. This is not an exhaustive service catalog, a fresh audit of every historical claim, or a live AWS test.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current task matches a skill description and agent-type scope.</a:t>
            </a:r>
          </a:p>
          <a:p/>
          <a:p>
            <a:r>
              <a:t>Skills supply procedural instructions through SKILL.md and optional supporting resources. They are selected on demand rather than unconditionally injected like standing instructions.</a:t>
            </a:r>
          </a:p>
          <a:p/>
          <a:p>
            <a:r>
              <a:t>Description, procedure and scope are separate configuration fields that should be maintained together.</a:t>
            </a:r>
          </a:p>
          <a:p/>
          <a:p>
            <a:r>
              <a:t>Enablement: Open Knowledge → Skills and add or import the procedure. Write a description defining when it applies and select the relevant agent types. Verify available tools separately; a procedure cannot grant missing tool permissions.</a:t>
            </a:r>
          </a:p>
          <a:p/>
          <a:p>
            <a:r>
              <a:t>An enabled skill can remain unused when its description or scope does not match. A skill is not an authorization boundary.</a:t>
            </a:r>
          </a:p>
          <a:p/>
          <a:p>
            <a:r>
              <a:t>Proposed verification: Proposed check: submit one matching and one nonmatching task. Inspect available invocation evidence for selection instead of inferring it solely from answer wording.</a:t>
            </a:r>
          </a:p>
          <a:p/>
          <a:p>
            <a:r>
              <a:t>DevOps Agent skills</a:t>
            </a:r>
          </a:p>
          <a:p>
            <a:r>
              <a:t>https://docs.aws.amazon.com/devopsagent/latest/userguide/about-aws-devops-agent-devops-agent-skills.html</a:t>
            </a:r>
          </a:p>
          <a:p/>
          <a:p>
            <a:r>
              <a:t>Agent instructions</a:t>
            </a:r>
          </a:p>
          <a:p>
            <a:r>
              <a:t>https://docs.aws.amazon.com/devopsagent/latest/userguide/about-aws-devops-agent-agent-instructions.html</a:t>
            </a:r>
          </a:p>
          <a:p/>
          <a:p>
            <a:r>
              <a:t>Official product documentation supports the product statements. Configuration steps are documented guidance; verification exercises are proposed and were not executed. Selected critical sources were rechecked on 21 October 2026; other links are retained from the preceding review. This is not an exhaustive service catalog, a fresh audit of every historical claim, or a live AWS test.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current task matches a skill description and agent-type scope.</a:t>
            </a:r>
          </a:p>
          <a:p/>
          <a:p>
            <a:r>
              <a:t>Skills supply procedural instructions through SKILL.md and optional supporting resources. They are selected on demand rather than unconditionally injected like standing instructions.</a:t>
            </a:r>
          </a:p>
          <a:p/>
          <a:p>
            <a:r>
              <a:t>Description, procedure and scope are separate configuration fields that should be maintained together.</a:t>
            </a:r>
          </a:p>
          <a:p/>
          <a:p>
            <a:r>
              <a:t>Enablement: Open Knowledge → Skills and add or import the procedure. Write a description defining when it applies and select the relevant agent types. Verify available tools separately; a procedure cannot grant missing tool permissions.</a:t>
            </a:r>
          </a:p>
          <a:p/>
          <a:p>
            <a:r>
              <a:t>An enabled skill can remain unused when its description or scope does not match. A skill is not an authorization boundary.</a:t>
            </a:r>
          </a:p>
          <a:p/>
          <a:p>
            <a:r>
              <a:t>Proposed verification: Proposed check: submit one matching and one nonmatching task. Inspect available invocation evidence for selection instead of inferring it solely from answer wording.</a:t>
            </a:r>
          </a:p>
          <a:p/>
          <a:p>
            <a:r>
              <a:t>DevOps Agent skills</a:t>
            </a:r>
          </a:p>
          <a:p>
            <a:r>
              <a:t>https://docs.aws.amazon.com/devopsagent/latest/userguide/about-aws-devops-agent-devops-agent-skills.html</a:t>
            </a:r>
          </a:p>
          <a:p/>
          <a:p>
            <a:r>
              <a:t>Agent instructions</a:t>
            </a:r>
          </a:p>
          <a:p>
            <a:r>
              <a:t>https://docs.aws.amazon.com/devopsagent/latest/userguide/about-aws-devops-agent-agent-instructions.html</a:t>
            </a:r>
          </a:p>
          <a:p/>
          <a:p>
            <a:r>
              <a:t>Official product documentation supports the product statements. Configuration steps are documented guidance; verification exercises are proposed and were not executed. Selected critical sources were rechecked on 21 October 2026; other links are retained from the preceding review. This is not an exhaustive service catalog, a fresh audit of every historical claim, or a live AWS test.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agent selects an associated external tool or proposes an eligible AWS-resource mutation.</a:t>
            </a:r>
          </a:p>
          <a:p/>
          <a:p>
            <a:r>
              <a:t>MCP registration, authentication, Agent Space association and selected tools establish availability. Mutating operations additionally require directed-action controls. AWS actions use the configured elevated role and approval scoped to the operation and resource.</a:t>
            </a:r>
          </a:p>
          <a:p/>
          <a:p>
            <a:r>
              <a:t>Provider configuration, selected tools, role policies and approvals are different records. Approval is not reusable for a different operation or resource.</a:t>
            </a:r>
          </a:p>
          <a:p/>
          <a:p>
            <a:r>
              <a:t>Enablement: Register and authenticate the provider, associate it with the Agent Space, and select the required tools. Review tool classifications explicitly. Programmatically registered tools without classification are documented to default to READ_ONLY. For eligible mutations, enable directed actions and configure the account role or integration; review the exact operation before approval.</a:t>
            </a:r>
          </a:p>
          <a:p/>
          <a:p>
            <a:r>
              <a:t>Misclassifying a mutating server tool as read-only is an operational hazard. Destructive third-party tools are a separate non-invocable class. A network path does not grant application access.</a:t>
            </a:r>
          </a:p>
          <a:p/>
          <a:p>
            <a:r>
              <a:t>Proposed verification: Proposed check: in an authorized test environment, verify a read, a rejected mutation and one narrowly approved mutation. Retain tool parameters, approval identity and independent resource state before and after.</a:t>
            </a:r>
          </a:p>
          <a:p/>
          <a:p>
            <a:r>
              <a:t>Connecting MCP servers</a:t>
            </a:r>
          </a:p>
          <a:p>
            <a:r>
              <a:t>https://docs.aws.amazon.com/devopsagent/latest/userguide/configuring-integrations-and-knowledge-connecting-mcp-servers.html</a:t>
            </a:r>
          </a:p>
          <a:p/>
          <a:p>
            <a:r>
              <a:t>Connecting to privately hosted tools</a:t>
            </a:r>
          </a:p>
          <a:p>
            <a:r>
              <a:t>https://docs.aws.amazon.com/devopsagent/latest/userguide/configuring-integrations-and-knowledge-connecting-to-privately-hosted-tools.html</a:t>
            </a:r>
          </a:p>
          <a:p/>
          <a:p>
            <a:r>
              <a:t>Working with directed actions</a:t>
            </a:r>
          </a:p>
          <a:p>
            <a:r>
              <a:t>https://docs.aws.amazon.com/devopsagent/latest/userguide/working-with-devops-agent-working-with-directed-actions.html</a:t>
            </a:r>
          </a:p>
          <a:p/>
          <a:p>
            <a:r>
              <a:t>Official product documentation supports the product statements. Configuration steps are documented guidance; verification exercises are proposed and were not executed. Selected critical sources were rechecked on 21 October 2026; other links are retained from the preceding review. This is not an exhaustive service catalog, a fresh audit of every historical claim, or a live AWS test.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agent selects an associated external tool or proposes an eligible AWS-resource mutation.</a:t>
            </a:r>
          </a:p>
          <a:p/>
          <a:p>
            <a:r>
              <a:t>MCP registration, authentication, Agent Space association and selected tools establish availability. Mutating operations additionally require directed-action controls. AWS actions use the configured elevated role and approval scoped to the operation and resource.</a:t>
            </a:r>
          </a:p>
          <a:p/>
          <a:p>
            <a:r>
              <a:t>Provider configuration, selected tools, role policies and approvals are different records. Approval is not reusable for a different operation or resource.</a:t>
            </a:r>
          </a:p>
          <a:p/>
          <a:p>
            <a:r>
              <a:t>Enablement: Register and authenticate the provider, associate it with the Agent Space, and select the required tools. Review tool classifications explicitly. Programmatically registered tools without classification are documented to default to READ_ONLY. For eligible mutations, enable directed actions and configure the account role or integration; review the exact operation before approval.</a:t>
            </a:r>
          </a:p>
          <a:p/>
          <a:p>
            <a:r>
              <a:t>Misclassifying a mutating server tool as read-only is an operational hazard. Destructive third-party tools are a separate non-invocable class. A network path does not grant application access.</a:t>
            </a:r>
          </a:p>
          <a:p/>
          <a:p>
            <a:r>
              <a:t>Proposed verification: Proposed check: in an authorized test environment, verify a read, a rejected mutation and one narrowly approved mutation. Retain tool parameters, approval identity and independent resource state before and after.</a:t>
            </a:r>
          </a:p>
          <a:p/>
          <a:p>
            <a:r>
              <a:t>Connecting MCP servers</a:t>
            </a:r>
          </a:p>
          <a:p>
            <a:r>
              <a:t>https://docs.aws.amazon.com/devopsagent/latest/userguide/configuring-integrations-and-knowledge-connecting-mcp-servers.html</a:t>
            </a:r>
          </a:p>
          <a:p/>
          <a:p>
            <a:r>
              <a:t>Connecting to privately hosted tools</a:t>
            </a:r>
          </a:p>
          <a:p>
            <a:r>
              <a:t>https://docs.aws.amazon.com/devopsagent/latest/userguide/configuring-integrations-and-knowledge-connecting-to-privately-hosted-tools.html</a:t>
            </a:r>
          </a:p>
          <a:p/>
          <a:p>
            <a:r>
              <a:t>Working with directed actions</a:t>
            </a:r>
          </a:p>
          <a:p>
            <a:r>
              <a:t>https://docs.aws.amazon.com/devopsagent/latest/userguide/working-with-devops-agent-working-with-directed-actions.html</a:t>
            </a:r>
          </a:p>
          <a:p/>
          <a:p>
            <a:r>
              <a:t>Official product documentation supports the product statements. Configuration steps are documented guidance; verification exercises are proposed and were not executed. Selected critical sources were rechecked on 21 October 2026; other links are retained from the preceding review. This is not an exhaustive service catalog, a fresh audit of every historical claim, or a live AWS test.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investigation uses the explicitly enabled Sandbox capability.</a:t>
            </a:r>
          </a:p>
          <a:p/>
          <a:p>
            <a:r>
              <a:t>The platform provides investigation-local computation with preconfigured packages and outbound endpoint rules. This execution surface is separate from directed-action authorization.</a:t>
            </a:r>
          </a:p>
          <a:p/>
          <a:p>
            <a:r>
              <a:t>The environment is ephemeral and scoped to an investigation; do not use it as a persistent knowledge store.</a:t>
            </a:r>
          </a:p>
          <a:p/>
          <a:p>
            <a:r>
              <a:t>Enablement: Open Capabilities → Sandbox → Configure for the Agent Space. Opt in and set package requirements and permitted outbound hosts, methods and paths. Confirm current feature and Region availability before an authorized test investigation.</a:t>
            </a:r>
          </a:p>
          <a:p/>
          <a:p>
            <a:r>
              <a:t>The reviewed preview scope is investigations, not all chat or custom-agent work. Network permissions and workload permissions remain separate controls.</a:t>
            </a:r>
          </a:p>
          <a:p/>
          <a:p>
            <a:r>
              <a:t>Proposed verification: Proposed check: run a harmless computation, confirm allowed and denied outbound requests, and verify that the output is retained in investigation evidence rather than assumed to persist in the runtime.</a:t>
            </a:r>
          </a:p>
          <a:p/>
          <a:p>
            <a:r>
              <a:t>Set up a Sandbox</a:t>
            </a:r>
          </a:p>
          <a:p>
            <a:r>
              <a:t>https://docs.aws.amazon.com/devopsagent/latest/userguide/configuring-integrations-and-knowledge-sandbox.html</a:t>
            </a:r>
          </a:p>
          <a:p/>
          <a:p>
            <a:r>
              <a:t>Documented changes and defaults</a:t>
            </a:r>
          </a:p>
          <a:p>
            <a:r>
              <a:t>https://docs.aws.amazon.com/devopsagent/latest/userguide/whats-new.html</a:t>
            </a:r>
          </a:p>
          <a:p/>
          <a:p>
            <a:r>
              <a:t>Official product documentation supports the product statements. Configuration steps are documented guidance; verification exercises are proposed and were not executed. Selected critical sources were rechecked on 21 October 2026; other links are retained from the preceding review. This is not an exhaustive service catalog, a fresh audit of every historical claim, or a live AWS test.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investigation uses the explicitly enabled Sandbox capability.</a:t>
            </a:r>
          </a:p>
          <a:p/>
          <a:p>
            <a:r>
              <a:t>The platform provides investigation-local computation with preconfigured packages and outbound endpoint rules. This execution surface is separate from directed-action authorization.</a:t>
            </a:r>
          </a:p>
          <a:p/>
          <a:p>
            <a:r>
              <a:t>The environment is ephemeral and scoped to an investigation; do not use it as a persistent knowledge store.</a:t>
            </a:r>
          </a:p>
          <a:p/>
          <a:p>
            <a:r>
              <a:t>Enablement: Open Capabilities → Sandbox → Configure for the Agent Space. Opt in and set package requirements and permitted outbound hosts, methods and paths. Confirm current feature and Region availability before an authorized test investigation.</a:t>
            </a:r>
          </a:p>
          <a:p/>
          <a:p>
            <a:r>
              <a:t>The reviewed preview scope is investigations, not all chat or custom-agent work. Network permissions and workload permissions remain separate controls.</a:t>
            </a:r>
          </a:p>
          <a:p/>
          <a:p>
            <a:r>
              <a:t>Proposed verification: Proposed check: run a harmless computation, confirm allowed and denied outbound requests, and verify that the output is retained in investigation evidence rather than assumed to persist in the runtime.</a:t>
            </a:r>
          </a:p>
          <a:p/>
          <a:p>
            <a:r>
              <a:t>Set up a Sandbox</a:t>
            </a:r>
          </a:p>
          <a:p>
            <a:r>
              <a:t>https://docs.aws.amazon.com/devopsagent/latest/userguide/configuring-integrations-and-knowledge-sandbox.html</a:t>
            </a:r>
          </a:p>
          <a:p/>
          <a:p>
            <a:r>
              <a:t>Documented changes and defaults</a:t>
            </a:r>
          </a:p>
          <a:p>
            <a:r>
              <a:t>https://docs.aws.amazon.com/devopsagent/latest/userguide/whats-new.html</a:t>
            </a:r>
          </a:p>
          <a:p/>
          <a:p>
            <a:r>
              <a:t>Official product documentation supports the product statements. Configuration steps are documented guidance; verification exercises are proposed and were not executed. Selected critical sources were rechecked on 21 October 2026; other links are retained from the preceding review. This is not an exhaustive service catalog, a fresh audit of every historical claim, or a live AWS test.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Proposed prepared-result exercise; no live execution or runtime guarantee</a:t>
            </a:r>
          </a:p>
          <a:p>
            <a:r>
              <a:t>Report three separate outcomes: memory exists, memory use is observable or unverified, and diagnosis is independently supported or rejected.</a:t>
            </a:r>
          </a:p>
          <a:p/>
          <a:p>
            <a:r>
              <a:t>Official product documentation supports the product statements. Configuration steps are documented guidance; verification exercises are proposed and were not executed. Selected critical sources were rechecked on 21 October 2026; other links are retained from the preceding review. This is not an exhaustive service catalog, a fresh audit of every historical claim, or a live AWS test.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D01 Creating an Agent Space</a:t>
            </a:r>
          </a:p>
          <a:p>
            <a:r>
              <a:t>https://docs.aws.amazon.com/devopsagent/latest/userguide/getting-started-with-aws-devops-agent-creating-an-agent-space.html</a:t>
            </a:r>
          </a:p>
          <a:p>
            <a:r>
              <a:t>D02 Connecting MCP servers</a:t>
            </a:r>
          </a:p>
          <a:p>
            <a:r>
              <a:t>https://docs.aws.amazon.com/devopsagent/latest/userguide/configuring-integrations-and-knowledge-connecting-mcp-servers.html</a:t>
            </a:r>
          </a:p>
          <a:p>
            <a:r>
              <a:t>D03 Connecting to privately hosted tools</a:t>
            </a:r>
          </a:p>
          <a:p>
            <a:r>
              <a:t>https://docs.aws.amazon.com/devopsagent/latest/userguide/configuring-integrations-and-knowledge-connecting-to-privately-hosted-tools.html</a:t>
            </a:r>
          </a:p>
          <a:p>
            <a:r>
              <a:t>D04 Managed agents</a:t>
            </a:r>
          </a:p>
          <a:p>
            <a:r>
              <a:t>https://docs.aws.amazon.com/devopsagent/latest/userguide/working-with-devops-agent-managed-agents.html</a:t>
            </a:r>
          </a:p>
          <a:p>
            <a:r>
              <a:t>D05 DevOps Agent memories</a:t>
            </a:r>
          </a:p>
          <a:p>
            <a:r>
              <a:t>https://docs.aws.amazon.com/devopsagent/latest/userguide/about-aws-devops-agent-devops-agent-memories.html</a:t>
            </a:r>
          </a:p>
          <a:p>
            <a:r>
              <a:t>D06 Agent instructions</a:t>
            </a:r>
          </a:p>
          <a:p>
            <a:r>
              <a:t>https://docs.aws.amazon.com/devopsagent/latest/userguide/about-aws-devops-agent-agent-instructions.html</a:t>
            </a:r>
          </a:p>
          <a:p/>
          <a:p>
            <a:r>
              <a:t>Official product documentation supports the product statements. Configuration steps are documented guidance; verification exercises are proposed and were not executed. Selected critical sources were rechecked on 21 October 2026; other links are retained from the preceding review. This is not an exhaustive service catalog, a fresh audit of every historical claim, or a live AWS test.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D07 DevOps Agent skills</a:t>
            </a:r>
          </a:p>
          <a:p>
            <a:r>
              <a:t>https://docs.aws.amazon.com/devopsagent/latest/userguide/about-aws-devops-agent-devops-agent-skills.html</a:t>
            </a:r>
          </a:p>
          <a:p>
            <a:r>
              <a:t>D08 Creating a custom agent</a:t>
            </a:r>
          </a:p>
          <a:p>
            <a:r>
              <a:t>https://docs.aws.amazon.com/devopsagent/latest/userguide/custom-agents-creating-a-custom-agent.html</a:t>
            </a:r>
          </a:p>
          <a:p>
            <a:r>
              <a:t>D09 Custom agents</a:t>
            </a:r>
          </a:p>
          <a:p>
            <a:r>
              <a:t>https://docs.aws.amazon.com/devopsagent/latest/userguide/working-with-devops-agent-custom-agents-index.html</a:t>
            </a:r>
          </a:p>
          <a:p>
            <a:r>
              <a:t>D10 Incident initiation and corrective feedback</a:t>
            </a:r>
          </a:p>
          <a:p>
            <a:r>
              <a:t>https://docs.aws.amazon.com/devopsagent/latest/userguide/production-operations-autonomous-incident-response.html</a:t>
            </a:r>
          </a:p>
          <a:p>
            <a:r>
              <a:t>D11 Set up a Sandbox</a:t>
            </a:r>
          </a:p>
          <a:p>
            <a:r>
              <a:t>https://docs.aws.amazon.com/devopsagent/latest/userguide/configuring-integrations-and-knowledge-sandbox.html</a:t>
            </a:r>
          </a:p>
          <a:p>
            <a:r>
              <a:t>D12 Working with directed actions</a:t>
            </a:r>
          </a:p>
          <a:p>
            <a:r>
              <a:t>https://docs.aws.amazon.com/devopsagent/latest/userguide/working-with-devops-agent-working-with-directed-actions.html</a:t>
            </a:r>
          </a:p>
          <a:p/>
          <a:p>
            <a:r>
              <a:t>Official product documentation supports the product statements. Configuration steps are documented guidance; verification exercises are proposed and were not executed. Selected critical sources were rechecked on 21 October 2026; other links are retained from the preceding review. This is not an exhaustive service catalog, a fresh audit of every historical claim, or a live AWS test.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D13 Managing assets</a:t>
            </a:r>
          </a:p>
          <a:p>
            <a:r>
              <a:t>https://docs.aws.amazon.com/devopsagent/latest/userguide/about-aws-devops-agent-managing-assets.html</a:t>
            </a:r>
          </a:p>
          <a:p>
            <a:r>
              <a:t>D14 Documented changes and defaults</a:t>
            </a:r>
          </a:p>
          <a:p>
            <a:r>
              <a:t>https://docs.aws.amazon.com/devopsagent/latest/userguide/whats-new.html</a:t>
            </a:r>
          </a:p>
          <a:p>
            <a:r>
              <a:t>D15 Learned skills and migration to memory</a:t>
            </a:r>
          </a:p>
          <a:p>
            <a:r>
              <a:t>https://docs.aws.amazon.com/devopsagent/latest/userguide/about-aws-devops-agent-learned-skills.html</a:t>
            </a:r>
          </a:p>
          <a:p/>
          <a:p>
            <a:r>
              <a:t>Official product documentation supports the product statements. Configuration steps are documented guidance; verification exercises are proposed and were not executed. Selected critical sources were rechecked on 21 October 2026; other links are retained from the preceding review. This is not an exhaustive service catalog, a fresh audit of every historical claim, or a live AWS test.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hyperlink" Target="https://docs.aws.amazon.com/devopsagent/latest/userguide/getting-started-with-aws-devops-agent-creating-an-agent-space.html" TargetMode="External"/><Relationship Id="rId4" Type="http://schemas.openxmlformats.org/officeDocument/2006/relationships/hyperlink" Target="https://docs.aws.amazon.com/devopsagent/latest/userguide/configuring-integrations-and-knowledge-connecting-mcp-servers.html" TargetMode="External"/><Relationship Id="rId5" Type="http://schemas.openxmlformats.org/officeDocument/2006/relationships/hyperlink" Target="https://docs.aws.amazon.com/devopsagent/latest/userguide/configuring-integrations-and-knowledge-connecting-to-privately-hosted-tools.html" TargetMode="External"/><Relationship Id="rId6" Type="http://schemas.openxmlformats.org/officeDocument/2006/relationships/hyperlink" Target="https://docs.aws.amazon.com/devopsagent/latest/userguide/working-with-devops-agent-managed-agents.html" TargetMode="External"/><Relationship Id="rId7" Type="http://schemas.openxmlformats.org/officeDocument/2006/relationships/hyperlink" Target="https://docs.aws.amazon.com/devopsagent/latest/userguide/about-aws-devops-agent-devops-agent-memories.html" TargetMode="External"/><Relationship Id="rId8" Type="http://schemas.openxmlformats.org/officeDocument/2006/relationships/hyperlink" Target="https://docs.aws.amazon.com/devopsagent/latest/userguide/about-aws-devops-agent-agent-instructions.html"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hyperlink" Target="https://docs.aws.amazon.com/devopsagent/latest/userguide/about-aws-devops-agent-devops-agent-skills.html" TargetMode="External"/><Relationship Id="rId4" Type="http://schemas.openxmlformats.org/officeDocument/2006/relationships/hyperlink" Target="https://docs.aws.amazon.com/devopsagent/latest/userguide/custom-agents-creating-a-custom-agent.html" TargetMode="External"/><Relationship Id="rId5" Type="http://schemas.openxmlformats.org/officeDocument/2006/relationships/hyperlink" Target="https://docs.aws.amazon.com/devopsagent/latest/userguide/working-with-devops-agent-custom-agents-index.html" TargetMode="External"/><Relationship Id="rId6" Type="http://schemas.openxmlformats.org/officeDocument/2006/relationships/hyperlink" Target="https://docs.aws.amazon.com/devopsagent/latest/userguide/production-operations-autonomous-incident-response.html" TargetMode="External"/><Relationship Id="rId7" Type="http://schemas.openxmlformats.org/officeDocument/2006/relationships/hyperlink" Target="https://docs.aws.amazon.com/devopsagent/latest/userguide/configuring-integrations-and-knowledge-sandbox.html" TargetMode="External"/><Relationship Id="rId8" Type="http://schemas.openxmlformats.org/officeDocument/2006/relationships/hyperlink" Target="https://docs.aws.amazon.com/devopsagent/latest/userguide/working-with-devops-agent-working-with-directed-actions.html"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 Id="rId3" Type="http://schemas.openxmlformats.org/officeDocument/2006/relationships/hyperlink" Target="https://docs.aws.amazon.com/devopsagent/latest/userguide/about-aws-devops-agent-managing-assets.html" TargetMode="External"/><Relationship Id="rId4" Type="http://schemas.openxmlformats.org/officeDocument/2006/relationships/hyperlink" Target="https://docs.aws.amazon.com/devopsagent/latest/userguide/whats-new.html" TargetMode="External"/><Relationship Id="rId5" Type="http://schemas.openxmlformats.org/officeDocument/2006/relationships/hyperlink" Target="https://docs.aws.amazon.com/devopsagent/latest/userguide/about-aws-devops-agent-learned-skills.html"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TextBox 1"/>
          <p:cNvSpPr txBox="1"/>
          <p:nvPr/>
        </p:nvSpPr>
        <p:spPr>
          <a:xfrm>
            <a:off x="548640" y="256032"/>
            <a:ext cx="10972800" cy="274320"/>
          </a:xfrm>
          <a:prstGeom prst="rect">
            <a:avLst/>
          </a:prstGeom>
          <a:noFill/>
        </p:spPr>
        <p:txBody>
          <a:bodyPr wrap="square" lIns="0" rIns="0" tIns="0" bIns="0">
            <a:spAutoFit/>
          </a:bodyPr>
          <a:lstStyle/>
          <a:p>
            <a:pPr>
              <a:spcAft>
                <a:spcPts val="500"/>
              </a:spcAft>
              <a:defRPr sz="1100" b="1">
                <a:solidFill>
                  <a:srgbClr val="066B67"/>
                </a:solidFill>
                <a:latin typeface="Aptos"/>
              </a:defRPr>
            </a:pPr>
            <a:r>
              <a:t>AWS DEVOPS AGENT / PLATFORM REFERENCE</a:t>
            </a:r>
          </a:p>
        </p:txBody>
      </p:sp>
      <p:sp>
        <p:nvSpPr>
          <p:cNvPr id="3" name="TextBox 2"/>
          <p:cNvSpPr txBox="1"/>
          <p:nvPr/>
        </p:nvSpPr>
        <p:spPr>
          <a:xfrm>
            <a:off x="548640" y="777240"/>
            <a:ext cx="11064240" cy="914400"/>
          </a:xfrm>
          <a:prstGeom prst="rect">
            <a:avLst/>
          </a:prstGeom>
          <a:noFill/>
        </p:spPr>
        <p:txBody>
          <a:bodyPr wrap="square" lIns="0" rIns="0" tIns="0" bIns="0">
            <a:spAutoFit/>
          </a:bodyPr>
          <a:lstStyle/>
          <a:p>
            <a:pPr>
              <a:spcAft>
                <a:spcPts val="500"/>
              </a:spcAft>
              <a:defRPr sz="2900" b="1">
                <a:solidFill>
                  <a:srgbClr val="172C43"/>
                </a:solidFill>
                <a:latin typeface="Aptos"/>
              </a:defRPr>
            </a:pPr>
            <a:r>
              <a:t>Capabilities, operations and mechanisms</a:t>
            </a:r>
          </a:p>
        </p:txBody>
      </p:sp>
      <p:sp>
        <p:nvSpPr>
          <p:cNvPr id="4" name="TextBox 3"/>
          <p:cNvSpPr txBox="1"/>
          <p:nvPr/>
        </p:nvSpPr>
        <p:spPr>
          <a:xfrm>
            <a:off x="548640" y="6400800"/>
            <a:ext cx="10698480" cy="237744"/>
          </a:xfrm>
          <a:prstGeom prst="rect">
            <a:avLst/>
          </a:prstGeom>
          <a:noFill/>
        </p:spPr>
        <p:txBody>
          <a:bodyPr wrap="square" lIns="0" rIns="0" tIns="0" bIns="0">
            <a:spAutoFit/>
          </a:bodyPr>
          <a:lstStyle/>
          <a:p>
            <a:pPr>
              <a:spcAft>
                <a:spcPts val="500"/>
              </a:spcAft>
              <a:defRPr sz="1000" b="0">
                <a:solidFill>
                  <a:srgbClr val="536579"/>
                </a:solidFill>
                <a:latin typeface="Aptos"/>
              </a:defRPr>
            </a:pPr>
            <a:r>
              <a:t>Reference deck — untimed; optional exercise has a separate budget</a:t>
            </a:r>
          </a:p>
        </p:txBody>
      </p:sp>
      <p:sp>
        <p:nvSpPr>
          <p:cNvPr id="5" name="TextBox 4"/>
          <p:cNvSpPr txBox="1"/>
          <p:nvPr/>
        </p:nvSpPr>
        <p:spPr>
          <a:xfrm>
            <a:off x="11292840" y="6400800"/>
            <a:ext cx="320040" cy="237744"/>
          </a:xfrm>
          <a:prstGeom prst="rect">
            <a:avLst/>
          </a:prstGeom>
          <a:noFill/>
        </p:spPr>
        <p:txBody>
          <a:bodyPr wrap="square" lIns="0" rIns="0" tIns="0" bIns="0">
            <a:spAutoFit/>
          </a:bodyPr>
          <a:lstStyle/>
          <a:p>
            <a:pPr>
              <a:spcAft>
                <a:spcPts val="500"/>
              </a:spcAft>
              <a:defRPr sz="1000" b="0">
                <a:solidFill>
                  <a:srgbClr val="172C43"/>
                </a:solidFill>
                <a:latin typeface="Aptos"/>
              </a:defRPr>
            </a:pPr>
            <a:r>
              <a:t>1</a:t>
            </a:r>
          </a:p>
        </p:txBody>
      </p:sp>
      <p:sp>
        <p:nvSpPr>
          <p:cNvPr id="6" name="TextBox 5"/>
          <p:cNvSpPr txBox="1"/>
          <p:nvPr/>
        </p:nvSpPr>
        <p:spPr>
          <a:xfrm>
            <a:off x="548640" y="1828800"/>
            <a:ext cx="10881360" cy="914400"/>
          </a:xfrm>
          <a:prstGeom prst="rect">
            <a:avLst/>
          </a:prstGeom>
          <a:noFill/>
        </p:spPr>
        <p:txBody>
          <a:bodyPr wrap="square" lIns="0" rIns="0" tIns="0" bIns="0">
            <a:spAutoFit/>
          </a:bodyPr>
          <a:lstStyle/>
          <a:p>
            <a:pPr>
              <a:spcAft>
                <a:spcPts val="500"/>
              </a:spcAft>
              <a:defRPr sz="1900" b="0">
                <a:solidFill>
                  <a:srgbClr val="172C43"/>
                </a:solidFill>
                <a:latin typeface="Aptos"/>
              </a:defRPr>
            </a:pPr>
            <a:r>
              <a:t>Platform resources, configuration, contextual state, execution and authorization. Operational scenarios are applications of these capabilities, not capability names.</a:t>
            </a:r>
          </a:p>
        </p:txBody>
      </p:sp>
      <p:sp>
        <p:nvSpPr>
          <p:cNvPr id="7" name="TextBox 6"/>
          <p:cNvSpPr txBox="1"/>
          <p:nvPr/>
        </p:nvSpPr>
        <p:spPr>
          <a:xfrm>
            <a:off x="548640" y="3017520"/>
            <a:ext cx="2194560" cy="457200"/>
          </a:xfrm>
          <a:prstGeom prst="rect">
            <a:avLst/>
          </a:prstGeom>
          <a:noFill/>
        </p:spPr>
        <p:txBody>
          <a:bodyPr wrap="square" lIns="0" rIns="0" tIns="0" bIns="0">
            <a:spAutoFit/>
          </a:bodyPr>
          <a:lstStyle/>
          <a:p>
            <a:pPr>
              <a:spcAft>
                <a:spcPts val="500"/>
              </a:spcAft>
              <a:defRPr sz="1700" b="1">
                <a:solidFill>
                  <a:srgbClr val="066B67"/>
                </a:solidFill>
                <a:latin typeface="Aptos"/>
              </a:defRPr>
            </a:pPr>
            <a:r>
              <a:t>Platform capability</a:t>
            </a:r>
          </a:p>
        </p:txBody>
      </p:sp>
      <p:sp>
        <p:nvSpPr>
          <p:cNvPr id="8" name="TextBox 7"/>
          <p:cNvSpPr txBox="1"/>
          <p:nvPr/>
        </p:nvSpPr>
        <p:spPr>
          <a:xfrm>
            <a:off x="2880360" y="3017520"/>
            <a:ext cx="8229600" cy="457200"/>
          </a:xfrm>
          <a:prstGeom prst="rect">
            <a:avLst/>
          </a:prstGeom>
          <a:noFill/>
        </p:spPr>
        <p:txBody>
          <a:bodyPr wrap="square" lIns="0" rIns="0" tIns="0" bIns="0">
            <a:spAutoFit/>
          </a:bodyPr>
          <a:lstStyle/>
          <a:p>
            <a:pPr>
              <a:spcAft>
                <a:spcPts val="500"/>
              </a:spcAft>
              <a:defRPr sz="1800" b="0">
                <a:solidFill>
                  <a:srgbClr val="172C43"/>
                </a:solidFill>
                <a:latin typeface="Aptos"/>
              </a:defRPr>
            </a:pPr>
            <a:r>
              <a:t>A reusable ability exposed by the platform.</a:t>
            </a:r>
          </a:p>
        </p:txBody>
      </p:sp>
      <p:sp>
        <p:nvSpPr>
          <p:cNvPr id="9" name="TextBox 8"/>
          <p:cNvSpPr txBox="1"/>
          <p:nvPr/>
        </p:nvSpPr>
        <p:spPr>
          <a:xfrm>
            <a:off x="548640" y="3639312"/>
            <a:ext cx="2194560" cy="457200"/>
          </a:xfrm>
          <a:prstGeom prst="rect">
            <a:avLst/>
          </a:prstGeom>
          <a:noFill/>
        </p:spPr>
        <p:txBody>
          <a:bodyPr wrap="square" lIns="0" rIns="0" tIns="0" bIns="0">
            <a:spAutoFit/>
          </a:bodyPr>
          <a:lstStyle/>
          <a:p>
            <a:pPr>
              <a:spcAft>
                <a:spcPts val="500"/>
              </a:spcAft>
              <a:defRPr sz="1700" b="1">
                <a:solidFill>
                  <a:srgbClr val="066B67"/>
                </a:solidFill>
                <a:latin typeface="Aptos"/>
              </a:defRPr>
            </a:pPr>
            <a:r>
              <a:t>Operation</a:t>
            </a:r>
          </a:p>
        </p:txBody>
      </p:sp>
      <p:sp>
        <p:nvSpPr>
          <p:cNvPr id="10" name="TextBox 9"/>
          <p:cNvSpPr txBox="1"/>
          <p:nvPr/>
        </p:nvSpPr>
        <p:spPr>
          <a:xfrm>
            <a:off x="2880360" y="3639312"/>
            <a:ext cx="8229600" cy="457200"/>
          </a:xfrm>
          <a:prstGeom prst="rect">
            <a:avLst/>
          </a:prstGeom>
          <a:noFill/>
        </p:spPr>
        <p:txBody>
          <a:bodyPr wrap="square" lIns="0" rIns="0" tIns="0" bIns="0">
            <a:spAutoFit/>
          </a:bodyPr>
          <a:lstStyle/>
          <a:p>
            <a:pPr>
              <a:spcAft>
                <a:spcPts val="500"/>
              </a:spcAft>
              <a:defRPr sz="1800" b="0">
                <a:solidFill>
                  <a:srgbClr val="172C43"/>
                </a:solidFill>
                <a:latin typeface="Aptos"/>
              </a:defRPr>
            </a:pPr>
            <a:r>
              <a:t>An action on a platform resource or configuration object.</a:t>
            </a:r>
          </a:p>
        </p:txBody>
      </p:sp>
      <p:sp>
        <p:nvSpPr>
          <p:cNvPr id="11" name="TextBox 10"/>
          <p:cNvSpPr txBox="1"/>
          <p:nvPr/>
        </p:nvSpPr>
        <p:spPr>
          <a:xfrm>
            <a:off x="548640" y="4261104"/>
            <a:ext cx="2194560" cy="457200"/>
          </a:xfrm>
          <a:prstGeom prst="rect">
            <a:avLst/>
          </a:prstGeom>
          <a:noFill/>
        </p:spPr>
        <p:txBody>
          <a:bodyPr wrap="square" lIns="0" rIns="0" tIns="0" bIns="0">
            <a:spAutoFit/>
          </a:bodyPr>
          <a:lstStyle/>
          <a:p>
            <a:pPr>
              <a:spcAft>
                <a:spcPts val="500"/>
              </a:spcAft>
              <a:defRPr sz="1700" b="1">
                <a:solidFill>
                  <a:srgbClr val="066B67"/>
                </a:solidFill>
                <a:latin typeface="Aptos"/>
              </a:defRPr>
            </a:pPr>
            <a:r>
              <a:t>Mechanism</a:t>
            </a:r>
          </a:p>
        </p:txBody>
      </p:sp>
      <p:sp>
        <p:nvSpPr>
          <p:cNvPr id="12" name="TextBox 11"/>
          <p:cNvSpPr txBox="1"/>
          <p:nvPr/>
        </p:nvSpPr>
        <p:spPr>
          <a:xfrm>
            <a:off x="2880360" y="4261104"/>
            <a:ext cx="8229600" cy="457200"/>
          </a:xfrm>
          <a:prstGeom prst="rect">
            <a:avLst/>
          </a:prstGeom>
          <a:noFill/>
        </p:spPr>
        <p:txBody>
          <a:bodyPr wrap="square" lIns="0" rIns="0" tIns="0" bIns="0">
            <a:spAutoFit/>
          </a:bodyPr>
          <a:lstStyle/>
          <a:p>
            <a:pPr>
              <a:spcAft>
                <a:spcPts val="500"/>
              </a:spcAft>
              <a:defRPr sz="1400" b="0">
                <a:solidFill>
                  <a:srgbClr val="172C43"/>
                </a:solidFill>
                <a:latin typeface="Aptos"/>
              </a:defRPr>
            </a:pPr>
            <a:r>
              <a:t>The documented process connecting inputs, state, execution and outputs.</a:t>
            </a:r>
          </a:p>
        </p:txBody>
      </p:sp>
      <p:sp>
        <p:nvSpPr>
          <p:cNvPr id="13" name="TextBox 12"/>
          <p:cNvSpPr txBox="1"/>
          <p:nvPr/>
        </p:nvSpPr>
        <p:spPr>
          <a:xfrm>
            <a:off x="548640" y="4882896"/>
            <a:ext cx="2194560" cy="457200"/>
          </a:xfrm>
          <a:prstGeom prst="rect">
            <a:avLst/>
          </a:prstGeom>
          <a:noFill/>
        </p:spPr>
        <p:txBody>
          <a:bodyPr wrap="square" lIns="0" rIns="0" tIns="0" bIns="0">
            <a:spAutoFit/>
          </a:bodyPr>
          <a:lstStyle/>
          <a:p>
            <a:pPr>
              <a:spcAft>
                <a:spcPts val="500"/>
              </a:spcAft>
              <a:defRPr sz="1700" b="1">
                <a:solidFill>
                  <a:srgbClr val="066B67"/>
                </a:solidFill>
                <a:latin typeface="Aptos"/>
              </a:defRPr>
            </a:pPr>
            <a:r>
              <a:t>Use case</a:t>
            </a:r>
          </a:p>
        </p:txBody>
      </p:sp>
      <p:sp>
        <p:nvSpPr>
          <p:cNvPr id="14" name="TextBox 13"/>
          <p:cNvSpPr txBox="1"/>
          <p:nvPr/>
        </p:nvSpPr>
        <p:spPr>
          <a:xfrm>
            <a:off x="2880360" y="4882896"/>
            <a:ext cx="8229600" cy="457200"/>
          </a:xfrm>
          <a:prstGeom prst="rect">
            <a:avLst/>
          </a:prstGeom>
          <a:noFill/>
        </p:spPr>
        <p:txBody>
          <a:bodyPr wrap="square" lIns="0" rIns="0" tIns="0" bIns="0">
            <a:spAutoFit/>
          </a:bodyPr>
          <a:lstStyle/>
          <a:p>
            <a:pPr>
              <a:spcAft>
                <a:spcPts val="500"/>
              </a:spcAft>
              <a:defRPr sz="1800" b="0">
                <a:solidFill>
                  <a:srgbClr val="172C43"/>
                </a:solidFill>
                <a:latin typeface="Aptos"/>
              </a:defRPr>
            </a:pPr>
            <a:r>
              <a:t>An engineering problem that combines capabilities and mechanisms.</a:t>
            </a:r>
          </a:p>
        </p:txBody>
      </p:sp>
      <p:sp>
        <p:nvSpPr>
          <p:cNvPr id="15" name="TextBox 14"/>
          <p:cNvSpPr txBox="1"/>
          <p:nvPr/>
        </p:nvSpPr>
        <p:spPr>
          <a:xfrm>
            <a:off x="548640" y="5623560"/>
            <a:ext cx="10972800" cy="548640"/>
          </a:xfrm>
          <a:prstGeom prst="rect">
            <a:avLst/>
          </a:prstGeom>
          <a:noFill/>
        </p:spPr>
        <p:txBody>
          <a:bodyPr wrap="square" lIns="0" rIns="0" tIns="0" bIns="0">
            <a:spAutoFit/>
          </a:bodyPr>
          <a:lstStyle/>
          <a:p>
            <a:pPr>
              <a:spcAft>
                <a:spcPts val="500"/>
              </a:spcAft>
              <a:defRPr sz="1400" b="0">
                <a:solidFill>
                  <a:srgbClr val="172C43"/>
                </a:solidFill>
                <a:latin typeface="Aptos"/>
              </a:defRPr>
            </a:pPr>
            <a:r>
              <a:t>Availability is feature-specific. Sandbox is documented as preview and investigation-only in the reviewed guidance. Confirm feature and Region eligibility before configuration.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TextBox 1"/>
          <p:cNvSpPr txBox="1"/>
          <p:nvPr/>
        </p:nvSpPr>
        <p:spPr>
          <a:xfrm>
            <a:off x="548640" y="256032"/>
            <a:ext cx="10972800" cy="274320"/>
          </a:xfrm>
          <a:prstGeom prst="rect">
            <a:avLst/>
          </a:prstGeom>
          <a:noFill/>
        </p:spPr>
        <p:txBody>
          <a:bodyPr wrap="square" lIns="0" rIns="0" tIns="0" bIns="0">
            <a:spAutoFit/>
          </a:bodyPr>
          <a:lstStyle/>
          <a:p>
            <a:pPr>
              <a:spcAft>
                <a:spcPts val="500"/>
              </a:spcAft>
              <a:defRPr sz="1100" b="1">
                <a:solidFill>
                  <a:srgbClr val="066B67"/>
                </a:solidFill>
                <a:latin typeface="Aptos"/>
              </a:defRPr>
            </a:pPr>
            <a:r>
              <a:t>AWS DEVOPS AGENT / PLATFORM REFERENCE</a:t>
            </a:r>
          </a:p>
        </p:txBody>
      </p:sp>
      <p:sp>
        <p:nvSpPr>
          <p:cNvPr id="3" name="TextBox 2"/>
          <p:cNvSpPr txBox="1"/>
          <p:nvPr/>
        </p:nvSpPr>
        <p:spPr>
          <a:xfrm>
            <a:off x="548640" y="777240"/>
            <a:ext cx="11064240" cy="914400"/>
          </a:xfrm>
          <a:prstGeom prst="rect">
            <a:avLst/>
          </a:prstGeom>
          <a:noFill/>
        </p:spPr>
        <p:txBody>
          <a:bodyPr wrap="square" lIns="0" rIns="0" tIns="0" bIns="0">
            <a:spAutoFit/>
          </a:bodyPr>
          <a:lstStyle/>
          <a:p>
            <a:pPr>
              <a:spcAft>
                <a:spcPts val="500"/>
              </a:spcAft>
              <a:defRPr sz="2900" b="1">
                <a:solidFill>
                  <a:srgbClr val="172C43"/>
                </a:solidFill>
                <a:latin typeface="Aptos"/>
              </a:defRPr>
            </a:pPr>
            <a:r>
              <a:t>Scoped operational workspaces</a:t>
            </a:r>
          </a:p>
        </p:txBody>
      </p:sp>
      <p:sp>
        <p:nvSpPr>
          <p:cNvPr id="4" name="TextBox 3"/>
          <p:cNvSpPr txBox="1"/>
          <p:nvPr/>
        </p:nvSpPr>
        <p:spPr>
          <a:xfrm>
            <a:off x="548640" y="6400800"/>
            <a:ext cx="10698480" cy="237744"/>
          </a:xfrm>
          <a:prstGeom prst="rect">
            <a:avLst/>
          </a:prstGeom>
          <a:noFill/>
        </p:spPr>
        <p:txBody>
          <a:bodyPr wrap="square" lIns="0" rIns="0" tIns="0" bIns="0">
            <a:spAutoFit/>
          </a:bodyPr>
          <a:lstStyle/>
          <a:p>
            <a:pPr>
              <a:spcAft>
                <a:spcPts val="500"/>
              </a:spcAft>
              <a:defRPr sz="1000" b="0">
                <a:solidFill>
                  <a:srgbClr val="536579"/>
                </a:solidFill>
                <a:latin typeface="Aptos"/>
              </a:defRPr>
            </a:pPr>
            <a:r>
              <a:t>D-C01 · Scope and connectivity · Untimed</a:t>
            </a:r>
          </a:p>
        </p:txBody>
      </p:sp>
      <p:sp>
        <p:nvSpPr>
          <p:cNvPr id="5" name="TextBox 4"/>
          <p:cNvSpPr txBox="1"/>
          <p:nvPr/>
        </p:nvSpPr>
        <p:spPr>
          <a:xfrm>
            <a:off x="11292840" y="6400800"/>
            <a:ext cx="320040" cy="237744"/>
          </a:xfrm>
          <a:prstGeom prst="rect">
            <a:avLst/>
          </a:prstGeom>
          <a:noFill/>
        </p:spPr>
        <p:txBody>
          <a:bodyPr wrap="square" lIns="0" rIns="0" tIns="0" bIns="0">
            <a:spAutoFit/>
          </a:bodyPr>
          <a:lstStyle/>
          <a:p>
            <a:pPr>
              <a:spcAft>
                <a:spcPts val="500"/>
              </a:spcAft>
              <a:defRPr sz="1000" b="0">
                <a:solidFill>
                  <a:srgbClr val="172C43"/>
                </a:solidFill>
                <a:latin typeface="Aptos"/>
              </a:defRPr>
            </a:pPr>
            <a:r>
              <a:t>2</a:t>
            </a:r>
          </a:p>
        </p:txBody>
      </p:sp>
      <p:sp>
        <p:nvSpPr>
          <p:cNvPr id="6" name="TextBox 5"/>
          <p:cNvSpPr txBox="1"/>
          <p:nvPr/>
        </p:nvSpPr>
        <p:spPr>
          <a:xfrm>
            <a:off x="548640" y="1810512"/>
            <a:ext cx="11018520" cy="1078992"/>
          </a:xfrm>
          <a:prstGeom prst="rect">
            <a:avLst/>
          </a:prstGeom>
          <a:noFill/>
        </p:spPr>
        <p:txBody>
          <a:bodyPr wrap="square" lIns="0" rIns="0" tIns="0" bIns="0">
            <a:spAutoFit/>
          </a:bodyPr>
          <a:lstStyle/>
          <a:p>
            <a:pPr>
              <a:spcAft>
                <a:spcPts val="500"/>
              </a:spcAft>
              <a:defRPr sz="2300" b="0">
                <a:solidFill>
                  <a:srgbClr val="172C43"/>
                </a:solidFill>
                <a:latin typeface="Aptos"/>
              </a:defRPr>
            </a:pPr>
            <a:r>
              <a:t>An Agent Space binds infrastructure access, integrations and operator access to a configured operational context.</a:t>
            </a:r>
          </a:p>
        </p:txBody>
      </p:sp>
      <p:sp>
        <p:nvSpPr>
          <p:cNvPr id="7" name="TextBox 6"/>
          <p:cNvSpPr txBox="1"/>
          <p:nvPr/>
        </p:nvSpPr>
        <p:spPr>
          <a:xfrm>
            <a:off x="548640" y="3054096"/>
            <a:ext cx="5303520" cy="274320"/>
          </a:xfrm>
          <a:prstGeom prst="rect">
            <a:avLst/>
          </a:prstGeom>
          <a:noFill/>
        </p:spPr>
        <p:txBody>
          <a:bodyPr wrap="square" lIns="0" rIns="0" tIns="0" bIns="0">
            <a:spAutoFit/>
          </a:bodyPr>
          <a:lstStyle/>
          <a:p>
            <a:pPr>
              <a:spcAft>
                <a:spcPts val="500"/>
              </a:spcAft>
              <a:defRPr sz="1200" b="1">
                <a:solidFill>
                  <a:srgbClr val="066B67"/>
                </a:solidFill>
                <a:latin typeface="Aptos"/>
              </a:defRPr>
            </a:pPr>
            <a:r>
              <a:t>PLATFORM RESOURCES</a:t>
            </a:r>
          </a:p>
        </p:txBody>
      </p:sp>
      <p:sp>
        <p:nvSpPr>
          <p:cNvPr id="8" name="TextBox 7"/>
          <p:cNvSpPr txBox="1"/>
          <p:nvPr/>
        </p:nvSpPr>
        <p:spPr>
          <a:xfrm>
            <a:off x="548640" y="3474720"/>
            <a:ext cx="5212080" cy="1097280"/>
          </a:xfrm>
          <a:prstGeom prst="rect">
            <a:avLst/>
          </a:prstGeom>
          <a:noFill/>
        </p:spPr>
        <p:txBody>
          <a:bodyPr wrap="square" lIns="0" rIns="0" tIns="0" bIns="0">
            <a:spAutoFit/>
          </a:bodyPr>
          <a:lstStyle/>
          <a:p>
            <a:pPr>
              <a:spcAft>
                <a:spcPts val="500"/>
              </a:spcAft>
              <a:defRPr sz="2000" b="0">
                <a:solidFill>
                  <a:srgbClr val="172C43"/>
                </a:solidFill>
                <a:latin typeface="Aptos"/>
              </a:defRPr>
            </a:pPr>
            <a:r>
              <a:t>Agent Space; resource-investigation role; operator web-app role.</a:t>
            </a:r>
          </a:p>
        </p:txBody>
      </p:sp>
      <p:sp>
        <p:nvSpPr>
          <p:cNvPr id="9" name="TextBox 8"/>
          <p:cNvSpPr txBox="1"/>
          <p:nvPr/>
        </p:nvSpPr>
        <p:spPr>
          <a:xfrm>
            <a:off x="6309360" y="3054096"/>
            <a:ext cx="5303520" cy="274320"/>
          </a:xfrm>
          <a:prstGeom prst="rect">
            <a:avLst/>
          </a:prstGeom>
          <a:noFill/>
        </p:spPr>
        <p:txBody>
          <a:bodyPr wrap="square" lIns="0" rIns="0" tIns="0" bIns="0">
            <a:spAutoFit/>
          </a:bodyPr>
          <a:lstStyle/>
          <a:p>
            <a:pPr>
              <a:spcAft>
                <a:spcPts val="500"/>
              </a:spcAft>
              <a:defRPr sz="1200" b="1">
                <a:solidFill>
                  <a:srgbClr val="066B67"/>
                </a:solidFill>
                <a:latin typeface="Aptos"/>
              </a:defRPr>
            </a:pPr>
            <a:r>
              <a:t>SUPPORTED OPERATIONS</a:t>
            </a:r>
          </a:p>
        </p:txBody>
      </p:sp>
      <p:sp>
        <p:nvSpPr>
          <p:cNvPr id="10" name="TextBox 9"/>
          <p:cNvSpPr txBox="1"/>
          <p:nvPr/>
        </p:nvSpPr>
        <p:spPr>
          <a:xfrm>
            <a:off x="6309360" y="3474720"/>
            <a:ext cx="5212080" cy="1097280"/>
          </a:xfrm>
          <a:prstGeom prst="rect">
            <a:avLst/>
          </a:prstGeom>
          <a:noFill/>
        </p:spPr>
        <p:txBody>
          <a:bodyPr wrap="square" lIns="0" rIns="0" tIns="0" bIns="0">
            <a:spAutoFit/>
          </a:bodyPr>
          <a:lstStyle/>
          <a:p>
            <a:pPr>
              <a:spcAft>
                <a:spcPts val="500"/>
              </a:spcAft>
              <a:defRPr sz="2000" b="0">
                <a:solidFill>
                  <a:srgbClr val="172C43"/>
                </a:solidFill>
                <a:latin typeface="Aptos"/>
              </a:defRPr>
            </a:pPr>
            <a:r>
              <a:t>Create a space; associate accounts and integrations; configure the separate roles.</a:t>
            </a:r>
          </a:p>
        </p:txBody>
      </p:sp>
      <p:sp>
        <p:nvSpPr>
          <p:cNvPr id="11" name="TextBox 10"/>
          <p:cNvSpPr txBox="1"/>
          <p:nvPr/>
        </p:nvSpPr>
        <p:spPr>
          <a:xfrm>
            <a:off x="548640" y="4919472"/>
            <a:ext cx="10972800" cy="274320"/>
          </a:xfrm>
          <a:prstGeom prst="rect">
            <a:avLst/>
          </a:prstGeom>
          <a:noFill/>
        </p:spPr>
        <p:txBody>
          <a:bodyPr wrap="square" lIns="0" rIns="0" tIns="0" bIns="0">
            <a:spAutoFit/>
          </a:bodyPr>
          <a:lstStyle/>
          <a:p>
            <a:pPr>
              <a:spcAft>
                <a:spcPts val="500"/>
              </a:spcAft>
              <a:defRPr sz="1200" b="1">
                <a:solidFill>
                  <a:srgbClr val="066B67"/>
                </a:solidFill>
                <a:latin typeface="Aptos"/>
              </a:defRPr>
            </a:pPr>
            <a:r>
              <a:t>BOUNDARY</a:t>
            </a:r>
          </a:p>
        </p:txBody>
      </p:sp>
      <p:sp>
        <p:nvSpPr>
          <p:cNvPr id="12" name="TextBox 11"/>
          <p:cNvSpPr txBox="1"/>
          <p:nvPr/>
        </p:nvSpPr>
        <p:spPr>
          <a:xfrm>
            <a:off x="548640" y="5321808"/>
            <a:ext cx="10972800" cy="758952"/>
          </a:xfrm>
          <a:prstGeom prst="rect">
            <a:avLst/>
          </a:prstGeom>
          <a:noFill/>
        </p:spPr>
        <p:txBody>
          <a:bodyPr wrap="square" lIns="0" rIns="0" tIns="0" bIns="0">
            <a:spAutoFit/>
          </a:bodyPr>
          <a:lstStyle/>
          <a:p>
            <a:pPr>
              <a:spcAft>
                <a:spcPts val="500"/>
              </a:spcAft>
              <a:defRPr sz="1800" b="0">
                <a:solidFill>
                  <a:srgbClr val="172C43"/>
                </a:solidFill>
                <a:latin typeface="Aptos"/>
              </a:defRPr>
            </a:pPr>
            <a:r>
              <a:t>Workspace membership does not override the permission policies on connected resources.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TextBox 1"/>
          <p:cNvSpPr txBox="1"/>
          <p:nvPr/>
        </p:nvSpPr>
        <p:spPr>
          <a:xfrm>
            <a:off x="548640" y="256032"/>
            <a:ext cx="10972800" cy="274320"/>
          </a:xfrm>
          <a:prstGeom prst="rect">
            <a:avLst/>
          </a:prstGeom>
          <a:noFill/>
        </p:spPr>
        <p:txBody>
          <a:bodyPr wrap="square" lIns="0" rIns="0" tIns="0" bIns="0">
            <a:spAutoFit/>
          </a:bodyPr>
          <a:lstStyle/>
          <a:p>
            <a:pPr>
              <a:spcAft>
                <a:spcPts val="500"/>
              </a:spcAft>
              <a:defRPr sz="1100" b="1">
                <a:solidFill>
                  <a:srgbClr val="066B67"/>
                </a:solidFill>
                <a:latin typeface="Aptos"/>
              </a:defRPr>
            </a:pPr>
            <a:r>
              <a:t>AWS DEVOPS AGENT / PLATFORM REFERENCE</a:t>
            </a:r>
          </a:p>
        </p:txBody>
      </p:sp>
      <p:sp>
        <p:nvSpPr>
          <p:cNvPr id="3" name="TextBox 2"/>
          <p:cNvSpPr txBox="1"/>
          <p:nvPr/>
        </p:nvSpPr>
        <p:spPr>
          <a:xfrm>
            <a:off x="548640" y="777240"/>
            <a:ext cx="11064240" cy="914400"/>
          </a:xfrm>
          <a:prstGeom prst="rect">
            <a:avLst/>
          </a:prstGeom>
          <a:noFill/>
        </p:spPr>
        <p:txBody>
          <a:bodyPr wrap="square" lIns="0" rIns="0" tIns="0" bIns="0">
            <a:spAutoFit/>
          </a:bodyPr>
          <a:lstStyle/>
          <a:p>
            <a:pPr>
              <a:spcAft>
                <a:spcPts val="500"/>
              </a:spcAft>
              <a:defRPr sz="2900" b="1">
                <a:solidFill>
                  <a:srgbClr val="172C43"/>
                </a:solidFill>
                <a:latin typeface="Aptos"/>
              </a:defRPr>
            </a:pPr>
            <a:r>
              <a:t>Selected external-tool access</a:t>
            </a:r>
          </a:p>
        </p:txBody>
      </p:sp>
      <p:sp>
        <p:nvSpPr>
          <p:cNvPr id="4" name="TextBox 3"/>
          <p:cNvSpPr txBox="1"/>
          <p:nvPr/>
        </p:nvSpPr>
        <p:spPr>
          <a:xfrm>
            <a:off x="548640" y="6400800"/>
            <a:ext cx="10698480" cy="237744"/>
          </a:xfrm>
          <a:prstGeom prst="rect">
            <a:avLst/>
          </a:prstGeom>
          <a:noFill/>
        </p:spPr>
        <p:txBody>
          <a:bodyPr wrap="square" lIns="0" rIns="0" tIns="0" bIns="0">
            <a:spAutoFit/>
          </a:bodyPr>
          <a:lstStyle/>
          <a:p>
            <a:pPr>
              <a:spcAft>
                <a:spcPts val="500"/>
              </a:spcAft>
              <a:defRPr sz="1000" b="0">
                <a:solidFill>
                  <a:srgbClr val="536579"/>
                </a:solidFill>
                <a:latin typeface="Aptos"/>
              </a:defRPr>
            </a:pPr>
            <a:r>
              <a:t>D-C02 · Scope and connectivity · Untimed</a:t>
            </a:r>
          </a:p>
        </p:txBody>
      </p:sp>
      <p:sp>
        <p:nvSpPr>
          <p:cNvPr id="5" name="TextBox 4"/>
          <p:cNvSpPr txBox="1"/>
          <p:nvPr/>
        </p:nvSpPr>
        <p:spPr>
          <a:xfrm>
            <a:off x="11292840" y="6400800"/>
            <a:ext cx="320040" cy="237744"/>
          </a:xfrm>
          <a:prstGeom prst="rect">
            <a:avLst/>
          </a:prstGeom>
          <a:noFill/>
        </p:spPr>
        <p:txBody>
          <a:bodyPr wrap="square" lIns="0" rIns="0" tIns="0" bIns="0">
            <a:spAutoFit/>
          </a:bodyPr>
          <a:lstStyle/>
          <a:p>
            <a:pPr>
              <a:spcAft>
                <a:spcPts val="500"/>
              </a:spcAft>
              <a:defRPr sz="1000" b="0">
                <a:solidFill>
                  <a:srgbClr val="172C43"/>
                </a:solidFill>
                <a:latin typeface="Aptos"/>
              </a:defRPr>
            </a:pPr>
            <a:r>
              <a:t>3</a:t>
            </a:r>
          </a:p>
        </p:txBody>
      </p:sp>
      <p:sp>
        <p:nvSpPr>
          <p:cNvPr id="6" name="TextBox 5"/>
          <p:cNvSpPr txBox="1"/>
          <p:nvPr/>
        </p:nvSpPr>
        <p:spPr>
          <a:xfrm>
            <a:off x="548640" y="1810512"/>
            <a:ext cx="11018520" cy="1078992"/>
          </a:xfrm>
          <a:prstGeom prst="rect">
            <a:avLst/>
          </a:prstGeom>
          <a:noFill/>
        </p:spPr>
        <p:txBody>
          <a:bodyPr wrap="square" lIns="0" rIns="0" tIns="0" bIns="0">
            <a:spAutoFit/>
          </a:bodyPr>
          <a:lstStyle/>
          <a:p>
            <a:pPr>
              <a:spcAft>
                <a:spcPts val="500"/>
              </a:spcAft>
              <a:defRPr sz="2300" b="0">
                <a:solidFill>
                  <a:srgbClr val="172C43"/>
                </a:solidFill>
                <a:latin typeface="Aptos"/>
              </a:defRPr>
            </a:pPr>
            <a:r>
              <a:t>Account-level MCP providers expose tools that are explicitly associated with individual Agent Spaces.</a:t>
            </a:r>
          </a:p>
        </p:txBody>
      </p:sp>
      <p:sp>
        <p:nvSpPr>
          <p:cNvPr id="7" name="TextBox 6"/>
          <p:cNvSpPr txBox="1"/>
          <p:nvPr/>
        </p:nvSpPr>
        <p:spPr>
          <a:xfrm>
            <a:off x="548640" y="3054096"/>
            <a:ext cx="5303520" cy="274320"/>
          </a:xfrm>
          <a:prstGeom prst="rect">
            <a:avLst/>
          </a:prstGeom>
          <a:noFill/>
        </p:spPr>
        <p:txBody>
          <a:bodyPr wrap="square" lIns="0" rIns="0" tIns="0" bIns="0">
            <a:spAutoFit/>
          </a:bodyPr>
          <a:lstStyle/>
          <a:p>
            <a:pPr>
              <a:spcAft>
                <a:spcPts val="500"/>
              </a:spcAft>
              <a:defRPr sz="1200" b="1">
                <a:solidFill>
                  <a:srgbClr val="066B67"/>
                </a:solidFill>
                <a:latin typeface="Aptos"/>
              </a:defRPr>
            </a:pPr>
            <a:r>
              <a:t>PLATFORM RESOURCES</a:t>
            </a:r>
          </a:p>
        </p:txBody>
      </p:sp>
      <p:sp>
        <p:nvSpPr>
          <p:cNvPr id="8" name="TextBox 7"/>
          <p:cNvSpPr txBox="1"/>
          <p:nvPr/>
        </p:nvSpPr>
        <p:spPr>
          <a:xfrm>
            <a:off x="548640" y="3474720"/>
            <a:ext cx="5212080" cy="1097280"/>
          </a:xfrm>
          <a:prstGeom prst="rect">
            <a:avLst/>
          </a:prstGeom>
          <a:noFill/>
        </p:spPr>
        <p:txBody>
          <a:bodyPr wrap="square" lIns="0" rIns="0" tIns="0" bIns="0">
            <a:spAutoFit/>
          </a:bodyPr>
          <a:lstStyle/>
          <a:p>
            <a:pPr>
              <a:spcAft>
                <a:spcPts val="500"/>
              </a:spcAft>
              <a:defRPr sz="2000" b="0">
                <a:solidFill>
                  <a:srgbClr val="172C43"/>
                </a:solidFill>
                <a:latin typeface="Aptos"/>
              </a:defRPr>
            </a:pPr>
            <a:r>
              <a:t>Capability provider; authentication configuration; Agent Space association; selected tools.</a:t>
            </a:r>
          </a:p>
        </p:txBody>
      </p:sp>
      <p:sp>
        <p:nvSpPr>
          <p:cNvPr id="9" name="TextBox 8"/>
          <p:cNvSpPr txBox="1"/>
          <p:nvPr/>
        </p:nvSpPr>
        <p:spPr>
          <a:xfrm>
            <a:off x="6309360" y="3054096"/>
            <a:ext cx="5303520" cy="274320"/>
          </a:xfrm>
          <a:prstGeom prst="rect">
            <a:avLst/>
          </a:prstGeom>
          <a:noFill/>
        </p:spPr>
        <p:txBody>
          <a:bodyPr wrap="square" lIns="0" rIns="0" tIns="0" bIns="0">
            <a:spAutoFit/>
          </a:bodyPr>
          <a:lstStyle/>
          <a:p>
            <a:pPr>
              <a:spcAft>
                <a:spcPts val="500"/>
              </a:spcAft>
              <a:defRPr sz="1200" b="1">
                <a:solidFill>
                  <a:srgbClr val="066B67"/>
                </a:solidFill>
                <a:latin typeface="Aptos"/>
              </a:defRPr>
            </a:pPr>
            <a:r>
              <a:t>SUPPORTED OPERATIONS</a:t>
            </a:r>
          </a:p>
        </p:txBody>
      </p:sp>
      <p:sp>
        <p:nvSpPr>
          <p:cNvPr id="10" name="TextBox 9"/>
          <p:cNvSpPr txBox="1"/>
          <p:nvPr/>
        </p:nvSpPr>
        <p:spPr>
          <a:xfrm>
            <a:off x="6309360" y="3474720"/>
            <a:ext cx="5212080" cy="1097280"/>
          </a:xfrm>
          <a:prstGeom prst="rect">
            <a:avLst/>
          </a:prstGeom>
          <a:noFill/>
        </p:spPr>
        <p:txBody>
          <a:bodyPr wrap="square" lIns="0" rIns="0" tIns="0" bIns="0">
            <a:spAutoFit/>
          </a:bodyPr>
          <a:lstStyle/>
          <a:p>
            <a:pPr>
              <a:spcAft>
                <a:spcPts val="500"/>
              </a:spcAft>
              <a:defRPr sz="2000" b="0">
                <a:solidFill>
                  <a:srgbClr val="172C43"/>
                </a:solidFill>
                <a:latin typeface="Aptos"/>
              </a:defRPr>
            </a:pPr>
            <a:r>
              <a:t>Register and authenticate a provider; associate it; select tools; update supported connection settings.</a:t>
            </a:r>
          </a:p>
        </p:txBody>
      </p:sp>
      <p:sp>
        <p:nvSpPr>
          <p:cNvPr id="11" name="TextBox 10"/>
          <p:cNvSpPr txBox="1"/>
          <p:nvPr/>
        </p:nvSpPr>
        <p:spPr>
          <a:xfrm>
            <a:off x="548640" y="4919472"/>
            <a:ext cx="10972800" cy="274320"/>
          </a:xfrm>
          <a:prstGeom prst="rect">
            <a:avLst/>
          </a:prstGeom>
          <a:noFill/>
        </p:spPr>
        <p:txBody>
          <a:bodyPr wrap="square" lIns="0" rIns="0" tIns="0" bIns="0">
            <a:spAutoFit/>
          </a:bodyPr>
          <a:lstStyle/>
          <a:p>
            <a:pPr>
              <a:spcAft>
                <a:spcPts val="500"/>
              </a:spcAft>
              <a:defRPr sz="1200" b="1">
                <a:solidFill>
                  <a:srgbClr val="066B67"/>
                </a:solidFill>
                <a:latin typeface="Aptos"/>
              </a:defRPr>
            </a:pPr>
            <a:r>
              <a:t>BOUNDARY</a:t>
            </a:r>
          </a:p>
        </p:txBody>
      </p:sp>
      <p:sp>
        <p:nvSpPr>
          <p:cNvPr id="12" name="TextBox 11"/>
          <p:cNvSpPr txBox="1"/>
          <p:nvPr/>
        </p:nvSpPr>
        <p:spPr>
          <a:xfrm>
            <a:off x="548640" y="5321808"/>
            <a:ext cx="10972800" cy="758952"/>
          </a:xfrm>
          <a:prstGeom prst="rect">
            <a:avLst/>
          </a:prstGeom>
          <a:noFill/>
        </p:spPr>
        <p:txBody>
          <a:bodyPr wrap="square" lIns="0" rIns="0" tIns="0" bIns="0">
            <a:spAutoFit/>
          </a:bodyPr>
          <a:lstStyle/>
          <a:p>
            <a:pPr>
              <a:spcAft>
                <a:spcPts val="500"/>
              </a:spcAft>
              <a:defRPr sz="1800" b="0">
                <a:solidFill>
                  <a:srgbClr val="172C43"/>
                </a:solidFill>
                <a:latin typeface="Aptos"/>
              </a:defRPr>
            </a:pPr>
            <a:r>
              <a:t>Streamable HTTP transport, network reachability, authentication, selected tools and action classification are separate concerns.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TextBox 1"/>
          <p:cNvSpPr txBox="1"/>
          <p:nvPr/>
        </p:nvSpPr>
        <p:spPr>
          <a:xfrm>
            <a:off x="548640" y="256032"/>
            <a:ext cx="10972800" cy="274320"/>
          </a:xfrm>
          <a:prstGeom prst="rect">
            <a:avLst/>
          </a:prstGeom>
          <a:noFill/>
        </p:spPr>
        <p:txBody>
          <a:bodyPr wrap="square" lIns="0" rIns="0" tIns="0" bIns="0">
            <a:spAutoFit/>
          </a:bodyPr>
          <a:lstStyle/>
          <a:p>
            <a:pPr>
              <a:spcAft>
                <a:spcPts val="500"/>
              </a:spcAft>
              <a:defRPr sz="1100" b="1">
                <a:solidFill>
                  <a:srgbClr val="066B67"/>
                </a:solidFill>
                <a:latin typeface="Aptos"/>
              </a:defRPr>
            </a:pPr>
            <a:r>
              <a:t>AWS DEVOPS AGENT / PLATFORM REFERENCE</a:t>
            </a:r>
          </a:p>
        </p:txBody>
      </p:sp>
      <p:sp>
        <p:nvSpPr>
          <p:cNvPr id="3" name="TextBox 2"/>
          <p:cNvSpPr txBox="1"/>
          <p:nvPr/>
        </p:nvSpPr>
        <p:spPr>
          <a:xfrm>
            <a:off x="548640" y="777240"/>
            <a:ext cx="11064240" cy="914400"/>
          </a:xfrm>
          <a:prstGeom prst="rect">
            <a:avLst/>
          </a:prstGeom>
          <a:noFill/>
        </p:spPr>
        <p:txBody>
          <a:bodyPr wrap="square" lIns="0" rIns="0" tIns="0" bIns="0">
            <a:spAutoFit/>
          </a:bodyPr>
          <a:lstStyle/>
          <a:p>
            <a:pPr>
              <a:spcAft>
                <a:spcPts val="500"/>
              </a:spcAft>
              <a:defRPr sz="2900" b="1">
                <a:solidFill>
                  <a:srgbClr val="172C43"/>
                </a:solidFill>
                <a:latin typeface="Aptos"/>
              </a:defRPr>
            </a:pPr>
            <a:r>
              <a:t>Private integration connectivity</a:t>
            </a:r>
          </a:p>
        </p:txBody>
      </p:sp>
      <p:sp>
        <p:nvSpPr>
          <p:cNvPr id="4" name="TextBox 3"/>
          <p:cNvSpPr txBox="1"/>
          <p:nvPr/>
        </p:nvSpPr>
        <p:spPr>
          <a:xfrm>
            <a:off x="548640" y="6400800"/>
            <a:ext cx="10698480" cy="237744"/>
          </a:xfrm>
          <a:prstGeom prst="rect">
            <a:avLst/>
          </a:prstGeom>
          <a:noFill/>
        </p:spPr>
        <p:txBody>
          <a:bodyPr wrap="square" lIns="0" rIns="0" tIns="0" bIns="0">
            <a:spAutoFit/>
          </a:bodyPr>
          <a:lstStyle/>
          <a:p>
            <a:pPr>
              <a:spcAft>
                <a:spcPts val="500"/>
              </a:spcAft>
              <a:defRPr sz="1000" b="0">
                <a:solidFill>
                  <a:srgbClr val="536579"/>
                </a:solidFill>
                <a:latin typeface="Aptos"/>
              </a:defRPr>
            </a:pPr>
            <a:r>
              <a:t>D-C03 · Scope and connectivity · Untimed</a:t>
            </a:r>
          </a:p>
        </p:txBody>
      </p:sp>
      <p:sp>
        <p:nvSpPr>
          <p:cNvPr id="5" name="TextBox 4"/>
          <p:cNvSpPr txBox="1"/>
          <p:nvPr/>
        </p:nvSpPr>
        <p:spPr>
          <a:xfrm>
            <a:off x="11292840" y="6400800"/>
            <a:ext cx="320040" cy="237744"/>
          </a:xfrm>
          <a:prstGeom prst="rect">
            <a:avLst/>
          </a:prstGeom>
          <a:noFill/>
        </p:spPr>
        <p:txBody>
          <a:bodyPr wrap="square" lIns="0" rIns="0" tIns="0" bIns="0">
            <a:spAutoFit/>
          </a:bodyPr>
          <a:lstStyle/>
          <a:p>
            <a:pPr>
              <a:spcAft>
                <a:spcPts val="500"/>
              </a:spcAft>
              <a:defRPr sz="1000" b="0">
                <a:solidFill>
                  <a:srgbClr val="172C43"/>
                </a:solidFill>
                <a:latin typeface="Aptos"/>
              </a:defRPr>
            </a:pPr>
            <a:r>
              <a:t>4</a:t>
            </a:r>
          </a:p>
        </p:txBody>
      </p:sp>
      <p:sp>
        <p:nvSpPr>
          <p:cNvPr id="6" name="TextBox 5"/>
          <p:cNvSpPr txBox="1"/>
          <p:nvPr/>
        </p:nvSpPr>
        <p:spPr>
          <a:xfrm>
            <a:off x="548640" y="1810512"/>
            <a:ext cx="11018520" cy="1078992"/>
          </a:xfrm>
          <a:prstGeom prst="rect">
            <a:avLst/>
          </a:prstGeom>
          <a:noFill/>
        </p:spPr>
        <p:txBody>
          <a:bodyPr wrap="square" lIns="0" rIns="0" tIns="0" bIns="0">
            <a:spAutoFit/>
          </a:bodyPr>
          <a:lstStyle/>
          <a:p>
            <a:pPr>
              <a:spcAft>
                <a:spcPts val="500"/>
              </a:spcAft>
              <a:defRPr sz="2300" b="0">
                <a:solidFill>
                  <a:srgbClr val="172C43"/>
                </a:solidFill>
                <a:latin typeface="Aptos"/>
              </a:defRPr>
            </a:pPr>
            <a:r>
              <a:t>Private connections provide a network path to endpoints hosted inside a VPC.</a:t>
            </a:r>
          </a:p>
        </p:txBody>
      </p:sp>
      <p:sp>
        <p:nvSpPr>
          <p:cNvPr id="7" name="TextBox 6"/>
          <p:cNvSpPr txBox="1"/>
          <p:nvPr/>
        </p:nvSpPr>
        <p:spPr>
          <a:xfrm>
            <a:off x="548640" y="3054096"/>
            <a:ext cx="5303520" cy="274320"/>
          </a:xfrm>
          <a:prstGeom prst="rect">
            <a:avLst/>
          </a:prstGeom>
          <a:noFill/>
        </p:spPr>
        <p:txBody>
          <a:bodyPr wrap="square" lIns="0" rIns="0" tIns="0" bIns="0">
            <a:spAutoFit/>
          </a:bodyPr>
          <a:lstStyle/>
          <a:p>
            <a:pPr>
              <a:spcAft>
                <a:spcPts val="500"/>
              </a:spcAft>
              <a:defRPr sz="1200" b="1">
                <a:solidFill>
                  <a:srgbClr val="066B67"/>
                </a:solidFill>
                <a:latin typeface="Aptos"/>
              </a:defRPr>
            </a:pPr>
            <a:r>
              <a:t>PLATFORM RESOURCES</a:t>
            </a:r>
          </a:p>
        </p:txBody>
      </p:sp>
      <p:sp>
        <p:nvSpPr>
          <p:cNvPr id="8" name="TextBox 7"/>
          <p:cNvSpPr txBox="1"/>
          <p:nvPr/>
        </p:nvSpPr>
        <p:spPr>
          <a:xfrm>
            <a:off x="548640" y="3474720"/>
            <a:ext cx="5212080" cy="1097280"/>
          </a:xfrm>
          <a:prstGeom prst="rect">
            <a:avLst/>
          </a:prstGeom>
          <a:noFill/>
        </p:spPr>
        <p:txBody>
          <a:bodyPr wrap="square" lIns="0" rIns="0" tIns="0" bIns="0">
            <a:spAutoFit/>
          </a:bodyPr>
          <a:lstStyle/>
          <a:p>
            <a:pPr>
              <a:spcAft>
                <a:spcPts val="500"/>
              </a:spcAft>
              <a:defRPr sz="2000" b="0">
                <a:solidFill>
                  <a:srgbClr val="172C43"/>
                </a:solidFill>
                <a:latin typeface="Aptos"/>
              </a:defRPr>
            </a:pPr>
            <a:r>
              <a:t>Private connection and endpoint configuration.</a:t>
            </a:r>
          </a:p>
        </p:txBody>
      </p:sp>
      <p:sp>
        <p:nvSpPr>
          <p:cNvPr id="9" name="TextBox 8"/>
          <p:cNvSpPr txBox="1"/>
          <p:nvPr/>
        </p:nvSpPr>
        <p:spPr>
          <a:xfrm>
            <a:off x="6309360" y="3054096"/>
            <a:ext cx="5303520" cy="274320"/>
          </a:xfrm>
          <a:prstGeom prst="rect">
            <a:avLst/>
          </a:prstGeom>
          <a:noFill/>
        </p:spPr>
        <p:txBody>
          <a:bodyPr wrap="square" lIns="0" rIns="0" tIns="0" bIns="0">
            <a:spAutoFit/>
          </a:bodyPr>
          <a:lstStyle/>
          <a:p>
            <a:pPr>
              <a:spcAft>
                <a:spcPts val="500"/>
              </a:spcAft>
              <a:defRPr sz="1200" b="1">
                <a:solidFill>
                  <a:srgbClr val="066B67"/>
                </a:solidFill>
                <a:latin typeface="Aptos"/>
              </a:defRPr>
            </a:pPr>
            <a:r>
              <a:t>SUPPORTED OPERATIONS</a:t>
            </a:r>
          </a:p>
        </p:txBody>
      </p:sp>
      <p:sp>
        <p:nvSpPr>
          <p:cNvPr id="10" name="TextBox 9"/>
          <p:cNvSpPr txBox="1"/>
          <p:nvPr/>
        </p:nvSpPr>
        <p:spPr>
          <a:xfrm>
            <a:off x="6309360" y="3474720"/>
            <a:ext cx="5212080" cy="1097280"/>
          </a:xfrm>
          <a:prstGeom prst="rect">
            <a:avLst/>
          </a:prstGeom>
          <a:noFill/>
        </p:spPr>
        <p:txBody>
          <a:bodyPr wrap="square" lIns="0" rIns="0" tIns="0" bIns="0">
            <a:spAutoFit/>
          </a:bodyPr>
          <a:lstStyle/>
          <a:p>
            <a:pPr>
              <a:spcAft>
                <a:spcPts val="500"/>
              </a:spcAft>
              <a:defRPr sz="2000" b="0">
                <a:solidFill>
                  <a:srgbClr val="172C43"/>
                </a:solidFill>
                <a:latin typeface="Aptos"/>
              </a:defRPr>
            </a:pPr>
            <a:r>
              <a:t>Create a connection in the Agent Space Region; configure endpoint routing and network access.</a:t>
            </a:r>
          </a:p>
        </p:txBody>
      </p:sp>
      <p:sp>
        <p:nvSpPr>
          <p:cNvPr id="11" name="TextBox 10"/>
          <p:cNvSpPr txBox="1"/>
          <p:nvPr/>
        </p:nvSpPr>
        <p:spPr>
          <a:xfrm>
            <a:off x="548640" y="4919472"/>
            <a:ext cx="10972800" cy="274320"/>
          </a:xfrm>
          <a:prstGeom prst="rect">
            <a:avLst/>
          </a:prstGeom>
          <a:noFill/>
        </p:spPr>
        <p:txBody>
          <a:bodyPr wrap="square" lIns="0" rIns="0" tIns="0" bIns="0">
            <a:spAutoFit/>
          </a:bodyPr>
          <a:lstStyle/>
          <a:p>
            <a:pPr>
              <a:spcAft>
                <a:spcPts val="500"/>
              </a:spcAft>
              <a:defRPr sz="1200" b="1">
                <a:solidFill>
                  <a:srgbClr val="066B67"/>
                </a:solidFill>
                <a:latin typeface="Aptos"/>
              </a:defRPr>
            </a:pPr>
            <a:r>
              <a:t>BOUNDARY</a:t>
            </a:r>
          </a:p>
        </p:txBody>
      </p:sp>
      <p:sp>
        <p:nvSpPr>
          <p:cNvPr id="12" name="TextBox 11"/>
          <p:cNvSpPr txBox="1"/>
          <p:nvPr/>
        </p:nvSpPr>
        <p:spPr>
          <a:xfrm>
            <a:off x="548640" y="5321808"/>
            <a:ext cx="10972800" cy="758952"/>
          </a:xfrm>
          <a:prstGeom prst="rect">
            <a:avLst/>
          </a:prstGeom>
          <a:noFill/>
        </p:spPr>
        <p:txBody>
          <a:bodyPr wrap="square" lIns="0" rIns="0" tIns="0" bIns="0">
            <a:spAutoFit/>
          </a:bodyPr>
          <a:lstStyle/>
          <a:p>
            <a:pPr>
              <a:spcAft>
                <a:spcPts val="500"/>
              </a:spcAft>
              <a:defRPr sz="1800" b="0">
                <a:solidFill>
                  <a:srgbClr val="172C43"/>
                </a:solidFill>
                <a:latin typeface="Aptos"/>
              </a:defRPr>
            </a:pPr>
            <a:r>
              <a:t>Cross-Region reachability requires additional customer connectivity. Network access does not grant application authorization.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TextBox 1"/>
          <p:cNvSpPr txBox="1"/>
          <p:nvPr/>
        </p:nvSpPr>
        <p:spPr>
          <a:xfrm>
            <a:off x="548640" y="256032"/>
            <a:ext cx="10972800" cy="274320"/>
          </a:xfrm>
          <a:prstGeom prst="rect">
            <a:avLst/>
          </a:prstGeom>
          <a:noFill/>
        </p:spPr>
        <p:txBody>
          <a:bodyPr wrap="square" lIns="0" rIns="0" tIns="0" bIns="0">
            <a:spAutoFit/>
          </a:bodyPr>
          <a:lstStyle/>
          <a:p>
            <a:pPr>
              <a:spcAft>
                <a:spcPts val="500"/>
              </a:spcAft>
              <a:defRPr sz="1100" b="1">
                <a:solidFill>
                  <a:srgbClr val="066B67"/>
                </a:solidFill>
                <a:latin typeface="Aptos"/>
              </a:defRPr>
            </a:pPr>
            <a:r>
              <a:t>AWS DEVOPS AGENT / PLATFORM REFERENCE</a:t>
            </a:r>
          </a:p>
        </p:txBody>
      </p:sp>
      <p:sp>
        <p:nvSpPr>
          <p:cNvPr id="3" name="TextBox 2"/>
          <p:cNvSpPr txBox="1"/>
          <p:nvPr/>
        </p:nvSpPr>
        <p:spPr>
          <a:xfrm>
            <a:off x="548640" y="777240"/>
            <a:ext cx="11064240" cy="914400"/>
          </a:xfrm>
          <a:prstGeom prst="rect">
            <a:avLst/>
          </a:prstGeom>
          <a:noFill/>
        </p:spPr>
        <p:txBody>
          <a:bodyPr wrap="square" lIns="0" rIns="0" tIns="0" bIns="0">
            <a:spAutoFit/>
          </a:bodyPr>
          <a:lstStyle/>
          <a:p>
            <a:pPr>
              <a:spcAft>
                <a:spcPts val="500"/>
              </a:spcAft>
              <a:defRPr sz="2900" b="1">
                <a:solidFill>
                  <a:srgbClr val="172C43"/>
                </a:solidFill>
                <a:latin typeface="Aptos"/>
              </a:defRPr>
            </a:pPr>
            <a:r>
              <a:t>Environment knowledge maintenance</a:t>
            </a:r>
          </a:p>
        </p:txBody>
      </p:sp>
      <p:sp>
        <p:nvSpPr>
          <p:cNvPr id="4" name="TextBox 3"/>
          <p:cNvSpPr txBox="1"/>
          <p:nvPr/>
        </p:nvSpPr>
        <p:spPr>
          <a:xfrm>
            <a:off x="548640" y="6400800"/>
            <a:ext cx="10698480" cy="237744"/>
          </a:xfrm>
          <a:prstGeom prst="rect">
            <a:avLst/>
          </a:prstGeom>
          <a:noFill/>
        </p:spPr>
        <p:txBody>
          <a:bodyPr wrap="square" lIns="0" rIns="0" tIns="0" bIns="0">
            <a:spAutoFit/>
          </a:bodyPr>
          <a:lstStyle/>
          <a:p>
            <a:pPr>
              <a:spcAft>
                <a:spcPts val="500"/>
              </a:spcAft>
              <a:defRPr sz="1000" b="0">
                <a:solidFill>
                  <a:srgbClr val="536579"/>
                </a:solidFill>
                <a:latin typeface="Aptos"/>
              </a:defRPr>
            </a:pPr>
            <a:r>
              <a:t>D-C04 · Context and behavior · Untimed</a:t>
            </a:r>
          </a:p>
        </p:txBody>
      </p:sp>
      <p:sp>
        <p:nvSpPr>
          <p:cNvPr id="5" name="TextBox 4"/>
          <p:cNvSpPr txBox="1"/>
          <p:nvPr/>
        </p:nvSpPr>
        <p:spPr>
          <a:xfrm>
            <a:off x="11292840" y="6400800"/>
            <a:ext cx="320040" cy="237744"/>
          </a:xfrm>
          <a:prstGeom prst="rect">
            <a:avLst/>
          </a:prstGeom>
          <a:noFill/>
        </p:spPr>
        <p:txBody>
          <a:bodyPr wrap="square" lIns="0" rIns="0" tIns="0" bIns="0">
            <a:spAutoFit/>
          </a:bodyPr>
          <a:lstStyle/>
          <a:p>
            <a:pPr>
              <a:spcAft>
                <a:spcPts val="500"/>
              </a:spcAft>
              <a:defRPr sz="1000" b="0">
                <a:solidFill>
                  <a:srgbClr val="172C43"/>
                </a:solidFill>
                <a:latin typeface="Aptos"/>
              </a:defRPr>
            </a:pPr>
            <a:r>
              <a:t>5</a:t>
            </a:r>
          </a:p>
        </p:txBody>
      </p:sp>
      <p:sp>
        <p:nvSpPr>
          <p:cNvPr id="6" name="TextBox 5"/>
          <p:cNvSpPr txBox="1"/>
          <p:nvPr/>
        </p:nvSpPr>
        <p:spPr>
          <a:xfrm>
            <a:off x="548640" y="1810512"/>
            <a:ext cx="11018520" cy="1078992"/>
          </a:xfrm>
          <a:prstGeom prst="rect">
            <a:avLst/>
          </a:prstGeom>
          <a:noFill/>
        </p:spPr>
        <p:txBody>
          <a:bodyPr wrap="square" lIns="0" rIns="0" tIns="0" bIns="0">
            <a:spAutoFit/>
          </a:bodyPr>
          <a:lstStyle/>
          <a:p>
            <a:pPr>
              <a:spcAft>
                <a:spcPts val="500"/>
              </a:spcAft>
              <a:defRPr sz="2300" b="0">
                <a:solidFill>
                  <a:srgbClr val="172C43"/>
                </a:solidFill>
                <a:latin typeface="Aptos"/>
              </a:defRPr>
            </a:pPr>
            <a:r>
              <a:t>A managed learning agent examines infrastructure, dependencies, pipelines and previous investigations to produce environment-specific knowledge.</a:t>
            </a:r>
          </a:p>
        </p:txBody>
      </p:sp>
      <p:sp>
        <p:nvSpPr>
          <p:cNvPr id="7" name="TextBox 6"/>
          <p:cNvSpPr txBox="1"/>
          <p:nvPr/>
        </p:nvSpPr>
        <p:spPr>
          <a:xfrm>
            <a:off x="548640" y="3054096"/>
            <a:ext cx="5303520" cy="274320"/>
          </a:xfrm>
          <a:prstGeom prst="rect">
            <a:avLst/>
          </a:prstGeom>
          <a:noFill/>
        </p:spPr>
        <p:txBody>
          <a:bodyPr wrap="square" lIns="0" rIns="0" tIns="0" bIns="0">
            <a:spAutoFit/>
          </a:bodyPr>
          <a:lstStyle/>
          <a:p>
            <a:pPr>
              <a:spcAft>
                <a:spcPts val="500"/>
              </a:spcAft>
              <a:defRPr sz="1200" b="1">
                <a:solidFill>
                  <a:srgbClr val="066B67"/>
                </a:solidFill>
                <a:latin typeface="Aptos"/>
              </a:defRPr>
            </a:pPr>
            <a:r>
              <a:t>PLATFORM RESOURCES</a:t>
            </a:r>
          </a:p>
        </p:txBody>
      </p:sp>
      <p:sp>
        <p:nvSpPr>
          <p:cNvPr id="8" name="TextBox 7"/>
          <p:cNvSpPr txBox="1"/>
          <p:nvPr/>
        </p:nvSpPr>
        <p:spPr>
          <a:xfrm>
            <a:off x="548640" y="3474720"/>
            <a:ext cx="5212080" cy="1097280"/>
          </a:xfrm>
          <a:prstGeom prst="rect">
            <a:avLst/>
          </a:prstGeom>
          <a:noFill/>
        </p:spPr>
        <p:txBody>
          <a:bodyPr wrap="square" lIns="0" rIns="0" tIns="0" bIns="0">
            <a:spAutoFit/>
          </a:bodyPr>
          <a:lstStyle/>
          <a:p>
            <a:pPr>
              <a:spcAft>
                <a:spcPts val="500"/>
              </a:spcAft>
              <a:defRPr sz="2000" b="0">
                <a:solidFill>
                  <a:srgbClr val="172C43"/>
                </a:solidFill>
                <a:latin typeface="Aptos"/>
              </a:defRPr>
            </a:pPr>
            <a:r>
              <a:t>Managed learning agent; learned knowledge; History and Triggers views.</a:t>
            </a:r>
          </a:p>
        </p:txBody>
      </p:sp>
      <p:sp>
        <p:nvSpPr>
          <p:cNvPr id="9" name="TextBox 8"/>
          <p:cNvSpPr txBox="1"/>
          <p:nvPr/>
        </p:nvSpPr>
        <p:spPr>
          <a:xfrm>
            <a:off x="6309360" y="3054096"/>
            <a:ext cx="5303520" cy="274320"/>
          </a:xfrm>
          <a:prstGeom prst="rect">
            <a:avLst/>
          </a:prstGeom>
          <a:noFill/>
        </p:spPr>
        <p:txBody>
          <a:bodyPr wrap="square" lIns="0" rIns="0" tIns="0" bIns="0">
            <a:spAutoFit/>
          </a:bodyPr>
          <a:lstStyle/>
          <a:p>
            <a:pPr>
              <a:spcAft>
                <a:spcPts val="500"/>
              </a:spcAft>
              <a:defRPr sz="1200" b="1">
                <a:solidFill>
                  <a:srgbClr val="066B67"/>
                </a:solidFill>
                <a:latin typeface="Aptos"/>
              </a:defRPr>
            </a:pPr>
            <a:r>
              <a:t>SUPPORTED OPERATIONS</a:t>
            </a:r>
          </a:p>
        </p:txBody>
      </p:sp>
      <p:sp>
        <p:nvSpPr>
          <p:cNvPr id="10" name="TextBox 9"/>
          <p:cNvSpPr txBox="1"/>
          <p:nvPr/>
        </p:nvSpPr>
        <p:spPr>
          <a:xfrm>
            <a:off x="6309360" y="3474720"/>
            <a:ext cx="5212080" cy="1097280"/>
          </a:xfrm>
          <a:prstGeom prst="rect">
            <a:avLst/>
          </a:prstGeom>
          <a:noFill/>
        </p:spPr>
        <p:txBody>
          <a:bodyPr wrap="square" lIns="0" rIns="0" tIns="0" bIns="0">
            <a:spAutoFit/>
          </a:bodyPr>
          <a:lstStyle/>
          <a:p>
            <a:pPr>
              <a:spcAft>
                <a:spcPts val="500"/>
              </a:spcAft>
              <a:defRPr sz="2000" b="0">
                <a:solidFill>
                  <a:srgbClr val="172C43"/>
                </a:solidFill>
                <a:latin typeface="Aptos"/>
              </a:defRPr>
            </a:pPr>
            <a:r>
              <a:t>Inspect learning runs and their triggers; inspect the produced knowledge.</a:t>
            </a:r>
          </a:p>
        </p:txBody>
      </p:sp>
      <p:sp>
        <p:nvSpPr>
          <p:cNvPr id="11" name="TextBox 10"/>
          <p:cNvSpPr txBox="1"/>
          <p:nvPr/>
        </p:nvSpPr>
        <p:spPr>
          <a:xfrm>
            <a:off x="548640" y="4919472"/>
            <a:ext cx="10972800" cy="274320"/>
          </a:xfrm>
          <a:prstGeom prst="rect">
            <a:avLst/>
          </a:prstGeom>
          <a:noFill/>
        </p:spPr>
        <p:txBody>
          <a:bodyPr wrap="square" lIns="0" rIns="0" tIns="0" bIns="0">
            <a:spAutoFit/>
          </a:bodyPr>
          <a:lstStyle/>
          <a:p>
            <a:pPr>
              <a:spcAft>
                <a:spcPts val="500"/>
              </a:spcAft>
              <a:defRPr sz="1200" b="1">
                <a:solidFill>
                  <a:srgbClr val="066B67"/>
                </a:solidFill>
                <a:latin typeface="Aptos"/>
              </a:defRPr>
            </a:pPr>
            <a:r>
              <a:t>BOUNDARY</a:t>
            </a:r>
          </a:p>
        </p:txBody>
      </p:sp>
      <p:sp>
        <p:nvSpPr>
          <p:cNvPr id="12" name="TextBox 11"/>
          <p:cNvSpPr txBox="1"/>
          <p:nvPr/>
        </p:nvSpPr>
        <p:spPr>
          <a:xfrm>
            <a:off x="548640" y="5321808"/>
            <a:ext cx="10972800" cy="758952"/>
          </a:xfrm>
          <a:prstGeom prst="rect">
            <a:avLst/>
          </a:prstGeom>
          <a:noFill/>
        </p:spPr>
        <p:txBody>
          <a:bodyPr wrap="square" lIns="0" rIns="0" tIns="0" bIns="0">
            <a:spAutoFit/>
          </a:bodyPr>
          <a:lstStyle/>
          <a:p>
            <a:pPr>
              <a:spcAft>
                <a:spcPts val="500"/>
              </a:spcAft>
              <a:defRPr sz="1600" b="0">
                <a:solidFill>
                  <a:srgbClr val="172C43"/>
                </a:solidFill>
                <a:latin typeface="Aptos"/>
              </a:defRPr>
            </a:pPr>
            <a:r>
              <a:t>Learning schedules are platform-owned. Learned skills are transitioning automatically to memory; consult the current memory representation rather than assuming a separate permanent store.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TextBox 1"/>
          <p:cNvSpPr txBox="1"/>
          <p:nvPr/>
        </p:nvSpPr>
        <p:spPr>
          <a:xfrm>
            <a:off x="548640" y="256032"/>
            <a:ext cx="10972800" cy="274320"/>
          </a:xfrm>
          <a:prstGeom prst="rect">
            <a:avLst/>
          </a:prstGeom>
          <a:noFill/>
        </p:spPr>
        <p:txBody>
          <a:bodyPr wrap="square" lIns="0" rIns="0" tIns="0" bIns="0">
            <a:spAutoFit/>
          </a:bodyPr>
          <a:lstStyle/>
          <a:p>
            <a:pPr>
              <a:spcAft>
                <a:spcPts val="500"/>
              </a:spcAft>
              <a:defRPr sz="1100" b="1">
                <a:solidFill>
                  <a:srgbClr val="066B67"/>
                </a:solidFill>
                <a:latin typeface="Aptos"/>
              </a:defRPr>
            </a:pPr>
            <a:r>
              <a:t>AWS DEVOPS AGENT / PLATFORM REFERENCE</a:t>
            </a:r>
          </a:p>
        </p:txBody>
      </p:sp>
      <p:sp>
        <p:nvSpPr>
          <p:cNvPr id="3" name="TextBox 2"/>
          <p:cNvSpPr txBox="1"/>
          <p:nvPr/>
        </p:nvSpPr>
        <p:spPr>
          <a:xfrm>
            <a:off x="548640" y="777240"/>
            <a:ext cx="11064240" cy="914400"/>
          </a:xfrm>
          <a:prstGeom prst="rect">
            <a:avLst/>
          </a:prstGeom>
          <a:noFill/>
        </p:spPr>
        <p:txBody>
          <a:bodyPr wrap="square" lIns="0" rIns="0" tIns="0" bIns="0">
            <a:spAutoFit/>
          </a:bodyPr>
          <a:lstStyle/>
          <a:p>
            <a:pPr>
              <a:spcAft>
                <a:spcPts val="500"/>
              </a:spcAft>
              <a:defRPr sz="2900" b="1">
                <a:solidFill>
                  <a:srgbClr val="172C43"/>
                </a:solidFill>
                <a:latin typeface="Aptos"/>
              </a:defRPr>
            </a:pPr>
            <a:r>
              <a:t>Persistent contextual knowledge</a:t>
            </a:r>
          </a:p>
        </p:txBody>
      </p:sp>
      <p:sp>
        <p:nvSpPr>
          <p:cNvPr id="4" name="TextBox 3"/>
          <p:cNvSpPr txBox="1"/>
          <p:nvPr/>
        </p:nvSpPr>
        <p:spPr>
          <a:xfrm>
            <a:off x="548640" y="6400800"/>
            <a:ext cx="10698480" cy="237744"/>
          </a:xfrm>
          <a:prstGeom prst="rect">
            <a:avLst/>
          </a:prstGeom>
          <a:noFill/>
        </p:spPr>
        <p:txBody>
          <a:bodyPr wrap="square" lIns="0" rIns="0" tIns="0" bIns="0">
            <a:spAutoFit/>
          </a:bodyPr>
          <a:lstStyle/>
          <a:p>
            <a:pPr>
              <a:spcAft>
                <a:spcPts val="500"/>
              </a:spcAft>
              <a:defRPr sz="1000" b="0">
                <a:solidFill>
                  <a:srgbClr val="536579"/>
                </a:solidFill>
                <a:latin typeface="Aptos"/>
              </a:defRPr>
            </a:pPr>
            <a:r>
              <a:t>D-C05 · Context and behavior · Untimed</a:t>
            </a:r>
          </a:p>
        </p:txBody>
      </p:sp>
      <p:sp>
        <p:nvSpPr>
          <p:cNvPr id="5" name="TextBox 4"/>
          <p:cNvSpPr txBox="1"/>
          <p:nvPr/>
        </p:nvSpPr>
        <p:spPr>
          <a:xfrm>
            <a:off x="11292840" y="6400800"/>
            <a:ext cx="320040" cy="237744"/>
          </a:xfrm>
          <a:prstGeom prst="rect">
            <a:avLst/>
          </a:prstGeom>
          <a:noFill/>
        </p:spPr>
        <p:txBody>
          <a:bodyPr wrap="square" lIns="0" rIns="0" tIns="0" bIns="0">
            <a:spAutoFit/>
          </a:bodyPr>
          <a:lstStyle/>
          <a:p>
            <a:pPr>
              <a:spcAft>
                <a:spcPts val="500"/>
              </a:spcAft>
              <a:defRPr sz="1000" b="0">
                <a:solidFill>
                  <a:srgbClr val="172C43"/>
                </a:solidFill>
                <a:latin typeface="Aptos"/>
              </a:defRPr>
            </a:pPr>
            <a:r>
              <a:t>6</a:t>
            </a:r>
          </a:p>
        </p:txBody>
      </p:sp>
      <p:sp>
        <p:nvSpPr>
          <p:cNvPr id="6" name="TextBox 5"/>
          <p:cNvSpPr txBox="1"/>
          <p:nvPr/>
        </p:nvSpPr>
        <p:spPr>
          <a:xfrm>
            <a:off x="548640" y="1810512"/>
            <a:ext cx="11018520" cy="1078992"/>
          </a:xfrm>
          <a:prstGeom prst="rect">
            <a:avLst/>
          </a:prstGeom>
          <a:noFill/>
        </p:spPr>
        <p:txBody>
          <a:bodyPr wrap="square" lIns="0" rIns="0" tIns="0" bIns="0">
            <a:spAutoFit/>
          </a:bodyPr>
          <a:lstStyle/>
          <a:p>
            <a:pPr>
              <a:spcAft>
                <a:spcPts val="500"/>
              </a:spcAft>
              <a:defRPr sz="2300" b="0">
                <a:solidFill>
                  <a:srgbClr val="172C43"/>
                </a:solidFill>
                <a:latin typeface="Aptos"/>
              </a:defRPr>
            </a:pPr>
            <a:r>
              <a:t>Managed and custom memory stores retain synthesized information that an agent can selectively retrieve across sessions.</a:t>
            </a:r>
          </a:p>
        </p:txBody>
      </p:sp>
      <p:sp>
        <p:nvSpPr>
          <p:cNvPr id="7" name="TextBox 6"/>
          <p:cNvSpPr txBox="1"/>
          <p:nvPr/>
        </p:nvSpPr>
        <p:spPr>
          <a:xfrm>
            <a:off x="548640" y="3054096"/>
            <a:ext cx="5303520" cy="274320"/>
          </a:xfrm>
          <a:prstGeom prst="rect">
            <a:avLst/>
          </a:prstGeom>
          <a:noFill/>
        </p:spPr>
        <p:txBody>
          <a:bodyPr wrap="square" lIns="0" rIns="0" tIns="0" bIns="0">
            <a:spAutoFit/>
          </a:bodyPr>
          <a:lstStyle/>
          <a:p>
            <a:pPr>
              <a:spcAft>
                <a:spcPts val="500"/>
              </a:spcAft>
              <a:defRPr sz="1200" b="1">
                <a:solidFill>
                  <a:srgbClr val="066B67"/>
                </a:solidFill>
                <a:latin typeface="Aptos"/>
              </a:defRPr>
            </a:pPr>
            <a:r>
              <a:t>PLATFORM RESOURCES</a:t>
            </a:r>
          </a:p>
        </p:txBody>
      </p:sp>
      <p:sp>
        <p:nvSpPr>
          <p:cNvPr id="8" name="TextBox 7"/>
          <p:cNvSpPr txBox="1"/>
          <p:nvPr/>
        </p:nvSpPr>
        <p:spPr>
          <a:xfrm>
            <a:off x="548640" y="3474720"/>
            <a:ext cx="5212080" cy="1097280"/>
          </a:xfrm>
          <a:prstGeom prst="rect">
            <a:avLst/>
          </a:prstGeom>
          <a:noFill/>
        </p:spPr>
        <p:txBody>
          <a:bodyPr wrap="square" lIns="0" rIns="0" tIns="0" bIns="0">
            <a:spAutoFit/>
          </a:bodyPr>
          <a:lstStyle/>
          <a:p>
            <a:pPr>
              <a:spcAft>
                <a:spcPts val="500"/>
              </a:spcAft>
              <a:defRPr sz="2000" b="0">
                <a:solidFill>
                  <a:srgbClr val="172C43"/>
                </a:solidFill>
                <a:latin typeface="Aptos"/>
              </a:defRPr>
            </a:pPr>
            <a:r>
              <a:t>Memory store; Markdown memory entry; description; immutable versions; active state.</a:t>
            </a:r>
          </a:p>
        </p:txBody>
      </p:sp>
      <p:sp>
        <p:nvSpPr>
          <p:cNvPr id="9" name="TextBox 8"/>
          <p:cNvSpPr txBox="1"/>
          <p:nvPr/>
        </p:nvSpPr>
        <p:spPr>
          <a:xfrm>
            <a:off x="6309360" y="3054096"/>
            <a:ext cx="5303520" cy="274320"/>
          </a:xfrm>
          <a:prstGeom prst="rect">
            <a:avLst/>
          </a:prstGeom>
          <a:noFill/>
        </p:spPr>
        <p:txBody>
          <a:bodyPr wrap="square" lIns="0" rIns="0" tIns="0" bIns="0">
            <a:spAutoFit/>
          </a:bodyPr>
          <a:lstStyle/>
          <a:p>
            <a:pPr>
              <a:spcAft>
                <a:spcPts val="500"/>
              </a:spcAft>
              <a:defRPr sz="1200" b="1">
                <a:solidFill>
                  <a:srgbClr val="066B67"/>
                </a:solidFill>
                <a:latin typeface="Aptos"/>
              </a:defRPr>
            </a:pPr>
            <a:r>
              <a:t>SUPPORTED OPERATIONS</a:t>
            </a:r>
          </a:p>
        </p:txBody>
      </p:sp>
      <p:sp>
        <p:nvSpPr>
          <p:cNvPr id="10" name="TextBox 9"/>
          <p:cNvSpPr txBox="1"/>
          <p:nvPr/>
        </p:nvSpPr>
        <p:spPr>
          <a:xfrm>
            <a:off x="6309360" y="3474720"/>
            <a:ext cx="5212080" cy="1097280"/>
          </a:xfrm>
          <a:prstGeom prst="rect">
            <a:avLst/>
          </a:prstGeom>
          <a:noFill/>
        </p:spPr>
        <p:txBody>
          <a:bodyPr wrap="square" lIns="0" rIns="0" tIns="0" bIns="0">
            <a:spAutoFit/>
          </a:bodyPr>
          <a:lstStyle/>
          <a:p>
            <a:pPr>
              <a:spcAft>
                <a:spcPts val="500"/>
              </a:spcAft>
              <a:defRPr sz="1700" b="0">
                <a:solidFill>
                  <a:srgbClr val="172C43"/>
                </a:solidFill>
                <a:latin typeface="Aptos"/>
              </a:defRPr>
            </a:pPr>
            <a:r>
              <a:t>Inspect entries and versions; activate or deactivate stores and entries; maintain custom context; attach stores to custom agents.</a:t>
            </a:r>
          </a:p>
        </p:txBody>
      </p:sp>
      <p:sp>
        <p:nvSpPr>
          <p:cNvPr id="11" name="TextBox 10"/>
          <p:cNvSpPr txBox="1"/>
          <p:nvPr/>
        </p:nvSpPr>
        <p:spPr>
          <a:xfrm>
            <a:off x="548640" y="4919472"/>
            <a:ext cx="10972800" cy="274320"/>
          </a:xfrm>
          <a:prstGeom prst="rect">
            <a:avLst/>
          </a:prstGeom>
          <a:noFill/>
        </p:spPr>
        <p:txBody>
          <a:bodyPr wrap="square" lIns="0" rIns="0" tIns="0" bIns="0">
            <a:spAutoFit/>
          </a:bodyPr>
          <a:lstStyle/>
          <a:p>
            <a:pPr>
              <a:spcAft>
                <a:spcPts val="500"/>
              </a:spcAft>
              <a:defRPr sz="1200" b="1">
                <a:solidFill>
                  <a:srgbClr val="066B67"/>
                </a:solidFill>
                <a:latin typeface="Aptos"/>
              </a:defRPr>
            </a:pPr>
            <a:r>
              <a:t>BOUNDARY</a:t>
            </a:r>
          </a:p>
        </p:txBody>
      </p:sp>
      <p:sp>
        <p:nvSpPr>
          <p:cNvPr id="12" name="TextBox 11"/>
          <p:cNvSpPr txBox="1"/>
          <p:nvPr/>
        </p:nvSpPr>
        <p:spPr>
          <a:xfrm>
            <a:off x="548640" y="5321808"/>
            <a:ext cx="10972800" cy="758952"/>
          </a:xfrm>
          <a:prstGeom prst="rect">
            <a:avLst/>
          </a:prstGeom>
          <a:noFill/>
        </p:spPr>
        <p:txBody>
          <a:bodyPr wrap="square" lIns="0" rIns="0" tIns="0" bIns="0">
            <a:spAutoFit/>
          </a:bodyPr>
          <a:lstStyle/>
          <a:p>
            <a:pPr>
              <a:spcAft>
                <a:spcPts val="500"/>
              </a:spcAft>
              <a:defRPr sz="1800" b="0">
                <a:solidFill>
                  <a:srgbClr val="172C43"/>
                </a:solidFill>
                <a:latin typeface="Aptos"/>
              </a:defRPr>
            </a:pPr>
            <a:r>
              <a:t>Context retrieval is not customer-controlled model-weight training. Stored information does not establish that it was used or that a new diagnosis is correct.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TextBox 1"/>
          <p:cNvSpPr txBox="1"/>
          <p:nvPr/>
        </p:nvSpPr>
        <p:spPr>
          <a:xfrm>
            <a:off x="548640" y="256032"/>
            <a:ext cx="10972800" cy="274320"/>
          </a:xfrm>
          <a:prstGeom prst="rect">
            <a:avLst/>
          </a:prstGeom>
          <a:noFill/>
        </p:spPr>
        <p:txBody>
          <a:bodyPr wrap="square" lIns="0" rIns="0" tIns="0" bIns="0">
            <a:spAutoFit/>
          </a:bodyPr>
          <a:lstStyle/>
          <a:p>
            <a:pPr>
              <a:spcAft>
                <a:spcPts val="500"/>
              </a:spcAft>
              <a:defRPr sz="1100" b="1">
                <a:solidFill>
                  <a:srgbClr val="066B67"/>
                </a:solidFill>
                <a:latin typeface="Aptos"/>
              </a:defRPr>
            </a:pPr>
            <a:r>
              <a:t>AWS DEVOPS AGENT / PLATFORM REFERENCE</a:t>
            </a:r>
          </a:p>
        </p:txBody>
      </p:sp>
      <p:sp>
        <p:nvSpPr>
          <p:cNvPr id="3" name="TextBox 2"/>
          <p:cNvSpPr txBox="1"/>
          <p:nvPr/>
        </p:nvSpPr>
        <p:spPr>
          <a:xfrm>
            <a:off x="548640" y="777240"/>
            <a:ext cx="11064240" cy="914400"/>
          </a:xfrm>
          <a:prstGeom prst="rect">
            <a:avLst/>
          </a:prstGeom>
          <a:noFill/>
        </p:spPr>
        <p:txBody>
          <a:bodyPr wrap="square" lIns="0" rIns="0" tIns="0" bIns="0">
            <a:spAutoFit/>
          </a:bodyPr>
          <a:lstStyle/>
          <a:p>
            <a:pPr>
              <a:spcAft>
                <a:spcPts val="500"/>
              </a:spcAft>
              <a:defRPr sz="2900" b="1">
                <a:solidFill>
                  <a:srgbClr val="172C43"/>
                </a:solidFill>
                <a:latin typeface="Aptos"/>
              </a:defRPr>
            </a:pPr>
            <a:r>
              <a:t>Standing instruction injection</a:t>
            </a:r>
          </a:p>
        </p:txBody>
      </p:sp>
      <p:sp>
        <p:nvSpPr>
          <p:cNvPr id="4" name="TextBox 3"/>
          <p:cNvSpPr txBox="1"/>
          <p:nvPr/>
        </p:nvSpPr>
        <p:spPr>
          <a:xfrm>
            <a:off x="548640" y="6400800"/>
            <a:ext cx="10698480" cy="237744"/>
          </a:xfrm>
          <a:prstGeom prst="rect">
            <a:avLst/>
          </a:prstGeom>
          <a:noFill/>
        </p:spPr>
        <p:txBody>
          <a:bodyPr wrap="square" lIns="0" rIns="0" tIns="0" bIns="0">
            <a:spAutoFit/>
          </a:bodyPr>
          <a:lstStyle/>
          <a:p>
            <a:pPr>
              <a:spcAft>
                <a:spcPts val="500"/>
              </a:spcAft>
              <a:defRPr sz="1000" b="0">
                <a:solidFill>
                  <a:srgbClr val="536579"/>
                </a:solidFill>
                <a:latin typeface="Aptos"/>
              </a:defRPr>
            </a:pPr>
            <a:r>
              <a:t>D-C06 · Context and behavior · Untimed</a:t>
            </a:r>
          </a:p>
        </p:txBody>
      </p:sp>
      <p:sp>
        <p:nvSpPr>
          <p:cNvPr id="5" name="TextBox 4"/>
          <p:cNvSpPr txBox="1"/>
          <p:nvPr/>
        </p:nvSpPr>
        <p:spPr>
          <a:xfrm>
            <a:off x="11292840" y="6400800"/>
            <a:ext cx="320040" cy="237744"/>
          </a:xfrm>
          <a:prstGeom prst="rect">
            <a:avLst/>
          </a:prstGeom>
          <a:noFill/>
        </p:spPr>
        <p:txBody>
          <a:bodyPr wrap="square" lIns="0" rIns="0" tIns="0" bIns="0">
            <a:spAutoFit/>
          </a:bodyPr>
          <a:lstStyle/>
          <a:p>
            <a:pPr>
              <a:spcAft>
                <a:spcPts val="500"/>
              </a:spcAft>
              <a:defRPr sz="1000" b="0">
                <a:solidFill>
                  <a:srgbClr val="172C43"/>
                </a:solidFill>
                <a:latin typeface="Aptos"/>
              </a:defRPr>
            </a:pPr>
            <a:r>
              <a:t>7</a:t>
            </a:r>
          </a:p>
        </p:txBody>
      </p:sp>
      <p:sp>
        <p:nvSpPr>
          <p:cNvPr id="6" name="TextBox 5"/>
          <p:cNvSpPr txBox="1"/>
          <p:nvPr/>
        </p:nvSpPr>
        <p:spPr>
          <a:xfrm>
            <a:off x="548640" y="1810512"/>
            <a:ext cx="11018520" cy="1078992"/>
          </a:xfrm>
          <a:prstGeom prst="rect">
            <a:avLst/>
          </a:prstGeom>
          <a:noFill/>
        </p:spPr>
        <p:txBody>
          <a:bodyPr wrap="square" lIns="0" rIns="0" tIns="0" bIns="0">
            <a:spAutoFit/>
          </a:bodyPr>
          <a:lstStyle/>
          <a:p>
            <a:pPr>
              <a:spcAft>
                <a:spcPts val="500"/>
              </a:spcAft>
              <a:defRPr sz="2300" b="0">
                <a:solidFill>
                  <a:srgbClr val="172C43"/>
                </a:solidFill>
                <a:latin typeface="Aptos"/>
              </a:defRPr>
            </a:pPr>
            <a:r>
              <a:t>Global and agent-specific AGENTS.md content is included at the start of applicable sessions.</a:t>
            </a:r>
          </a:p>
        </p:txBody>
      </p:sp>
      <p:sp>
        <p:nvSpPr>
          <p:cNvPr id="7" name="TextBox 6"/>
          <p:cNvSpPr txBox="1"/>
          <p:nvPr/>
        </p:nvSpPr>
        <p:spPr>
          <a:xfrm>
            <a:off x="548640" y="3054096"/>
            <a:ext cx="5303520" cy="274320"/>
          </a:xfrm>
          <a:prstGeom prst="rect">
            <a:avLst/>
          </a:prstGeom>
          <a:noFill/>
        </p:spPr>
        <p:txBody>
          <a:bodyPr wrap="square" lIns="0" rIns="0" tIns="0" bIns="0">
            <a:spAutoFit/>
          </a:bodyPr>
          <a:lstStyle/>
          <a:p>
            <a:pPr>
              <a:spcAft>
                <a:spcPts val="500"/>
              </a:spcAft>
              <a:defRPr sz="1200" b="1">
                <a:solidFill>
                  <a:srgbClr val="066B67"/>
                </a:solidFill>
                <a:latin typeface="Aptos"/>
              </a:defRPr>
            </a:pPr>
            <a:r>
              <a:t>PLATFORM RESOURCES</a:t>
            </a:r>
          </a:p>
        </p:txBody>
      </p:sp>
      <p:sp>
        <p:nvSpPr>
          <p:cNvPr id="8" name="TextBox 7"/>
          <p:cNvSpPr txBox="1"/>
          <p:nvPr/>
        </p:nvSpPr>
        <p:spPr>
          <a:xfrm>
            <a:off x="548640" y="3474720"/>
            <a:ext cx="5212080" cy="1097280"/>
          </a:xfrm>
          <a:prstGeom prst="rect">
            <a:avLst/>
          </a:prstGeom>
          <a:noFill/>
        </p:spPr>
        <p:txBody>
          <a:bodyPr wrap="square" lIns="0" rIns="0" tIns="0" bIns="0">
            <a:spAutoFit/>
          </a:bodyPr>
          <a:lstStyle/>
          <a:p>
            <a:pPr>
              <a:spcAft>
                <a:spcPts val="500"/>
              </a:spcAft>
              <a:defRPr sz="2000" b="0">
                <a:solidFill>
                  <a:srgbClr val="172C43"/>
                </a:solidFill>
                <a:latin typeface="Aptos"/>
              </a:defRPr>
            </a:pPr>
            <a:r>
              <a:t>Global instructions and managed-agent instructions.</a:t>
            </a:r>
          </a:p>
        </p:txBody>
      </p:sp>
      <p:sp>
        <p:nvSpPr>
          <p:cNvPr id="9" name="TextBox 8"/>
          <p:cNvSpPr txBox="1"/>
          <p:nvPr/>
        </p:nvSpPr>
        <p:spPr>
          <a:xfrm>
            <a:off x="6309360" y="3054096"/>
            <a:ext cx="5303520" cy="274320"/>
          </a:xfrm>
          <a:prstGeom prst="rect">
            <a:avLst/>
          </a:prstGeom>
          <a:noFill/>
        </p:spPr>
        <p:txBody>
          <a:bodyPr wrap="square" lIns="0" rIns="0" tIns="0" bIns="0">
            <a:spAutoFit/>
          </a:bodyPr>
          <a:lstStyle/>
          <a:p>
            <a:pPr>
              <a:spcAft>
                <a:spcPts val="500"/>
              </a:spcAft>
              <a:defRPr sz="1200" b="1">
                <a:solidFill>
                  <a:srgbClr val="066B67"/>
                </a:solidFill>
                <a:latin typeface="Aptos"/>
              </a:defRPr>
            </a:pPr>
            <a:r>
              <a:t>SUPPORTED OPERATIONS</a:t>
            </a:r>
          </a:p>
        </p:txBody>
      </p:sp>
      <p:sp>
        <p:nvSpPr>
          <p:cNvPr id="10" name="TextBox 9"/>
          <p:cNvSpPr txBox="1"/>
          <p:nvPr/>
        </p:nvSpPr>
        <p:spPr>
          <a:xfrm>
            <a:off x="6309360" y="3474720"/>
            <a:ext cx="5212080" cy="1097280"/>
          </a:xfrm>
          <a:prstGeom prst="rect">
            <a:avLst/>
          </a:prstGeom>
          <a:noFill/>
        </p:spPr>
        <p:txBody>
          <a:bodyPr wrap="square" lIns="0" rIns="0" tIns="0" bIns="0">
            <a:spAutoFit/>
          </a:bodyPr>
          <a:lstStyle/>
          <a:p>
            <a:pPr>
              <a:spcAft>
                <a:spcPts val="500"/>
              </a:spcAft>
              <a:defRPr sz="2000" b="0">
                <a:solidFill>
                  <a:srgbClr val="172C43"/>
                </a:solidFill>
                <a:latin typeface="Aptos"/>
              </a:defRPr>
            </a:pPr>
            <a:r>
              <a:t>Edit the appropriate Agent definition; save content; start a new session.</a:t>
            </a:r>
          </a:p>
        </p:txBody>
      </p:sp>
      <p:sp>
        <p:nvSpPr>
          <p:cNvPr id="11" name="TextBox 10"/>
          <p:cNvSpPr txBox="1"/>
          <p:nvPr/>
        </p:nvSpPr>
        <p:spPr>
          <a:xfrm>
            <a:off x="548640" y="4919472"/>
            <a:ext cx="10972800" cy="274320"/>
          </a:xfrm>
          <a:prstGeom prst="rect">
            <a:avLst/>
          </a:prstGeom>
          <a:noFill/>
        </p:spPr>
        <p:txBody>
          <a:bodyPr wrap="square" lIns="0" rIns="0" tIns="0" bIns="0">
            <a:spAutoFit/>
          </a:bodyPr>
          <a:lstStyle/>
          <a:p>
            <a:pPr>
              <a:spcAft>
                <a:spcPts val="500"/>
              </a:spcAft>
              <a:defRPr sz="1200" b="1">
                <a:solidFill>
                  <a:srgbClr val="066B67"/>
                </a:solidFill>
                <a:latin typeface="Aptos"/>
              </a:defRPr>
            </a:pPr>
            <a:r>
              <a:t>BOUNDARY</a:t>
            </a:r>
          </a:p>
        </p:txBody>
      </p:sp>
      <p:sp>
        <p:nvSpPr>
          <p:cNvPr id="12" name="TextBox 11"/>
          <p:cNvSpPr txBox="1"/>
          <p:nvPr/>
        </p:nvSpPr>
        <p:spPr>
          <a:xfrm>
            <a:off x="548640" y="5321808"/>
            <a:ext cx="10972800" cy="758952"/>
          </a:xfrm>
          <a:prstGeom prst="rect">
            <a:avLst/>
          </a:prstGeom>
          <a:noFill/>
        </p:spPr>
        <p:txBody>
          <a:bodyPr wrap="square" lIns="0" rIns="0" tIns="0" bIns="0">
            <a:spAutoFit/>
          </a:bodyPr>
          <a:lstStyle/>
          <a:p>
            <a:pPr>
              <a:spcAft>
                <a:spcPts val="500"/>
              </a:spcAft>
              <a:defRPr sz="1800" b="0">
                <a:solidFill>
                  <a:srgbClr val="172C43"/>
                </a:solidFill>
                <a:latin typeface="Aptos"/>
              </a:defRPr>
            </a:pPr>
            <a:r>
              <a:t>Existing sessions retain startup content. Prompt guidance is not a deterministic authorization control.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TextBox 1"/>
          <p:cNvSpPr txBox="1"/>
          <p:nvPr/>
        </p:nvSpPr>
        <p:spPr>
          <a:xfrm>
            <a:off x="548640" y="256032"/>
            <a:ext cx="10972800" cy="274320"/>
          </a:xfrm>
          <a:prstGeom prst="rect">
            <a:avLst/>
          </a:prstGeom>
          <a:noFill/>
        </p:spPr>
        <p:txBody>
          <a:bodyPr wrap="square" lIns="0" rIns="0" tIns="0" bIns="0">
            <a:spAutoFit/>
          </a:bodyPr>
          <a:lstStyle/>
          <a:p>
            <a:pPr>
              <a:spcAft>
                <a:spcPts val="500"/>
              </a:spcAft>
              <a:defRPr sz="1100" b="1">
                <a:solidFill>
                  <a:srgbClr val="066B67"/>
                </a:solidFill>
                <a:latin typeface="Aptos"/>
              </a:defRPr>
            </a:pPr>
            <a:r>
              <a:t>AWS DEVOPS AGENT / PLATFORM REFERENCE</a:t>
            </a:r>
          </a:p>
        </p:txBody>
      </p:sp>
      <p:sp>
        <p:nvSpPr>
          <p:cNvPr id="3" name="TextBox 2"/>
          <p:cNvSpPr txBox="1"/>
          <p:nvPr/>
        </p:nvSpPr>
        <p:spPr>
          <a:xfrm>
            <a:off x="548640" y="777240"/>
            <a:ext cx="11064240" cy="914400"/>
          </a:xfrm>
          <a:prstGeom prst="rect">
            <a:avLst/>
          </a:prstGeom>
          <a:noFill/>
        </p:spPr>
        <p:txBody>
          <a:bodyPr wrap="square" lIns="0" rIns="0" tIns="0" bIns="0">
            <a:spAutoFit/>
          </a:bodyPr>
          <a:lstStyle/>
          <a:p>
            <a:pPr>
              <a:spcAft>
                <a:spcPts val="500"/>
              </a:spcAft>
              <a:defRPr sz="2900" b="1">
                <a:solidFill>
                  <a:srgbClr val="172C43"/>
                </a:solidFill>
                <a:latin typeface="Aptos"/>
              </a:defRPr>
            </a:pPr>
            <a:r>
              <a:t>Conditional procedural guidance</a:t>
            </a:r>
          </a:p>
        </p:txBody>
      </p:sp>
      <p:sp>
        <p:nvSpPr>
          <p:cNvPr id="4" name="TextBox 3"/>
          <p:cNvSpPr txBox="1"/>
          <p:nvPr/>
        </p:nvSpPr>
        <p:spPr>
          <a:xfrm>
            <a:off x="548640" y="6400800"/>
            <a:ext cx="10698480" cy="237744"/>
          </a:xfrm>
          <a:prstGeom prst="rect">
            <a:avLst/>
          </a:prstGeom>
          <a:noFill/>
        </p:spPr>
        <p:txBody>
          <a:bodyPr wrap="square" lIns="0" rIns="0" tIns="0" bIns="0">
            <a:spAutoFit/>
          </a:bodyPr>
          <a:lstStyle/>
          <a:p>
            <a:pPr>
              <a:spcAft>
                <a:spcPts val="500"/>
              </a:spcAft>
              <a:defRPr sz="1000" b="0">
                <a:solidFill>
                  <a:srgbClr val="536579"/>
                </a:solidFill>
                <a:latin typeface="Aptos"/>
              </a:defRPr>
            </a:pPr>
            <a:r>
              <a:t>D-C07 · Context and behavior · Untimed</a:t>
            </a:r>
          </a:p>
        </p:txBody>
      </p:sp>
      <p:sp>
        <p:nvSpPr>
          <p:cNvPr id="5" name="TextBox 4"/>
          <p:cNvSpPr txBox="1"/>
          <p:nvPr/>
        </p:nvSpPr>
        <p:spPr>
          <a:xfrm>
            <a:off x="11292840" y="6400800"/>
            <a:ext cx="320040" cy="237744"/>
          </a:xfrm>
          <a:prstGeom prst="rect">
            <a:avLst/>
          </a:prstGeom>
          <a:noFill/>
        </p:spPr>
        <p:txBody>
          <a:bodyPr wrap="square" lIns="0" rIns="0" tIns="0" bIns="0">
            <a:spAutoFit/>
          </a:bodyPr>
          <a:lstStyle/>
          <a:p>
            <a:pPr>
              <a:spcAft>
                <a:spcPts val="500"/>
              </a:spcAft>
              <a:defRPr sz="1000" b="0">
                <a:solidFill>
                  <a:srgbClr val="172C43"/>
                </a:solidFill>
                <a:latin typeface="Aptos"/>
              </a:defRPr>
            </a:pPr>
            <a:r>
              <a:t>8</a:t>
            </a:r>
          </a:p>
        </p:txBody>
      </p:sp>
      <p:sp>
        <p:nvSpPr>
          <p:cNvPr id="6" name="TextBox 5"/>
          <p:cNvSpPr txBox="1"/>
          <p:nvPr/>
        </p:nvSpPr>
        <p:spPr>
          <a:xfrm>
            <a:off x="548640" y="1810512"/>
            <a:ext cx="11018520" cy="1078992"/>
          </a:xfrm>
          <a:prstGeom prst="rect">
            <a:avLst/>
          </a:prstGeom>
          <a:noFill/>
        </p:spPr>
        <p:txBody>
          <a:bodyPr wrap="square" lIns="0" rIns="0" tIns="0" bIns="0">
            <a:spAutoFit/>
          </a:bodyPr>
          <a:lstStyle/>
          <a:p>
            <a:pPr>
              <a:spcAft>
                <a:spcPts val="500"/>
              </a:spcAft>
              <a:defRPr sz="2300" b="0">
                <a:solidFill>
                  <a:srgbClr val="172C43"/>
                </a:solidFill>
                <a:latin typeface="Aptos"/>
              </a:defRPr>
            </a:pPr>
            <a:r>
              <a:t>Skills supply reusable procedures and supporting material when their descriptions match the work and their agent scope applies.</a:t>
            </a:r>
          </a:p>
        </p:txBody>
      </p:sp>
      <p:sp>
        <p:nvSpPr>
          <p:cNvPr id="7" name="TextBox 6"/>
          <p:cNvSpPr txBox="1"/>
          <p:nvPr/>
        </p:nvSpPr>
        <p:spPr>
          <a:xfrm>
            <a:off x="548640" y="3054096"/>
            <a:ext cx="5303520" cy="274320"/>
          </a:xfrm>
          <a:prstGeom prst="rect">
            <a:avLst/>
          </a:prstGeom>
          <a:noFill/>
        </p:spPr>
        <p:txBody>
          <a:bodyPr wrap="square" lIns="0" rIns="0" tIns="0" bIns="0">
            <a:spAutoFit/>
          </a:bodyPr>
          <a:lstStyle/>
          <a:p>
            <a:pPr>
              <a:spcAft>
                <a:spcPts val="500"/>
              </a:spcAft>
              <a:defRPr sz="1200" b="1">
                <a:solidFill>
                  <a:srgbClr val="066B67"/>
                </a:solidFill>
                <a:latin typeface="Aptos"/>
              </a:defRPr>
            </a:pPr>
            <a:r>
              <a:t>PLATFORM RESOURCES</a:t>
            </a:r>
          </a:p>
        </p:txBody>
      </p:sp>
      <p:sp>
        <p:nvSpPr>
          <p:cNvPr id="8" name="TextBox 7"/>
          <p:cNvSpPr txBox="1"/>
          <p:nvPr/>
        </p:nvSpPr>
        <p:spPr>
          <a:xfrm>
            <a:off x="548640" y="3474720"/>
            <a:ext cx="5212080" cy="1097280"/>
          </a:xfrm>
          <a:prstGeom prst="rect">
            <a:avLst/>
          </a:prstGeom>
          <a:noFill/>
        </p:spPr>
        <p:txBody>
          <a:bodyPr wrap="square" lIns="0" rIns="0" tIns="0" bIns="0">
            <a:spAutoFit/>
          </a:bodyPr>
          <a:lstStyle/>
          <a:p>
            <a:pPr>
              <a:spcAft>
                <a:spcPts val="500"/>
              </a:spcAft>
              <a:defRPr sz="2000" b="0">
                <a:solidFill>
                  <a:srgbClr val="172C43"/>
                </a:solidFill>
                <a:latin typeface="Aptos"/>
              </a:defRPr>
            </a:pPr>
            <a:r>
              <a:t>SKILL.md; optional supporting resources; description; agent-type targeting.</a:t>
            </a:r>
          </a:p>
        </p:txBody>
      </p:sp>
      <p:sp>
        <p:nvSpPr>
          <p:cNvPr id="9" name="TextBox 8"/>
          <p:cNvSpPr txBox="1"/>
          <p:nvPr/>
        </p:nvSpPr>
        <p:spPr>
          <a:xfrm>
            <a:off x="6309360" y="3054096"/>
            <a:ext cx="5303520" cy="274320"/>
          </a:xfrm>
          <a:prstGeom prst="rect">
            <a:avLst/>
          </a:prstGeom>
          <a:noFill/>
        </p:spPr>
        <p:txBody>
          <a:bodyPr wrap="square" lIns="0" rIns="0" tIns="0" bIns="0">
            <a:spAutoFit/>
          </a:bodyPr>
          <a:lstStyle/>
          <a:p>
            <a:pPr>
              <a:spcAft>
                <a:spcPts val="500"/>
              </a:spcAft>
              <a:defRPr sz="1200" b="1">
                <a:solidFill>
                  <a:srgbClr val="066B67"/>
                </a:solidFill>
                <a:latin typeface="Aptos"/>
              </a:defRPr>
            </a:pPr>
            <a:r>
              <a:t>SUPPORTED OPERATIONS</a:t>
            </a:r>
          </a:p>
        </p:txBody>
      </p:sp>
      <p:sp>
        <p:nvSpPr>
          <p:cNvPr id="10" name="TextBox 9"/>
          <p:cNvSpPr txBox="1"/>
          <p:nvPr/>
        </p:nvSpPr>
        <p:spPr>
          <a:xfrm>
            <a:off x="6309360" y="3474720"/>
            <a:ext cx="5212080" cy="1097280"/>
          </a:xfrm>
          <a:prstGeom prst="rect">
            <a:avLst/>
          </a:prstGeom>
          <a:noFill/>
        </p:spPr>
        <p:txBody>
          <a:bodyPr wrap="square" lIns="0" rIns="0" tIns="0" bIns="0">
            <a:spAutoFit/>
          </a:bodyPr>
          <a:lstStyle/>
          <a:p>
            <a:pPr>
              <a:spcAft>
                <a:spcPts val="500"/>
              </a:spcAft>
              <a:defRPr sz="2000" b="0">
                <a:solidFill>
                  <a:srgbClr val="172C43"/>
                </a:solidFill>
                <a:latin typeface="Aptos"/>
              </a:defRPr>
            </a:pPr>
            <a:r>
              <a:t>Create or import a skill; select its scope; revise its description and procedure.</a:t>
            </a:r>
          </a:p>
        </p:txBody>
      </p:sp>
      <p:sp>
        <p:nvSpPr>
          <p:cNvPr id="11" name="TextBox 10"/>
          <p:cNvSpPr txBox="1"/>
          <p:nvPr/>
        </p:nvSpPr>
        <p:spPr>
          <a:xfrm>
            <a:off x="548640" y="4919472"/>
            <a:ext cx="10972800" cy="274320"/>
          </a:xfrm>
          <a:prstGeom prst="rect">
            <a:avLst/>
          </a:prstGeom>
          <a:noFill/>
        </p:spPr>
        <p:txBody>
          <a:bodyPr wrap="square" lIns="0" rIns="0" tIns="0" bIns="0">
            <a:spAutoFit/>
          </a:bodyPr>
          <a:lstStyle/>
          <a:p>
            <a:pPr>
              <a:spcAft>
                <a:spcPts val="500"/>
              </a:spcAft>
              <a:defRPr sz="1200" b="1">
                <a:solidFill>
                  <a:srgbClr val="066B67"/>
                </a:solidFill>
                <a:latin typeface="Aptos"/>
              </a:defRPr>
            </a:pPr>
            <a:r>
              <a:t>BOUNDARY</a:t>
            </a:r>
          </a:p>
        </p:txBody>
      </p:sp>
      <p:sp>
        <p:nvSpPr>
          <p:cNvPr id="12" name="TextBox 11"/>
          <p:cNvSpPr txBox="1"/>
          <p:nvPr/>
        </p:nvSpPr>
        <p:spPr>
          <a:xfrm>
            <a:off x="548640" y="5321808"/>
            <a:ext cx="10972800" cy="758952"/>
          </a:xfrm>
          <a:prstGeom prst="rect">
            <a:avLst/>
          </a:prstGeom>
          <a:noFill/>
        </p:spPr>
        <p:txBody>
          <a:bodyPr wrap="square" lIns="0" rIns="0" tIns="0" bIns="0">
            <a:spAutoFit/>
          </a:bodyPr>
          <a:lstStyle/>
          <a:p>
            <a:pPr>
              <a:spcAft>
                <a:spcPts val="500"/>
              </a:spcAft>
              <a:defRPr sz="1800" b="0">
                <a:solidFill>
                  <a:srgbClr val="172C43"/>
                </a:solidFill>
                <a:latin typeface="Aptos"/>
              </a:defRPr>
            </a:pPr>
            <a:r>
              <a:t>An available skill is not necessarily selected. Procedural instructions, informational memory and always-loaded instructions are distinct.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TextBox 1"/>
          <p:cNvSpPr txBox="1"/>
          <p:nvPr/>
        </p:nvSpPr>
        <p:spPr>
          <a:xfrm>
            <a:off x="548640" y="256032"/>
            <a:ext cx="10972800" cy="274320"/>
          </a:xfrm>
          <a:prstGeom prst="rect">
            <a:avLst/>
          </a:prstGeom>
          <a:noFill/>
        </p:spPr>
        <p:txBody>
          <a:bodyPr wrap="square" lIns="0" rIns="0" tIns="0" bIns="0">
            <a:spAutoFit/>
          </a:bodyPr>
          <a:lstStyle/>
          <a:p>
            <a:pPr>
              <a:spcAft>
                <a:spcPts val="500"/>
              </a:spcAft>
              <a:defRPr sz="1100" b="1">
                <a:solidFill>
                  <a:srgbClr val="066B67"/>
                </a:solidFill>
                <a:latin typeface="Aptos"/>
              </a:defRPr>
            </a:pPr>
            <a:r>
              <a:t>AWS DEVOPS AGENT / PLATFORM REFERENCE</a:t>
            </a:r>
          </a:p>
        </p:txBody>
      </p:sp>
      <p:sp>
        <p:nvSpPr>
          <p:cNvPr id="3" name="TextBox 2"/>
          <p:cNvSpPr txBox="1"/>
          <p:nvPr/>
        </p:nvSpPr>
        <p:spPr>
          <a:xfrm>
            <a:off x="548640" y="777240"/>
            <a:ext cx="11064240" cy="914400"/>
          </a:xfrm>
          <a:prstGeom prst="rect">
            <a:avLst/>
          </a:prstGeom>
          <a:noFill/>
        </p:spPr>
        <p:txBody>
          <a:bodyPr wrap="square" lIns="0" rIns="0" tIns="0" bIns="0">
            <a:spAutoFit/>
          </a:bodyPr>
          <a:lstStyle/>
          <a:p>
            <a:pPr>
              <a:spcAft>
                <a:spcPts val="500"/>
              </a:spcAft>
              <a:defRPr sz="2900" b="1">
                <a:solidFill>
                  <a:srgbClr val="172C43"/>
                </a:solidFill>
                <a:latin typeface="Aptos"/>
              </a:defRPr>
            </a:pPr>
            <a:r>
              <a:t>Constrained custom-agent definitions</a:t>
            </a:r>
          </a:p>
        </p:txBody>
      </p:sp>
      <p:sp>
        <p:nvSpPr>
          <p:cNvPr id="4" name="TextBox 3"/>
          <p:cNvSpPr txBox="1"/>
          <p:nvPr/>
        </p:nvSpPr>
        <p:spPr>
          <a:xfrm>
            <a:off x="548640" y="6400800"/>
            <a:ext cx="10698480" cy="237744"/>
          </a:xfrm>
          <a:prstGeom prst="rect">
            <a:avLst/>
          </a:prstGeom>
          <a:noFill/>
        </p:spPr>
        <p:txBody>
          <a:bodyPr wrap="square" lIns="0" rIns="0" tIns="0" bIns="0">
            <a:spAutoFit/>
          </a:bodyPr>
          <a:lstStyle/>
          <a:p>
            <a:pPr>
              <a:spcAft>
                <a:spcPts val="500"/>
              </a:spcAft>
              <a:defRPr sz="1000" b="0">
                <a:solidFill>
                  <a:srgbClr val="536579"/>
                </a:solidFill>
                <a:latin typeface="Aptos"/>
              </a:defRPr>
            </a:pPr>
            <a:r>
              <a:t>D-C08 · Execution and control · Untimed</a:t>
            </a:r>
          </a:p>
        </p:txBody>
      </p:sp>
      <p:sp>
        <p:nvSpPr>
          <p:cNvPr id="5" name="TextBox 4"/>
          <p:cNvSpPr txBox="1"/>
          <p:nvPr/>
        </p:nvSpPr>
        <p:spPr>
          <a:xfrm>
            <a:off x="11292840" y="6400800"/>
            <a:ext cx="320040" cy="237744"/>
          </a:xfrm>
          <a:prstGeom prst="rect">
            <a:avLst/>
          </a:prstGeom>
          <a:noFill/>
        </p:spPr>
        <p:txBody>
          <a:bodyPr wrap="square" lIns="0" rIns="0" tIns="0" bIns="0">
            <a:spAutoFit/>
          </a:bodyPr>
          <a:lstStyle/>
          <a:p>
            <a:pPr>
              <a:spcAft>
                <a:spcPts val="500"/>
              </a:spcAft>
              <a:defRPr sz="1000" b="0">
                <a:solidFill>
                  <a:srgbClr val="172C43"/>
                </a:solidFill>
                <a:latin typeface="Aptos"/>
              </a:defRPr>
            </a:pPr>
            <a:r>
              <a:t>9</a:t>
            </a:r>
          </a:p>
        </p:txBody>
      </p:sp>
      <p:sp>
        <p:nvSpPr>
          <p:cNvPr id="6" name="TextBox 5"/>
          <p:cNvSpPr txBox="1"/>
          <p:nvPr/>
        </p:nvSpPr>
        <p:spPr>
          <a:xfrm>
            <a:off x="548640" y="1810512"/>
            <a:ext cx="11018520" cy="1078992"/>
          </a:xfrm>
          <a:prstGeom prst="rect">
            <a:avLst/>
          </a:prstGeom>
          <a:noFill/>
        </p:spPr>
        <p:txBody>
          <a:bodyPr wrap="square" lIns="0" rIns="0" tIns="0" bIns="0">
            <a:spAutoFit/>
          </a:bodyPr>
          <a:lstStyle/>
          <a:p>
            <a:pPr>
              <a:spcAft>
                <a:spcPts val="500"/>
              </a:spcAft>
              <a:defRPr sz="2300" b="0">
                <a:solidFill>
                  <a:srgbClr val="172C43"/>
                </a:solidFill>
                <a:latin typeface="Aptos"/>
              </a:defRPr>
            </a:pPr>
            <a:r>
              <a:t>A custom-agent definition combines a system prompt with selected tools, skills and attached memory stores.</a:t>
            </a:r>
          </a:p>
        </p:txBody>
      </p:sp>
      <p:sp>
        <p:nvSpPr>
          <p:cNvPr id="7" name="TextBox 6"/>
          <p:cNvSpPr txBox="1"/>
          <p:nvPr/>
        </p:nvSpPr>
        <p:spPr>
          <a:xfrm>
            <a:off x="548640" y="3054096"/>
            <a:ext cx="5303520" cy="274320"/>
          </a:xfrm>
          <a:prstGeom prst="rect">
            <a:avLst/>
          </a:prstGeom>
          <a:noFill/>
        </p:spPr>
        <p:txBody>
          <a:bodyPr wrap="square" lIns="0" rIns="0" tIns="0" bIns="0">
            <a:spAutoFit/>
          </a:bodyPr>
          <a:lstStyle/>
          <a:p>
            <a:pPr>
              <a:spcAft>
                <a:spcPts val="500"/>
              </a:spcAft>
              <a:defRPr sz="1200" b="1">
                <a:solidFill>
                  <a:srgbClr val="066B67"/>
                </a:solidFill>
                <a:latin typeface="Aptos"/>
              </a:defRPr>
            </a:pPr>
            <a:r>
              <a:t>PLATFORM RESOURCES</a:t>
            </a:r>
          </a:p>
        </p:txBody>
      </p:sp>
      <p:sp>
        <p:nvSpPr>
          <p:cNvPr id="8" name="TextBox 7"/>
          <p:cNvSpPr txBox="1"/>
          <p:nvPr/>
        </p:nvSpPr>
        <p:spPr>
          <a:xfrm>
            <a:off x="548640" y="3474720"/>
            <a:ext cx="5212080" cy="1097280"/>
          </a:xfrm>
          <a:prstGeom prst="rect">
            <a:avLst/>
          </a:prstGeom>
          <a:noFill/>
        </p:spPr>
        <p:txBody>
          <a:bodyPr wrap="square" lIns="0" rIns="0" tIns="0" bIns="0">
            <a:spAutoFit/>
          </a:bodyPr>
          <a:lstStyle/>
          <a:p>
            <a:pPr>
              <a:spcAft>
                <a:spcPts val="500"/>
              </a:spcAft>
              <a:defRPr sz="2000" b="0">
                <a:solidFill>
                  <a:srgbClr val="172C43"/>
                </a:solidFill>
                <a:latin typeface="Aptos"/>
              </a:defRPr>
            </a:pPr>
            <a:r>
              <a:t>Custom agent; prompt; tool selection; skill and store attachments.</a:t>
            </a:r>
          </a:p>
        </p:txBody>
      </p:sp>
      <p:sp>
        <p:nvSpPr>
          <p:cNvPr id="9" name="TextBox 8"/>
          <p:cNvSpPr txBox="1"/>
          <p:nvPr/>
        </p:nvSpPr>
        <p:spPr>
          <a:xfrm>
            <a:off x="6309360" y="3054096"/>
            <a:ext cx="5303520" cy="274320"/>
          </a:xfrm>
          <a:prstGeom prst="rect">
            <a:avLst/>
          </a:prstGeom>
          <a:noFill/>
        </p:spPr>
        <p:txBody>
          <a:bodyPr wrap="square" lIns="0" rIns="0" tIns="0" bIns="0">
            <a:spAutoFit/>
          </a:bodyPr>
          <a:lstStyle/>
          <a:p>
            <a:pPr>
              <a:spcAft>
                <a:spcPts val="500"/>
              </a:spcAft>
              <a:defRPr sz="1200" b="1">
                <a:solidFill>
                  <a:srgbClr val="066B67"/>
                </a:solidFill>
                <a:latin typeface="Aptos"/>
              </a:defRPr>
            </a:pPr>
            <a:r>
              <a:t>SUPPORTED OPERATIONS</a:t>
            </a:r>
          </a:p>
        </p:txBody>
      </p:sp>
      <p:sp>
        <p:nvSpPr>
          <p:cNvPr id="10" name="TextBox 9"/>
          <p:cNvSpPr txBox="1"/>
          <p:nvPr/>
        </p:nvSpPr>
        <p:spPr>
          <a:xfrm>
            <a:off x="6309360" y="3474720"/>
            <a:ext cx="5212080" cy="1097280"/>
          </a:xfrm>
          <a:prstGeom prst="rect">
            <a:avLst/>
          </a:prstGeom>
          <a:noFill/>
        </p:spPr>
        <p:txBody>
          <a:bodyPr wrap="square" lIns="0" rIns="0" tIns="0" bIns="0">
            <a:spAutoFit/>
          </a:bodyPr>
          <a:lstStyle/>
          <a:p>
            <a:pPr>
              <a:spcAft>
                <a:spcPts val="500"/>
              </a:spcAft>
              <a:defRPr sz="2000" b="0">
                <a:solidFill>
                  <a:srgbClr val="172C43"/>
                </a:solidFill>
                <a:latin typeface="Aptos"/>
              </a:defRPr>
            </a:pPr>
            <a:r>
              <a:t>Create or edit the definition; use Chat to configure tools; attach only required stores.</a:t>
            </a:r>
          </a:p>
        </p:txBody>
      </p:sp>
      <p:sp>
        <p:nvSpPr>
          <p:cNvPr id="11" name="TextBox 10"/>
          <p:cNvSpPr txBox="1"/>
          <p:nvPr/>
        </p:nvSpPr>
        <p:spPr>
          <a:xfrm>
            <a:off x="548640" y="4919472"/>
            <a:ext cx="10972800" cy="274320"/>
          </a:xfrm>
          <a:prstGeom prst="rect">
            <a:avLst/>
          </a:prstGeom>
          <a:noFill/>
        </p:spPr>
        <p:txBody>
          <a:bodyPr wrap="square" lIns="0" rIns="0" tIns="0" bIns="0">
            <a:spAutoFit/>
          </a:bodyPr>
          <a:lstStyle/>
          <a:p>
            <a:pPr>
              <a:spcAft>
                <a:spcPts val="500"/>
              </a:spcAft>
              <a:defRPr sz="1200" b="1">
                <a:solidFill>
                  <a:srgbClr val="066B67"/>
                </a:solidFill>
                <a:latin typeface="Aptos"/>
              </a:defRPr>
            </a:pPr>
            <a:r>
              <a:t>BOUNDARY</a:t>
            </a:r>
          </a:p>
        </p:txBody>
      </p:sp>
      <p:sp>
        <p:nvSpPr>
          <p:cNvPr id="12" name="TextBox 11"/>
          <p:cNvSpPr txBox="1"/>
          <p:nvPr/>
        </p:nvSpPr>
        <p:spPr>
          <a:xfrm>
            <a:off x="548640" y="5321808"/>
            <a:ext cx="10972800" cy="758952"/>
          </a:xfrm>
          <a:prstGeom prst="rect">
            <a:avLst/>
          </a:prstGeom>
          <a:noFill/>
        </p:spPr>
        <p:txBody>
          <a:bodyPr wrap="square" lIns="0" rIns="0" tIns="0" bIns="0">
            <a:spAutoFit/>
          </a:bodyPr>
          <a:lstStyle/>
          <a:p>
            <a:pPr>
              <a:spcAft>
                <a:spcPts val="500"/>
              </a:spcAft>
              <a:defRPr sz="1800" b="0">
                <a:solidFill>
                  <a:srgbClr val="172C43"/>
                </a:solidFill>
                <a:latin typeface="Aptos"/>
              </a:defRPr>
            </a:pPr>
            <a:r>
              <a:t>New custom agents have no memory attachments. Attached managed stores are read-only to the custom agent; attached custom stores can support writes.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TextBox 1"/>
          <p:cNvSpPr txBox="1"/>
          <p:nvPr/>
        </p:nvSpPr>
        <p:spPr>
          <a:xfrm>
            <a:off x="548640" y="256032"/>
            <a:ext cx="10972800" cy="274320"/>
          </a:xfrm>
          <a:prstGeom prst="rect">
            <a:avLst/>
          </a:prstGeom>
          <a:noFill/>
        </p:spPr>
        <p:txBody>
          <a:bodyPr wrap="square" lIns="0" rIns="0" tIns="0" bIns="0">
            <a:spAutoFit/>
          </a:bodyPr>
          <a:lstStyle/>
          <a:p>
            <a:pPr>
              <a:spcAft>
                <a:spcPts val="500"/>
              </a:spcAft>
              <a:defRPr sz="1100" b="1">
                <a:solidFill>
                  <a:srgbClr val="066B67"/>
                </a:solidFill>
                <a:latin typeface="Aptos"/>
              </a:defRPr>
            </a:pPr>
            <a:r>
              <a:t>AWS DEVOPS AGENT / PLATFORM REFERENCE</a:t>
            </a:r>
          </a:p>
        </p:txBody>
      </p:sp>
      <p:sp>
        <p:nvSpPr>
          <p:cNvPr id="3" name="TextBox 2"/>
          <p:cNvSpPr txBox="1"/>
          <p:nvPr/>
        </p:nvSpPr>
        <p:spPr>
          <a:xfrm>
            <a:off x="548640" y="777240"/>
            <a:ext cx="11064240" cy="914400"/>
          </a:xfrm>
          <a:prstGeom prst="rect">
            <a:avLst/>
          </a:prstGeom>
          <a:noFill/>
        </p:spPr>
        <p:txBody>
          <a:bodyPr wrap="square" lIns="0" rIns="0" tIns="0" bIns="0">
            <a:spAutoFit/>
          </a:bodyPr>
          <a:lstStyle/>
          <a:p>
            <a:pPr>
              <a:spcAft>
                <a:spcPts val="500"/>
              </a:spcAft>
              <a:defRPr sz="2900" b="1">
                <a:solidFill>
                  <a:srgbClr val="172C43"/>
                </a:solidFill>
                <a:latin typeface="Aptos"/>
              </a:defRPr>
            </a:pPr>
            <a:r>
              <a:t>Explicit invocation and scheduling</a:t>
            </a:r>
          </a:p>
        </p:txBody>
      </p:sp>
      <p:sp>
        <p:nvSpPr>
          <p:cNvPr id="4" name="TextBox 3"/>
          <p:cNvSpPr txBox="1"/>
          <p:nvPr/>
        </p:nvSpPr>
        <p:spPr>
          <a:xfrm>
            <a:off x="548640" y="6400800"/>
            <a:ext cx="10698480" cy="237744"/>
          </a:xfrm>
          <a:prstGeom prst="rect">
            <a:avLst/>
          </a:prstGeom>
          <a:noFill/>
        </p:spPr>
        <p:txBody>
          <a:bodyPr wrap="square" lIns="0" rIns="0" tIns="0" bIns="0">
            <a:spAutoFit/>
          </a:bodyPr>
          <a:lstStyle/>
          <a:p>
            <a:pPr>
              <a:spcAft>
                <a:spcPts val="500"/>
              </a:spcAft>
              <a:defRPr sz="1000" b="0">
                <a:solidFill>
                  <a:srgbClr val="536579"/>
                </a:solidFill>
                <a:latin typeface="Aptos"/>
              </a:defRPr>
            </a:pPr>
            <a:r>
              <a:t>D-C09 · Execution and control · Untimed</a:t>
            </a:r>
          </a:p>
        </p:txBody>
      </p:sp>
      <p:sp>
        <p:nvSpPr>
          <p:cNvPr id="5" name="TextBox 4"/>
          <p:cNvSpPr txBox="1"/>
          <p:nvPr/>
        </p:nvSpPr>
        <p:spPr>
          <a:xfrm>
            <a:off x="11292840" y="6400800"/>
            <a:ext cx="320040" cy="237744"/>
          </a:xfrm>
          <a:prstGeom prst="rect">
            <a:avLst/>
          </a:prstGeom>
          <a:noFill/>
        </p:spPr>
        <p:txBody>
          <a:bodyPr wrap="square" lIns="0" rIns="0" tIns="0" bIns="0">
            <a:spAutoFit/>
          </a:bodyPr>
          <a:lstStyle/>
          <a:p>
            <a:pPr>
              <a:spcAft>
                <a:spcPts val="500"/>
              </a:spcAft>
              <a:defRPr sz="1000" b="0">
                <a:solidFill>
                  <a:srgbClr val="172C43"/>
                </a:solidFill>
                <a:latin typeface="Aptos"/>
              </a:defRPr>
            </a:pPr>
            <a:r>
              <a:t>10</a:t>
            </a:r>
          </a:p>
        </p:txBody>
      </p:sp>
      <p:sp>
        <p:nvSpPr>
          <p:cNvPr id="6" name="TextBox 5"/>
          <p:cNvSpPr txBox="1"/>
          <p:nvPr/>
        </p:nvSpPr>
        <p:spPr>
          <a:xfrm>
            <a:off x="548640" y="1810512"/>
            <a:ext cx="11018520" cy="1078992"/>
          </a:xfrm>
          <a:prstGeom prst="rect">
            <a:avLst/>
          </a:prstGeom>
          <a:noFill/>
        </p:spPr>
        <p:txBody>
          <a:bodyPr wrap="square" lIns="0" rIns="0" tIns="0" bIns="0">
            <a:spAutoFit/>
          </a:bodyPr>
          <a:lstStyle/>
          <a:p>
            <a:pPr>
              <a:spcAft>
                <a:spcPts val="500"/>
              </a:spcAft>
              <a:defRPr sz="2300" b="0">
                <a:solidFill>
                  <a:srgbClr val="172C43"/>
                </a:solidFill>
                <a:latin typeface="Aptos"/>
              </a:defRPr>
            </a:pPr>
            <a:r>
              <a:t>Built-in investigations and custom-agent invocations expose different initiation paths.</a:t>
            </a:r>
          </a:p>
        </p:txBody>
      </p:sp>
      <p:sp>
        <p:nvSpPr>
          <p:cNvPr id="7" name="TextBox 6"/>
          <p:cNvSpPr txBox="1"/>
          <p:nvPr/>
        </p:nvSpPr>
        <p:spPr>
          <a:xfrm>
            <a:off x="548640" y="3054096"/>
            <a:ext cx="5303520" cy="274320"/>
          </a:xfrm>
          <a:prstGeom prst="rect">
            <a:avLst/>
          </a:prstGeom>
          <a:noFill/>
        </p:spPr>
        <p:txBody>
          <a:bodyPr wrap="square" lIns="0" rIns="0" tIns="0" bIns="0">
            <a:spAutoFit/>
          </a:bodyPr>
          <a:lstStyle/>
          <a:p>
            <a:pPr>
              <a:spcAft>
                <a:spcPts val="500"/>
              </a:spcAft>
              <a:defRPr sz="1200" b="1">
                <a:solidFill>
                  <a:srgbClr val="066B67"/>
                </a:solidFill>
                <a:latin typeface="Aptos"/>
              </a:defRPr>
            </a:pPr>
            <a:r>
              <a:t>PLATFORM RESOURCES</a:t>
            </a:r>
          </a:p>
        </p:txBody>
      </p:sp>
      <p:sp>
        <p:nvSpPr>
          <p:cNvPr id="8" name="TextBox 7"/>
          <p:cNvSpPr txBox="1"/>
          <p:nvPr/>
        </p:nvSpPr>
        <p:spPr>
          <a:xfrm>
            <a:off x="548640" y="3474720"/>
            <a:ext cx="5212080" cy="1097280"/>
          </a:xfrm>
          <a:prstGeom prst="rect">
            <a:avLst/>
          </a:prstGeom>
          <a:noFill/>
        </p:spPr>
        <p:txBody>
          <a:bodyPr wrap="square" lIns="0" rIns="0" tIns="0" bIns="0">
            <a:spAutoFit/>
          </a:bodyPr>
          <a:lstStyle/>
          <a:p>
            <a:pPr>
              <a:spcAft>
                <a:spcPts val="500"/>
              </a:spcAft>
              <a:defRPr sz="2000" b="0">
                <a:solidFill>
                  <a:srgbClr val="172C43"/>
                </a:solidFill>
                <a:latin typeface="Aptos"/>
              </a:defRPr>
            </a:pPr>
            <a:r>
              <a:t>Investigation; webhook or connected incident system; custom-agent trigger; invocation.</a:t>
            </a:r>
          </a:p>
        </p:txBody>
      </p:sp>
      <p:sp>
        <p:nvSpPr>
          <p:cNvPr id="9" name="TextBox 8"/>
          <p:cNvSpPr txBox="1"/>
          <p:nvPr/>
        </p:nvSpPr>
        <p:spPr>
          <a:xfrm>
            <a:off x="6309360" y="3054096"/>
            <a:ext cx="5303520" cy="274320"/>
          </a:xfrm>
          <a:prstGeom prst="rect">
            <a:avLst/>
          </a:prstGeom>
          <a:noFill/>
        </p:spPr>
        <p:txBody>
          <a:bodyPr wrap="square" lIns="0" rIns="0" tIns="0" bIns="0">
            <a:spAutoFit/>
          </a:bodyPr>
          <a:lstStyle/>
          <a:p>
            <a:pPr>
              <a:spcAft>
                <a:spcPts val="500"/>
              </a:spcAft>
              <a:defRPr sz="1200" b="1">
                <a:solidFill>
                  <a:srgbClr val="066B67"/>
                </a:solidFill>
                <a:latin typeface="Aptos"/>
              </a:defRPr>
            </a:pPr>
            <a:r>
              <a:t>SUPPORTED OPERATIONS</a:t>
            </a:r>
          </a:p>
        </p:txBody>
      </p:sp>
      <p:sp>
        <p:nvSpPr>
          <p:cNvPr id="10" name="TextBox 9"/>
          <p:cNvSpPr txBox="1"/>
          <p:nvPr/>
        </p:nvSpPr>
        <p:spPr>
          <a:xfrm>
            <a:off x="6309360" y="3474720"/>
            <a:ext cx="5212080" cy="1097280"/>
          </a:xfrm>
          <a:prstGeom prst="rect">
            <a:avLst/>
          </a:prstGeom>
          <a:noFill/>
        </p:spPr>
        <p:txBody>
          <a:bodyPr wrap="square" lIns="0" rIns="0" tIns="0" bIns="0">
            <a:spAutoFit/>
          </a:bodyPr>
          <a:lstStyle/>
          <a:p>
            <a:pPr>
              <a:spcAft>
                <a:spcPts val="500"/>
              </a:spcAft>
              <a:defRPr sz="1700" b="0">
                <a:solidFill>
                  <a:srgbClr val="172C43"/>
                </a:solidFill>
                <a:latin typeface="Aptos"/>
              </a:defRPr>
            </a:pPr>
            <a:r>
              <a:t>Start an investigation manually or through supported incident integration; run a custom agent on demand or on a schedule.</a:t>
            </a:r>
          </a:p>
        </p:txBody>
      </p:sp>
      <p:sp>
        <p:nvSpPr>
          <p:cNvPr id="11" name="TextBox 10"/>
          <p:cNvSpPr txBox="1"/>
          <p:nvPr/>
        </p:nvSpPr>
        <p:spPr>
          <a:xfrm>
            <a:off x="548640" y="4919472"/>
            <a:ext cx="10972800" cy="274320"/>
          </a:xfrm>
          <a:prstGeom prst="rect">
            <a:avLst/>
          </a:prstGeom>
          <a:noFill/>
        </p:spPr>
        <p:txBody>
          <a:bodyPr wrap="square" lIns="0" rIns="0" tIns="0" bIns="0">
            <a:spAutoFit/>
          </a:bodyPr>
          <a:lstStyle/>
          <a:p>
            <a:pPr>
              <a:spcAft>
                <a:spcPts val="500"/>
              </a:spcAft>
              <a:defRPr sz="1200" b="1">
                <a:solidFill>
                  <a:srgbClr val="066B67"/>
                </a:solidFill>
                <a:latin typeface="Aptos"/>
              </a:defRPr>
            </a:pPr>
            <a:r>
              <a:t>BOUNDARY</a:t>
            </a:r>
          </a:p>
        </p:txBody>
      </p:sp>
      <p:sp>
        <p:nvSpPr>
          <p:cNvPr id="12" name="TextBox 11"/>
          <p:cNvSpPr txBox="1"/>
          <p:nvPr/>
        </p:nvSpPr>
        <p:spPr>
          <a:xfrm>
            <a:off x="548640" y="5321808"/>
            <a:ext cx="10972800" cy="758952"/>
          </a:xfrm>
          <a:prstGeom prst="rect">
            <a:avLst/>
          </a:prstGeom>
          <a:noFill/>
        </p:spPr>
        <p:txBody>
          <a:bodyPr wrap="square" lIns="0" rIns="0" tIns="0" bIns="0">
            <a:spAutoFit/>
          </a:bodyPr>
          <a:lstStyle/>
          <a:p>
            <a:pPr>
              <a:spcAft>
                <a:spcPts val="500"/>
              </a:spcAft>
              <a:defRPr sz="1800" b="0">
                <a:solidFill>
                  <a:srgbClr val="172C43"/>
                </a:solidFill>
                <a:latin typeface="Aptos"/>
              </a:defRPr>
            </a:pPr>
            <a:r>
              <a:t>Do not describe built-in incident triggers and custom-agent schedules as one interchangeable event framework.</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TextBox 1"/>
          <p:cNvSpPr txBox="1"/>
          <p:nvPr/>
        </p:nvSpPr>
        <p:spPr>
          <a:xfrm>
            <a:off x="548640" y="256032"/>
            <a:ext cx="10972800" cy="274320"/>
          </a:xfrm>
          <a:prstGeom prst="rect">
            <a:avLst/>
          </a:prstGeom>
          <a:noFill/>
        </p:spPr>
        <p:txBody>
          <a:bodyPr wrap="square" lIns="0" rIns="0" tIns="0" bIns="0">
            <a:spAutoFit/>
          </a:bodyPr>
          <a:lstStyle/>
          <a:p>
            <a:pPr>
              <a:spcAft>
                <a:spcPts val="500"/>
              </a:spcAft>
              <a:defRPr sz="1100" b="1">
                <a:solidFill>
                  <a:srgbClr val="066B67"/>
                </a:solidFill>
                <a:latin typeface="Aptos"/>
              </a:defRPr>
            </a:pPr>
            <a:r>
              <a:t>AWS DEVOPS AGENT / PLATFORM REFERENCE</a:t>
            </a:r>
          </a:p>
        </p:txBody>
      </p:sp>
      <p:sp>
        <p:nvSpPr>
          <p:cNvPr id="3" name="TextBox 2"/>
          <p:cNvSpPr txBox="1"/>
          <p:nvPr/>
        </p:nvSpPr>
        <p:spPr>
          <a:xfrm>
            <a:off x="548640" y="777240"/>
            <a:ext cx="11064240" cy="914400"/>
          </a:xfrm>
          <a:prstGeom prst="rect">
            <a:avLst/>
          </a:prstGeom>
          <a:noFill/>
        </p:spPr>
        <p:txBody>
          <a:bodyPr wrap="square" lIns="0" rIns="0" tIns="0" bIns="0">
            <a:spAutoFit/>
          </a:bodyPr>
          <a:lstStyle/>
          <a:p>
            <a:pPr>
              <a:spcAft>
                <a:spcPts val="500"/>
              </a:spcAft>
              <a:defRPr sz="2900" b="1">
                <a:solidFill>
                  <a:srgbClr val="172C43"/>
                </a:solidFill>
                <a:latin typeface="Aptos"/>
              </a:defRPr>
            </a:pPr>
            <a:r>
              <a:t>Investigation-local computation</a:t>
            </a:r>
          </a:p>
        </p:txBody>
      </p:sp>
      <p:sp>
        <p:nvSpPr>
          <p:cNvPr id="4" name="TextBox 3"/>
          <p:cNvSpPr txBox="1"/>
          <p:nvPr/>
        </p:nvSpPr>
        <p:spPr>
          <a:xfrm>
            <a:off x="548640" y="6400800"/>
            <a:ext cx="10698480" cy="237744"/>
          </a:xfrm>
          <a:prstGeom prst="rect">
            <a:avLst/>
          </a:prstGeom>
          <a:noFill/>
        </p:spPr>
        <p:txBody>
          <a:bodyPr wrap="square" lIns="0" rIns="0" tIns="0" bIns="0">
            <a:spAutoFit/>
          </a:bodyPr>
          <a:lstStyle/>
          <a:p>
            <a:pPr>
              <a:spcAft>
                <a:spcPts val="500"/>
              </a:spcAft>
              <a:defRPr sz="1000" b="0">
                <a:solidFill>
                  <a:srgbClr val="536579"/>
                </a:solidFill>
                <a:latin typeface="Aptos"/>
              </a:defRPr>
            </a:pPr>
            <a:r>
              <a:t>D-C10 · Execution and control · Untimed</a:t>
            </a:r>
          </a:p>
        </p:txBody>
      </p:sp>
      <p:sp>
        <p:nvSpPr>
          <p:cNvPr id="5" name="TextBox 4"/>
          <p:cNvSpPr txBox="1"/>
          <p:nvPr/>
        </p:nvSpPr>
        <p:spPr>
          <a:xfrm>
            <a:off x="11292840" y="6400800"/>
            <a:ext cx="320040" cy="237744"/>
          </a:xfrm>
          <a:prstGeom prst="rect">
            <a:avLst/>
          </a:prstGeom>
          <a:noFill/>
        </p:spPr>
        <p:txBody>
          <a:bodyPr wrap="square" lIns="0" rIns="0" tIns="0" bIns="0">
            <a:spAutoFit/>
          </a:bodyPr>
          <a:lstStyle/>
          <a:p>
            <a:pPr>
              <a:spcAft>
                <a:spcPts val="500"/>
              </a:spcAft>
              <a:defRPr sz="1000" b="0">
                <a:solidFill>
                  <a:srgbClr val="172C43"/>
                </a:solidFill>
                <a:latin typeface="Aptos"/>
              </a:defRPr>
            </a:pPr>
            <a:r>
              <a:t>11</a:t>
            </a:r>
          </a:p>
        </p:txBody>
      </p:sp>
      <p:sp>
        <p:nvSpPr>
          <p:cNvPr id="6" name="TextBox 5"/>
          <p:cNvSpPr txBox="1"/>
          <p:nvPr/>
        </p:nvSpPr>
        <p:spPr>
          <a:xfrm>
            <a:off x="548640" y="1810512"/>
            <a:ext cx="11018520" cy="1078992"/>
          </a:xfrm>
          <a:prstGeom prst="rect">
            <a:avLst/>
          </a:prstGeom>
          <a:noFill/>
        </p:spPr>
        <p:txBody>
          <a:bodyPr wrap="square" lIns="0" rIns="0" tIns="0" bIns="0">
            <a:spAutoFit/>
          </a:bodyPr>
          <a:lstStyle/>
          <a:p>
            <a:pPr>
              <a:spcAft>
                <a:spcPts val="500"/>
              </a:spcAft>
              <a:defRPr sz="2300" b="0">
                <a:solidFill>
                  <a:srgbClr val="172C43"/>
                </a:solidFill>
                <a:latin typeface="Aptos"/>
              </a:defRPr>
            </a:pPr>
            <a:r>
              <a:t>Sandbox supplies an ephemeral Linux execution environment with configurable dependencies and outbound access rules.</a:t>
            </a:r>
          </a:p>
        </p:txBody>
      </p:sp>
      <p:sp>
        <p:nvSpPr>
          <p:cNvPr id="7" name="TextBox 6"/>
          <p:cNvSpPr txBox="1"/>
          <p:nvPr/>
        </p:nvSpPr>
        <p:spPr>
          <a:xfrm>
            <a:off x="548640" y="3054096"/>
            <a:ext cx="5303520" cy="274320"/>
          </a:xfrm>
          <a:prstGeom prst="rect">
            <a:avLst/>
          </a:prstGeom>
          <a:noFill/>
        </p:spPr>
        <p:txBody>
          <a:bodyPr wrap="square" lIns="0" rIns="0" tIns="0" bIns="0">
            <a:spAutoFit/>
          </a:bodyPr>
          <a:lstStyle/>
          <a:p>
            <a:pPr>
              <a:spcAft>
                <a:spcPts val="500"/>
              </a:spcAft>
              <a:defRPr sz="1200" b="1">
                <a:solidFill>
                  <a:srgbClr val="066B67"/>
                </a:solidFill>
                <a:latin typeface="Aptos"/>
              </a:defRPr>
            </a:pPr>
            <a:r>
              <a:t>PLATFORM RESOURCES</a:t>
            </a:r>
          </a:p>
        </p:txBody>
      </p:sp>
      <p:sp>
        <p:nvSpPr>
          <p:cNvPr id="8" name="TextBox 7"/>
          <p:cNvSpPr txBox="1"/>
          <p:nvPr/>
        </p:nvSpPr>
        <p:spPr>
          <a:xfrm>
            <a:off x="548640" y="3474720"/>
            <a:ext cx="5212080" cy="1097280"/>
          </a:xfrm>
          <a:prstGeom prst="rect">
            <a:avLst/>
          </a:prstGeom>
          <a:noFill/>
        </p:spPr>
        <p:txBody>
          <a:bodyPr wrap="square" lIns="0" rIns="0" tIns="0" bIns="0">
            <a:spAutoFit/>
          </a:bodyPr>
          <a:lstStyle/>
          <a:p>
            <a:pPr>
              <a:spcAft>
                <a:spcPts val="500"/>
              </a:spcAft>
              <a:defRPr sz="2000" b="0">
                <a:solidFill>
                  <a:srgbClr val="172C43"/>
                </a:solidFill>
                <a:latin typeface="Aptos"/>
              </a:defRPr>
            </a:pPr>
            <a:r>
              <a:t>Agent Space Sandbox settings; package configuration; network allowlist.</a:t>
            </a:r>
          </a:p>
        </p:txBody>
      </p:sp>
      <p:sp>
        <p:nvSpPr>
          <p:cNvPr id="9" name="TextBox 8"/>
          <p:cNvSpPr txBox="1"/>
          <p:nvPr/>
        </p:nvSpPr>
        <p:spPr>
          <a:xfrm>
            <a:off x="6309360" y="3054096"/>
            <a:ext cx="5303520" cy="274320"/>
          </a:xfrm>
          <a:prstGeom prst="rect">
            <a:avLst/>
          </a:prstGeom>
          <a:noFill/>
        </p:spPr>
        <p:txBody>
          <a:bodyPr wrap="square" lIns="0" rIns="0" tIns="0" bIns="0">
            <a:spAutoFit/>
          </a:bodyPr>
          <a:lstStyle/>
          <a:p>
            <a:pPr>
              <a:spcAft>
                <a:spcPts val="500"/>
              </a:spcAft>
              <a:defRPr sz="1200" b="1">
                <a:solidFill>
                  <a:srgbClr val="066B67"/>
                </a:solidFill>
                <a:latin typeface="Aptos"/>
              </a:defRPr>
            </a:pPr>
            <a:r>
              <a:t>SUPPORTED OPERATIONS</a:t>
            </a:r>
          </a:p>
        </p:txBody>
      </p:sp>
      <p:sp>
        <p:nvSpPr>
          <p:cNvPr id="10" name="TextBox 9"/>
          <p:cNvSpPr txBox="1"/>
          <p:nvPr/>
        </p:nvSpPr>
        <p:spPr>
          <a:xfrm>
            <a:off x="6309360" y="3474720"/>
            <a:ext cx="5212080" cy="1097280"/>
          </a:xfrm>
          <a:prstGeom prst="rect">
            <a:avLst/>
          </a:prstGeom>
          <a:noFill/>
        </p:spPr>
        <p:txBody>
          <a:bodyPr wrap="square" lIns="0" rIns="0" tIns="0" bIns="0">
            <a:spAutoFit/>
          </a:bodyPr>
          <a:lstStyle/>
          <a:p>
            <a:pPr>
              <a:spcAft>
                <a:spcPts val="500"/>
              </a:spcAft>
              <a:defRPr sz="2000" b="0">
                <a:solidFill>
                  <a:srgbClr val="172C43"/>
                </a:solidFill>
                <a:latin typeface="Aptos"/>
              </a:defRPr>
            </a:pPr>
            <a:r>
              <a:t>Opt in; configure permitted packages and outbound endpoints; inspect a controlled investigation execution.</a:t>
            </a:r>
          </a:p>
        </p:txBody>
      </p:sp>
      <p:sp>
        <p:nvSpPr>
          <p:cNvPr id="11" name="TextBox 10"/>
          <p:cNvSpPr txBox="1"/>
          <p:nvPr/>
        </p:nvSpPr>
        <p:spPr>
          <a:xfrm>
            <a:off x="548640" y="4919472"/>
            <a:ext cx="10972800" cy="274320"/>
          </a:xfrm>
          <a:prstGeom prst="rect">
            <a:avLst/>
          </a:prstGeom>
          <a:noFill/>
        </p:spPr>
        <p:txBody>
          <a:bodyPr wrap="square" lIns="0" rIns="0" tIns="0" bIns="0">
            <a:spAutoFit/>
          </a:bodyPr>
          <a:lstStyle/>
          <a:p>
            <a:pPr>
              <a:spcAft>
                <a:spcPts val="500"/>
              </a:spcAft>
              <a:defRPr sz="1200" b="1">
                <a:solidFill>
                  <a:srgbClr val="066B67"/>
                </a:solidFill>
                <a:latin typeface="Aptos"/>
              </a:defRPr>
            </a:pPr>
            <a:r>
              <a:t>BOUNDARY</a:t>
            </a:r>
          </a:p>
        </p:txBody>
      </p:sp>
      <p:sp>
        <p:nvSpPr>
          <p:cNvPr id="12" name="TextBox 11"/>
          <p:cNvSpPr txBox="1"/>
          <p:nvPr/>
        </p:nvSpPr>
        <p:spPr>
          <a:xfrm>
            <a:off x="548640" y="5321808"/>
            <a:ext cx="10972800" cy="758952"/>
          </a:xfrm>
          <a:prstGeom prst="rect">
            <a:avLst/>
          </a:prstGeom>
          <a:noFill/>
        </p:spPr>
        <p:txBody>
          <a:bodyPr wrap="square" lIns="0" rIns="0" tIns="0" bIns="0">
            <a:spAutoFit/>
          </a:bodyPr>
          <a:lstStyle/>
          <a:p>
            <a:pPr>
              <a:spcAft>
                <a:spcPts val="500"/>
              </a:spcAft>
              <a:defRPr sz="1800" b="0">
                <a:solidFill>
                  <a:srgbClr val="172C43"/>
                </a:solidFill>
                <a:latin typeface="Aptos"/>
              </a:defRPr>
            </a:pPr>
            <a:r>
              <a:t>The reviewed preview guidance limits this execution surface to investigations. It is not durable memory or a general deployment runner.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TextBox 1"/>
          <p:cNvSpPr txBox="1"/>
          <p:nvPr/>
        </p:nvSpPr>
        <p:spPr>
          <a:xfrm>
            <a:off x="548640" y="256032"/>
            <a:ext cx="10972800" cy="274320"/>
          </a:xfrm>
          <a:prstGeom prst="rect">
            <a:avLst/>
          </a:prstGeom>
          <a:noFill/>
        </p:spPr>
        <p:txBody>
          <a:bodyPr wrap="square" lIns="0" rIns="0" tIns="0" bIns="0">
            <a:spAutoFit/>
          </a:bodyPr>
          <a:lstStyle/>
          <a:p>
            <a:pPr>
              <a:spcAft>
                <a:spcPts val="500"/>
              </a:spcAft>
              <a:defRPr sz="1100" b="1">
                <a:solidFill>
                  <a:srgbClr val="066B67"/>
                </a:solidFill>
                <a:latin typeface="Aptos"/>
              </a:defRPr>
            </a:pPr>
            <a:r>
              <a:t>AWS DEVOPS AGENT / PLATFORM REFERENCE</a:t>
            </a:r>
          </a:p>
        </p:txBody>
      </p:sp>
      <p:sp>
        <p:nvSpPr>
          <p:cNvPr id="3" name="TextBox 2"/>
          <p:cNvSpPr txBox="1"/>
          <p:nvPr/>
        </p:nvSpPr>
        <p:spPr>
          <a:xfrm>
            <a:off x="548640" y="777240"/>
            <a:ext cx="11064240" cy="914400"/>
          </a:xfrm>
          <a:prstGeom prst="rect">
            <a:avLst/>
          </a:prstGeom>
          <a:noFill/>
        </p:spPr>
        <p:txBody>
          <a:bodyPr wrap="square" lIns="0" rIns="0" tIns="0" bIns="0">
            <a:spAutoFit/>
          </a:bodyPr>
          <a:lstStyle/>
          <a:p>
            <a:pPr>
              <a:spcAft>
                <a:spcPts val="500"/>
              </a:spcAft>
              <a:defRPr sz="2900" b="1">
                <a:solidFill>
                  <a:srgbClr val="172C43"/>
                </a:solidFill>
                <a:latin typeface="Aptos"/>
              </a:defRPr>
            </a:pPr>
            <a:r>
              <a:t>Authorized state-changing actions</a:t>
            </a:r>
          </a:p>
        </p:txBody>
      </p:sp>
      <p:sp>
        <p:nvSpPr>
          <p:cNvPr id="4" name="TextBox 3"/>
          <p:cNvSpPr txBox="1"/>
          <p:nvPr/>
        </p:nvSpPr>
        <p:spPr>
          <a:xfrm>
            <a:off x="548640" y="6400800"/>
            <a:ext cx="10698480" cy="237744"/>
          </a:xfrm>
          <a:prstGeom prst="rect">
            <a:avLst/>
          </a:prstGeom>
          <a:noFill/>
        </p:spPr>
        <p:txBody>
          <a:bodyPr wrap="square" lIns="0" rIns="0" tIns="0" bIns="0">
            <a:spAutoFit/>
          </a:bodyPr>
          <a:lstStyle/>
          <a:p>
            <a:pPr>
              <a:spcAft>
                <a:spcPts val="500"/>
              </a:spcAft>
              <a:defRPr sz="1000" b="0">
                <a:solidFill>
                  <a:srgbClr val="536579"/>
                </a:solidFill>
                <a:latin typeface="Aptos"/>
              </a:defRPr>
            </a:pPr>
            <a:r>
              <a:t>D-C11 · Execution and control · Untimed</a:t>
            </a:r>
          </a:p>
        </p:txBody>
      </p:sp>
      <p:sp>
        <p:nvSpPr>
          <p:cNvPr id="5" name="TextBox 4"/>
          <p:cNvSpPr txBox="1"/>
          <p:nvPr/>
        </p:nvSpPr>
        <p:spPr>
          <a:xfrm>
            <a:off x="11292840" y="6400800"/>
            <a:ext cx="320040" cy="237744"/>
          </a:xfrm>
          <a:prstGeom prst="rect">
            <a:avLst/>
          </a:prstGeom>
          <a:noFill/>
        </p:spPr>
        <p:txBody>
          <a:bodyPr wrap="square" lIns="0" rIns="0" tIns="0" bIns="0">
            <a:spAutoFit/>
          </a:bodyPr>
          <a:lstStyle/>
          <a:p>
            <a:pPr>
              <a:spcAft>
                <a:spcPts val="500"/>
              </a:spcAft>
              <a:defRPr sz="1000" b="0">
                <a:solidFill>
                  <a:srgbClr val="172C43"/>
                </a:solidFill>
                <a:latin typeface="Aptos"/>
              </a:defRPr>
            </a:pPr>
            <a:r>
              <a:t>12</a:t>
            </a:r>
          </a:p>
        </p:txBody>
      </p:sp>
      <p:sp>
        <p:nvSpPr>
          <p:cNvPr id="6" name="TextBox 5"/>
          <p:cNvSpPr txBox="1"/>
          <p:nvPr/>
        </p:nvSpPr>
        <p:spPr>
          <a:xfrm>
            <a:off x="548640" y="1810512"/>
            <a:ext cx="11018520" cy="1078992"/>
          </a:xfrm>
          <a:prstGeom prst="rect">
            <a:avLst/>
          </a:prstGeom>
          <a:noFill/>
        </p:spPr>
        <p:txBody>
          <a:bodyPr wrap="square" lIns="0" rIns="0" tIns="0" bIns="0">
            <a:spAutoFit/>
          </a:bodyPr>
          <a:lstStyle/>
          <a:p>
            <a:pPr>
              <a:spcAft>
                <a:spcPts val="500"/>
              </a:spcAft>
              <a:defRPr sz="2300" b="0">
                <a:solidFill>
                  <a:srgbClr val="172C43"/>
                </a:solidFill>
                <a:latin typeface="Aptos"/>
              </a:defRPr>
            </a:pPr>
            <a:r>
              <a:t>Directed actions allow eligible mutations only after separate enablement, access configuration and specific approval.</a:t>
            </a:r>
          </a:p>
        </p:txBody>
      </p:sp>
      <p:sp>
        <p:nvSpPr>
          <p:cNvPr id="7" name="TextBox 6"/>
          <p:cNvSpPr txBox="1"/>
          <p:nvPr/>
        </p:nvSpPr>
        <p:spPr>
          <a:xfrm>
            <a:off x="548640" y="3054096"/>
            <a:ext cx="5303520" cy="274320"/>
          </a:xfrm>
          <a:prstGeom prst="rect">
            <a:avLst/>
          </a:prstGeom>
          <a:noFill/>
        </p:spPr>
        <p:txBody>
          <a:bodyPr wrap="square" lIns="0" rIns="0" tIns="0" bIns="0">
            <a:spAutoFit/>
          </a:bodyPr>
          <a:lstStyle/>
          <a:p>
            <a:pPr>
              <a:spcAft>
                <a:spcPts val="500"/>
              </a:spcAft>
              <a:defRPr sz="1200" b="1">
                <a:solidFill>
                  <a:srgbClr val="066B67"/>
                </a:solidFill>
                <a:latin typeface="Aptos"/>
              </a:defRPr>
            </a:pPr>
            <a:r>
              <a:t>PLATFORM RESOURCES</a:t>
            </a:r>
          </a:p>
        </p:txBody>
      </p:sp>
      <p:sp>
        <p:nvSpPr>
          <p:cNvPr id="8" name="TextBox 7"/>
          <p:cNvSpPr txBox="1"/>
          <p:nvPr/>
        </p:nvSpPr>
        <p:spPr>
          <a:xfrm>
            <a:off x="548640" y="3474720"/>
            <a:ext cx="5212080" cy="1097280"/>
          </a:xfrm>
          <a:prstGeom prst="rect">
            <a:avLst/>
          </a:prstGeom>
          <a:noFill/>
        </p:spPr>
        <p:txBody>
          <a:bodyPr wrap="square" lIns="0" rIns="0" tIns="0" bIns="0">
            <a:spAutoFit/>
          </a:bodyPr>
          <a:lstStyle/>
          <a:p>
            <a:pPr>
              <a:spcAft>
                <a:spcPts val="500"/>
              </a:spcAft>
              <a:defRPr sz="2000" b="0">
                <a:solidFill>
                  <a:srgbClr val="172C43"/>
                </a:solidFill>
                <a:latin typeface="Aptos"/>
              </a:defRPr>
            </a:pPr>
            <a:r>
              <a:t>Agent Space setting; account elevated role; tool classification; approval record.</a:t>
            </a:r>
          </a:p>
        </p:txBody>
      </p:sp>
      <p:sp>
        <p:nvSpPr>
          <p:cNvPr id="9" name="TextBox 8"/>
          <p:cNvSpPr txBox="1"/>
          <p:nvPr/>
        </p:nvSpPr>
        <p:spPr>
          <a:xfrm>
            <a:off x="6309360" y="3054096"/>
            <a:ext cx="5303520" cy="274320"/>
          </a:xfrm>
          <a:prstGeom prst="rect">
            <a:avLst/>
          </a:prstGeom>
          <a:noFill/>
        </p:spPr>
        <p:txBody>
          <a:bodyPr wrap="square" lIns="0" rIns="0" tIns="0" bIns="0">
            <a:spAutoFit/>
          </a:bodyPr>
          <a:lstStyle/>
          <a:p>
            <a:pPr>
              <a:spcAft>
                <a:spcPts val="500"/>
              </a:spcAft>
              <a:defRPr sz="1200" b="1">
                <a:solidFill>
                  <a:srgbClr val="066B67"/>
                </a:solidFill>
                <a:latin typeface="Aptos"/>
              </a:defRPr>
            </a:pPr>
            <a:r>
              <a:t>SUPPORTED OPERATIONS</a:t>
            </a:r>
          </a:p>
        </p:txBody>
      </p:sp>
      <p:sp>
        <p:nvSpPr>
          <p:cNvPr id="10" name="TextBox 9"/>
          <p:cNvSpPr txBox="1"/>
          <p:nvPr/>
        </p:nvSpPr>
        <p:spPr>
          <a:xfrm>
            <a:off x="6309360" y="3474720"/>
            <a:ext cx="5212080" cy="1097280"/>
          </a:xfrm>
          <a:prstGeom prst="rect">
            <a:avLst/>
          </a:prstGeom>
          <a:noFill/>
        </p:spPr>
        <p:txBody>
          <a:bodyPr wrap="square" lIns="0" rIns="0" tIns="0" bIns="0">
            <a:spAutoFit/>
          </a:bodyPr>
          <a:lstStyle/>
          <a:p>
            <a:pPr>
              <a:spcAft>
                <a:spcPts val="500"/>
              </a:spcAft>
              <a:defRPr sz="2000" b="0">
                <a:solidFill>
                  <a:srgbClr val="172C43"/>
                </a:solidFill>
                <a:latin typeface="Aptos"/>
              </a:defRPr>
            </a:pPr>
            <a:r>
              <a:t>Enable the feature; configure eligible accounts and tools; review, adjust, approve or reject a proposed operation.</a:t>
            </a:r>
          </a:p>
        </p:txBody>
      </p:sp>
      <p:sp>
        <p:nvSpPr>
          <p:cNvPr id="11" name="TextBox 10"/>
          <p:cNvSpPr txBox="1"/>
          <p:nvPr/>
        </p:nvSpPr>
        <p:spPr>
          <a:xfrm>
            <a:off x="548640" y="4919472"/>
            <a:ext cx="10972800" cy="274320"/>
          </a:xfrm>
          <a:prstGeom prst="rect">
            <a:avLst/>
          </a:prstGeom>
          <a:noFill/>
        </p:spPr>
        <p:txBody>
          <a:bodyPr wrap="square" lIns="0" rIns="0" tIns="0" bIns="0">
            <a:spAutoFit/>
          </a:bodyPr>
          <a:lstStyle/>
          <a:p>
            <a:pPr>
              <a:spcAft>
                <a:spcPts val="500"/>
              </a:spcAft>
              <a:defRPr sz="1200" b="1">
                <a:solidFill>
                  <a:srgbClr val="066B67"/>
                </a:solidFill>
                <a:latin typeface="Aptos"/>
              </a:defRPr>
            </a:pPr>
            <a:r>
              <a:t>BOUNDARY</a:t>
            </a:r>
          </a:p>
        </p:txBody>
      </p:sp>
      <p:sp>
        <p:nvSpPr>
          <p:cNvPr id="12" name="TextBox 11"/>
          <p:cNvSpPr txBox="1"/>
          <p:nvPr/>
        </p:nvSpPr>
        <p:spPr>
          <a:xfrm>
            <a:off x="548640" y="5321808"/>
            <a:ext cx="10972800" cy="758952"/>
          </a:xfrm>
          <a:prstGeom prst="rect">
            <a:avLst/>
          </a:prstGeom>
          <a:noFill/>
        </p:spPr>
        <p:txBody>
          <a:bodyPr wrap="square" lIns="0" rIns="0" tIns="0" bIns="0">
            <a:spAutoFit/>
          </a:bodyPr>
          <a:lstStyle/>
          <a:p>
            <a:pPr>
              <a:spcAft>
                <a:spcPts val="500"/>
              </a:spcAft>
              <a:defRPr sz="1800" b="0">
                <a:solidFill>
                  <a:srgbClr val="172C43"/>
                </a:solidFill>
                <a:latin typeface="Aptos"/>
              </a:defRPr>
            </a:pPr>
            <a:r>
              <a:t>A mitigation recommendation is not permission to execute it. A configured elevated role is a permission ceiling, not standing approval.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TextBox 1"/>
          <p:cNvSpPr txBox="1"/>
          <p:nvPr/>
        </p:nvSpPr>
        <p:spPr>
          <a:xfrm>
            <a:off x="548640" y="256032"/>
            <a:ext cx="10972800" cy="274320"/>
          </a:xfrm>
          <a:prstGeom prst="rect">
            <a:avLst/>
          </a:prstGeom>
          <a:noFill/>
        </p:spPr>
        <p:txBody>
          <a:bodyPr wrap="square" lIns="0" rIns="0" tIns="0" bIns="0">
            <a:spAutoFit/>
          </a:bodyPr>
          <a:lstStyle/>
          <a:p>
            <a:pPr>
              <a:spcAft>
                <a:spcPts val="500"/>
              </a:spcAft>
              <a:defRPr sz="1100" b="1">
                <a:solidFill>
                  <a:srgbClr val="066B67"/>
                </a:solidFill>
                <a:latin typeface="Aptos"/>
              </a:defRPr>
            </a:pPr>
            <a:r>
              <a:t>AWS DEVOPS AGENT / PLATFORM REFERENCE</a:t>
            </a:r>
          </a:p>
        </p:txBody>
      </p:sp>
      <p:sp>
        <p:nvSpPr>
          <p:cNvPr id="3" name="TextBox 2"/>
          <p:cNvSpPr txBox="1"/>
          <p:nvPr/>
        </p:nvSpPr>
        <p:spPr>
          <a:xfrm>
            <a:off x="548640" y="777240"/>
            <a:ext cx="11064240" cy="914400"/>
          </a:xfrm>
          <a:prstGeom prst="rect">
            <a:avLst/>
          </a:prstGeom>
          <a:noFill/>
        </p:spPr>
        <p:txBody>
          <a:bodyPr wrap="square" lIns="0" rIns="0" tIns="0" bIns="0">
            <a:spAutoFit/>
          </a:bodyPr>
          <a:lstStyle/>
          <a:p>
            <a:pPr>
              <a:spcAft>
                <a:spcPts val="500"/>
              </a:spcAft>
              <a:defRPr sz="2900" b="1">
                <a:solidFill>
                  <a:srgbClr val="172C43"/>
                </a:solidFill>
                <a:latin typeface="Aptos"/>
              </a:defRPr>
            </a:pPr>
            <a:r>
              <a:t>Configuration resources and execution evidence</a:t>
            </a:r>
          </a:p>
        </p:txBody>
      </p:sp>
      <p:sp>
        <p:nvSpPr>
          <p:cNvPr id="4" name="TextBox 3"/>
          <p:cNvSpPr txBox="1"/>
          <p:nvPr/>
        </p:nvSpPr>
        <p:spPr>
          <a:xfrm>
            <a:off x="548640" y="6400800"/>
            <a:ext cx="10698480" cy="237744"/>
          </a:xfrm>
          <a:prstGeom prst="rect">
            <a:avLst/>
          </a:prstGeom>
          <a:noFill/>
        </p:spPr>
        <p:txBody>
          <a:bodyPr wrap="square" lIns="0" rIns="0" tIns="0" bIns="0">
            <a:spAutoFit/>
          </a:bodyPr>
          <a:lstStyle/>
          <a:p>
            <a:pPr>
              <a:spcAft>
                <a:spcPts val="500"/>
              </a:spcAft>
              <a:defRPr sz="1000" b="0">
                <a:solidFill>
                  <a:srgbClr val="536579"/>
                </a:solidFill>
                <a:latin typeface="Aptos"/>
              </a:defRPr>
            </a:pPr>
            <a:r>
              <a:t>D-C12 · Execution and control · Untimed</a:t>
            </a:r>
          </a:p>
        </p:txBody>
      </p:sp>
      <p:sp>
        <p:nvSpPr>
          <p:cNvPr id="5" name="TextBox 4"/>
          <p:cNvSpPr txBox="1"/>
          <p:nvPr/>
        </p:nvSpPr>
        <p:spPr>
          <a:xfrm>
            <a:off x="11292840" y="6400800"/>
            <a:ext cx="320040" cy="237744"/>
          </a:xfrm>
          <a:prstGeom prst="rect">
            <a:avLst/>
          </a:prstGeom>
          <a:noFill/>
        </p:spPr>
        <p:txBody>
          <a:bodyPr wrap="square" lIns="0" rIns="0" tIns="0" bIns="0">
            <a:spAutoFit/>
          </a:bodyPr>
          <a:lstStyle/>
          <a:p>
            <a:pPr>
              <a:spcAft>
                <a:spcPts val="500"/>
              </a:spcAft>
              <a:defRPr sz="1000" b="0">
                <a:solidFill>
                  <a:srgbClr val="172C43"/>
                </a:solidFill>
                <a:latin typeface="Aptos"/>
              </a:defRPr>
            </a:pPr>
            <a:r>
              <a:t>13</a:t>
            </a:r>
          </a:p>
        </p:txBody>
      </p:sp>
      <p:sp>
        <p:nvSpPr>
          <p:cNvPr id="6" name="TextBox 5"/>
          <p:cNvSpPr txBox="1"/>
          <p:nvPr/>
        </p:nvSpPr>
        <p:spPr>
          <a:xfrm>
            <a:off x="548640" y="1810512"/>
            <a:ext cx="11018520" cy="1078992"/>
          </a:xfrm>
          <a:prstGeom prst="rect">
            <a:avLst/>
          </a:prstGeom>
          <a:noFill/>
        </p:spPr>
        <p:txBody>
          <a:bodyPr wrap="square" lIns="0" rIns="0" tIns="0" bIns="0">
            <a:spAutoFit/>
          </a:bodyPr>
          <a:lstStyle/>
          <a:p>
            <a:pPr>
              <a:spcAft>
                <a:spcPts val="500"/>
              </a:spcAft>
              <a:defRPr sz="2300" b="0">
                <a:solidFill>
                  <a:srgbClr val="172C43"/>
                </a:solidFill>
                <a:latin typeface="Aptos"/>
              </a:defRPr>
            </a:pPr>
            <a:r>
              <a:t>Asset APIs manage supported configuration resources; invocation trajectories expose tool calls and outputs for inspection.</a:t>
            </a:r>
          </a:p>
        </p:txBody>
      </p:sp>
      <p:sp>
        <p:nvSpPr>
          <p:cNvPr id="7" name="TextBox 6"/>
          <p:cNvSpPr txBox="1"/>
          <p:nvPr/>
        </p:nvSpPr>
        <p:spPr>
          <a:xfrm>
            <a:off x="548640" y="3054096"/>
            <a:ext cx="5303520" cy="274320"/>
          </a:xfrm>
          <a:prstGeom prst="rect">
            <a:avLst/>
          </a:prstGeom>
          <a:noFill/>
        </p:spPr>
        <p:txBody>
          <a:bodyPr wrap="square" lIns="0" rIns="0" tIns="0" bIns="0">
            <a:spAutoFit/>
          </a:bodyPr>
          <a:lstStyle/>
          <a:p>
            <a:pPr>
              <a:spcAft>
                <a:spcPts val="500"/>
              </a:spcAft>
              <a:defRPr sz="1200" b="1">
                <a:solidFill>
                  <a:srgbClr val="066B67"/>
                </a:solidFill>
                <a:latin typeface="Aptos"/>
              </a:defRPr>
            </a:pPr>
            <a:r>
              <a:t>PLATFORM RESOURCES</a:t>
            </a:r>
          </a:p>
        </p:txBody>
      </p:sp>
      <p:sp>
        <p:nvSpPr>
          <p:cNvPr id="8" name="TextBox 7"/>
          <p:cNvSpPr txBox="1"/>
          <p:nvPr/>
        </p:nvSpPr>
        <p:spPr>
          <a:xfrm>
            <a:off x="548640" y="3474720"/>
            <a:ext cx="5212080" cy="1097280"/>
          </a:xfrm>
          <a:prstGeom prst="rect">
            <a:avLst/>
          </a:prstGeom>
          <a:noFill/>
        </p:spPr>
        <p:txBody>
          <a:bodyPr wrap="square" lIns="0" rIns="0" tIns="0" bIns="0">
            <a:spAutoFit/>
          </a:bodyPr>
          <a:lstStyle/>
          <a:p>
            <a:pPr>
              <a:spcAft>
                <a:spcPts val="500"/>
              </a:spcAft>
              <a:defRPr sz="2000" b="0">
                <a:solidFill>
                  <a:srgbClr val="172C43"/>
                </a:solidFill>
                <a:latin typeface="Aptos"/>
              </a:defRPr>
            </a:pPr>
            <a:r>
              <a:t>Asset records and identifiers; custom-agent invocation trajectory.</a:t>
            </a:r>
          </a:p>
        </p:txBody>
      </p:sp>
      <p:sp>
        <p:nvSpPr>
          <p:cNvPr id="9" name="TextBox 8"/>
          <p:cNvSpPr txBox="1"/>
          <p:nvPr/>
        </p:nvSpPr>
        <p:spPr>
          <a:xfrm>
            <a:off x="6309360" y="3054096"/>
            <a:ext cx="5303520" cy="274320"/>
          </a:xfrm>
          <a:prstGeom prst="rect">
            <a:avLst/>
          </a:prstGeom>
          <a:noFill/>
        </p:spPr>
        <p:txBody>
          <a:bodyPr wrap="square" lIns="0" rIns="0" tIns="0" bIns="0">
            <a:spAutoFit/>
          </a:bodyPr>
          <a:lstStyle/>
          <a:p>
            <a:pPr>
              <a:spcAft>
                <a:spcPts val="500"/>
              </a:spcAft>
              <a:defRPr sz="1200" b="1">
                <a:solidFill>
                  <a:srgbClr val="066B67"/>
                </a:solidFill>
                <a:latin typeface="Aptos"/>
              </a:defRPr>
            </a:pPr>
            <a:r>
              <a:t>SUPPORTED OPERATIONS</a:t>
            </a:r>
          </a:p>
        </p:txBody>
      </p:sp>
      <p:sp>
        <p:nvSpPr>
          <p:cNvPr id="10" name="TextBox 9"/>
          <p:cNvSpPr txBox="1"/>
          <p:nvPr/>
        </p:nvSpPr>
        <p:spPr>
          <a:xfrm>
            <a:off x="6309360" y="3474720"/>
            <a:ext cx="5212080" cy="1097280"/>
          </a:xfrm>
          <a:prstGeom prst="rect">
            <a:avLst/>
          </a:prstGeom>
          <a:noFill/>
        </p:spPr>
        <p:txBody>
          <a:bodyPr wrap="square" lIns="0" rIns="0" tIns="0" bIns="0">
            <a:spAutoFit/>
          </a:bodyPr>
          <a:lstStyle/>
          <a:p>
            <a:pPr>
              <a:spcAft>
                <a:spcPts val="500"/>
              </a:spcAft>
              <a:defRPr sz="2000" b="0">
                <a:solidFill>
                  <a:srgbClr val="172C43"/>
                </a:solidFill>
                <a:latin typeface="Aptos"/>
              </a:defRPr>
            </a:pPr>
            <a:r>
              <a:t>Manage supported assets programmatically; inspect a run and its outputs.</a:t>
            </a:r>
          </a:p>
        </p:txBody>
      </p:sp>
      <p:sp>
        <p:nvSpPr>
          <p:cNvPr id="11" name="TextBox 10"/>
          <p:cNvSpPr txBox="1"/>
          <p:nvPr/>
        </p:nvSpPr>
        <p:spPr>
          <a:xfrm>
            <a:off x="548640" y="4919472"/>
            <a:ext cx="10972800" cy="274320"/>
          </a:xfrm>
          <a:prstGeom prst="rect">
            <a:avLst/>
          </a:prstGeom>
          <a:noFill/>
        </p:spPr>
        <p:txBody>
          <a:bodyPr wrap="square" lIns="0" rIns="0" tIns="0" bIns="0">
            <a:spAutoFit/>
          </a:bodyPr>
          <a:lstStyle/>
          <a:p>
            <a:pPr>
              <a:spcAft>
                <a:spcPts val="500"/>
              </a:spcAft>
              <a:defRPr sz="1200" b="1">
                <a:solidFill>
                  <a:srgbClr val="066B67"/>
                </a:solidFill>
                <a:latin typeface="Aptos"/>
              </a:defRPr>
            </a:pPr>
            <a:r>
              <a:t>BOUNDARY</a:t>
            </a:r>
          </a:p>
        </p:txBody>
      </p:sp>
      <p:sp>
        <p:nvSpPr>
          <p:cNvPr id="12" name="TextBox 11"/>
          <p:cNvSpPr txBox="1"/>
          <p:nvPr/>
        </p:nvSpPr>
        <p:spPr>
          <a:xfrm>
            <a:off x="548640" y="5321808"/>
            <a:ext cx="10972800" cy="758952"/>
          </a:xfrm>
          <a:prstGeom prst="rect">
            <a:avLst/>
          </a:prstGeom>
          <a:noFill/>
        </p:spPr>
        <p:txBody>
          <a:bodyPr wrap="square" lIns="0" rIns="0" tIns="0" bIns="0">
            <a:spAutoFit/>
          </a:bodyPr>
          <a:lstStyle/>
          <a:p>
            <a:pPr>
              <a:spcAft>
                <a:spcPts val="500"/>
              </a:spcAft>
              <a:defRPr sz="1800" b="0">
                <a:solidFill>
                  <a:srgbClr val="172C43"/>
                </a:solidFill>
                <a:latin typeface="Aptos"/>
              </a:defRPr>
            </a:pPr>
            <a:r>
              <a:t>Use asset identifiers where required by the API. A recorded trajectory is evidence of execution, not independent verification of the conclusion.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TextBox 1"/>
          <p:cNvSpPr txBox="1"/>
          <p:nvPr/>
        </p:nvSpPr>
        <p:spPr>
          <a:xfrm>
            <a:off x="548640" y="256032"/>
            <a:ext cx="10972800" cy="274320"/>
          </a:xfrm>
          <a:prstGeom prst="rect">
            <a:avLst/>
          </a:prstGeom>
          <a:noFill/>
        </p:spPr>
        <p:txBody>
          <a:bodyPr wrap="square" lIns="0" rIns="0" tIns="0" bIns="0">
            <a:spAutoFit/>
          </a:bodyPr>
          <a:lstStyle/>
          <a:p>
            <a:pPr>
              <a:spcAft>
                <a:spcPts val="500"/>
              </a:spcAft>
              <a:defRPr sz="1100" b="1">
                <a:solidFill>
                  <a:srgbClr val="066B67"/>
                </a:solidFill>
                <a:latin typeface="Aptos"/>
              </a:defRPr>
            </a:pPr>
            <a:r>
              <a:t>AWS DEVOPS AGENT / PLATFORM REFERENCE</a:t>
            </a:r>
          </a:p>
        </p:txBody>
      </p:sp>
      <p:sp>
        <p:nvSpPr>
          <p:cNvPr id="3" name="TextBox 2"/>
          <p:cNvSpPr txBox="1"/>
          <p:nvPr/>
        </p:nvSpPr>
        <p:spPr>
          <a:xfrm>
            <a:off x="548640" y="777240"/>
            <a:ext cx="11064240" cy="914400"/>
          </a:xfrm>
          <a:prstGeom prst="rect">
            <a:avLst/>
          </a:prstGeom>
          <a:noFill/>
        </p:spPr>
        <p:txBody>
          <a:bodyPr wrap="square" lIns="0" rIns="0" tIns="0" bIns="0">
            <a:spAutoFit/>
          </a:bodyPr>
          <a:lstStyle/>
          <a:p>
            <a:pPr>
              <a:spcAft>
                <a:spcPts val="500"/>
              </a:spcAft>
              <a:defRPr sz="2900" b="1">
                <a:solidFill>
                  <a:srgbClr val="172C43"/>
                </a:solidFill>
                <a:latin typeface="Aptos"/>
              </a:defRPr>
            </a:pPr>
            <a:r>
              <a:t>Recurring-monitor knowledge production</a:t>
            </a:r>
          </a:p>
        </p:txBody>
      </p:sp>
      <p:sp>
        <p:nvSpPr>
          <p:cNvPr id="4" name="TextBox 3"/>
          <p:cNvSpPr txBox="1"/>
          <p:nvPr/>
        </p:nvSpPr>
        <p:spPr>
          <a:xfrm>
            <a:off x="548640" y="6400800"/>
            <a:ext cx="10698480" cy="237744"/>
          </a:xfrm>
          <a:prstGeom prst="rect">
            <a:avLst/>
          </a:prstGeom>
          <a:noFill/>
        </p:spPr>
        <p:txBody>
          <a:bodyPr wrap="square" lIns="0" rIns="0" tIns="0" bIns="0">
            <a:spAutoFit/>
          </a:bodyPr>
          <a:lstStyle/>
          <a:p>
            <a:pPr>
              <a:spcAft>
                <a:spcPts val="500"/>
              </a:spcAft>
              <a:defRPr sz="1000" b="0">
                <a:solidFill>
                  <a:srgbClr val="536579"/>
                </a:solidFill>
                <a:latin typeface="Aptos"/>
              </a:defRPr>
            </a:pPr>
            <a:r>
              <a:t>D-M01 · Process and retained state · Untimed</a:t>
            </a:r>
          </a:p>
        </p:txBody>
      </p:sp>
      <p:sp>
        <p:nvSpPr>
          <p:cNvPr id="5" name="TextBox 4"/>
          <p:cNvSpPr txBox="1"/>
          <p:nvPr/>
        </p:nvSpPr>
        <p:spPr>
          <a:xfrm>
            <a:off x="11292840" y="6400800"/>
            <a:ext cx="320040" cy="237744"/>
          </a:xfrm>
          <a:prstGeom prst="rect">
            <a:avLst/>
          </a:prstGeom>
          <a:noFill/>
        </p:spPr>
        <p:txBody>
          <a:bodyPr wrap="square" lIns="0" rIns="0" tIns="0" bIns="0">
            <a:spAutoFit/>
          </a:bodyPr>
          <a:lstStyle/>
          <a:p>
            <a:pPr>
              <a:spcAft>
                <a:spcPts val="500"/>
              </a:spcAft>
              <a:defRPr sz="1000" b="0">
                <a:solidFill>
                  <a:srgbClr val="172C43"/>
                </a:solidFill>
                <a:latin typeface="Aptos"/>
              </a:defRPr>
            </a:pPr>
            <a:r>
              <a:t>14</a:t>
            </a:r>
          </a:p>
        </p:txBody>
      </p:sp>
      <p:sp>
        <p:nvSpPr>
          <p:cNvPr id="6" name="TextBox 5"/>
          <p:cNvSpPr txBox="1"/>
          <p:nvPr/>
        </p:nvSpPr>
        <p:spPr>
          <a:xfrm>
            <a:off x="548640" y="1847088"/>
            <a:ext cx="2578608" cy="292608"/>
          </a:xfrm>
          <a:prstGeom prst="rect">
            <a:avLst/>
          </a:prstGeom>
          <a:noFill/>
        </p:spPr>
        <p:txBody>
          <a:bodyPr wrap="square" lIns="0" rIns="0" tIns="0" bIns="0">
            <a:spAutoFit/>
          </a:bodyPr>
          <a:lstStyle/>
          <a:p>
            <a:pPr>
              <a:spcAft>
                <a:spcPts val="500"/>
              </a:spcAft>
              <a:defRPr sz="1400" b="1">
                <a:solidFill>
                  <a:srgbClr val="066B67"/>
                </a:solidFill>
                <a:latin typeface="Aptos"/>
              </a:defRPr>
            </a:pPr>
            <a:r>
              <a:t>01</a:t>
            </a:r>
          </a:p>
        </p:txBody>
      </p:sp>
      <p:sp>
        <p:nvSpPr>
          <p:cNvPr id="7" name="TextBox 6"/>
          <p:cNvSpPr txBox="1"/>
          <p:nvPr/>
        </p:nvSpPr>
        <p:spPr>
          <a:xfrm>
            <a:off x="548640" y="2267712"/>
            <a:ext cx="2560320" cy="914400"/>
          </a:xfrm>
          <a:prstGeom prst="rect">
            <a:avLst/>
          </a:prstGeom>
          <a:noFill/>
        </p:spPr>
        <p:txBody>
          <a:bodyPr wrap="square" lIns="0" rIns="0" tIns="0" bIns="0">
            <a:spAutoFit/>
          </a:bodyPr>
          <a:lstStyle/>
          <a:p>
            <a:pPr>
              <a:spcAft>
                <a:spcPts val="500"/>
              </a:spcAft>
              <a:defRPr sz="2000" b="1">
                <a:solidFill>
                  <a:srgbClr val="172C43"/>
                </a:solidFill>
                <a:latin typeface="Aptos"/>
              </a:defRPr>
            </a:pPr>
            <a:r>
              <a:t>Completed investigations</a:t>
            </a:r>
          </a:p>
        </p:txBody>
      </p:sp>
      <p:sp>
        <p:nvSpPr>
          <p:cNvPr id="8" name="TextBox 7"/>
          <p:cNvSpPr txBox="1"/>
          <p:nvPr/>
        </p:nvSpPr>
        <p:spPr>
          <a:xfrm>
            <a:off x="3401568" y="1847088"/>
            <a:ext cx="2578608" cy="292608"/>
          </a:xfrm>
          <a:prstGeom prst="rect">
            <a:avLst/>
          </a:prstGeom>
          <a:noFill/>
        </p:spPr>
        <p:txBody>
          <a:bodyPr wrap="square" lIns="0" rIns="0" tIns="0" bIns="0">
            <a:spAutoFit/>
          </a:bodyPr>
          <a:lstStyle/>
          <a:p>
            <a:pPr>
              <a:spcAft>
                <a:spcPts val="500"/>
              </a:spcAft>
              <a:defRPr sz="1400" b="1">
                <a:solidFill>
                  <a:srgbClr val="066B67"/>
                </a:solidFill>
                <a:latin typeface="Aptos"/>
              </a:defRPr>
            </a:pPr>
            <a:r>
              <a:t>02</a:t>
            </a:r>
          </a:p>
        </p:txBody>
      </p:sp>
      <p:sp>
        <p:nvSpPr>
          <p:cNvPr id="9" name="TextBox 8"/>
          <p:cNvSpPr txBox="1"/>
          <p:nvPr/>
        </p:nvSpPr>
        <p:spPr>
          <a:xfrm>
            <a:off x="3401568" y="2267712"/>
            <a:ext cx="2560320" cy="914400"/>
          </a:xfrm>
          <a:prstGeom prst="rect">
            <a:avLst/>
          </a:prstGeom>
          <a:noFill/>
        </p:spPr>
        <p:txBody>
          <a:bodyPr wrap="square" lIns="0" rIns="0" tIns="0" bIns="0">
            <a:spAutoFit/>
          </a:bodyPr>
          <a:lstStyle/>
          <a:p>
            <a:pPr>
              <a:spcAft>
                <a:spcPts val="500"/>
              </a:spcAft>
              <a:defRPr sz="2000" b="1">
                <a:solidFill>
                  <a:srgbClr val="172C43"/>
                </a:solidFill>
                <a:latin typeface="Aptos"/>
              </a:defRPr>
            </a:pPr>
            <a:r>
              <a:t>Managed learning process</a:t>
            </a:r>
          </a:p>
        </p:txBody>
      </p:sp>
      <p:sp>
        <p:nvSpPr>
          <p:cNvPr id="10" name="TextBox 9"/>
          <p:cNvSpPr txBox="1"/>
          <p:nvPr/>
        </p:nvSpPr>
        <p:spPr>
          <a:xfrm>
            <a:off x="6254496" y="1847088"/>
            <a:ext cx="2578608" cy="292608"/>
          </a:xfrm>
          <a:prstGeom prst="rect">
            <a:avLst/>
          </a:prstGeom>
          <a:noFill/>
        </p:spPr>
        <p:txBody>
          <a:bodyPr wrap="square" lIns="0" rIns="0" tIns="0" bIns="0">
            <a:spAutoFit/>
          </a:bodyPr>
          <a:lstStyle/>
          <a:p>
            <a:pPr>
              <a:spcAft>
                <a:spcPts val="500"/>
              </a:spcAft>
              <a:defRPr sz="1400" b="1">
                <a:solidFill>
                  <a:srgbClr val="066B67"/>
                </a:solidFill>
                <a:latin typeface="Aptos"/>
              </a:defRPr>
            </a:pPr>
            <a:r>
              <a:t>03</a:t>
            </a:r>
          </a:p>
        </p:txBody>
      </p:sp>
      <p:sp>
        <p:nvSpPr>
          <p:cNvPr id="11" name="TextBox 10"/>
          <p:cNvSpPr txBox="1"/>
          <p:nvPr/>
        </p:nvSpPr>
        <p:spPr>
          <a:xfrm>
            <a:off x="6254496" y="2267712"/>
            <a:ext cx="2560320" cy="914400"/>
          </a:xfrm>
          <a:prstGeom prst="rect">
            <a:avLst/>
          </a:prstGeom>
          <a:noFill/>
        </p:spPr>
        <p:txBody>
          <a:bodyPr wrap="square" lIns="0" rIns="0" tIns="0" bIns="0">
            <a:spAutoFit/>
          </a:bodyPr>
          <a:lstStyle/>
          <a:p>
            <a:pPr>
              <a:spcAft>
                <a:spcPts val="500"/>
              </a:spcAft>
              <a:defRPr sz="2000" b="1">
                <a:solidFill>
                  <a:srgbClr val="172C43"/>
                </a:solidFill>
                <a:latin typeface="Aptos"/>
              </a:defRPr>
            </a:pPr>
            <a:r>
              <a:t>Per-monitor synthesized entries</a:t>
            </a:r>
          </a:p>
        </p:txBody>
      </p:sp>
      <p:sp>
        <p:nvSpPr>
          <p:cNvPr id="12" name="TextBox 11"/>
          <p:cNvSpPr txBox="1"/>
          <p:nvPr/>
        </p:nvSpPr>
        <p:spPr>
          <a:xfrm>
            <a:off x="9107424" y="1847088"/>
            <a:ext cx="2578608" cy="292608"/>
          </a:xfrm>
          <a:prstGeom prst="rect">
            <a:avLst/>
          </a:prstGeom>
          <a:noFill/>
        </p:spPr>
        <p:txBody>
          <a:bodyPr wrap="square" lIns="0" rIns="0" tIns="0" bIns="0">
            <a:spAutoFit/>
          </a:bodyPr>
          <a:lstStyle/>
          <a:p>
            <a:pPr>
              <a:spcAft>
                <a:spcPts val="500"/>
              </a:spcAft>
              <a:defRPr sz="1400" b="1">
                <a:solidFill>
                  <a:srgbClr val="066B67"/>
                </a:solidFill>
                <a:latin typeface="Aptos"/>
              </a:defRPr>
            </a:pPr>
            <a:r>
              <a:t>04</a:t>
            </a:r>
          </a:p>
        </p:txBody>
      </p:sp>
      <p:sp>
        <p:nvSpPr>
          <p:cNvPr id="13" name="TextBox 12"/>
          <p:cNvSpPr txBox="1"/>
          <p:nvPr/>
        </p:nvSpPr>
        <p:spPr>
          <a:xfrm>
            <a:off x="9107424" y="2267712"/>
            <a:ext cx="2560320" cy="914400"/>
          </a:xfrm>
          <a:prstGeom prst="rect">
            <a:avLst/>
          </a:prstGeom>
          <a:noFill/>
        </p:spPr>
        <p:txBody>
          <a:bodyPr wrap="square" lIns="0" rIns="0" tIns="0" bIns="0">
            <a:spAutoFit/>
          </a:bodyPr>
          <a:lstStyle/>
          <a:p>
            <a:pPr>
              <a:spcAft>
                <a:spcPts val="500"/>
              </a:spcAft>
              <a:defRPr sz="2000" b="1">
                <a:solidFill>
                  <a:srgbClr val="172C43"/>
                </a:solidFill>
                <a:latin typeface="Aptos"/>
              </a:defRPr>
            </a:pPr>
            <a:r>
              <a:t>Later investigation context</a:t>
            </a:r>
          </a:p>
        </p:txBody>
      </p:sp>
      <p:sp>
        <p:nvSpPr>
          <p:cNvPr id="14" name="TextBox 13"/>
          <p:cNvSpPr txBox="1"/>
          <p:nvPr/>
        </p:nvSpPr>
        <p:spPr>
          <a:xfrm>
            <a:off x="548640" y="3456432"/>
            <a:ext cx="5486400" cy="274320"/>
          </a:xfrm>
          <a:prstGeom prst="rect">
            <a:avLst/>
          </a:prstGeom>
          <a:noFill/>
        </p:spPr>
        <p:txBody>
          <a:bodyPr wrap="square" lIns="0" rIns="0" tIns="0" bIns="0">
            <a:spAutoFit/>
          </a:bodyPr>
          <a:lstStyle/>
          <a:p>
            <a:pPr>
              <a:spcAft>
                <a:spcPts val="500"/>
              </a:spcAft>
              <a:defRPr sz="1200" b="1">
                <a:solidFill>
                  <a:srgbClr val="066B67"/>
                </a:solidFill>
                <a:latin typeface="Aptos"/>
              </a:defRPr>
            </a:pPr>
            <a:r>
              <a:t>DOCUMENTED OPERATION</a:t>
            </a:r>
          </a:p>
        </p:txBody>
      </p:sp>
      <p:sp>
        <p:nvSpPr>
          <p:cNvPr id="15" name="TextBox 14"/>
          <p:cNvSpPr txBox="1"/>
          <p:nvPr/>
        </p:nvSpPr>
        <p:spPr>
          <a:xfrm>
            <a:off x="548640" y="3858768"/>
            <a:ext cx="5532120" cy="1920240"/>
          </a:xfrm>
          <a:prstGeom prst="rect">
            <a:avLst/>
          </a:prstGeom>
          <a:noFill/>
        </p:spPr>
        <p:txBody>
          <a:bodyPr wrap="square" lIns="0" rIns="0" tIns="0" bIns="0">
            <a:spAutoFit/>
          </a:bodyPr>
          <a:lstStyle/>
          <a:p>
            <a:pPr>
              <a:spcAft>
                <a:spcPts val="500"/>
              </a:spcAft>
              <a:defRPr sz="1800" b="0">
                <a:solidFill>
                  <a:srgbClr val="172C43"/>
                </a:solidFill>
                <a:latin typeface="Aptos"/>
              </a:defRPr>
            </a:pPr>
            <a:r>
              <a:t>The monitors store groups recurring cause history by alarm or metric. The documented daily learning process runs when there are investigations within the preceding two weeks; it retains per-investigation evidence.</a:t>
            </a:r>
          </a:p>
        </p:txBody>
      </p:sp>
      <p:sp>
        <p:nvSpPr>
          <p:cNvPr id="16" name="TextBox 15"/>
          <p:cNvSpPr txBox="1"/>
          <p:nvPr/>
        </p:nvSpPr>
        <p:spPr>
          <a:xfrm>
            <a:off x="6400800" y="3456432"/>
            <a:ext cx="5212080" cy="274320"/>
          </a:xfrm>
          <a:prstGeom prst="rect">
            <a:avLst/>
          </a:prstGeom>
          <a:noFill/>
        </p:spPr>
        <p:txBody>
          <a:bodyPr wrap="square" lIns="0" rIns="0" tIns="0" bIns="0">
            <a:spAutoFit/>
          </a:bodyPr>
          <a:lstStyle/>
          <a:p>
            <a:pPr>
              <a:spcAft>
                <a:spcPts val="500"/>
              </a:spcAft>
              <a:defRPr sz="1200" b="1">
                <a:solidFill>
                  <a:srgbClr val="066B67"/>
                </a:solidFill>
                <a:latin typeface="Aptos"/>
              </a:defRPr>
            </a:pPr>
            <a:r>
              <a:t>STATE AND LIFECYCLE</a:t>
            </a:r>
          </a:p>
        </p:txBody>
      </p:sp>
      <p:sp>
        <p:nvSpPr>
          <p:cNvPr id="17" name="TextBox 16"/>
          <p:cNvSpPr txBox="1"/>
          <p:nvPr/>
        </p:nvSpPr>
        <p:spPr>
          <a:xfrm>
            <a:off x="6400800" y="3858768"/>
            <a:ext cx="5120640" cy="1920240"/>
          </a:xfrm>
          <a:prstGeom prst="rect">
            <a:avLst/>
          </a:prstGeom>
          <a:noFill/>
        </p:spPr>
        <p:txBody>
          <a:bodyPr wrap="square" lIns="0" rIns="0" tIns="0" bIns="0">
            <a:spAutoFit/>
          </a:bodyPr>
          <a:lstStyle/>
          <a:p>
            <a:pPr>
              <a:spcAft>
                <a:spcPts val="500"/>
              </a:spcAft>
              <a:defRPr sz="1800" b="0">
                <a:solidFill>
                  <a:srgbClr val="172C43"/>
                </a:solidFill>
                <a:latin typeface="Aptos"/>
              </a:defRPr>
            </a:pPr>
            <a:r>
              <a:t>Entries without updates for two weeks are removed; capacity pressure removes the oldest item. This store is bounded operational context, not an incident archive.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TextBox 1"/>
          <p:cNvSpPr txBox="1"/>
          <p:nvPr/>
        </p:nvSpPr>
        <p:spPr>
          <a:xfrm>
            <a:off x="548640" y="256032"/>
            <a:ext cx="10972800" cy="274320"/>
          </a:xfrm>
          <a:prstGeom prst="rect">
            <a:avLst/>
          </a:prstGeom>
          <a:noFill/>
        </p:spPr>
        <p:txBody>
          <a:bodyPr wrap="square" lIns="0" rIns="0" tIns="0" bIns="0">
            <a:spAutoFit/>
          </a:bodyPr>
          <a:lstStyle/>
          <a:p>
            <a:pPr>
              <a:spcAft>
                <a:spcPts val="500"/>
              </a:spcAft>
              <a:defRPr sz="1100" b="1">
                <a:solidFill>
                  <a:srgbClr val="066B67"/>
                </a:solidFill>
                <a:latin typeface="Aptos"/>
              </a:defRPr>
            </a:pPr>
            <a:r>
              <a:t>AWS DEVOPS AGENT / PLATFORM REFERENCE</a:t>
            </a:r>
          </a:p>
        </p:txBody>
      </p:sp>
      <p:sp>
        <p:nvSpPr>
          <p:cNvPr id="3" name="TextBox 2"/>
          <p:cNvSpPr txBox="1"/>
          <p:nvPr/>
        </p:nvSpPr>
        <p:spPr>
          <a:xfrm>
            <a:off x="548640" y="777240"/>
            <a:ext cx="11064240" cy="914400"/>
          </a:xfrm>
          <a:prstGeom prst="rect">
            <a:avLst/>
          </a:prstGeom>
          <a:noFill/>
        </p:spPr>
        <p:txBody>
          <a:bodyPr wrap="square" lIns="0" rIns="0" tIns="0" bIns="0">
            <a:spAutoFit/>
          </a:bodyPr>
          <a:lstStyle/>
          <a:p>
            <a:pPr>
              <a:spcAft>
                <a:spcPts val="500"/>
              </a:spcAft>
              <a:defRPr sz="2900" b="1">
                <a:solidFill>
                  <a:srgbClr val="172C43"/>
                </a:solidFill>
                <a:latin typeface="Aptos"/>
              </a:defRPr>
            </a:pPr>
            <a:r>
              <a:t>Recurring-monitor knowledge production — configuration</a:t>
            </a:r>
          </a:p>
        </p:txBody>
      </p:sp>
      <p:sp>
        <p:nvSpPr>
          <p:cNvPr id="4" name="TextBox 3"/>
          <p:cNvSpPr txBox="1"/>
          <p:nvPr/>
        </p:nvSpPr>
        <p:spPr>
          <a:xfrm>
            <a:off x="548640" y="6400800"/>
            <a:ext cx="10698480" cy="237744"/>
          </a:xfrm>
          <a:prstGeom prst="rect">
            <a:avLst/>
          </a:prstGeom>
          <a:noFill/>
        </p:spPr>
        <p:txBody>
          <a:bodyPr wrap="square" lIns="0" rIns="0" tIns="0" bIns="0">
            <a:spAutoFit/>
          </a:bodyPr>
          <a:lstStyle/>
          <a:p>
            <a:pPr>
              <a:spcAft>
                <a:spcPts val="500"/>
              </a:spcAft>
              <a:defRPr sz="1000" b="0">
                <a:solidFill>
                  <a:srgbClr val="536579"/>
                </a:solidFill>
                <a:latin typeface="Aptos"/>
              </a:defRPr>
            </a:pPr>
            <a:r>
              <a:t>D-M01 · Enablement and proposed verification · Untimed</a:t>
            </a:r>
          </a:p>
        </p:txBody>
      </p:sp>
      <p:sp>
        <p:nvSpPr>
          <p:cNvPr id="5" name="TextBox 4"/>
          <p:cNvSpPr txBox="1"/>
          <p:nvPr/>
        </p:nvSpPr>
        <p:spPr>
          <a:xfrm>
            <a:off x="11292840" y="6400800"/>
            <a:ext cx="320040" cy="237744"/>
          </a:xfrm>
          <a:prstGeom prst="rect">
            <a:avLst/>
          </a:prstGeom>
          <a:noFill/>
        </p:spPr>
        <p:txBody>
          <a:bodyPr wrap="square" lIns="0" rIns="0" tIns="0" bIns="0">
            <a:spAutoFit/>
          </a:bodyPr>
          <a:lstStyle/>
          <a:p>
            <a:pPr>
              <a:spcAft>
                <a:spcPts val="500"/>
              </a:spcAft>
              <a:defRPr sz="1000" b="0">
                <a:solidFill>
                  <a:srgbClr val="172C43"/>
                </a:solidFill>
                <a:latin typeface="Aptos"/>
              </a:defRPr>
            </a:pPr>
            <a:r>
              <a:t>15</a:t>
            </a:r>
          </a:p>
        </p:txBody>
      </p:sp>
      <p:sp>
        <p:nvSpPr>
          <p:cNvPr id="6" name="TextBox 5"/>
          <p:cNvSpPr txBox="1"/>
          <p:nvPr/>
        </p:nvSpPr>
        <p:spPr>
          <a:xfrm>
            <a:off x="548640" y="1874519"/>
            <a:ext cx="365760" cy="365760"/>
          </a:xfrm>
          <a:prstGeom prst="rect">
            <a:avLst/>
          </a:prstGeom>
          <a:noFill/>
        </p:spPr>
        <p:txBody>
          <a:bodyPr wrap="square" lIns="0" rIns="0" tIns="0" bIns="0">
            <a:spAutoFit/>
          </a:bodyPr>
          <a:lstStyle/>
          <a:p>
            <a:pPr>
              <a:spcAft>
                <a:spcPts val="500"/>
              </a:spcAft>
              <a:defRPr sz="1400" b="1">
                <a:solidFill>
                  <a:srgbClr val="066B67"/>
                </a:solidFill>
                <a:latin typeface="Aptos"/>
              </a:defRPr>
            </a:pPr>
            <a:r>
              <a:t>01</a:t>
            </a:r>
          </a:p>
        </p:txBody>
      </p:sp>
      <p:sp>
        <p:nvSpPr>
          <p:cNvPr id="7" name="TextBox 6"/>
          <p:cNvSpPr txBox="1"/>
          <p:nvPr/>
        </p:nvSpPr>
        <p:spPr>
          <a:xfrm>
            <a:off x="1097280" y="1874519"/>
            <a:ext cx="4663440" cy="932688"/>
          </a:xfrm>
          <a:prstGeom prst="rect">
            <a:avLst/>
          </a:prstGeom>
          <a:noFill/>
        </p:spPr>
        <p:txBody>
          <a:bodyPr wrap="square" lIns="0" rIns="0" tIns="0" bIns="0">
            <a:spAutoFit/>
          </a:bodyPr>
          <a:lstStyle/>
          <a:p>
            <a:pPr>
              <a:spcAft>
                <a:spcPts val="500"/>
              </a:spcAft>
              <a:defRPr sz="1800" b="0">
                <a:solidFill>
                  <a:srgbClr val="172C43"/>
                </a:solidFill>
                <a:latin typeface="Aptos"/>
              </a:defRPr>
            </a:pPr>
            <a:r>
              <a:t>Confirm the Agent Space has completed investigations and inspect the managed learning agent History.</a:t>
            </a:r>
          </a:p>
        </p:txBody>
      </p:sp>
      <p:sp>
        <p:nvSpPr>
          <p:cNvPr id="8" name="TextBox 7"/>
          <p:cNvSpPr txBox="1"/>
          <p:nvPr/>
        </p:nvSpPr>
        <p:spPr>
          <a:xfrm>
            <a:off x="548640" y="2971800"/>
            <a:ext cx="365760" cy="365760"/>
          </a:xfrm>
          <a:prstGeom prst="rect">
            <a:avLst/>
          </a:prstGeom>
          <a:noFill/>
        </p:spPr>
        <p:txBody>
          <a:bodyPr wrap="square" lIns="0" rIns="0" tIns="0" bIns="0">
            <a:spAutoFit/>
          </a:bodyPr>
          <a:lstStyle/>
          <a:p>
            <a:pPr>
              <a:spcAft>
                <a:spcPts val="500"/>
              </a:spcAft>
              <a:defRPr sz="1400" b="1">
                <a:solidFill>
                  <a:srgbClr val="066B67"/>
                </a:solidFill>
                <a:latin typeface="Aptos"/>
              </a:defRPr>
            </a:pPr>
            <a:r>
              <a:t>02</a:t>
            </a:r>
          </a:p>
        </p:txBody>
      </p:sp>
      <p:sp>
        <p:nvSpPr>
          <p:cNvPr id="9" name="TextBox 8"/>
          <p:cNvSpPr txBox="1"/>
          <p:nvPr/>
        </p:nvSpPr>
        <p:spPr>
          <a:xfrm>
            <a:off x="1097280" y="2971800"/>
            <a:ext cx="4663440" cy="932688"/>
          </a:xfrm>
          <a:prstGeom prst="rect">
            <a:avLst/>
          </a:prstGeom>
          <a:noFill/>
        </p:spPr>
        <p:txBody>
          <a:bodyPr wrap="square" lIns="0" rIns="0" tIns="0" bIns="0">
            <a:spAutoFit/>
          </a:bodyPr>
          <a:lstStyle/>
          <a:p>
            <a:pPr>
              <a:spcAft>
                <a:spcPts val="500"/>
              </a:spcAft>
              <a:defRPr sz="1800" b="0">
                <a:solidFill>
                  <a:srgbClr val="172C43"/>
                </a:solidFill>
                <a:latin typeface="Aptos"/>
              </a:defRPr>
            </a:pPr>
            <a:r>
              <a:t>Open Knowledge → Memories and inspect the monitors store and matching entry.</a:t>
            </a:r>
          </a:p>
        </p:txBody>
      </p:sp>
      <p:sp>
        <p:nvSpPr>
          <p:cNvPr id="10" name="TextBox 9"/>
          <p:cNvSpPr txBox="1"/>
          <p:nvPr/>
        </p:nvSpPr>
        <p:spPr>
          <a:xfrm>
            <a:off x="548640" y="4069079"/>
            <a:ext cx="365760" cy="365760"/>
          </a:xfrm>
          <a:prstGeom prst="rect">
            <a:avLst/>
          </a:prstGeom>
          <a:noFill/>
        </p:spPr>
        <p:txBody>
          <a:bodyPr wrap="square" lIns="0" rIns="0" tIns="0" bIns="0">
            <a:spAutoFit/>
          </a:bodyPr>
          <a:lstStyle/>
          <a:p>
            <a:pPr>
              <a:spcAft>
                <a:spcPts val="500"/>
              </a:spcAft>
              <a:defRPr sz="1400" b="1">
                <a:solidFill>
                  <a:srgbClr val="066B67"/>
                </a:solidFill>
                <a:latin typeface="Aptos"/>
              </a:defRPr>
            </a:pPr>
            <a:r>
              <a:t>03</a:t>
            </a:r>
          </a:p>
        </p:txBody>
      </p:sp>
      <p:sp>
        <p:nvSpPr>
          <p:cNvPr id="11" name="TextBox 10"/>
          <p:cNvSpPr txBox="1"/>
          <p:nvPr/>
        </p:nvSpPr>
        <p:spPr>
          <a:xfrm>
            <a:off x="1097280" y="4069079"/>
            <a:ext cx="4663440" cy="932688"/>
          </a:xfrm>
          <a:prstGeom prst="rect">
            <a:avLst/>
          </a:prstGeom>
          <a:noFill/>
        </p:spPr>
        <p:txBody>
          <a:bodyPr wrap="square" lIns="0" rIns="0" tIns="0" bIns="0">
            <a:spAutoFit/>
          </a:bodyPr>
          <a:lstStyle/>
          <a:p>
            <a:pPr>
              <a:spcAft>
                <a:spcPts val="500"/>
              </a:spcAft>
              <a:defRPr sz="1800" b="0">
                <a:solidFill>
                  <a:srgbClr val="172C43"/>
                </a:solidFill>
                <a:latin typeface="Aptos"/>
              </a:defRPr>
            </a:pPr>
            <a:r>
              <a:t>Confirm the store and entry are active; monitor memory is documented as enabled by default.</a:t>
            </a:r>
          </a:p>
        </p:txBody>
      </p:sp>
      <p:sp>
        <p:nvSpPr>
          <p:cNvPr id="12" name="TextBox 11"/>
          <p:cNvSpPr txBox="1"/>
          <p:nvPr/>
        </p:nvSpPr>
        <p:spPr>
          <a:xfrm>
            <a:off x="6309360" y="1874519"/>
            <a:ext cx="5212080" cy="274320"/>
          </a:xfrm>
          <a:prstGeom prst="rect">
            <a:avLst/>
          </a:prstGeom>
          <a:noFill/>
        </p:spPr>
        <p:txBody>
          <a:bodyPr wrap="square" lIns="0" rIns="0" tIns="0" bIns="0">
            <a:spAutoFit/>
          </a:bodyPr>
          <a:lstStyle/>
          <a:p>
            <a:pPr>
              <a:spcAft>
                <a:spcPts val="500"/>
              </a:spcAft>
              <a:defRPr sz="1200" b="1">
                <a:solidFill>
                  <a:srgbClr val="066B67"/>
                </a:solidFill>
                <a:latin typeface="Aptos"/>
              </a:defRPr>
            </a:pPr>
            <a:r>
              <a:t>CONTROLS</a:t>
            </a:r>
          </a:p>
        </p:txBody>
      </p:sp>
      <p:sp>
        <p:nvSpPr>
          <p:cNvPr id="13" name="TextBox 12"/>
          <p:cNvSpPr txBox="1"/>
          <p:nvPr/>
        </p:nvSpPr>
        <p:spPr>
          <a:xfrm>
            <a:off x="6309360" y="2267712"/>
            <a:ext cx="5212080" cy="1234440"/>
          </a:xfrm>
          <a:prstGeom prst="rect">
            <a:avLst/>
          </a:prstGeom>
          <a:noFill/>
        </p:spPr>
        <p:txBody>
          <a:bodyPr wrap="square" lIns="0" rIns="0" tIns="0" bIns="0">
            <a:spAutoFit/>
          </a:bodyPr>
          <a:lstStyle/>
          <a:p>
            <a:pPr>
              <a:spcAft>
                <a:spcPts val="500"/>
              </a:spcAft>
              <a:defRPr sz="1700" b="0">
                <a:solidFill>
                  <a:srgbClr val="172C43"/>
                </a:solidFill>
                <a:latin typeface="Aptos"/>
              </a:defRPr>
            </a:pPr>
            <a:r>
              <a:t>Keep current telemetry authoritative when it contradicts historical patterns. Learning runs and data retention are not a model-training control.</a:t>
            </a:r>
          </a:p>
        </p:txBody>
      </p:sp>
      <p:sp>
        <p:nvSpPr>
          <p:cNvPr id="14" name="TextBox 13"/>
          <p:cNvSpPr txBox="1"/>
          <p:nvPr/>
        </p:nvSpPr>
        <p:spPr>
          <a:xfrm>
            <a:off x="6309360" y="3749039"/>
            <a:ext cx="5212080" cy="274320"/>
          </a:xfrm>
          <a:prstGeom prst="rect">
            <a:avLst/>
          </a:prstGeom>
          <a:noFill/>
        </p:spPr>
        <p:txBody>
          <a:bodyPr wrap="square" lIns="0" rIns="0" tIns="0" bIns="0">
            <a:spAutoFit/>
          </a:bodyPr>
          <a:lstStyle/>
          <a:p>
            <a:pPr>
              <a:spcAft>
                <a:spcPts val="500"/>
              </a:spcAft>
              <a:defRPr sz="1100" b="1">
                <a:solidFill>
                  <a:srgbClr val="066B67"/>
                </a:solidFill>
                <a:latin typeface="Aptos"/>
              </a:defRPr>
            </a:pPr>
            <a:r>
              <a:t>PROPOSED VERIFICATION — NOT EXECUTED</a:t>
            </a:r>
          </a:p>
        </p:txBody>
      </p:sp>
      <p:sp>
        <p:nvSpPr>
          <p:cNvPr id="15" name="TextBox 14"/>
          <p:cNvSpPr txBox="1"/>
          <p:nvPr/>
        </p:nvSpPr>
        <p:spPr>
          <a:xfrm>
            <a:off x="6309360" y="4160520"/>
            <a:ext cx="5212080" cy="1691640"/>
          </a:xfrm>
          <a:prstGeom prst="rect">
            <a:avLst/>
          </a:prstGeom>
          <a:noFill/>
        </p:spPr>
        <p:txBody>
          <a:bodyPr wrap="square" lIns="0" rIns="0" tIns="0" bIns="0">
            <a:spAutoFit/>
          </a:bodyPr>
          <a:lstStyle/>
          <a:p>
            <a:pPr>
              <a:spcAft>
                <a:spcPts val="500"/>
              </a:spcAft>
              <a:defRPr sz="1700" b="0">
                <a:solidFill>
                  <a:srgbClr val="172C43"/>
                </a:solidFill>
                <a:latin typeface="Aptos"/>
              </a:defRPr>
            </a:pPr>
            <a:r>
              <a:t>Proposed check: retain an earlier verified cause, inspect the resulting entry, then examine a later incident with a different cause but similar symptom. Distinguish entry existence, observable retrieval and diagnosis correctness.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TextBox 1"/>
          <p:cNvSpPr txBox="1"/>
          <p:nvPr/>
        </p:nvSpPr>
        <p:spPr>
          <a:xfrm>
            <a:off x="548640" y="256032"/>
            <a:ext cx="10972800" cy="274320"/>
          </a:xfrm>
          <a:prstGeom prst="rect">
            <a:avLst/>
          </a:prstGeom>
          <a:noFill/>
        </p:spPr>
        <p:txBody>
          <a:bodyPr wrap="square" lIns="0" rIns="0" tIns="0" bIns="0">
            <a:spAutoFit/>
          </a:bodyPr>
          <a:lstStyle/>
          <a:p>
            <a:pPr>
              <a:spcAft>
                <a:spcPts val="500"/>
              </a:spcAft>
              <a:defRPr sz="1100" b="1">
                <a:solidFill>
                  <a:srgbClr val="066B67"/>
                </a:solidFill>
                <a:latin typeface="Aptos"/>
              </a:defRPr>
            </a:pPr>
            <a:r>
              <a:t>AWS DEVOPS AGENT / PLATFORM REFERENCE</a:t>
            </a:r>
          </a:p>
        </p:txBody>
      </p:sp>
      <p:sp>
        <p:nvSpPr>
          <p:cNvPr id="3" name="TextBox 2"/>
          <p:cNvSpPr txBox="1"/>
          <p:nvPr/>
        </p:nvSpPr>
        <p:spPr>
          <a:xfrm>
            <a:off x="548640" y="777240"/>
            <a:ext cx="11064240" cy="914400"/>
          </a:xfrm>
          <a:prstGeom prst="rect">
            <a:avLst/>
          </a:prstGeom>
          <a:noFill/>
        </p:spPr>
        <p:txBody>
          <a:bodyPr wrap="square" lIns="0" rIns="0" tIns="0" bIns="0">
            <a:spAutoFit/>
          </a:bodyPr>
          <a:lstStyle/>
          <a:p>
            <a:pPr>
              <a:spcAft>
                <a:spcPts val="500"/>
              </a:spcAft>
              <a:defRPr sz="2900" b="1">
                <a:solidFill>
                  <a:srgbClr val="172C43"/>
                </a:solidFill>
                <a:latin typeface="Aptos"/>
              </a:defRPr>
            </a:pPr>
            <a:r>
              <a:t>Corrective-feedback reflections</a:t>
            </a:r>
          </a:p>
        </p:txBody>
      </p:sp>
      <p:sp>
        <p:nvSpPr>
          <p:cNvPr id="4" name="TextBox 3"/>
          <p:cNvSpPr txBox="1"/>
          <p:nvPr/>
        </p:nvSpPr>
        <p:spPr>
          <a:xfrm>
            <a:off x="548640" y="6400800"/>
            <a:ext cx="10698480" cy="237744"/>
          </a:xfrm>
          <a:prstGeom prst="rect">
            <a:avLst/>
          </a:prstGeom>
          <a:noFill/>
        </p:spPr>
        <p:txBody>
          <a:bodyPr wrap="square" lIns="0" rIns="0" tIns="0" bIns="0">
            <a:spAutoFit/>
          </a:bodyPr>
          <a:lstStyle/>
          <a:p>
            <a:pPr>
              <a:spcAft>
                <a:spcPts val="500"/>
              </a:spcAft>
              <a:defRPr sz="1000" b="0">
                <a:solidFill>
                  <a:srgbClr val="536579"/>
                </a:solidFill>
                <a:latin typeface="Aptos"/>
              </a:defRPr>
            </a:pPr>
            <a:r>
              <a:t>D-M02 · Process and retained state · Untimed</a:t>
            </a:r>
          </a:p>
        </p:txBody>
      </p:sp>
      <p:sp>
        <p:nvSpPr>
          <p:cNvPr id="5" name="TextBox 4"/>
          <p:cNvSpPr txBox="1"/>
          <p:nvPr/>
        </p:nvSpPr>
        <p:spPr>
          <a:xfrm>
            <a:off x="11292840" y="6400800"/>
            <a:ext cx="320040" cy="237744"/>
          </a:xfrm>
          <a:prstGeom prst="rect">
            <a:avLst/>
          </a:prstGeom>
          <a:noFill/>
        </p:spPr>
        <p:txBody>
          <a:bodyPr wrap="square" lIns="0" rIns="0" tIns="0" bIns="0">
            <a:spAutoFit/>
          </a:bodyPr>
          <a:lstStyle/>
          <a:p>
            <a:pPr>
              <a:spcAft>
                <a:spcPts val="500"/>
              </a:spcAft>
              <a:defRPr sz="1000" b="0">
                <a:solidFill>
                  <a:srgbClr val="172C43"/>
                </a:solidFill>
                <a:latin typeface="Aptos"/>
              </a:defRPr>
            </a:pPr>
            <a:r>
              <a:t>16</a:t>
            </a:r>
          </a:p>
        </p:txBody>
      </p:sp>
      <p:sp>
        <p:nvSpPr>
          <p:cNvPr id="6" name="TextBox 5"/>
          <p:cNvSpPr txBox="1"/>
          <p:nvPr/>
        </p:nvSpPr>
        <p:spPr>
          <a:xfrm>
            <a:off x="548640" y="1847088"/>
            <a:ext cx="2578608" cy="292608"/>
          </a:xfrm>
          <a:prstGeom prst="rect">
            <a:avLst/>
          </a:prstGeom>
          <a:noFill/>
        </p:spPr>
        <p:txBody>
          <a:bodyPr wrap="square" lIns="0" rIns="0" tIns="0" bIns="0">
            <a:spAutoFit/>
          </a:bodyPr>
          <a:lstStyle/>
          <a:p>
            <a:pPr>
              <a:spcAft>
                <a:spcPts val="500"/>
              </a:spcAft>
              <a:defRPr sz="1400" b="1">
                <a:solidFill>
                  <a:srgbClr val="066B67"/>
                </a:solidFill>
                <a:latin typeface="Aptos"/>
              </a:defRPr>
            </a:pPr>
            <a:r>
              <a:t>01</a:t>
            </a:r>
          </a:p>
        </p:txBody>
      </p:sp>
      <p:sp>
        <p:nvSpPr>
          <p:cNvPr id="7" name="TextBox 6"/>
          <p:cNvSpPr txBox="1"/>
          <p:nvPr/>
        </p:nvSpPr>
        <p:spPr>
          <a:xfrm>
            <a:off x="548640" y="2267712"/>
            <a:ext cx="2560320" cy="914400"/>
          </a:xfrm>
          <a:prstGeom prst="rect">
            <a:avLst/>
          </a:prstGeom>
          <a:noFill/>
        </p:spPr>
        <p:txBody>
          <a:bodyPr wrap="square" lIns="0" rIns="0" tIns="0" bIns="0">
            <a:spAutoFit/>
          </a:bodyPr>
          <a:lstStyle/>
          <a:p>
            <a:pPr>
              <a:spcAft>
                <a:spcPts val="500"/>
              </a:spcAft>
              <a:defRPr sz="2000" b="1">
                <a:solidFill>
                  <a:srgbClr val="172C43"/>
                </a:solidFill>
                <a:latin typeface="Aptos"/>
              </a:defRPr>
            </a:pPr>
            <a:r>
              <a:t>Completed diagnosis</a:t>
            </a:r>
          </a:p>
        </p:txBody>
      </p:sp>
      <p:sp>
        <p:nvSpPr>
          <p:cNvPr id="8" name="TextBox 7"/>
          <p:cNvSpPr txBox="1"/>
          <p:nvPr/>
        </p:nvSpPr>
        <p:spPr>
          <a:xfrm>
            <a:off x="3401568" y="1847088"/>
            <a:ext cx="2578608" cy="292608"/>
          </a:xfrm>
          <a:prstGeom prst="rect">
            <a:avLst/>
          </a:prstGeom>
          <a:noFill/>
        </p:spPr>
        <p:txBody>
          <a:bodyPr wrap="square" lIns="0" rIns="0" tIns="0" bIns="0">
            <a:spAutoFit/>
          </a:bodyPr>
          <a:lstStyle/>
          <a:p>
            <a:pPr>
              <a:spcAft>
                <a:spcPts val="500"/>
              </a:spcAft>
              <a:defRPr sz="1400" b="1">
                <a:solidFill>
                  <a:srgbClr val="066B67"/>
                </a:solidFill>
                <a:latin typeface="Aptos"/>
              </a:defRPr>
            </a:pPr>
            <a:r>
              <a:t>02</a:t>
            </a:r>
          </a:p>
        </p:txBody>
      </p:sp>
      <p:sp>
        <p:nvSpPr>
          <p:cNvPr id="9" name="TextBox 8"/>
          <p:cNvSpPr txBox="1"/>
          <p:nvPr/>
        </p:nvSpPr>
        <p:spPr>
          <a:xfrm>
            <a:off x="3401568" y="2267712"/>
            <a:ext cx="2560320" cy="914400"/>
          </a:xfrm>
          <a:prstGeom prst="rect">
            <a:avLst/>
          </a:prstGeom>
          <a:noFill/>
        </p:spPr>
        <p:txBody>
          <a:bodyPr wrap="square" lIns="0" rIns="0" tIns="0" bIns="0">
            <a:spAutoFit/>
          </a:bodyPr>
          <a:lstStyle/>
          <a:p>
            <a:pPr>
              <a:spcAft>
                <a:spcPts val="500"/>
              </a:spcAft>
              <a:defRPr sz="2000" b="1">
                <a:solidFill>
                  <a:srgbClr val="172C43"/>
                </a:solidFill>
                <a:latin typeface="Aptos"/>
              </a:defRPr>
            </a:pPr>
            <a:r>
              <a:t>Verified correction</a:t>
            </a:r>
          </a:p>
        </p:txBody>
      </p:sp>
      <p:sp>
        <p:nvSpPr>
          <p:cNvPr id="10" name="TextBox 9"/>
          <p:cNvSpPr txBox="1"/>
          <p:nvPr/>
        </p:nvSpPr>
        <p:spPr>
          <a:xfrm>
            <a:off x="6254496" y="1847088"/>
            <a:ext cx="2578608" cy="292608"/>
          </a:xfrm>
          <a:prstGeom prst="rect">
            <a:avLst/>
          </a:prstGeom>
          <a:noFill/>
        </p:spPr>
        <p:txBody>
          <a:bodyPr wrap="square" lIns="0" rIns="0" tIns="0" bIns="0">
            <a:spAutoFit/>
          </a:bodyPr>
          <a:lstStyle/>
          <a:p>
            <a:pPr>
              <a:spcAft>
                <a:spcPts val="500"/>
              </a:spcAft>
              <a:defRPr sz="1400" b="1">
                <a:solidFill>
                  <a:srgbClr val="066B67"/>
                </a:solidFill>
                <a:latin typeface="Aptos"/>
              </a:defRPr>
            </a:pPr>
            <a:r>
              <a:t>03</a:t>
            </a:r>
          </a:p>
        </p:txBody>
      </p:sp>
      <p:sp>
        <p:nvSpPr>
          <p:cNvPr id="11" name="TextBox 10"/>
          <p:cNvSpPr txBox="1"/>
          <p:nvPr/>
        </p:nvSpPr>
        <p:spPr>
          <a:xfrm>
            <a:off x="6254496" y="2267712"/>
            <a:ext cx="2560320" cy="914400"/>
          </a:xfrm>
          <a:prstGeom prst="rect">
            <a:avLst/>
          </a:prstGeom>
          <a:noFill/>
        </p:spPr>
        <p:txBody>
          <a:bodyPr wrap="square" lIns="0" rIns="0" tIns="0" bIns="0">
            <a:spAutoFit/>
          </a:bodyPr>
          <a:lstStyle/>
          <a:p>
            <a:pPr>
              <a:spcAft>
                <a:spcPts val="500"/>
              </a:spcAft>
              <a:defRPr sz="2000" b="1">
                <a:solidFill>
                  <a:srgbClr val="172C43"/>
                </a:solidFill>
                <a:latin typeface="Aptos"/>
              </a:defRPr>
            </a:pPr>
            <a:r>
              <a:t>Reflection memory</a:t>
            </a:r>
          </a:p>
        </p:txBody>
      </p:sp>
      <p:sp>
        <p:nvSpPr>
          <p:cNvPr id="12" name="TextBox 11"/>
          <p:cNvSpPr txBox="1"/>
          <p:nvPr/>
        </p:nvSpPr>
        <p:spPr>
          <a:xfrm>
            <a:off x="9107424" y="1847088"/>
            <a:ext cx="2578608" cy="292608"/>
          </a:xfrm>
          <a:prstGeom prst="rect">
            <a:avLst/>
          </a:prstGeom>
          <a:noFill/>
        </p:spPr>
        <p:txBody>
          <a:bodyPr wrap="square" lIns="0" rIns="0" tIns="0" bIns="0">
            <a:spAutoFit/>
          </a:bodyPr>
          <a:lstStyle/>
          <a:p>
            <a:pPr>
              <a:spcAft>
                <a:spcPts val="500"/>
              </a:spcAft>
              <a:defRPr sz="1400" b="1">
                <a:solidFill>
                  <a:srgbClr val="066B67"/>
                </a:solidFill>
                <a:latin typeface="Aptos"/>
              </a:defRPr>
            </a:pPr>
            <a:r>
              <a:t>04</a:t>
            </a:r>
          </a:p>
        </p:txBody>
      </p:sp>
      <p:sp>
        <p:nvSpPr>
          <p:cNvPr id="13" name="TextBox 12"/>
          <p:cNvSpPr txBox="1"/>
          <p:nvPr/>
        </p:nvSpPr>
        <p:spPr>
          <a:xfrm>
            <a:off x="9107424" y="2267712"/>
            <a:ext cx="2560320" cy="914400"/>
          </a:xfrm>
          <a:prstGeom prst="rect">
            <a:avLst/>
          </a:prstGeom>
          <a:noFill/>
        </p:spPr>
        <p:txBody>
          <a:bodyPr wrap="square" lIns="0" rIns="0" tIns="0" bIns="0">
            <a:spAutoFit/>
          </a:bodyPr>
          <a:lstStyle/>
          <a:p>
            <a:pPr>
              <a:spcAft>
                <a:spcPts val="500"/>
              </a:spcAft>
              <a:defRPr sz="2000" b="1">
                <a:solidFill>
                  <a:srgbClr val="172C43"/>
                </a:solidFill>
                <a:latin typeface="Aptos"/>
              </a:defRPr>
            </a:pPr>
            <a:r>
              <a:t>Future alarm investigation</a:t>
            </a:r>
          </a:p>
        </p:txBody>
      </p:sp>
      <p:sp>
        <p:nvSpPr>
          <p:cNvPr id="14" name="TextBox 13"/>
          <p:cNvSpPr txBox="1"/>
          <p:nvPr/>
        </p:nvSpPr>
        <p:spPr>
          <a:xfrm>
            <a:off x="548640" y="3456432"/>
            <a:ext cx="5486400" cy="274320"/>
          </a:xfrm>
          <a:prstGeom prst="rect">
            <a:avLst/>
          </a:prstGeom>
          <a:noFill/>
        </p:spPr>
        <p:txBody>
          <a:bodyPr wrap="square" lIns="0" rIns="0" tIns="0" bIns="0">
            <a:spAutoFit/>
          </a:bodyPr>
          <a:lstStyle/>
          <a:p>
            <a:pPr>
              <a:spcAft>
                <a:spcPts val="500"/>
              </a:spcAft>
              <a:defRPr sz="1200" b="1">
                <a:solidFill>
                  <a:srgbClr val="066B67"/>
                </a:solidFill>
                <a:latin typeface="Aptos"/>
              </a:defRPr>
            </a:pPr>
            <a:r>
              <a:t>DOCUMENTED OPERATION</a:t>
            </a:r>
          </a:p>
        </p:txBody>
      </p:sp>
      <p:sp>
        <p:nvSpPr>
          <p:cNvPr id="15" name="TextBox 14"/>
          <p:cNvSpPr txBox="1"/>
          <p:nvPr/>
        </p:nvSpPr>
        <p:spPr>
          <a:xfrm>
            <a:off x="548640" y="3858768"/>
            <a:ext cx="5532120" cy="1920240"/>
          </a:xfrm>
          <a:prstGeom prst="rect">
            <a:avLst/>
          </a:prstGeom>
          <a:noFill/>
        </p:spPr>
        <p:txBody>
          <a:bodyPr wrap="square" lIns="0" rIns="0" tIns="0" bIns="0">
            <a:spAutoFit/>
          </a:bodyPr>
          <a:lstStyle/>
          <a:p>
            <a:pPr>
              <a:spcAft>
                <a:spcPts val="500"/>
              </a:spcAft>
              <a:defRPr sz="1800" b="0">
                <a:solidFill>
                  <a:srgbClr val="172C43"/>
                </a:solidFill>
                <a:latin typeface="Aptos"/>
              </a:defRPr>
            </a:pPr>
            <a:r>
              <a:t>The documented reflections store records lessons about a missed or incorrect cause. Feedback submission and recurring-monitor synthesis are different production paths.</a:t>
            </a:r>
          </a:p>
        </p:txBody>
      </p:sp>
      <p:sp>
        <p:nvSpPr>
          <p:cNvPr id="16" name="TextBox 15"/>
          <p:cNvSpPr txBox="1"/>
          <p:nvPr/>
        </p:nvSpPr>
        <p:spPr>
          <a:xfrm>
            <a:off x="6400800" y="3456432"/>
            <a:ext cx="5212080" cy="274320"/>
          </a:xfrm>
          <a:prstGeom prst="rect">
            <a:avLst/>
          </a:prstGeom>
          <a:noFill/>
        </p:spPr>
        <p:txBody>
          <a:bodyPr wrap="square" lIns="0" rIns="0" tIns="0" bIns="0">
            <a:spAutoFit/>
          </a:bodyPr>
          <a:lstStyle/>
          <a:p>
            <a:pPr>
              <a:spcAft>
                <a:spcPts val="500"/>
              </a:spcAft>
              <a:defRPr sz="1200" b="1">
                <a:solidFill>
                  <a:srgbClr val="066B67"/>
                </a:solidFill>
                <a:latin typeface="Aptos"/>
              </a:defRPr>
            </a:pPr>
            <a:r>
              <a:t>STATE AND LIFECYCLE</a:t>
            </a:r>
          </a:p>
        </p:txBody>
      </p:sp>
      <p:sp>
        <p:nvSpPr>
          <p:cNvPr id="17" name="TextBox 16"/>
          <p:cNvSpPr txBox="1"/>
          <p:nvPr/>
        </p:nvSpPr>
        <p:spPr>
          <a:xfrm>
            <a:off x="6400800" y="3858768"/>
            <a:ext cx="5120640" cy="1920240"/>
          </a:xfrm>
          <a:prstGeom prst="rect">
            <a:avLst/>
          </a:prstGeom>
          <a:noFill/>
        </p:spPr>
        <p:txBody>
          <a:bodyPr wrap="square" lIns="0" rIns="0" tIns="0" bIns="0">
            <a:spAutoFit/>
          </a:bodyPr>
          <a:lstStyle/>
          <a:p>
            <a:pPr>
              <a:spcAft>
                <a:spcPts val="500"/>
              </a:spcAft>
              <a:defRPr sz="1800" b="0">
                <a:solidFill>
                  <a:srgbClr val="172C43"/>
                </a:solidFill>
                <a:latin typeface="Aptos"/>
              </a:defRPr>
            </a:pPr>
            <a:r>
              <a:t>Feedback can be updated; the latest submission replaces prior feedback for that investigation. Do not assume that every downstream state is immediately refreshed.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TextBox 1"/>
          <p:cNvSpPr txBox="1"/>
          <p:nvPr/>
        </p:nvSpPr>
        <p:spPr>
          <a:xfrm>
            <a:off x="548640" y="256032"/>
            <a:ext cx="10972800" cy="274320"/>
          </a:xfrm>
          <a:prstGeom prst="rect">
            <a:avLst/>
          </a:prstGeom>
          <a:noFill/>
        </p:spPr>
        <p:txBody>
          <a:bodyPr wrap="square" lIns="0" rIns="0" tIns="0" bIns="0">
            <a:spAutoFit/>
          </a:bodyPr>
          <a:lstStyle/>
          <a:p>
            <a:pPr>
              <a:spcAft>
                <a:spcPts val="500"/>
              </a:spcAft>
              <a:defRPr sz="1100" b="1">
                <a:solidFill>
                  <a:srgbClr val="066B67"/>
                </a:solidFill>
                <a:latin typeface="Aptos"/>
              </a:defRPr>
            </a:pPr>
            <a:r>
              <a:t>AWS DEVOPS AGENT / PLATFORM REFERENCE</a:t>
            </a:r>
          </a:p>
        </p:txBody>
      </p:sp>
      <p:sp>
        <p:nvSpPr>
          <p:cNvPr id="3" name="TextBox 2"/>
          <p:cNvSpPr txBox="1"/>
          <p:nvPr/>
        </p:nvSpPr>
        <p:spPr>
          <a:xfrm>
            <a:off x="548640" y="777240"/>
            <a:ext cx="11064240" cy="914400"/>
          </a:xfrm>
          <a:prstGeom prst="rect">
            <a:avLst/>
          </a:prstGeom>
          <a:noFill/>
        </p:spPr>
        <p:txBody>
          <a:bodyPr wrap="square" lIns="0" rIns="0" tIns="0" bIns="0">
            <a:spAutoFit/>
          </a:bodyPr>
          <a:lstStyle/>
          <a:p>
            <a:pPr>
              <a:spcAft>
                <a:spcPts val="500"/>
              </a:spcAft>
              <a:defRPr sz="2900" b="1">
                <a:solidFill>
                  <a:srgbClr val="172C43"/>
                </a:solidFill>
                <a:latin typeface="Aptos"/>
              </a:defRPr>
            </a:pPr>
            <a:r>
              <a:t>Corrective-feedback reflections — configuration</a:t>
            </a:r>
          </a:p>
        </p:txBody>
      </p:sp>
      <p:sp>
        <p:nvSpPr>
          <p:cNvPr id="4" name="TextBox 3"/>
          <p:cNvSpPr txBox="1"/>
          <p:nvPr/>
        </p:nvSpPr>
        <p:spPr>
          <a:xfrm>
            <a:off x="548640" y="6400800"/>
            <a:ext cx="10698480" cy="237744"/>
          </a:xfrm>
          <a:prstGeom prst="rect">
            <a:avLst/>
          </a:prstGeom>
          <a:noFill/>
        </p:spPr>
        <p:txBody>
          <a:bodyPr wrap="square" lIns="0" rIns="0" tIns="0" bIns="0">
            <a:spAutoFit/>
          </a:bodyPr>
          <a:lstStyle/>
          <a:p>
            <a:pPr>
              <a:spcAft>
                <a:spcPts val="500"/>
              </a:spcAft>
              <a:defRPr sz="1000" b="0">
                <a:solidFill>
                  <a:srgbClr val="536579"/>
                </a:solidFill>
                <a:latin typeface="Aptos"/>
              </a:defRPr>
            </a:pPr>
            <a:r>
              <a:t>D-M02 · Enablement and proposed verification · Untimed</a:t>
            </a:r>
          </a:p>
        </p:txBody>
      </p:sp>
      <p:sp>
        <p:nvSpPr>
          <p:cNvPr id="5" name="TextBox 4"/>
          <p:cNvSpPr txBox="1"/>
          <p:nvPr/>
        </p:nvSpPr>
        <p:spPr>
          <a:xfrm>
            <a:off x="11292840" y="6400800"/>
            <a:ext cx="320040" cy="237744"/>
          </a:xfrm>
          <a:prstGeom prst="rect">
            <a:avLst/>
          </a:prstGeom>
          <a:noFill/>
        </p:spPr>
        <p:txBody>
          <a:bodyPr wrap="square" lIns="0" rIns="0" tIns="0" bIns="0">
            <a:spAutoFit/>
          </a:bodyPr>
          <a:lstStyle/>
          <a:p>
            <a:pPr>
              <a:spcAft>
                <a:spcPts val="500"/>
              </a:spcAft>
              <a:defRPr sz="1000" b="0">
                <a:solidFill>
                  <a:srgbClr val="172C43"/>
                </a:solidFill>
                <a:latin typeface="Aptos"/>
              </a:defRPr>
            </a:pPr>
            <a:r>
              <a:t>17</a:t>
            </a:r>
          </a:p>
        </p:txBody>
      </p:sp>
      <p:sp>
        <p:nvSpPr>
          <p:cNvPr id="6" name="TextBox 5"/>
          <p:cNvSpPr txBox="1"/>
          <p:nvPr/>
        </p:nvSpPr>
        <p:spPr>
          <a:xfrm>
            <a:off x="548640" y="1874519"/>
            <a:ext cx="365760" cy="365760"/>
          </a:xfrm>
          <a:prstGeom prst="rect">
            <a:avLst/>
          </a:prstGeom>
          <a:noFill/>
        </p:spPr>
        <p:txBody>
          <a:bodyPr wrap="square" lIns="0" rIns="0" tIns="0" bIns="0">
            <a:spAutoFit/>
          </a:bodyPr>
          <a:lstStyle/>
          <a:p>
            <a:pPr>
              <a:spcAft>
                <a:spcPts val="500"/>
              </a:spcAft>
              <a:defRPr sz="1400" b="1">
                <a:solidFill>
                  <a:srgbClr val="066B67"/>
                </a:solidFill>
                <a:latin typeface="Aptos"/>
              </a:defRPr>
            </a:pPr>
            <a:r>
              <a:t>01</a:t>
            </a:r>
          </a:p>
        </p:txBody>
      </p:sp>
      <p:sp>
        <p:nvSpPr>
          <p:cNvPr id="7" name="TextBox 6"/>
          <p:cNvSpPr txBox="1"/>
          <p:nvPr/>
        </p:nvSpPr>
        <p:spPr>
          <a:xfrm>
            <a:off x="1097280" y="1874519"/>
            <a:ext cx="4663440" cy="932688"/>
          </a:xfrm>
          <a:prstGeom prst="rect">
            <a:avLst/>
          </a:prstGeom>
          <a:noFill/>
        </p:spPr>
        <p:txBody>
          <a:bodyPr wrap="square" lIns="0" rIns="0" tIns="0" bIns="0">
            <a:spAutoFit/>
          </a:bodyPr>
          <a:lstStyle/>
          <a:p>
            <a:pPr>
              <a:spcAft>
                <a:spcPts val="500"/>
              </a:spcAft>
              <a:defRPr sz="1800" b="0">
                <a:solidFill>
                  <a:srgbClr val="172C43"/>
                </a:solidFill>
                <a:latin typeface="Aptos"/>
              </a:defRPr>
            </a:pPr>
            <a:r>
              <a:t>Open the completed investigation and choose Add feedback, or provide the correction through Chat.</a:t>
            </a:r>
          </a:p>
        </p:txBody>
      </p:sp>
      <p:sp>
        <p:nvSpPr>
          <p:cNvPr id="8" name="TextBox 7"/>
          <p:cNvSpPr txBox="1"/>
          <p:nvPr/>
        </p:nvSpPr>
        <p:spPr>
          <a:xfrm>
            <a:off x="548640" y="2971800"/>
            <a:ext cx="365760" cy="365760"/>
          </a:xfrm>
          <a:prstGeom prst="rect">
            <a:avLst/>
          </a:prstGeom>
          <a:noFill/>
        </p:spPr>
        <p:txBody>
          <a:bodyPr wrap="square" lIns="0" rIns="0" tIns="0" bIns="0">
            <a:spAutoFit/>
          </a:bodyPr>
          <a:lstStyle/>
          <a:p>
            <a:pPr>
              <a:spcAft>
                <a:spcPts val="500"/>
              </a:spcAft>
              <a:defRPr sz="1400" b="1">
                <a:solidFill>
                  <a:srgbClr val="066B67"/>
                </a:solidFill>
                <a:latin typeface="Aptos"/>
              </a:defRPr>
            </a:pPr>
            <a:r>
              <a:t>02</a:t>
            </a:r>
          </a:p>
        </p:txBody>
      </p:sp>
      <p:sp>
        <p:nvSpPr>
          <p:cNvPr id="9" name="TextBox 8"/>
          <p:cNvSpPr txBox="1"/>
          <p:nvPr/>
        </p:nvSpPr>
        <p:spPr>
          <a:xfrm>
            <a:off x="1097280" y="2971800"/>
            <a:ext cx="4663440" cy="932688"/>
          </a:xfrm>
          <a:prstGeom prst="rect">
            <a:avLst/>
          </a:prstGeom>
          <a:noFill/>
        </p:spPr>
        <p:txBody>
          <a:bodyPr wrap="square" lIns="0" rIns="0" tIns="0" bIns="0">
            <a:spAutoFit/>
          </a:bodyPr>
          <a:lstStyle/>
          <a:p>
            <a:pPr>
              <a:spcAft>
                <a:spcPts val="500"/>
              </a:spcAft>
              <a:defRPr sz="1800" b="0">
                <a:solidFill>
                  <a:srgbClr val="172C43"/>
                </a:solidFill>
                <a:latin typeface="Aptos"/>
              </a:defRPr>
            </a:pPr>
            <a:r>
              <a:t>Record the verdict and actual cause; inspect the relevant memory under Knowledge → Memories.</a:t>
            </a:r>
          </a:p>
        </p:txBody>
      </p:sp>
      <p:sp>
        <p:nvSpPr>
          <p:cNvPr id="10" name="TextBox 9"/>
          <p:cNvSpPr txBox="1"/>
          <p:nvPr/>
        </p:nvSpPr>
        <p:spPr>
          <a:xfrm>
            <a:off x="548640" y="4069079"/>
            <a:ext cx="365760" cy="365760"/>
          </a:xfrm>
          <a:prstGeom prst="rect">
            <a:avLst/>
          </a:prstGeom>
          <a:noFill/>
        </p:spPr>
        <p:txBody>
          <a:bodyPr wrap="square" lIns="0" rIns="0" tIns="0" bIns="0">
            <a:spAutoFit/>
          </a:bodyPr>
          <a:lstStyle/>
          <a:p>
            <a:pPr>
              <a:spcAft>
                <a:spcPts val="500"/>
              </a:spcAft>
              <a:defRPr sz="1400" b="1">
                <a:solidFill>
                  <a:srgbClr val="066B67"/>
                </a:solidFill>
                <a:latin typeface="Aptos"/>
              </a:defRPr>
            </a:pPr>
            <a:r>
              <a:t>03</a:t>
            </a:r>
          </a:p>
        </p:txBody>
      </p:sp>
      <p:sp>
        <p:nvSpPr>
          <p:cNvPr id="11" name="TextBox 10"/>
          <p:cNvSpPr txBox="1"/>
          <p:nvPr/>
        </p:nvSpPr>
        <p:spPr>
          <a:xfrm>
            <a:off x="1097280" y="4069079"/>
            <a:ext cx="4663440" cy="932688"/>
          </a:xfrm>
          <a:prstGeom prst="rect">
            <a:avLst/>
          </a:prstGeom>
          <a:noFill/>
        </p:spPr>
        <p:txBody>
          <a:bodyPr wrap="square" lIns="0" rIns="0" tIns="0" bIns="0">
            <a:spAutoFit/>
          </a:bodyPr>
          <a:lstStyle/>
          <a:p>
            <a:pPr>
              <a:spcAft>
                <a:spcPts val="500"/>
              </a:spcAft>
              <a:defRPr sz="1800" b="0">
                <a:solidFill>
                  <a:srgbClr val="172C43"/>
                </a:solidFill>
                <a:latin typeface="Aptos"/>
              </a:defRPr>
            </a:pPr>
            <a:r>
              <a:t>Treat the separate opt-in to share feedback with AWS as a distinct decision.</a:t>
            </a:r>
          </a:p>
        </p:txBody>
      </p:sp>
      <p:sp>
        <p:nvSpPr>
          <p:cNvPr id="12" name="TextBox 11"/>
          <p:cNvSpPr txBox="1"/>
          <p:nvPr/>
        </p:nvSpPr>
        <p:spPr>
          <a:xfrm>
            <a:off x="6309360" y="1874519"/>
            <a:ext cx="5212080" cy="274320"/>
          </a:xfrm>
          <a:prstGeom prst="rect">
            <a:avLst/>
          </a:prstGeom>
          <a:noFill/>
        </p:spPr>
        <p:txBody>
          <a:bodyPr wrap="square" lIns="0" rIns="0" tIns="0" bIns="0">
            <a:spAutoFit/>
          </a:bodyPr>
          <a:lstStyle/>
          <a:p>
            <a:pPr>
              <a:spcAft>
                <a:spcPts val="500"/>
              </a:spcAft>
              <a:defRPr sz="1200" b="1">
                <a:solidFill>
                  <a:srgbClr val="066B67"/>
                </a:solidFill>
                <a:latin typeface="Aptos"/>
              </a:defRPr>
            </a:pPr>
            <a:r>
              <a:t>CONTROLS</a:t>
            </a:r>
          </a:p>
        </p:txBody>
      </p:sp>
      <p:sp>
        <p:nvSpPr>
          <p:cNvPr id="13" name="TextBox 12"/>
          <p:cNvSpPr txBox="1"/>
          <p:nvPr/>
        </p:nvSpPr>
        <p:spPr>
          <a:xfrm>
            <a:off x="6309360" y="2267712"/>
            <a:ext cx="5212080" cy="1234440"/>
          </a:xfrm>
          <a:prstGeom prst="rect">
            <a:avLst/>
          </a:prstGeom>
          <a:noFill/>
        </p:spPr>
        <p:txBody>
          <a:bodyPr wrap="square" lIns="0" rIns="0" tIns="0" bIns="0">
            <a:spAutoFit/>
          </a:bodyPr>
          <a:lstStyle/>
          <a:p>
            <a:pPr>
              <a:spcAft>
                <a:spcPts val="500"/>
              </a:spcAft>
              <a:defRPr sz="1700" b="0">
                <a:solidFill>
                  <a:srgbClr val="172C43"/>
                </a:solidFill>
                <a:latin typeface="Aptos"/>
              </a:defRPr>
            </a:pPr>
            <a:r>
              <a:t>Use a verified correction, not a convenient hypothesis. AWS sharing requires explicit confirmation; local feedback and external sharing are not the same operation.</a:t>
            </a:r>
          </a:p>
        </p:txBody>
      </p:sp>
      <p:sp>
        <p:nvSpPr>
          <p:cNvPr id="14" name="TextBox 13"/>
          <p:cNvSpPr txBox="1"/>
          <p:nvPr/>
        </p:nvSpPr>
        <p:spPr>
          <a:xfrm>
            <a:off x="6309360" y="3749039"/>
            <a:ext cx="5212080" cy="274320"/>
          </a:xfrm>
          <a:prstGeom prst="rect">
            <a:avLst/>
          </a:prstGeom>
          <a:noFill/>
        </p:spPr>
        <p:txBody>
          <a:bodyPr wrap="square" lIns="0" rIns="0" tIns="0" bIns="0">
            <a:spAutoFit/>
          </a:bodyPr>
          <a:lstStyle/>
          <a:p>
            <a:pPr>
              <a:spcAft>
                <a:spcPts val="500"/>
              </a:spcAft>
              <a:defRPr sz="1100" b="1">
                <a:solidFill>
                  <a:srgbClr val="066B67"/>
                </a:solidFill>
                <a:latin typeface="Aptos"/>
              </a:defRPr>
            </a:pPr>
            <a:r>
              <a:t>PROPOSED VERIFICATION — NOT EXECUTED</a:t>
            </a:r>
          </a:p>
        </p:txBody>
      </p:sp>
      <p:sp>
        <p:nvSpPr>
          <p:cNvPr id="15" name="TextBox 14"/>
          <p:cNvSpPr txBox="1"/>
          <p:nvPr/>
        </p:nvSpPr>
        <p:spPr>
          <a:xfrm>
            <a:off x="6309360" y="4160520"/>
            <a:ext cx="5212080" cy="1691640"/>
          </a:xfrm>
          <a:prstGeom prst="rect">
            <a:avLst/>
          </a:prstGeom>
          <a:noFill/>
        </p:spPr>
        <p:txBody>
          <a:bodyPr wrap="square" lIns="0" rIns="0" tIns="0" bIns="0">
            <a:spAutoFit/>
          </a:bodyPr>
          <a:lstStyle/>
          <a:p>
            <a:pPr>
              <a:spcAft>
                <a:spcPts val="500"/>
              </a:spcAft>
              <a:defRPr sz="1700" b="0">
                <a:solidFill>
                  <a:srgbClr val="172C43"/>
                </a:solidFill>
                <a:latin typeface="Aptos"/>
              </a:defRPr>
            </a:pPr>
            <a:r>
              <a:t>Proposed check: link the correction to the original evidence, inspect the stored lesson, and challenge the next diagnosis using current contradictory evidence. Without visible access evidence, report recall as unverified.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TextBox 1"/>
          <p:cNvSpPr txBox="1"/>
          <p:nvPr/>
        </p:nvSpPr>
        <p:spPr>
          <a:xfrm>
            <a:off x="548640" y="256032"/>
            <a:ext cx="10972800" cy="274320"/>
          </a:xfrm>
          <a:prstGeom prst="rect">
            <a:avLst/>
          </a:prstGeom>
          <a:noFill/>
        </p:spPr>
        <p:txBody>
          <a:bodyPr wrap="square" lIns="0" rIns="0" tIns="0" bIns="0">
            <a:spAutoFit/>
          </a:bodyPr>
          <a:lstStyle/>
          <a:p>
            <a:pPr>
              <a:spcAft>
                <a:spcPts val="500"/>
              </a:spcAft>
              <a:defRPr sz="1100" b="1">
                <a:solidFill>
                  <a:srgbClr val="066B67"/>
                </a:solidFill>
                <a:latin typeface="Aptos"/>
              </a:defRPr>
            </a:pPr>
            <a:r>
              <a:t>AWS DEVOPS AGENT / PLATFORM REFERENCE</a:t>
            </a:r>
          </a:p>
        </p:txBody>
      </p:sp>
      <p:sp>
        <p:nvSpPr>
          <p:cNvPr id="3" name="TextBox 2"/>
          <p:cNvSpPr txBox="1"/>
          <p:nvPr/>
        </p:nvSpPr>
        <p:spPr>
          <a:xfrm>
            <a:off x="548640" y="777240"/>
            <a:ext cx="11064240" cy="914400"/>
          </a:xfrm>
          <a:prstGeom prst="rect">
            <a:avLst/>
          </a:prstGeom>
          <a:noFill/>
        </p:spPr>
        <p:txBody>
          <a:bodyPr wrap="square" lIns="0" rIns="0" tIns="0" bIns="0">
            <a:spAutoFit/>
          </a:bodyPr>
          <a:lstStyle/>
          <a:p>
            <a:pPr>
              <a:spcAft>
                <a:spcPts val="500"/>
              </a:spcAft>
              <a:defRPr sz="2900" b="1">
                <a:solidFill>
                  <a:srgbClr val="172C43"/>
                </a:solidFill>
                <a:latin typeface="Aptos"/>
              </a:defRPr>
            </a:pPr>
            <a:r>
              <a:t>Selective retrieval and store attachment</a:t>
            </a:r>
          </a:p>
        </p:txBody>
      </p:sp>
      <p:sp>
        <p:nvSpPr>
          <p:cNvPr id="4" name="TextBox 3"/>
          <p:cNvSpPr txBox="1"/>
          <p:nvPr/>
        </p:nvSpPr>
        <p:spPr>
          <a:xfrm>
            <a:off x="548640" y="6400800"/>
            <a:ext cx="10698480" cy="237744"/>
          </a:xfrm>
          <a:prstGeom prst="rect">
            <a:avLst/>
          </a:prstGeom>
          <a:noFill/>
        </p:spPr>
        <p:txBody>
          <a:bodyPr wrap="square" lIns="0" rIns="0" tIns="0" bIns="0">
            <a:spAutoFit/>
          </a:bodyPr>
          <a:lstStyle/>
          <a:p>
            <a:pPr>
              <a:spcAft>
                <a:spcPts val="500"/>
              </a:spcAft>
              <a:defRPr sz="1000" b="0">
                <a:solidFill>
                  <a:srgbClr val="536579"/>
                </a:solidFill>
                <a:latin typeface="Aptos"/>
              </a:defRPr>
            </a:pPr>
            <a:r>
              <a:t>D-M03 · Process and retained state · Untimed</a:t>
            </a:r>
          </a:p>
        </p:txBody>
      </p:sp>
      <p:sp>
        <p:nvSpPr>
          <p:cNvPr id="5" name="TextBox 4"/>
          <p:cNvSpPr txBox="1"/>
          <p:nvPr/>
        </p:nvSpPr>
        <p:spPr>
          <a:xfrm>
            <a:off x="11292840" y="6400800"/>
            <a:ext cx="320040" cy="237744"/>
          </a:xfrm>
          <a:prstGeom prst="rect">
            <a:avLst/>
          </a:prstGeom>
          <a:noFill/>
        </p:spPr>
        <p:txBody>
          <a:bodyPr wrap="square" lIns="0" rIns="0" tIns="0" bIns="0">
            <a:spAutoFit/>
          </a:bodyPr>
          <a:lstStyle/>
          <a:p>
            <a:pPr>
              <a:spcAft>
                <a:spcPts val="500"/>
              </a:spcAft>
              <a:defRPr sz="1000" b="0">
                <a:solidFill>
                  <a:srgbClr val="172C43"/>
                </a:solidFill>
                <a:latin typeface="Aptos"/>
              </a:defRPr>
            </a:pPr>
            <a:r>
              <a:t>18</a:t>
            </a:r>
          </a:p>
        </p:txBody>
      </p:sp>
      <p:sp>
        <p:nvSpPr>
          <p:cNvPr id="6" name="TextBox 5"/>
          <p:cNvSpPr txBox="1"/>
          <p:nvPr/>
        </p:nvSpPr>
        <p:spPr>
          <a:xfrm>
            <a:off x="548640" y="1847088"/>
            <a:ext cx="2578608" cy="292608"/>
          </a:xfrm>
          <a:prstGeom prst="rect">
            <a:avLst/>
          </a:prstGeom>
          <a:noFill/>
        </p:spPr>
        <p:txBody>
          <a:bodyPr wrap="square" lIns="0" rIns="0" tIns="0" bIns="0">
            <a:spAutoFit/>
          </a:bodyPr>
          <a:lstStyle/>
          <a:p>
            <a:pPr>
              <a:spcAft>
                <a:spcPts val="500"/>
              </a:spcAft>
              <a:defRPr sz="1400" b="1">
                <a:solidFill>
                  <a:srgbClr val="066B67"/>
                </a:solidFill>
                <a:latin typeface="Aptos"/>
              </a:defRPr>
            </a:pPr>
            <a:r>
              <a:t>01</a:t>
            </a:r>
          </a:p>
        </p:txBody>
      </p:sp>
      <p:sp>
        <p:nvSpPr>
          <p:cNvPr id="7" name="TextBox 6"/>
          <p:cNvSpPr txBox="1"/>
          <p:nvPr/>
        </p:nvSpPr>
        <p:spPr>
          <a:xfrm>
            <a:off x="548640" y="2267712"/>
            <a:ext cx="2560320" cy="914400"/>
          </a:xfrm>
          <a:prstGeom prst="rect">
            <a:avLst/>
          </a:prstGeom>
          <a:noFill/>
        </p:spPr>
        <p:txBody>
          <a:bodyPr wrap="square" lIns="0" rIns="0" tIns="0" bIns="0">
            <a:spAutoFit/>
          </a:bodyPr>
          <a:lstStyle/>
          <a:p>
            <a:pPr>
              <a:spcAft>
                <a:spcPts val="500"/>
              </a:spcAft>
              <a:defRPr sz="2000" b="1">
                <a:solidFill>
                  <a:srgbClr val="172C43"/>
                </a:solidFill>
                <a:latin typeface="Aptos"/>
              </a:defRPr>
            </a:pPr>
            <a:r>
              <a:t>Store descriptions</a:t>
            </a:r>
          </a:p>
        </p:txBody>
      </p:sp>
      <p:sp>
        <p:nvSpPr>
          <p:cNvPr id="8" name="TextBox 7"/>
          <p:cNvSpPr txBox="1"/>
          <p:nvPr/>
        </p:nvSpPr>
        <p:spPr>
          <a:xfrm>
            <a:off x="3401568" y="1847088"/>
            <a:ext cx="2578608" cy="292608"/>
          </a:xfrm>
          <a:prstGeom prst="rect">
            <a:avLst/>
          </a:prstGeom>
          <a:noFill/>
        </p:spPr>
        <p:txBody>
          <a:bodyPr wrap="square" lIns="0" rIns="0" tIns="0" bIns="0">
            <a:spAutoFit/>
          </a:bodyPr>
          <a:lstStyle/>
          <a:p>
            <a:pPr>
              <a:spcAft>
                <a:spcPts val="500"/>
              </a:spcAft>
              <a:defRPr sz="1400" b="1">
                <a:solidFill>
                  <a:srgbClr val="066B67"/>
                </a:solidFill>
                <a:latin typeface="Aptos"/>
              </a:defRPr>
            </a:pPr>
            <a:r>
              <a:t>02</a:t>
            </a:r>
          </a:p>
        </p:txBody>
      </p:sp>
      <p:sp>
        <p:nvSpPr>
          <p:cNvPr id="9" name="TextBox 8"/>
          <p:cNvSpPr txBox="1"/>
          <p:nvPr/>
        </p:nvSpPr>
        <p:spPr>
          <a:xfrm>
            <a:off x="3401568" y="2267712"/>
            <a:ext cx="2560320" cy="914400"/>
          </a:xfrm>
          <a:prstGeom prst="rect">
            <a:avLst/>
          </a:prstGeom>
          <a:noFill/>
        </p:spPr>
        <p:txBody>
          <a:bodyPr wrap="square" lIns="0" rIns="0" tIns="0" bIns="0">
            <a:spAutoFit/>
          </a:bodyPr>
          <a:lstStyle/>
          <a:p>
            <a:pPr>
              <a:spcAft>
                <a:spcPts val="500"/>
              </a:spcAft>
              <a:defRPr sz="2000" b="1">
                <a:solidFill>
                  <a:srgbClr val="172C43"/>
                </a:solidFill>
                <a:latin typeface="Aptos"/>
              </a:defRPr>
            </a:pPr>
            <a:r>
              <a:t>Relevant store selection</a:t>
            </a:r>
          </a:p>
        </p:txBody>
      </p:sp>
      <p:sp>
        <p:nvSpPr>
          <p:cNvPr id="10" name="TextBox 9"/>
          <p:cNvSpPr txBox="1"/>
          <p:nvPr/>
        </p:nvSpPr>
        <p:spPr>
          <a:xfrm>
            <a:off x="6254496" y="1847088"/>
            <a:ext cx="2578608" cy="292608"/>
          </a:xfrm>
          <a:prstGeom prst="rect">
            <a:avLst/>
          </a:prstGeom>
          <a:noFill/>
        </p:spPr>
        <p:txBody>
          <a:bodyPr wrap="square" lIns="0" rIns="0" tIns="0" bIns="0">
            <a:spAutoFit/>
          </a:bodyPr>
          <a:lstStyle/>
          <a:p>
            <a:pPr>
              <a:spcAft>
                <a:spcPts val="500"/>
              </a:spcAft>
              <a:defRPr sz="1400" b="1">
                <a:solidFill>
                  <a:srgbClr val="066B67"/>
                </a:solidFill>
                <a:latin typeface="Aptos"/>
              </a:defRPr>
            </a:pPr>
            <a:r>
              <a:t>03</a:t>
            </a:r>
          </a:p>
        </p:txBody>
      </p:sp>
      <p:sp>
        <p:nvSpPr>
          <p:cNvPr id="11" name="TextBox 10"/>
          <p:cNvSpPr txBox="1"/>
          <p:nvPr/>
        </p:nvSpPr>
        <p:spPr>
          <a:xfrm>
            <a:off x="6254496" y="2267712"/>
            <a:ext cx="2560320" cy="914400"/>
          </a:xfrm>
          <a:prstGeom prst="rect">
            <a:avLst/>
          </a:prstGeom>
          <a:noFill/>
        </p:spPr>
        <p:txBody>
          <a:bodyPr wrap="square" lIns="0" rIns="0" tIns="0" bIns="0">
            <a:spAutoFit/>
          </a:bodyPr>
          <a:lstStyle/>
          <a:p>
            <a:pPr>
              <a:spcAft>
                <a:spcPts val="500"/>
              </a:spcAft>
              <a:defRPr sz="2000" b="1">
                <a:solidFill>
                  <a:srgbClr val="172C43"/>
                </a:solidFill>
                <a:latin typeface="Aptos"/>
              </a:defRPr>
            </a:pPr>
            <a:r>
              <a:t>Entry descriptions</a:t>
            </a:r>
          </a:p>
        </p:txBody>
      </p:sp>
      <p:sp>
        <p:nvSpPr>
          <p:cNvPr id="12" name="TextBox 11"/>
          <p:cNvSpPr txBox="1"/>
          <p:nvPr/>
        </p:nvSpPr>
        <p:spPr>
          <a:xfrm>
            <a:off x="9107424" y="1847088"/>
            <a:ext cx="2578608" cy="292608"/>
          </a:xfrm>
          <a:prstGeom prst="rect">
            <a:avLst/>
          </a:prstGeom>
          <a:noFill/>
        </p:spPr>
        <p:txBody>
          <a:bodyPr wrap="square" lIns="0" rIns="0" tIns="0" bIns="0">
            <a:spAutoFit/>
          </a:bodyPr>
          <a:lstStyle/>
          <a:p>
            <a:pPr>
              <a:spcAft>
                <a:spcPts val="500"/>
              </a:spcAft>
              <a:defRPr sz="1400" b="1">
                <a:solidFill>
                  <a:srgbClr val="066B67"/>
                </a:solidFill>
                <a:latin typeface="Aptos"/>
              </a:defRPr>
            </a:pPr>
            <a:r>
              <a:t>04</a:t>
            </a:r>
          </a:p>
        </p:txBody>
      </p:sp>
      <p:sp>
        <p:nvSpPr>
          <p:cNvPr id="13" name="TextBox 12"/>
          <p:cNvSpPr txBox="1"/>
          <p:nvPr/>
        </p:nvSpPr>
        <p:spPr>
          <a:xfrm>
            <a:off x="9107424" y="2267712"/>
            <a:ext cx="2560320" cy="914400"/>
          </a:xfrm>
          <a:prstGeom prst="rect">
            <a:avLst/>
          </a:prstGeom>
          <a:noFill/>
        </p:spPr>
        <p:txBody>
          <a:bodyPr wrap="square" lIns="0" rIns="0" tIns="0" bIns="0">
            <a:spAutoFit/>
          </a:bodyPr>
          <a:lstStyle/>
          <a:p>
            <a:pPr>
              <a:spcAft>
                <a:spcPts val="500"/>
              </a:spcAft>
              <a:defRPr sz="2000" b="1">
                <a:solidFill>
                  <a:srgbClr val="172C43"/>
                </a:solidFill>
                <a:latin typeface="Aptos"/>
              </a:defRPr>
            </a:pPr>
            <a:r>
              <a:t>Selected full content</a:t>
            </a:r>
          </a:p>
        </p:txBody>
      </p:sp>
      <p:sp>
        <p:nvSpPr>
          <p:cNvPr id="14" name="TextBox 13"/>
          <p:cNvSpPr txBox="1"/>
          <p:nvPr/>
        </p:nvSpPr>
        <p:spPr>
          <a:xfrm>
            <a:off x="548640" y="3456432"/>
            <a:ext cx="5486400" cy="274320"/>
          </a:xfrm>
          <a:prstGeom prst="rect">
            <a:avLst/>
          </a:prstGeom>
          <a:noFill/>
        </p:spPr>
        <p:txBody>
          <a:bodyPr wrap="square" lIns="0" rIns="0" tIns="0" bIns="0">
            <a:spAutoFit/>
          </a:bodyPr>
          <a:lstStyle/>
          <a:p>
            <a:pPr>
              <a:spcAft>
                <a:spcPts val="500"/>
              </a:spcAft>
              <a:defRPr sz="1200" b="1">
                <a:solidFill>
                  <a:srgbClr val="066B67"/>
                </a:solidFill>
                <a:latin typeface="Aptos"/>
              </a:defRPr>
            </a:pPr>
            <a:r>
              <a:t>DOCUMENTED OPERATION</a:t>
            </a:r>
          </a:p>
        </p:txBody>
      </p:sp>
      <p:sp>
        <p:nvSpPr>
          <p:cNvPr id="15" name="TextBox 14"/>
          <p:cNvSpPr txBox="1"/>
          <p:nvPr/>
        </p:nvSpPr>
        <p:spPr>
          <a:xfrm>
            <a:off x="548640" y="3858768"/>
            <a:ext cx="5532120" cy="1920240"/>
          </a:xfrm>
          <a:prstGeom prst="rect">
            <a:avLst/>
          </a:prstGeom>
          <a:noFill/>
        </p:spPr>
        <p:txBody>
          <a:bodyPr wrap="square" lIns="0" rIns="0" tIns="0" bIns="0">
            <a:spAutoFit/>
          </a:bodyPr>
          <a:lstStyle/>
          <a:p>
            <a:pPr>
              <a:spcAft>
                <a:spcPts val="500"/>
              </a:spcAft>
              <a:defRPr sz="1800" b="0">
                <a:solidFill>
                  <a:srgbClr val="172C43"/>
                </a:solidFill>
                <a:latin typeface="Aptos"/>
              </a:defRPr>
            </a:pPr>
            <a:r>
              <a:t>The documented retrieval sequence exposes descriptions before full content. For custom agents, store attachments constrain the accessible collection; new agents start without attachments.</a:t>
            </a:r>
          </a:p>
        </p:txBody>
      </p:sp>
      <p:sp>
        <p:nvSpPr>
          <p:cNvPr id="16" name="TextBox 15"/>
          <p:cNvSpPr txBox="1"/>
          <p:nvPr/>
        </p:nvSpPr>
        <p:spPr>
          <a:xfrm>
            <a:off x="6400800" y="3456432"/>
            <a:ext cx="5212080" cy="274320"/>
          </a:xfrm>
          <a:prstGeom prst="rect">
            <a:avLst/>
          </a:prstGeom>
          <a:noFill/>
        </p:spPr>
        <p:txBody>
          <a:bodyPr wrap="square" lIns="0" rIns="0" tIns="0" bIns="0">
            <a:spAutoFit/>
          </a:bodyPr>
          <a:lstStyle/>
          <a:p>
            <a:pPr>
              <a:spcAft>
                <a:spcPts val="500"/>
              </a:spcAft>
              <a:defRPr sz="1200" b="1">
                <a:solidFill>
                  <a:srgbClr val="066B67"/>
                </a:solidFill>
                <a:latin typeface="Aptos"/>
              </a:defRPr>
            </a:pPr>
            <a:r>
              <a:t>STATE AND LIFECYCLE</a:t>
            </a:r>
          </a:p>
        </p:txBody>
      </p:sp>
      <p:sp>
        <p:nvSpPr>
          <p:cNvPr id="17" name="TextBox 16"/>
          <p:cNvSpPr txBox="1"/>
          <p:nvPr/>
        </p:nvSpPr>
        <p:spPr>
          <a:xfrm>
            <a:off x="6400800" y="3858768"/>
            <a:ext cx="5120640" cy="1920240"/>
          </a:xfrm>
          <a:prstGeom prst="rect">
            <a:avLst/>
          </a:prstGeom>
          <a:noFill/>
        </p:spPr>
        <p:txBody>
          <a:bodyPr wrap="square" lIns="0" rIns="0" tIns="0" bIns="0">
            <a:spAutoFit/>
          </a:bodyPr>
          <a:lstStyle/>
          <a:p>
            <a:pPr>
              <a:spcAft>
                <a:spcPts val="500"/>
              </a:spcAft>
              <a:defRPr sz="1800" b="0">
                <a:solidFill>
                  <a:srgbClr val="172C43"/>
                </a:solidFill>
                <a:latin typeface="Aptos"/>
              </a:defRPr>
            </a:pPr>
            <a:r>
              <a:t>Updates create immutable entry versions. Deactivating a store or entry removes it from active access without deleting it.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TextBox 1"/>
          <p:cNvSpPr txBox="1"/>
          <p:nvPr/>
        </p:nvSpPr>
        <p:spPr>
          <a:xfrm>
            <a:off x="548640" y="256032"/>
            <a:ext cx="10972800" cy="274320"/>
          </a:xfrm>
          <a:prstGeom prst="rect">
            <a:avLst/>
          </a:prstGeom>
          <a:noFill/>
        </p:spPr>
        <p:txBody>
          <a:bodyPr wrap="square" lIns="0" rIns="0" tIns="0" bIns="0">
            <a:spAutoFit/>
          </a:bodyPr>
          <a:lstStyle/>
          <a:p>
            <a:pPr>
              <a:spcAft>
                <a:spcPts val="500"/>
              </a:spcAft>
              <a:defRPr sz="1100" b="1">
                <a:solidFill>
                  <a:srgbClr val="066B67"/>
                </a:solidFill>
                <a:latin typeface="Aptos"/>
              </a:defRPr>
            </a:pPr>
            <a:r>
              <a:t>AWS DEVOPS AGENT / PLATFORM REFERENCE</a:t>
            </a:r>
          </a:p>
        </p:txBody>
      </p:sp>
      <p:sp>
        <p:nvSpPr>
          <p:cNvPr id="3" name="TextBox 2"/>
          <p:cNvSpPr txBox="1"/>
          <p:nvPr/>
        </p:nvSpPr>
        <p:spPr>
          <a:xfrm>
            <a:off x="548640" y="777240"/>
            <a:ext cx="11064240" cy="914400"/>
          </a:xfrm>
          <a:prstGeom prst="rect">
            <a:avLst/>
          </a:prstGeom>
          <a:noFill/>
        </p:spPr>
        <p:txBody>
          <a:bodyPr wrap="square" lIns="0" rIns="0" tIns="0" bIns="0">
            <a:spAutoFit/>
          </a:bodyPr>
          <a:lstStyle/>
          <a:p>
            <a:pPr>
              <a:spcAft>
                <a:spcPts val="500"/>
              </a:spcAft>
              <a:defRPr sz="2900" b="1">
                <a:solidFill>
                  <a:srgbClr val="172C43"/>
                </a:solidFill>
                <a:latin typeface="Aptos"/>
              </a:defRPr>
            </a:pPr>
            <a:r>
              <a:t>Selective retrieval and store attachment — configuration</a:t>
            </a:r>
          </a:p>
        </p:txBody>
      </p:sp>
      <p:sp>
        <p:nvSpPr>
          <p:cNvPr id="4" name="TextBox 3"/>
          <p:cNvSpPr txBox="1"/>
          <p:nvPr/>
        </p:nvSpPr>
        <p:spPr>
          <a:xfrm>
            <a:off x="548640" y="6400800"/>
            <a:ext cx="10698480" cy="237744"/>
          </a:xfrm>
          <a:prstGeom prst="rect">
            <a:avLst/>
          </a:prstGeom>
          <a:noFill/>
        </p:spPr>
        <p:txBody>
          <a:bodyPr wrap="square" lIns="0" rIns="0" tIns="0" bIns="0">
            <a:spAutoFit/>
          </a:bodyPr>
          <a:lstStyle/>
          <a:p>
            <a:pPr>
              <a:spcAft>
                <a:spcPts val="500"/>
              </a:spcAft>
              <a:defRPr sz="1000" b="0">
                <a:solidFill>
                  <a:srgbClr val="536579"/>
                </a:solidFill>
                <a:latin typeface="Aptos"/>
              </a:defRPr>
            </a:pPr>
            <a:r>
              <a:t>D-M03 · Enablement and proposed verification · Untimed</a:t>
            </a:r>
          </a:p>
        </p:txBody>
      </p:sp>
      <p:sp>
        <p:nvSpPr>
          <p:cNvPr id="5" name="TextBox 4"/>
          <p:cNvSpPr txBox="1"/>
          <p:nvPr/>
        </p:nvSpPr>
        <p:spPr>
          <a:xfrm>
            <a:off x="11292840" y="6400800"/>
            <a:ext cx="320040" cy="237744"/>
          </a:xfrm>
          <a:prstGeom prst="rect">
            <a:avLst/>
          </a:prstGeom>
          <a:noFill/>
        </p:spPr>
        <p:txBody>
          <a:bodyPr wrap="square" lIns="0" rIns="0" tIns="0" bIns="0">
            <a:spAutoFit/>
          </a:bodyPr>
          <a:lstStyle/>
          <a:p>
            <a:pPr>
              <a:spcAft>
                <a:spcPts val="500"/>
              </a:spcAft>
              <a:defRPr sz="1000" b="0">
                <a:solidFill>
                  <a:srgbClr val="172C43"/>
                </a:solidFill>
                <a:latin typeface="Aptos"/>
              </a:defRPr>
            </a:pPr>
            <a:r>
              <a:t>19</a:t>
            </a:r>
          </a:p>
        </p:txBody>
      </p:sp>
      <p:sp>
        <p:nvSpPr>
          <p:cNvPr id="6" name="TextBox 5"/>
          <p:cNvSpPr txBox="1"/>
          <p:nvPr/>
        </p:nvSpPr>
        <p:spPr>
          <a:xfrm>
            <a:off x="548640" y="1874519"/>
            <a:ext cx="365760" cy="365760"/>
          </a:xfrm>
          <a:prstGeom prst="rect">
            <a:avLst/>
          </a:prstGeom>
          <a:noFill/>
        </p:spPr>
        <p:txBody>
          <a:bodyPr wrap="square" lIns="0" rIns="0" tIns="0" bIns="0">
            <a:spAutoFit/>
          </a:bodyPr>
          <a:lstStyle/>
          <a:p>
            <a:pPr>
              <a:spcAft>
                <a:spcPts val="500"/>
              </a:spcAft>
              <a:defRPr sz="1400" b="1">
                <a:solidFill>
                  <a:srgbClr val="066B67"/>
                </a:solidFill>
                <a:latin typeface="Aptos"/>
              </a:defRPr>
            </a:pPr>
            <a:r>
              <a:t>01</a:t>
            </a:r>
          </a:p>
        </p:txBody>
      </p:sp>
      <p:sp>
        <p:nvSpPr>
          <p:cNvPr id="7" name="TextBox 6"/>
          <p:cNvSpPr txBox="1"/>
          <p:nvPr/>
        </p:nvSpPr>
        <p:spPr>
          <a:xfrm>
            <a:off x="1097280" y="1874519"/>
            <a:ext cx="4663440" cy="932688"/>
          </a:xfrm>
          <a:prstGeom prst="rect">
            <a:avLst/>
          </a:prstGeom>
          <a:noFill/>
        </p:spPr>
        <p:txBody>
          <a:bodyPr wrap="square" lIns="0" rIns="0" tIns="0" bIns="0">
            <a:spAutoFit/>
          </a:bodyPr>
          <a:lstStyle/>
          <a:p>
            <a:pPr>
              <a:spcAft>
                <a:spcPts val="500"/>
              </a:spcAft>
              <a:defRPr sz="1800" b="0">
                <a:solidFill>
                  <a:srgbClr val="172C43"/>
                </a:solidFill>
                <a:latin typeface="Aptos"/>
              </a:defRPr>
            </a:pPr>
            <a:r>
              <a:t>Write specific descriptions stating the store subject and relevant situations.</a:t>
            </a:r>
          </a:p>
        </p:txBody>
      </p:sp>
      <p:sp>
        <p:nvSpPr>
          <p:cNvPr id="8" name="TextBox 7"/>
          <p:cNvSpPr txBox="1"/>
          <p:nvPr/>
        </p:nvSpPr>
        <p:spPr>
          <a:xfrm>
            <a:off x="548640" y="2971800"/>
            <a:ext cx="365760" cy="365760"/>
          </a:xfrm>
          <a:prstGeom prst="rect">
            <a:avLst/>
          </a:prstGeom>
          <a:noFill/>
        </p:spPr>
        <p:txBody>
          <a:bodyPr wrap="square" lIns="0" rIns="0" tIns="0" bIns="0">
            <a:spAutoFit/>
          </a:bodyPr>
          <a:lstStyle/>
          <a:p>
            <a:pPr>
              <a:spcAft>
                <a:spcPts val="500"/>
              </a:spcAft>
              <a:defRPr sz="1400" b="1">
                <a:solidFill>
                  <a:srgbClr val="066B67"/>
                </a:solidFill>
                <a:latin typeface="Aptos"/>
              </a:defRPr>
            </a:pPr>
            <a:r>
              <a:t>02</a:t>
            </a:r>
          </a:p>
        </p:txBody>
      </p:sp>
      <p:sp>
        <p:nvSpPr>
          <p:cNvPr id="9" name="TextBox 8"/>
          <p:cNvSpPr txBox="1"/>
          <p:nvPr/>
        </p:nvSpPr>
        <p:spPr>
          <a:xfrm>
            <a:off x="1097280" y="2971800"/>
            <a:ext cx="4663440" cy="932688"/>
          </a:xfrm>
          <a:prstGeom prst="rect">
            <a:avLst/>
          </a:prstGeom>
          <a:noFill/>
        </p:spPr>
        <p:txBody>
          <a:bodyPr wrap="square" lIns="0" rIns="0" tIns="0" bIns="0">
            <a:spAutoFit/>
          </a:bodyPr>
          <a:lstStyle/>
          <a:p>
            <a:pPr>
              <a:spcAft>
                <a:spcPts val="500"/>
              </a:spcAft>
              <a:defRPr sz="1800" b="0">
                <a:solidFill>
                  <a:srgbClr val="172C43"/>
                </a:solidFill>
                <a:latin typeface="Aptos"/>
              </a:defRPr>
            </a:pPr>
            <a:r>
              <a:t>Edit the custom agent and attach only required stores; inspect the resulting definition.</a:t>
            </a:r>
          </a:p>
        </p:txBody>
      </p:sp>
      <p:sp>
        <p:nvSpPr>
          <p:cNvPr id="10" name="TextBox 9"/>
          <p:cNvSpPr txBox="1"/>
          <p:nvPr/>
        </p:nvSpPr>
        <p:spPr>
          <a:xfrm>
            <a:off x="548640" y="4069079"/>
            <a:ext cx="365760" cy="365760"/>
          </a:xfrm>
          <a:prstGeom prst="rect">
            <a:avLst/>
          </a:prstGeom>
          <a:noFill/>
        </p:spPr>
        <p:txBody>
          <a:bodyPr wrap="square" lIns="0" rIns="0" tIns="0" bIns="0">
            <a:spAutoFit/>
          </a:bodyPr>
          <a:lstStyle/>
          <a:p>
            <a:pPr>
              <a:spcAft>
                <a:spcPts val="500"/>
              </a:spcAft>
              <a:defRPr sz="1400" b="1">
                <a:solidFill>
                  <a:srgbClr val="066B67"/>
                </a:solidFill>
                <a:latin typeface="Aptos"/>
              </a:defRPr>
            </a:pPr>
            <a:r>
              <a:t>03</a:t>
            </a:r>
          </a:p>
        </p:txBody>
      </p:sp>
      <p:sp>
        <p:nvSpPr>
          <p:cNvPr id="11" name="TextBox 10"/>
          <p:cNvSpPr txBox="1"/>
          <p:nvPr/>
        </p:nvSpPr>
        <p:spPr>
          <a:xfrm>
            <a:off x="1097280" y="4069079"/>
            <a:ext cx="4663440" cy="932688"/>
          </a:xfrm>
          <a:prstGeom prst="rect">
            <a:avLst/>
          </a:prstGeom>
          <a:noFill/>
        </p:spPr>
        <p:txBody>
          <a:bodyPr wrap="square" lIns="0" rIns="0" tIns="0" bIns="0">
            <a:spAutoFit/>
          </a:bodyPr>
          <a:lstStyle/>
          <a:p>
            <a:pPr>
              <a:spcAft>
                <a:spcPts val="500"/>
              </a:spcAft>
              <a:defRPr sz="1800" b="0">
                <a:solidFill>
                  <a:srgbClr val="172C43"/>
                </a:solidFill>
                <a:latin typeface="Aptos"/>
              </a:defRPr>
            </a:pPr>
            <a:r>
              <a:t>Use supported controls to deactivate stale entries and examine previous versions.</a:t>
            </a:r>
          </a:p>
        </p:txBody>
      </p:sp>
      <p:sp>
        <p:nvSpPr>
          <p:cNvPr id="12" name="TextBox 11"/>
          <p:cNvSpPr txBox="1"/>
          <p:nvPr/>
        </p:nvSpPr>
        <p:spPr>
          <a:xfrm>
            <a:off x="6309360" y="1874519"/>
            <a:ext cx="5212080" cy="274320"/>
          </a:xfrm>
          <a:prstGeom prst="rect">
            <a:avLst/>
          </a:prstGeom>
          <a:noFill/>
        </p:spPr>
        <p:txBody>
          <a:bodyPr wrap="square" lIns="0" rIns="0" tIns="0" bIns="0">
            <a:spAutoFit/>
          </a:bodyPr>
          <a:lstStyle/>
          <a:p>
            <a:pPr>
              <a:spcAft>
                <a:spcPts val="500"/>
              </a:spcAft>
              <a:defRPr sz="1200" b="1">
                <a:solidFill>
                  <a:srgbClr val="066B67"/>
                </a:solidFill>
                <a:latin typeface="Aptos"/>
              </a:defRPr>
            </a:pPr>
            <a:r>
              <a:t>CONTROLS</a:t>
            </a:r>
          </a:p>
        </p:txBody>
      </p:sp>
      <p:sp>
        <p:nvSpPr>
          <p:cNvPr id="13" name="TextBox 12"/>
          <p:cNvSpPr txBox="1"/>
          <p:nvPr/>
        </p:nvSpPr>
        <p:spPr>
          <a:xfrm>
            <a:off x="6309360" y="2267712"/>
            <a:ext cx="5212080" cy="1234440"/>
          </a:xfrm>
          <a:prstGeom prst="rect">
            <a:avLst/>
          </a:prstGeom>
          <a:noFill/>
        </p:spPr>
        <p:txBody>
          <a:bodyPr wrap="square" lIns="0" rIns="0" tIns="0" bIns="0">
            <a:spAutoFit/>
          </a:bodyPr>
          <a:lstStyle/>
          <a:p>
            <a:pPr>
              <a:spcAft>
                <a:spcPts val="500"/>
              </a:spcAft>
              <a:defRPr sz="1500" b="0">
                <a:solidFill>
                  <a:srgbClr val="172C43"/>
                </a:solidFill>
                <a:latin typeface="Aptos"/>
              </a:defRPr>
            </a:pPr>
            <a:r>
              <a:t>A custom agent can write to attached custom stores; attached managed stores remain read-only. Retrieval internals beyond the documented description-selection process are not asserted.</a:t>
            </a:r>
          </a:p>
        </p:txBody>
      </p:sp>
      <p:sp>
        <p:nvSpPr>
          <p:cNvPr id="14" name="TextBox 13"/>
          <p:cNvSpPr txBox="1"/>
          <p:nvPr/>
        </p:nvSpPr>
        <p:spPr>
          <a:xfrm>
            <a:off x="6309360" y="3749039"/>
            <a:ext cx="5212080" cy="274320"/>
          </a:xfrm>
          <a:prstGeom prst="rect">
            <a:avLst/>
          </a:prstGeom>
          <a:noFill/>
        </p:spPr>
        <p:txBody>
          <a:bodyPr wrap="square" lIns="0" rIns="0" tIns="0" bIns="0">
            <a:spAutoFit/>
          </a:bodyPr>
          <a:lstStyle/>
          <a:p>
            <a:pPr>
              <a:spcAft>
                <a:spcPts val="500"/>
              </a:spcAft>
              <a:defRPr sz="1100" b="1">
                <a:solidFill>
                  <a:srgbClr val="066B67"/>
                </a:solidFill>
                <a:latin typeface="Aptos"/>
              </a:defRPr>
            </a:pPr>
            <a:r>
              <a:t>PROPOSED VERIFICATION — NOT EXECUTED</a:t>
            </a:r>
          </a:p>
        </p:txBody>
      </p:sp>
      <p:sp>
        <p:nvSpPr>
          <p:cNvPr id="15" name="TextBox 14"/>
          <p:cNvSpPr txBox="1"/>
          <p:nvPr/>
        </p:nvSpPr>
        <p:spPr>
          <a:xfrm>
            <a:off x="6309360" y="4160520"/>
            <a:ext cx="5212080" cy="1691640"/>
          </a:xfrm>
          <a:prstGeom prst="rect">
            <a:avLst/>
          </a:prstGeom>
          <a:noFill/>
        </p:spPr>
        <p:txBody>
          <a:bodyPr wrap="square" lIns="0" rIns="0" tIns="0" bIns="0">
            <a:spAutoFit/>
          </a:bodyPr>
          <a:lstStyle/>
          <a:p>
            <a:pPr>
              <a:spcAft>
                <a:spcPts val="500"/>
              </a:spcAft>
              <a:defRPr sz="1700" b="0">
                <a:solidFill>
                  <a:srgbClr val="172C43"/>
                </a:solidFill>
                <a:latin typeface="Aptos"/>
              </a:defRPr>
            </a:pPr>
            <a:r>
              <a:t>Proposed check: compare an agent with and without a non-sensitive test-store attachment. Inspect observable reads and verify the answer independently. A repeated phrase alone does not prove retrieval.</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TextBox 1"/>
          <p:cNvSpPr txBox="1"/>
          <p:nvPr/>
        </p:nvSpPr>
        <p:spPr>
          <a:xfrm>
            <a:off x="548640" y="256032"/>
            <a:ext cx="10972800" cy="274320"/>
          </a:xfrm>
          <a:prstGeom prst="rect">
            <a:avLst/>
          </a:prstGeom>
          <a:noFill/>
        </p:spPr>
        <p:txBody>
          <a:bodyPr wrap="square" lIns="0" rIns="0" tIns="0" bIns="0">
            <a:spAutoFit/>
          </a:bodyPr>
          <a:lstStyle/>
          <a:p>
            <a:pPr>
              <a:spcAft>
                <a:spcPts val="500"/>
              </a:spcAft>
              <a:defRPr sz="1100" b="1">
                <a:solidFill>
                  <a:srgbClr val="066B67"/>
                </a:solidFill>
                <a:latin typeface="Aptos"/>
              </a:defRPr>
            </a:pPr>
            <a:r>
              <a:t>AWS DEVOPS AGENT / PLATFORM REFERENCE</a:t>
            </a:r>
          </a:p>
        </p:txBody>
      </p:sp>
      <p:sp>
        <p:nvSpPr>
          <p:cNvPr id="3" name="TextBox 2"/>
          <p:cNvSpPr txBox="1"/>
          <p:nvPr/>
        </p:nvSpPr>
        <p:spPr>
          <a:xfrm>
            <a:off x="548640" y="777240"/>
            <a:ext cx="11064240" cy="914400"/>
          </a:xfrm>
          <a:prstGeom prst="rect">
            <a:avLst/>
          </a:prstGeom>
          <a:noFill/>
        </p:spPr>
        <p:txBody>
          <a:bodyPr wrap="square" lIns="0" rIns="0" tIns="0" bIns="0">
            <a:spAutoFit/>
          </a:bodyPr>
          <a:lstStyle/>
          <a:p>
            <a:pPr>
              <a:spcAft>
                <a:spcPts val="500"/>
              </a:spcAft>
              <a:defRPr sz="2900" b="1">
                <a:solidFill>
                  <a:srgbClr val="172C43"/>
                </a:solidFill>
                <a:latin typeface="Aptos"/>
              </a:defRPr>
            </a:pPr>
            <a:r>
              <a:t>Startup instruction injection</a:t>
            </a:r>
          </a:p>
        </p:txBody>
      </p:sp>
      <p:sp>
        <p:nvSpPr>
          <p:cNvPr id="4" name="TextBox 3"/>
          <p:cNvSpPr txBox="1"/>
          <p:nvPr/>
        </p:nvSpPr>
        <p:spPr>
          <a:xfrm>
            <a:off x="548640" y="6400800"/>
            <a:ext cx="10698480" cy="237744"/>
          </a:xfrm>
          <a:prstGeom prst="rect">
            <a:avLst/>
          </a:prstGeom>
          <a:noFill/>
        </p:spPr>
        <p:txBody>
          <a:bodyPr wrap="square" lIns="0" rIns="0" tIns="0" bIns="0">
            <a:spAutoFit/>
          </a:bodyPr>
          <a:lstStyle/>
          <a:p>
            <a:pPr>
              <a:spcAft>
                <a:spcPts val="500"/>
              </a:spcAft>
              <a:defRPr sz="1000" b="0">
                <a:solidFill>
                  <a:srgbClr val="536579"/>
                </a:solidFill>
                <a:latin typeface="Aptos"/>
              </a:defRPr>
            </a:pPr>
            <a:r>
              <a:t>D-M04 · Process and retained state · Untimed</a:t>
            </a:r>
          </a:p>
        </p:txBody>
      </p:sp>
      <p:sp>
        <p:nvSpPr>
          <p:cNvPr id="5" name="TextBox 4"/>
          <p:cNvSpPr txBox="1"/>
          <p:nvPr/>
        </p:nvSpPr>
        <p:spPr>
          <a:xfrm>
            <a:off x="11292840" y="6400800"/>
            <a:ext cx="320040" cy="237744"/>
          </a:xfrm>
          <a:prstGeom prst="rect">
            <a:avLst/>
          </a:prstGeom>
          <a:noFill/>
        </p:spPr>
        <p:txBody>
          <a:bodyPr wrap="square" lIns="0" rIns="0" tIns="0" bIns="0">
            <a:spAutoFit/>
          </a:bodyPr>
          <a:lstStyle/>
          <a:p>
            <a:pPr>
              <a:spcAft>
                <a:spcPts val="500"/>
              </a:spcAft>
              <a:defRPr sz="1000" b="0">
                <a:solidFill>
                  <a:srgbClr val="172C43"/>
                </a:solidFill>
                <a:latin typeface="Aptos"/>
              </a:defRPr>
            </a:pPr>
            <a:r>
              <a:t>20</a:t>
            </a:r>
          </a:p>
        </p:txBody>
      </p:sp>
      <p:sp>
        <p:nvSpPr>
          <p:cNvPr id="6" name="TextBox 5"/>
          <p:cNvSpPr txBox="1"/>
          <p:nvPr/>
        </p:nvSpPr>
        <p:spPr>
          <a:xfrm>
            <a:off x="548640" y="1847088"/>
            <a:ext cx="2578608" cy="292608"/>
          </a:xfrm>
          <a:prstGeom prst="rect">
            <a:avLst/>
          </a:prstGeom>
          <a:noFill/>
        </p:spPr>
        <p:txBody>
          <a:bodyPr wrap="square" lIns="0" rIns="0" tIns="0" bIns="0">
            <a:spAutoFit/>
          </a:bodyPr>
          <a:lstStyle/>
          <a:p>
            <a:pPr>
              <a:spcAft>
                <a:spcPts val="500"/>
              </a:spcAft>
              <a:defRPr sz="1400" b="1">
                <a:solidFill>
                  <a:srgbClr val="066B67"/>
                </a:solidFill>
                <a:latin typeface="Aptos"/>
              </a:defRPr>
            </a:pPr>
            <a:r>
              <a:t>01</a:t>
            </a:r>
          </a:p>
        </p:txBody>
      </p:sp>
      <p:sp>
        <p:nvSpPr>
          <p:cNvPr id="7" name="TextBox 6"/>
          <p:cNvSpPr txBox="1"/>
          <p:nvPr/>
        </p:nvSpPr>
        <p:spPr>
          <a:xfrm>
            <a:off x="548640" y="2267712"/>
            <a:ext cx="2560320" cy="914400"/>
          </a:xfrm>
          <a:prstGeom prst="rect">
            <a:avLst/>
          </a:prstGeom>
          <a:noFill/>
        </p:spPr>
        <p:txBody>
          <a:bodyPr wrap="square" lIns="0" rIns="0" tIns="0" bIns="0">
            <a:spAutoFit/>
          </a:bodyPr>
          <a:lstStyle/>
          <a:p>
            <a:pPr>
              <a:spcAft>
                <a:spcPts val="500"/>
              </a:spcAft>
              <a:defRPr sz="2000" b="1">
                <a:solidFill>
                  <a:srgbClr val="172C43"/>
                </a:solidFill>
                <a:latin typeface="Aptos"/>
              </a:defRPr>
            </a:pPr>
            <a:r>
              <a:t>Saved global instructions</a:t>
            </a:r>
          </a:p>
        </p:txBody>
      </p:sp>
      <p:sp>
        <p:nvSpPr>
          <p:cNvPr id="8" name="TextBox 7"/>
          <p:cNvSpPr txBox="1"/>
          <p:nvPr/>
        </p:nvSpPr>
        <p:spPr>
          <a:xfrm>
            <a:off x="3401568" y="1847088"/>
            <a:ext cx="2578608" cy="292608"/>
          </a:xfrm>
          <a:prstGeom prst="rect">
            <a:avLst/>
          </a:prstGeom>
          <a:noFill/>
        </p:spPr>
        <p:txBody>
          <a:bodyPr wrap="square" lIns="0" rIns="0" tIns="0" bIns="0">
            <a:spAutoFit/>
          </a:bodyPr>
          <a:lstStyle/>
          <a:p>
            <a:pPr>
              <a:spcAft>
                <a:spcPts val="500"/>
              </a:spcAft>
              <a:defRPr sz="1400" b="1">
                <a:solidFill>
                  <a:srgbClr val="066B67"/>
                </a:solidFill>
                <a:latin typeface="Aptos"/>
              </a:defRPr>
            </a:pPr>
            <a:r>
              <a:t>02</a:t>
            </a:r>
          </a:p>
        </p:txBody>
      </p:sp>
      <p:sp>
        <p:nvSpPr>
          <p:cNvPr id="9" name="TextBox 8"/>
          <p:cNvSpPr txBox="1"/>
          <p:nvPr/>
        </p:nvSpPr>
        <p:spPr>
          <a:xfrm>
            <a:off x="3401568" y="2267712"/>
            <a:ext cx="2560320" cy="914400"/>
          </a:xfrm>
          <a:prstGeom prst="rect">
            <a:avLst/>
          </a:prstGeom>
          <a:noFill/>
        </p:spPr>
        <p:txBody>
          <a:bodyPr wrap="square" lIns="0" rIns="0" tIns="0" bIns="0">
            <a:spAutoFit/>
          </a:bodyPr>
          <a:lstStyle/>
          <a:p>
            <a:pPr>
              <a:spcAft>
                <a:spcPts val="500"/>
              </a:spcAft>
              <a:defRPr sz="2000" b="1">
                <a:solidFill>
                  <a:srgbClr val="172C43"/>
                </a:solidFill>
                <a:latin typeface="Aptos"/>
              </a:defRPr>
            </a:pPr>
            <a:r>
              <a:t>Agent-specific instructions</a:t>
            </a:r>
          </a:p>
        </p:txBody>
      </p:sp>
      <p:sp>
        <p:nvSpPr>
          <p:cNvPr id="10" name="TextBox 9"/>
          <p:cNvSpPr txBox="1"/>
          <p:nvPr/>
        </p:nvSpPr>
        <p:spPr>
          <a:xfrm>
            <a:off x="6254496" y="1847088"/>
            <a:ext cx="2578608" cy="292608"/>
          </a:xfrm>
          <a:prstGeom prst="rect">
            <a:avLst/>
          </a:prstGeom>
          <a:noFill/>
        </p:spPr>
        <p:txBody>
          <a:bodyPr wrap="square" lIns="0" rIns="0" tIns="0" bIns="0">
            <a:spAutoFit/>
          </a:bodyPr>
          <a:lstStyle/>
          <a:p>
            <a:pPr>
              <a:spcAft>
                <a:spcPts val="500"/>
              </a:spcAft>
              <a:defRPr sz="1400" b="1">
                <a:solidFill>
                  <a:srgbClr val="066B67"/>
                </a:solidFill>
                <a:latin typeface="Aptos"/>
              </a:defRPr>
            </a:pPr>
            <a:r>
              <a:t>03</a:t>
            </a:r>
          </a:p>
        </p:txBody>
      </p:sp>
      <p:sp>
        <p:nvSpPr>
          <p:cNvPr id="11" name="TextBox 10"/>
          <p:cNvSpPr txBox="1"/>
          <p:nvPr/>
        </p:nvSpPr>
        <p:spPr>
          <a:xfrm>
            <a:off x="6254496" y="2267712"/>
            <a:ext cx="2560320" cy="914400"/>
          </a:xfrm>
          <a:prstGeom prst="rect">
            <a:avLst/>
          </a:prstGeom>
          <a:noFill/>
        </p:spPr>
        <p:txBody>
          <a:bodyPr wrap="square" lIns="0" rIns="0" tIns="0" bIns="0">
            <a:spAutoFit/>
          </a:bodyPr>
          <a:lstStyle/>
          <a:p>
            <a:pPr>
              <a:spcAft>
                <a:spcPts val="500"/>
              </a:spcAft>
              <a:defRPr sz="2000" b="1">
                <a:solidFill>
                  <a:srgbClr val="172C43"/>
                </a:solidFill>
                <a:latin typeface="Aptos"/>
              </a:defRPr>
            </a:pPr>
            <a:r>
              <a:t>Startup context</a:t>
            </a:r>
          </a:p>
        </p:txBody>
      </p:sp>
      <p:sp>
        <p:nvSpPr>
          <p:cNvPr id="12" name="TextBox 11"/>
          <p:cNvSpPr txBox="1"/>
          <p:nvPr/>
        </p:nvSpPr>
        <p:spPr>
          <a:xfrm>
            <a:off x="9107424" y="1847088"/>
            <a:ext cx="2578608" cy="292608"/>
          </a:xfrm>
          <a:prstGeom prst="rect">
            <a:avLst/>
          </a:prstGeom>
          <a:noFill/>
        </p:spPr>
        <p:txBody>
          <a:bodyPr wrap="square" lIns="0" rIns="0" tIns="0" bIns="0">
            <a:spAutoFit/>
          </a:bodyPr>
          <a:lstStyle/>
          <a:p>
            <a:pPr>
              <a:spcAft>
                <a:spcPts val="500"/>
              </a:spcAft>
              <a:defRPr sz="1400" b="1">
                <a:solidFill>
                  <a:srgbClr val="066B67"/>
                </a:solidFill>
                <a:latin typeface="Aptos"/>
              </a:defRPr>
            </a:pPr>
            <a:r>
              <a:t>04</a:t>
            </a:r>
          </a:p>
        </p:txBody>
      </p:sp>
      <p:sp>
        <p:nvSpPr>
          <p:cNvPr id="13" name="TextBox 12"/>
          <p:cNvSpPr txBox="1"/>
          <p:nvPr/>
        </p:nvSpPr>
        <p:spPr>
          <a:xfrm>
            <a:off x="9107424" y="2267712"/>
            <a:ext cx="2560320" cy="914400"/>
          </a:xfrm>
          <a:prstGeom prst="rect">
            <a:avLst/>
          </a:prstGeom>
          <a:noFill/>
        </p:spPr>
        <p:txBody>
          <a:bodyPr wrap="square" lIns="0" rIns="0" tIns="0" bIns="0">
            <a:spAutoFit/>
          </a:bodyPr>
          <a:lstStyle/>
          <a:p>
            <a:pPr>
              <a:spcAft>
                <a:spcPts val="500"/>
              </a:spcAft>
              <a:defRPr sz="2000" b="1">
                <a:solidFill>
                  <a:srgbClr val="172C43"/>
                </a:solidFill>
                <a:latin typeface="Aptos"/>
              </a:defRPr>
            </a:pPr>
            <a:r>
              <a:t>Session behavior</a:t>
            </a:r>
          </a:p>
        </p:txBody>
      </p:sp>
      <p:sp>
        <p:nvSpPr>
          <p:cNvPr id="14" name="TextBox 13"/>
          <p:cNvSpPr txBox="1"/>
          <p:nvPr/>
        </p:nvSpPr>
        <p:spPr>
          <a:xfrm>
            <a:off x="548640" y="3456432"/>
            <a:ext cx="5486400" cy="274320"/>
          </a:xfrm>
          <a:prstGeom prst="rect">
            <a:avLst/>
          </a:prstGeom>
          <a:noFill/>
        </p:spPr>
        <p:txBody>
          <a:bodyPr wrap="square" lIns="0" rIns="0" tIns="0" bIns="0">
            <a:spAutoFit/>
          </a:bodyPr>
          <a:lstStyle/>
          <a:p>
            <a:pPr>
              <a:spcAft>
                <a:spcPts val="500"/>
              </a:spcAft>
              <a:defRPr sz="1200" b="1">
                <a:solidFill>
                  <a:srgbClr val="066B67"/>
                </a:solidFill>
                <a:latin typeface="Aptos"/>
              </a:defRPr>
            </a:pPr>
            <a:r>
              <a:t>DOCUMENTED OPERATION</a:t>
            </a:r>
          </a:p>
        </p:txBody>
      </p:sp>
      <p:sp>
        <p:nvSpPr>
          <p:cNvPr id="15" name="TextBox 14"/>
          <p:cNvSpPr txBox="1"/>
          <p:nvPr/>
        </p:nvSpPr>
        <p:spPr>
          <a:xfrm>
            <a:off x="548640" y="3858768"/>
            <a:ext cx="5532120" cy="1920240"/>
          </a:xfrm>
          <a:prstGeom prst="rect">
            <a:avLst/>
          </a:prstGeom>
          <a:noFill/>
        </p:spPr>
        <p:txBody>
          <a:bodyPr wrap="square" lIns="0" rIns="0" tIns="0" bIns="0">
            <a:spAutoFit/>
          </a:bodyPr>
          <a:lstStyle/>
          <a:p>
            <a:pPr>
              <a:spcAft>
                <a:spcPts val="500"/>
              </a:spcAft>
              <a:defRPr sz="1800" b="0">
                <a:solidFill>
                  <a:srgbClr val="172C43"/>
                </a:solidFill>
                <a:latin typeface="Aptos"/>
              </a:defRPr>
            </a:pPr>
            <a:r>
              <a:t>The service retrieves applicable AGENTS.md content at startup rather than letting the agent select it by relevance.</a:t>
            </a:r>
          </a:p>
        </p:txBody>
      </p:sp>
      <p:sp>
        <p:nvSpPr>
          <p:cNvPr id="16" name="TextBox 15"/>
          <p:cNvSpPr txBox="1"/>
          <p:nvPr/>
        </p:nvSpPr>
        <p:spPr>
          <a:xfrm>
            <a:off x="6400800" y="3456432"/>
            <a:ext cx="5212080" cy="274320"/>
          </a:xfrm>
          <a:prstGeom prst="rect">
            <a:avLst/>
          </a:prstGeom>
          <a:noFill/>
        </p:spPr>
        <p:txBody>
          <a:bodyPr wrap="square" lIns="0" rIns="0" tIns="0" bIns="0">
            <a:spAutoFit/>
          </a:bodyPr>
          <a:lstStyle/>
          <a:p>
            <a:pPr>
              <a:spcAft>
                <a:spcPts val="500"/>
              </a:spcAft>
              <a:defRPr sz="1200" b="1">
                <a:solidFill>
                  <a:srgbClr val="066B67"/>
                </a:solidFill>
                <a:latin typeface="Aptos"/>
              </a:defRPr>
            </a:pPr>
            <a:r>
              <a:t>STATE AND LIFECYCLE</a:t>
            </a:r>
          </a:p>
        </p:txBody>
      </p:sp>
      <p:sp>
        <p:nvSpPr>
          <p:cNvPr id="17" name="TextBox 16"/>
          <p:cNvSpPr txBox="1"/>
          <p:nvPr/>
        </p:nvSpPr>
        <p:spPr>
          <a:xfrm>
            <a:off x="6400800" y="3858768"/>
            <a:ext cx="5120640" cy="1920240"/>
          </a:xfrm>
          <a:prstGeom prst="rect">
            <a:avLst/>
          </a:prstGeom>
          <a:noFill/>
        </p:spPr>
        <p:txBody>
          <a:bodyPr wrap="square" lIns="0" rIns="0" tIns="0" bIns="0">
            <a:spAutoFit/>
          </a:bodyPr>
          <a:lstStyle/>
          <a:p>
            <a:pPr>
              <a:spcAft>
                <a:spcPts val="500"/>
              </a:spcAft>
              <a:defRPr sz="1800" b="0">
                <a:solidFill>
                  <a:srgbClr val="172C43"/>
                </a:solidFill>
                <a:latin typeface="Aptos"/>
              </a:defRPr>
            </a:pPr>
            <a:r>
              <a:t>Saved changes apply to new sessions; already-running sessions keep their startup content.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TextBox 1"/>
          <p:cNvSpPr txBox="1"/>
          <p:nvPr/>
        </p:nvSpPr>
        <p:spPr>
          <a:xfrm>
            <a:off x="548640" y="256032"/>
            <a:ext cx="10972800" cy="274320"/>
          </a:xfrm>
          <a:prstGeom prst="rect">
            <a:avLst/>
          </a:prstGeom>
          <a:noFill/>
        </p:spPr>
        <p:txBody>
          <a:bodyPr wrap="square" lIns="0" rIns="0" tIns="0" bIns="0">
            <a:spAutoFit/>
          </a:bodyPr>
          <a:lstStyle/>
          <a:p>
            <a:pPr>
              <a:spcAft>
                <a:spcPts val="500"/>
              </a:spcAft>
              <a:defRPr sz="1100" b="1">
                <a:solidFill>
                  <a:srgbClr val="066B67"/>
                </a:solidFill>
                <a:latin typeface="Aptos"/>
              </a:defRPr>
            </a:pPr>
            <a:r>
              <a:t>AWS DEVOPS AGENT / PLATFORM REFERENCE</a:t>
            </a:r>
          </a:p>
        </p:txBody>
      </p:sp>
      <p:sp>
        <p:nvSpPr>
          <p:cNvPr id="3" name="TextBox 2"/>
          <p:cNvSpPr txBox="1"/>
          <p:nvPr/>
        </p:nvSpPr>
        <p:spPr>
          <a:xfrm>
            <a:off x="548640" y="777240"/>
            <a:ext cx="11064240" cy="914400"/>
          </a:xfrm>
          <a:prstGeom prst="rect">
            <a:avLst/>
          </a:prstGeom>
          <a:noFill/>
        </p:spPr>
        <p:txBody>
          <a:bodyPr wrap="square" lIns="0" rIns="0" tIns="0" bIns="0">
            <a:spAutoFit/>
          </a:bodyPr>
          <a:lstStyle/>
          <a:p>
            <a:pPr>
              <a:spcAft>
                <a:spcPts val="500"/>
              </a:spcAft>
              <a:defRPr sz="2900" b="1">
                <a:solidFill>
                  <a:srgbClr val="172C43"/>
                </a:solidFill>
                <a:latin typeface="Aptos"/>
              </a:defRPr>
            </a:pPr>
            <a:r>
              <a:t>Startup instruction injection — configuration</a:t>
            </a:r>
          </a:p>
        </p:txBody>
      </p:sp>
      <p:sp>
        <p:nvSpPr>
          <p:cNvPr id="4" name="TextBox 3"/>
          <p:cNvSpPr txBox="1"/>
          <p:nvPr/>
        </p:nvSpPr>
        <p:spPr>
          <a:xfrm>
            <a:off x="548640" y="6400800"/>
            <a:ext cx="10698480" cy="237744"/>
          </a:xfrm>
          <a:prstGeom prst="rect">
            <a:avLst/>
          </a:prstGeom>
          <a:noFill/>
        </p:spPr>
        <p:txBody>
          <a:bodyPr wrap="square" lIns="0" rIns="0" tIns="0" bIns="0">
            <a:spAutoFit/>
          </a:bodyPr>
          <a:lstStyle/>
          <a:p>
            <a:pPr>
              <a:spcAft>
                <a:spcPts val="500"/>
              </a:spcAft>
              <a:defRPr sz="1000" b="0">
                <a:solidFill>
                  <a:srgbClr val="536579"/>
                </a:solidFill>
                <a:latin typeface="Aptos"/>
              </a:defRPr>
            </a:pPr>
            <a:r>
              <a:t>D-M04 · Enablement and proposed verification · Untimed</a:t>
            </a:r>
          </a:p>
        </p:txBody>
      </p:sp>
      <p:sp>
        <p:nvSpPr>
          <p:cNvPr id="5" name="TextBox 4"/>
          <p:cNvSpPr txBox="1"/>
          <p:nvPr/>
        </p:nvSpPr>
        <p:spPr>
          <a:xfrm>
            <a:off x="11292840" y="6400800"/>
            <a:ext cx="320040" cy="237744"/>
          </a:xfrm>
          <a:prstGeom prst="rect">
            <a:avLst/>
          </a:prstGeom>
          <a:noFill/>
        </p:spPr>
        <p:txBody>
          <a:bodyPr wrap="square" lIns="0" rIns="0" tIns="0" bIns="0">
            <a:spAutoFit/>
          </a:bodyPr>
          <a:lstStyle/>
          <a:p>
            <a:pPr>
              <a:spcAft>
                <a:spcPts val="500"/>
              </a:spcAft>
              <a:defRPr sz="1000" b="0">
                <a:solidFill>
                  <a:srgbClr val="172C43"/>
                </a:solidFill>
                <a:latin typeface="Aptos"/>
              </a:defRPr>
            </a:pPr>
            <a:r>
              <a:t>21</a:t>
            </a:r>
          </a:p>
        </p:txBody>
      </p:sp>
      <p:sp>
        <p:nvSpPr>
          <p:cNvPr id="6" name="TextBox 5"/>
          <p:cNvSpPr txBox="1"/>
          <p:nvPr/>
        </p:nvSpPr>
        <p:spPr>
          <a:xfrm>
            <a:off x="548640" y="1874519"/>
            <a:ext cx="365760" cy="365760"/>
          </a:xfrm>
          <a:prstGeom prst="rect">
            <a:avLst/>
          </a:prstGeom>
          <a:noFill/>
        </p:spPr>
        <p:txBody>
          <a:bodyPr wrap="square" lIns="0" rIns="0" tIns="0" bIns="0">
            <a:spAutoFit/>
          </a:bodyPr>
          <a:lstStyle/>
          <a:p>
            <a:pPr>
              <a:spcAft>
                <a:spcPts val="500"/>
              </a:spcAft>
              <a:defRPr sz="1400" b="1">
                <a:solidFill>
                  <a:srgbClr val="066B67"/>
                </a:solidFill>
                <a:latin typeface="Aptos"/>
              </a:defRPr>
            </a:pPr>
            <a:r>
              <a:t>01</a:t>
            </a:r>
          </a:p>
        </p:txBody>
      </p:sp>
      <p:sp>
        <p:nvSpPr>
          <p:cNvPr id="7" name="TextBox 6"/>
          <p:cNvSpPr txBox="1"/>
          <p:nvPr/>
        </p:nvSpPr>
        <p:spPr>
          <a:xfrm>
            <a:off x="1097280" y="1874519"/>
            <a:ext cx="4663440" cy="932688"/>
          </a:xfrm>
          <a:prstGeom prst="rect">
            <a:avLst/>
          </a:prstGeom>
          <a:noFill/>
        </p:spPr>
        <p:txBody>
          <a:bodyPr wrap="square" lIns="0" rIns="0" tIns="0" bIns="0">
            <a:spAutoFit/>
          </a:bodyPr>
          <a:lstStyle/>
          <a:p>
            <a:pPr>
              <a:spcAft>
                <a:spcPts val="500"/>
              </a:spcAft>
              <a:defRPr sz="1800" b="0">
                <a:solidFill>
                  <a:srgbClr val="172C43"/>
                </a:solidFill>
                <a:latin typeface="Aptos"/>
              </a:defRPr>
            </a:pPr>
            <a:r>
              <a:t>Open Agents → Managed agents and select the relevant agent.</a:t>
            </a:r>
          </a:p>
        </p:txBody>
      </p:sp>
      <p:sp>
        <p:nvSpPr>
          <p:cNvPr id="8" name="TextBox 7"/>
          <p:cNvSpPr txBox="1"/>
          <p:nvPr/>
        </p:nvSpPr>
        <p:spPr>
          <a:xfrm>
            <a:off x="548640" y="2971800"/>
            <a:ext cx="365760" cy="365760"/>
          </a:xfrm>
          <a:prstGeom prst="rect">
            <a:avLst/>
          </a:prstGeom>
          <a:noFill/>
        </p:spPr>
        <p:txBody>
          <a:bodyPr wrap="square" lIns="0" rIns="0" tIns="0" bIns="0">
            <a:spAutoFit/>
          </a:bodyPr>
          <a:lstStyle/>
          <a:p>
            <a:pPr>
              <a:spcAft>
                <a:spcPts val="500"/>
              </a:spcAft>
              <a:defRPr sz="1400" b="1">
                <a:solidFill>
                  <a:srgbClr val="066B67"/>
                </a:solidFill>
                <a:latin typeface="Aptos"/>
              </a:defRPr>
            </a:pPr>
            <a:r>
              <a:t>02</a:t>
            </a:r>
          </a:p>
        </p:txBody>
      </p:sp>
      <p:sp>
        <p:nvSpPr>
          <p:cNvPr id="9" name="TextBox 8"/>
          <p:cNvSpPr txBox="1"/>
          <p:nvPr/>
        </p:nvSpPr>
        <p:spPr>
          <a:xfrm>
            <a:off x="1097280" y="2971800"/>
            <a:ext cx="4663440" cy="932688"/>
          </a:xfrm>
          <a:prstGeom prst="rect">
            <a:avLst/>
          </a:prstGeom>
          <a:noFill/>
        </p:spPr>
        <p:txBody>
          <a:bodyPr wrap="square" lIns="0" rIns="0" tIns="0" bIns="0">
            <a:spAutoFit/>
          </a:bodyPr>
          <a:lstStyle/>
          <a:p>
            <a:pPr>
              <a:spcAft>
                <a:spcPts val="500"/>
              </a:spcAft>
              <a:defRPr sz="1800" b="0">
                <a:solidFill>
                  <a:srgbClr val="172C43"/>
                </a:solidFill>
                <a:latin typeface="Aptos"/>
              </a:defRPr>
            </a:pPr>
            <a:r>
              <a:t>On Agent definition, edit Global instructions or that agent's own instructions.</a:t>
            </a:r>
          </a:p>
        </p:txBody>
      </p:sp>
      <p:sp>
        <p:nvSpPr>
          <p:cNvPr id="10" name="TextBox 9"/>
          <p:cNvSpPr txBox="1"/>
          <p:nvPr/>
        </p:nvSpPr>
        <p:spPr>
          <a:xfrm>
            <a:off x="548640" y="4069079"/>
            <a:ext cx="365760" cy="365760"/>
          </a:xfrm>
          <a:prstGeom prst="rect">
            <a:avLst/>
          </a:prstGeom>
          <a:noFill/>
        </p:spPr>
        <p:txBody>
          <a:bodyPr wrap="square" lIns="0" rIns="0" tIns="0" bIns="0">
            <a:spAutoFit/>
          </a:bodyPr>
          <a:lstStyle/>
          <a:p>
            <a:pPr>
              <a:spcAft>
                <a:spcPts val="500"/>
              </a:spcAft>
              <a:defRPr sz="1400" b="1">
                <a:solidFill>
                  <a:srgbClr val="066B67"/>
                </a:solidFill>
                <a:latin typeface="Aptos"/>
              </a:defRPr>
            </a:pPr>
            <a:r>
              <a:t>03</a:t>
            </a:r>
          </a:p>
        </p:txBody>
      </p:sp>
      <p:sp>
        <p:nvSpPr>
          <p:cNvPr id="11" name="TextBox 10"/>
          <p:cNvSpPr txBox="1"/>
          <p:nvPr/>
        </p:nvSpPr>
        <p:spPr>
          <a:xfrm>
            <a:off x="1097280" y="4069079"/>
            <a:ext cx="4663440" cy="932688"/>
          </a:xfrm>
          <a:prstGeom prst="rect">
            <a:avLst/>
          </a:prstGeom>
          <a:noFill/>
        </p:spPr>
        <p:txBody>
          <a:bodyPr wrap="square" lIns="0" rIns="0" tIns="0" bIns="0">
            <a:spAutoFit/>
          </a:bodyPr>
          <a:lstStyle/>
          <a:p>
            <a:pPr>
              <a:spcAft>
                <a:spcPts val="500"/>
              </a:spcAft>
              <a:defRPr sz="1800" b="0">
                <a:solidFill>
                  <a:srgbClr val="172C43"/>
                </a:solidFill>
                <a:latin typeface="Aptos"/>
              </a:defRPr>
            </a:pPr>
            <a:r>
              <a:t>Save and start a new session to assess the change.</a:t>
            </a:r>
          </a:p>
        </p:txBody>
      </p:sp>
      <p:sp>
        <p:nvSpPr>
          <p:cNvPr id="12" name="TextBox 11"/>
          <p:cNvSpPr txBox="1"/>
          <p:nvPr/>
        </p:nvSpPr>
        <p:spPr>
          <a:xfrm>
            <a:off x="6309360" y="1874519"/>
            <a:ext cx="5212080" cy="274320"/>
          </a:xfrm>
          <a:prstGeom prst="rect">
            <a:avLst/>
          </a:prstGeom>
          <a:noFill/>
        </p:spPr>
        <p:txBody>
          <a:bodyPr wrap="square" lIns="0" rIns="0" tIns="0" bIns="0">
            <a:spAutoFit/>
          </a:bodyPr>
          <a:lstStyle/>
          <a:p>
            <a:pPr>
              <a:spcAft>
                <a:spcPts val="500"/>
              </a:spcAft>
              <a:defRPr sz="1200" b="1">
                <a:solidFill>
                  <a:srgbClr val="066B67"/>
                </a:solidFill>
                <a:latin typeface="Aptos"/>
              </a:defRPr>
            </a:pPr>
            <a:r>
              <a:t>CONTROLS</a:t>
            </a:r>
          </a:p>
        </p:txBody>
      </p:sp>
      <p:sp>
        <p:nvSpPr>
          <p:cNvPr id="13" name="TextBox 12"/>
          <p:cNvSpPr txBox="1"/>
          <p:nvPr/>
        </p:nvSpPr>
        <p:spPr>
          <a:xfrm>
            <a:off x="6309360" y="2267712"/>
            <a:ext cx="5212080" cy="1234440"/>
          </a:xfrm>
          <a:prstGeom prst="rect">
            <a:avLst/>
          </a:prstGeom>
          <a:noFill/>
        </p:spPr>
        <p:txBody>
          <a:bodyPr wrap="square" lIns="0" rIns="0" tIns="0" bIns="0">
            <a:spAutoFit/>
          </a:bodyPr>
          <a:lstStyle/>
          <a:p>
            <a:pPr>
              <a:spcAft>
                <a:spcPts val="500"/>
              </a:spcAft>
              <a:defRPr sz="1700" b="0">
                <a:solidFill>
                  <a:srgbClr val="172C43"/>
                </a:solidFill>
                <a:latin typeface="Aptos"/>
              </a:defRPr>
            </a:pPr>
            <a:r>
              <a:t>Global changes affect all applicable managed agents. Instructions guide behavior but do not expand or restrict IAM authorization by themselves.</a:t>
            </a:r>
          </a:p>
        </p:txBody>
      </p:sp>
      <p:sp>
        <p:nvSpPr>
          <p:cNvPr id="14" name="TextBox 13"/>
          <p:cNvSpPr txBox="1"/>
          <p:nvPr/>
        </p:nvSpPr>
        <p:spPr>
          <a:xfrm>
            <a:off x="6309360" y="3749039"/>
            <a:ext cx="5212080" cy="274320"/>
          </a:xfrm>
          <a:prstGeom prst="rect">
            <a:avLst/>
          </a:prstGeom>
          <a:noFill/>
        </p:spPr>
        <p:txBody>
          <a:bodyPr wrap="square" lIns="0" rIns="0" tIns="0" bIns="0">
            <a:spAutoFit/>
          </a:bodyPr>
          <a:lstStyle/>
          <a:p>
            <a:pPr>
              <a:spcAft>
                <a:spcPts val="500"/>
              </a:spcAft>
              <a:defRPr sz="1100" b="1">
                <a:solidFill>
                  <a:srgbClr val="066B67"/>
                </a:solidFill>
                <a:latin typeface="Aptos"/>
              </a:defRPr>
            </a:pPr>
            <a:r>
              <a:t>PROPOSED VERIFICATION — NOT EXECUTED</a:t>
            </a:r>
          </a:p>
        </p:txBody>
      </p:sp>
      <p:sp>
        <p:nvSpPr>
          <p:cNvPr id="15" name="TextBox 14"/>
          <p:cNvSpPr txBox="1"/>
          <p:nvPr/>
        </p:nvSpPr>
        <p:spPr>
          <a:xfrm>
            <a:off x="6309360" y="4160520"/>
            <a:ext cx="5212080" cy="1691640"/>
          </a:xfrm>
          <a:prstGeom prst="rect">
            <a:avLst/>
          </a:prstGeom>
          <a:noFill/>
        </p:spPr>
        <p:txBody>
          <a:bodyPr wrap="square" lIns="0" rIns="0" tIns="0" bIns="0">
            <a:spAutoFit/>
          </a:bodyPr>
          <a:lstStyle/>
          <a:p>
            <a:pPr>
              <a:spcAft>
                <a:spcPts val="500"/>
              </a:spcAft>
              <a:defRPr sz="1700" b="0">
                <a:solidFill>
                  <a:srgbClr val="172C43"/>
                </a:solidFill>
                <a:latin typeface="Aptos"/>
              </a:defRPr>
            </a:pPr>
            <a:r>
              <a:t>Proposed check: use a harmless output-format instruction, compare a pre-existing session with a new one, and record the content revision used. Treat compliance as observed behavior, not guaranteed policy enforcement.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TextBox 1"/>
          <p:cNvSpPr txBox="1"/>
          <p:nvPr/>
        </p:nvSpPr>
        <p:spPr>
          <a:xfrm>
            <a:off x="548640" y="256032"/>
            <a:ext cx="10972800" cy="274320"/>
          </a:xfrm>
          <a:prstGeom prst="rect">
            <a:avLst/>
          </a:prstGeom>
          <a:noFill/>
        </p:spPr>
        <p:txBody>
          <a:bodyPr wrap="square" lIns="0" rIns="0" tIns="0" bIns="0">
            <a:spAutoFit/>
          </a:bodyPr>
          <a:lstStyle/>
          <a:p>
            <a:pPr>
              <a:spcAft>
                <a:spcPts val="500"/>
              </a:spcAft>
              <a:defRPr sz="1100" b="1">
                <a:solidFill>
                  <a:srgbClr val="066B67"/>
                </a:solidFill>
                <a:latin typeface="Aptos"/>
              </a:defRPr>
            </a:pPr>
            <a:r>
              <a:t>AWS DEVOPS AGENT / PLATFORM REFERENCE</a:t>
            </a:r>
          </a:p>
        </p:txBody>
      </p:sp>
      <p:sp>
        <p:nvSpPr>
          <p:cNvPr id="3" name="TextBox 2"/>
          <p:cNvSpPr txBox="1"/>
          <p:nvPr/>
        </p:nvSpPr>
        <p:spPr>
          <a:xfrm>
            <a:off x="548640" y="777240"/>
            <a:ext cx="11064240" cy="914400"/>
          </a:xfrm>
          <a:prstGeom prst="rect">
            <a:avLst/>
          </a:prstGeom>
          <a:noFill/>
        </p:spPr>
        <p:txBody>
          <a:bodyPr wrap="square" lIns="0" rIns="0" tIns="0" bIns="0">
            <a:spAutoFit/>
          </a:bodyPr>
          <a:lstStyle/>
          <a:p>
            <a:pPr>
              <a:spcAft>
                <a:spcPts val="500"/>
              </a:spcAft>
              <a:defRPr sz="2900" b="1">
                <a:solidFill>
                  <a:srgbClr val="172C43"/>
                </a:solidFill>
                <a:latin typeface="Aptos"/>
              </a:defRPr>
            </a:pPr>
            <a:r>
              <a:t>Description-based skill selection</a:t>
            </a:r>
          </a:p>
        </p:txBody>
      </p:sp>
      <p:sp>
        <p:nvSpPr>
          <p:cNvPr id="4" name="TextBox 3"/>
          <p:cNvSpPr txBox="1"/>
          <p:nvPr/>
        </p:nvSpPr>
        <p:spPr>
          <a:xfrm>
            <a:off x="548640" y="6400800"/>
            <a:ext cx="10698480" cy="237744"/>
          </a:xfrm>
          <a:prstGeom prst="rect">
            <a:avLst/>
          </a:prstGeom>
          <a:noFill/>
        </p:spPr>
        <p:txBody>
          <a:bodyPr wrap="square" lIns="0" rIns="0" tIns="0" bIns="0">
            <a:spAutoFit/>
          </a:bodyPr>
          <a:lstStyle/>
          <a:p>
            <a:pPr>
              <a:spcAft>
                <a:spcPts val="500"/>
              </a:spcAft>
              <a:defRPr sz="1000" b="0">
                <a:solidFill>
                  <a:srgbClr val="536579"/>
                </a:solidFill>
                <a:latin typeface="Aptos"/>
              </a:defRPr>
            </a:pPr>
            <a:r>
              <a:t>D-M05 · Process and retained state · Untimed</a:t>
            </a:r>
          </a:p>
        </p:txBody>
      </p:sp>
      <p:sp>
        <p:nvSpPr>
          <p:cNvPr id="5" name="TextBox 4"/>
          <p:cNvSpPr txBox="1"/>
          <p:nvPr/>
        </p:nvSpPr>
        <p:spPr>
          <a:xfrm>
            <a:off x="11292840" y="6400800"/>
            <a:ext cx="320040" cy="237744"/>
          </a:xfrm>
          <a:prstGeom prst="rect">
            <a:avLst/>
          </a:prstGeom>
          <a:noFill/>
        </p:spPr>
        <p:txBody>
          <a:bodyPr wrap="square" lIns="0" rIns="0" tIns="0" bIns="0">
            <a:spAutoFit/>
          </a:bodyPr>
          <a:lstStyle/>
          <a:p>
            <a:pPr>
              <a:spcAft>
                <a:spcPts val="500"/>
              </a:spcAft>
              <a:defRPr sz="1000" b="0">
                <a:solidFill>
                  <a:srgbClr val="172C43"/>
                </a:solidFill>
                <a:latin typeface="Aptos"/>
              </a:defRPr>
            </a:pPr>
            <a:r>
              <a:t>22</a:t>
            </a:r>
          </a:p>
        </p:txBody>
      </p:sp>
      <p:sp>
        <p:nvSpPr>
          <p:cNvPr id="6" name="TextBox 5"/>
          <p:cNvSpPr txBox="1"/>
          <p:nvPr/>
        </p:nvSpPr>
        <p:spPr>
          <a:xfrm>
            <a:off x="548640" y="1847088"/>
            <a:ext cx="2578608" cy="292608"/>
          </a:xfrm>
          <a:prstGeom prst="rect">
            <a:avLst/>
          </a:prstGeom>
          <a:noFill/>
        </p:spPr>
        <p:txBody>
          <a:bodyPr wrap="square" lIns="0" rIns="0" tIns="0" bIns="0">
            <a:spAutoFit/>
          </a:bodyPr>
          <a:lstStyle/>
          <a:p>
            <a:pPr>
              <a:spcAft>
                <a:spcPts val="500"/>
              </a:spcAft>
              <a:defRPr sz="1400" b="1">
                <a:solidFill>
                  <a:srgbClr val="066B67"/>
                </a:solidFill>
                <a:latin typeface="Aptos"/>
              </a:defRPr>
            </a:pPr>
            <a:r>
              <a:t>01</a:t>
            </a:r>
          </a:p>
        </p:txBody>
      </p:sp>
      <p:sp>
        <p:nvSpPr>
          <p:cNvPr id="7" name="TextBox 6"/>
          <p:cNvSpPr txBox="1"/>
          <p:nvPr/>
        </p:nvSpPr>
        <p:spPr>
          <a:xfrm>
            <a:off x="548640" y="2267712"/>
            <a:ext cx="2560320" cy="914400"/>
          </a:xfrm>
          <a:prstGeom prst="rect">
            <a:avLst/>
          </a:prstGeom>
          <a:noFill/>
        </p:spPr>
        <p:txBody>
          <a:bodyPr wrap="square" lIns="0" rIns="0" tIns="0" bIns="0">
            <a:spAutoFit/>
          </a:bodyPr>
          <a:lstStyle/>
          <a:p>
            <a:pPr>
              <a:spcAft>
                <a:spcPts val="500"/>
              </a:spcAft>
              <a:defRPr sz="2000" b="1">
                <a:solidFill>
                  <a:srgbClr val="172C43"/>
                </a:solidFill>
                <a:latin typeface="Aptos"/>
              </a:defRPr>
            </a:pPr>
            <a:r>
              <a:t>Task and agent type</a:t>
            </a:r>
          </a:p>
        </p:txBody>
      </p:sp>
      <p:sp>
        <p:nvSpPr>
          <p:cNvPr id="8" name="TextBox 7"/>
          <p:cNvSpPr txBox="1"/>
          <p:nvPr/>
        </p:nvSpPr>
        <p:spPr>
          <a:xfrm>
            <a:off x="3401568" y="1847088"/>
            <a:ext cx="2578608" cy="292608"/>
          </a:xfrm>
          <a:prstGeom prst="rect">
            <a:avLst/>
          </a:prstGeom>
          <a:noFill/>
        </p:spPr>
        <p:txBody>
          <a:bodyPr wrap="square" lIns="0" rIns="0" tIns="0" bIns="0">
            <a:spAutoFit/>
          </a:bodyPr>
          <a:lstStyle/>
          <a:p>
            <a:pPr>
              <a:spcAft>
                <a:spcPts val="500"/>
              </a:spcAft>
              <a:defRPr sz="1400" b="1">
                <a:solidFill>
                  <a:srgbClr val="066B67"/>
                </a:solidFill>
                <a:latin typeface="Aptos"/>
              </a:defRPr>
            </a:pPr>
            <a:r>
              <a:t>02</a:t>
            </a:r>
          </a:p>
        </p:txBody>
      </p:sp>
      <p:sp>
        <p:nvSpPr>
          <p:cNvPr id="9" name="TextBox 8"/>
          <p:cNvSpPr txBox="1"/>
          <p:nvPr/>
        </p:nvSpPr>
        <p:spPr>
          <a:xfrm>
            <a:off x="3401568" y="2267712"/>
            <a:ext cx="2560320" cy="914400"/>
          </a:xfrm>
          <a:prstGeom prst="rect">
            <a:avLst/>
          </a:prstGeom>
          <a:noFill/>
        </p:spPr>
        <p:txBody>
          <a:bodyPr wrap="square" lIns="0" rIns="0" tIns="0" bIns="0">
            <a:spAutoFit/>
          </a:bodyPr>
          <a:lstStyle/>
          <a:p>
            <a:pPr>
              <a:spcAft>
                <a:spcPts val="500"/>
              </a:spcAft>
              <a:defRPr sz="2000" b="1">
                <a:solidFill>
                  <a:srgbClr val="172C43"/>
                </a:solidFill>
                <a:latin typeface="Aptos"/>
              </a:defRPr>
            </a:pPr>
            <a:r>
              <a:t>Skill description</a:t>
            </a:r>
          </a:p>
        </p:txBody>
      </p:sp>
      <p:sp>
        <p:nvSpPr>
          <p:cNvPr id="10" name="TextBox 9"/>
          <p:cNvSpPr txBox="1"/>
          <p:nvPr/>
        </p:nvSpPr>
        <p:spPr>
          <a:xfrm>
            <a:off x="6254496" y="1847088"/>
            <a:ext cx="2578608" cy="292608"/>
          </a:xfrm>
          <a:prstGeom prst="rect">
            <a:avLst/>
          </a:prstGeom>
          <a:noFill/>
        </p:spPr>
        <p:txBody>
          <a:bodyPr wrap="square" lIns="0" rIns="0" tIns="0" bIns="0">
            <a:spAutoFit/>
          </a:bodyPr>
          <a:lstStyle/>
          <a:p>
            <a:pPr>
              <a:spcAft>
                <a:spcPts val="500"/>
              </a:spcAft>
              <a:defRPr sz="1400" b="1">
                <a:solidFill>
                  <a:srgbClr val="066B67"/>
                </a:solidFill>
                <a:latin typeface="Aptos"/>
              </a:defRPr>
            </a:pPr>
            <a:r>
              <a:t>03</a:t>
            </a:r>
          </a:p>
        </p:txBody>
      </p:sp>
      <p:sp>
        <p:nvSpPr>
          <p:cNvPr id="11" name="TextBox 10"/>
          <p:cNvSpPr txBox="1"/>
          <p:nvPr/>
        </p:nvSpPr>
        <p:spPr>
          <a:xfrm>
            <a:off x="6254496" y="2267712"/>
            <a:ext cx="2560320" cy="914400"/>
          </a:xfrm>
          <a:prstGeom prst="rect">
            <a:avLst/>
          </a:prstGeom>
          <a:noFill/>
        </p:spPr>
        <p:txBody>
          <a:bodyPr wrap="square" lIns="0" rIns="0" tIns="0" bIns="0">
            <a:spAutoFit/>
          </a:bodyPr>
          <a:lstStyle/>
          <a:p>
            <a:pPr>
              <a:spcAft>
                <a:spcPts val="500"/>
              </a:spcAft>
              <a:defRPr sz="2000" b="1">
                <a:solidFill>
                  <a:srgbClr val="172C43"/>
                </a:solidFill>
                <a:latin typeface="Aptos"/>
              </a:defRPr>
            </a:pPr>
            <a:r>
              <a:t>Procedure loading</a:t>
            </a:r>
          </a:p>
        </p:txBody>
      </p:sp>
      <p:sp>
        <p:nvSpPr>
          <p:cNvPr id="12" name="TextBox 11"/>
          <p:cNvSpPr txBox="1"/>
          <p:nvPr/>
        </p:nvSpPr>
        <p:spPr>
          <a:xfrm>
            <a:off x="9107424" y="1847088"/>
            <a:ext cx="2578608" cy="292608"/>
          </a:xfrm>
          <a:prstGeom prst="rect">
            <a:avLst/>
          </a:prstGeom>
          <a:noFill/>
        </p:spPr>
        <p:txBody>
          <a:bodyPr wrap="square" lIns="0" rIns="0" tIns="0" bIns="0">
            <a:spAutoFit/>
          </a:bodyPr>
          <a:lstStyle/>
          <a:p>
            <a:pPr>
              <a:spcAft>
                <a:spcPts val="500"/>
              </a:spcAft>
              <a:defRPr sz="1400" b="1">
                <a:solidFill>
                  <a:srgbClr val="066B67"/>
                </a:solidFill>
                <a:latin typeface="Aptos"/>
              </a:defRPr>
            </a:pPr>
            <a:r>
              <a:t>04</a:t>
            </a:r>
          </a:p>
        </p:txBody>
      </p:sp>
      <p:sp>
        <p:nvSpPr>
          <p:cNvPr id="13" name="TextBox 12"/>
          <p:cNvSpPr txBox="1"/>
          <p:nvPr/>
        </p:nvSpPr>
        <p:spPr>
          <a:xfrm>
            <a:off x="9107424" y="2267712"/>
            <a:ext cx="2560320" cy="914400"/>
          </a:xfrm>
          <a:prstGeom prst="rect">
            <a:avLst/>
          </a:prstGeom>
          <a:noFill/>
        </p:spPr>
        <p:txBody>
          <a:bodyPr wrap="square" lIns="0" rIns="0" tIns="0" bIns="0">
            <a:spAutoFit/>
          </a:bodyPr>
          <a:lstStyle/>
          <a:p>
            <a:pPr>
              <a:spcAft>
                <a:spcPts val="500"/>
              </a:spcAft>
              <a:defRPr sz="2000" b="1">
                <a:solidFill>
                  <a:srgbClr val="172C43"/>
                </a:solidFill>
                <a:latin typeface="Aptos"/>
              </a:defRPr>
            </a:pPr>
            <a:r>
              <a:t>Tool-guided work</a:t>
            </a:r>
          </a:p>
        </p:txBody>
      </p:sp>
      <p:sp>
        <p:nvSpPr>
          <p:cNvPr id="14" name="TextBox 13"/>
          <p:cNvSpPr txBox="1"/>
          <p:nvPr/>
        </p:nvSpPr>
        <p:spPr>
          <a:xfrm>
            <a:off x="548640" y="3456432"/>
            <a:ext cx="5486400" cy="274320"/>
          </a:xfrm>
          <a:prstGeom prst="rect">
            <a:avLst/>
          </a:prstGeom>
          <a:noFill/>
        </p:spPr>
        <p:txBody>
          <a:bodyPr wrap="square" lIns="0" rIns="0" tIns="0" bIns="0">
            <a:spAutoFit/>
          </a:bodyPr>
          <a:lstStyle/>
          <a:p>
            <a:pPr>
              <a:spcAft>
                <a:spcPts val="500"/>
              </a:spcAft>
              <a:defRPr sz="1200" b="1">
                <a:solidFill>
                  <a:srgbClr val="066B67"/>
                </a:solidFill>
                <a:latin typeface="Aptos"/>
              </a:defRPr>
            </a:pPr>
            <a:r>
              <a:t>DOCUMENTED OPERATION</a:t>
            </a:r>
          </a:p>
        </p:txBody>
      </p:sp>
      <p:sp>
        <p:nvSpPr>
          <p:cNvPr id="15" name="TextBox 14"/>
          <p:cNvSpPr txBox="1"/>
          <p:nvPr/>
        </p:nvSpPr>
        <p:spPr>
          <a:xfrm>
            <a:off x="548640" y="3858768"/>
            <a:ext cx="5532120" cy="1920240"/>
          </a:xfrm>
          <a:prstGeom prst="rect">
            <a:avLst/>
          </a:prstGeom>
          <a:noFill/>
        </p:spPr>
        <p:txBody>
          <a:bodyPr wrap="square" lIns="0" rIns="0" tIns="0" bIns="0">
            <a:spAutoFit/>
          </a:bodyPr>
          <a:lstStyle/>
          <a:p>
            <a:pPr>
              <a:spcAft>
                <a:spcPts val="500"/>
              </a:spcAft>
              <a:defRPr sz="1800" b="0">
                <a:solidFill>
                  <a:srgbClr val="172C43"/>
                </a:solidFill>
                <a:latin typeface="Aptos"/>
              </a:defRPr>
            </a:pPr>
            <a:r>
              <a:t>Skills supply procedural instructions through SKILL.md and optional supporting resources. They are selected on demand rather than unconditionally injected like standing instructions.</a:t>
            </a:r>
          </a:p>
        </p:txBody>
      </p:sp>
      <p:sp>
        <p:nvSpPr>
          <p:cNvPr id="16" name="TextBox 15"/>
          <p:cNvSpPr txBox="1"/>
          <p:nvPr/>
        </p:nvSpPr>
        <p:spPr>
          <a:xfrm>
            <a:off x="6400800" y="3456432"/>
            <a:ext cx="5212080" cy="274320"/>
          </a:xfrm>
          <a:prstGeom prst="rect">
            <a:avLst/>
          </a:prstGeom>
          <a:noFill/>
        </p:spPr>
        <p:txBody>
          <a:bodyPr wrap="square" lIns="0" rIns="0" tIns="0" bIns="0">
            <a:spAutoFit/>
          </a:bodyPr>
          <a:lstStyle/>
          <a:p>
            <a:pPr>
              <a:spcAft>
                <a:spcPts val="500"/>
              </a:spcAft>
              <a:defRPr sz="1200" b="1">
                <a:solidFill>
                  <a:srgbClr val="066B67"/>
                </a:solidFill>
                <a:latin typeface="Aptos"/>
              </a:defRPr>
            </a:pPr>
            <a:r>
              <a:t>STATE AND LIFECYCLE</a:t>
            </a:r>
          </a:p>
        </p:txBody>
      </p:sp>
      <p:sp>
        <p:nvSpPr>
          <p:cNvPr id="17" name="TextBox 16"/>
          <p:cNvSpPr txBox="1"/>
          <p:nvPr/>
        </p:nvSpPr>
        <p:spPr>
          <a:xfrm>
            <a:off x="6400800" y="3858768"/>
            <a:ext cx="5120640" cy="1920240"/>
          </a:xfrm>
          <a:prstGeom prst="rect">
            <a:avLst/>
          </a:prstGeom>
          <a:noFill/>
        </p:spPr>
        <p:txBody>
          <a:bodyPr wrap="square" lIns="0" rIns="0" tIns="0" bIns="0">
            <a:spAutoFit/>
          </a:bodyPr>
          <a:lstStyle/>
          <a:p>
            <a:pPr>
              <a:spcAft>
                <a:spcPts val="500"/>
              </a:spcAft>
              <a:defRPr sz="1800" b="0">
                <a:solidFill>
                  <a:srgbClr val="172C43"/>
                </a:solidFill>
                <a:latin typeface="Aptos"/>
              </a:defRPr>
            </a:pPr>
            <a:r>
              <a:t>Description, procedure and scope are separate configuration fields that should be maintained together.</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TextBox 1"/>
          <p:cNvSpPr txBox="1"/>
          <p:nvPr/>
        </p:nvSpPr>
        <p:spPr>
          <a:xfrm>
            <a:off x="548640" y="256032"/>
            <a:ext cx="10972800" cy="274320"/>
          </a:xfrm>
          <a:prstGeom prst="rect">
            <a:avLst/>
          </a:prstGeom>
          <a:noFill/>
        </p:spPr>
        <p:txBody>
          <a:bodyPr wrap="square" lIns="0" rIns="0" tIns="0" bIns="0">
            <a:spAutoFit/>
          </a:bodyPr>
          <a:lstStyle/>
          <a:p>
            <a:pPr>
              <a:spcAft>
                <a:spcPts val="500"/>
              </a:spcAft>
              <a:defRPr sz="1100" b="1">
                <a:solidFill>
                  <a:srgbClr val="066B67"/>
                </a:solidFill>
                <a:latin typeface="Aptos"/>
              </a:defRPr>
            </a:pPr>
            <a:r>
              <a:t>AWS DEVOPS AGENT / PLATFORM REFERENCE</a:t>
            </a:r>
          </a:p>
        </p:txBody>
      </p:sp>
      <p:sp>
        <p:nvSpPr>
          <p:cNvPr id="3" name="TextBox 2"/>
          <p:cNvSpPr txBox="1"/>
          <p:nvPr/>
        </p:nvSpPr>
        <p:spPr>
          <a:xfrm>
            <a:off x="548640" y="777240"/>
            <a:ext cx="11064240" cy="914400"/>
          </a:xfrm>
          <a:prstGeom prst="rect">
            <a:avLst/>
          </a:prstGeom>
          <a:noFill/>
        </p:spPr>
        <p:txBody>
          <a:bodyPr wrap="square" lIns="0" rIns="0" tIns="0" bIns="0">
            <a:spAutoFit/>
          </a:bodyPr>
          <a:lstStyle/>
          <a:p>
            <a:pPr>
              <a:spcAft>
                <a:spcPts val="500"/>
              </a:spcAft>
              <a:defRPr sz="2900" b="1">
                <a:solidFill>
                  <a:srgbClr val="172C43"/>
                </a:solidFill>
                <a:latin typeface="Aptos"/>
              </a:defRPr>
            </a:pPr>
            <a:r>
              <a:t>Description-based skill selection — configuration</a:t>
            </a:r>
          </a:p>
        </p:txBody>
      </p:sp>
      <p:sp>
        <p:nvSpPr>
          <p:cNvPr id="4" name="TextBox 3"/>
          <p:cNvSpPr txBox="1"/>
          <p:nvPr/>
        </p:nvSpPr>
        <p:spPr>
          <a:xfrm>
            <a:off x="548640" y="6400800"/>
            <a:ext cx="10698480" cy="237744"/>
          </a:xfrm>
          <a:prstGeom prst="rect">
            <a:avLst/>
          </a:prstGeom>
          <a:noFill/>
        </p:spPr>
        <p:txBody>
          <a:bodyPr wrap="square" lIns="0" rIns="0" tIns="0" bIns="0">
            <a:spAutoFit/>
          </a:bodyPr>
          <a:lstStyle/>
          <a:p>
            <a:pPr>
              <a:spcAft>
                <a:spcPts val="500"/>
              </a:spcAft>
              <a:defRPr sz="1000" b="0">
                <a:solidFill>
                  <a:srgbClr val="536579"/>
                </a:solidFill>
                <a:latin typeface="Aptos"/>
              </a:defRPr>
            </a:pPr>
            <a:r>
              <a:t>D-M05 · Enablement and proposed verification · Untimed</a:t>
            </a:r>
          </a:p>
        </p:txBody>
      </p:sp>
      <p:sp>
        <p:nvSpPr>
          <p:cNvPr id="5" name="TextBox 4"/>
          <p:cNvSpPr txBox="1"/>
          <p:nvPr/>
        </p:nvSpPr>
        <p:spPr>
          <a:xfrm>
            <a:off x="11292840" y="6400800"/>
            <a:ext cx="320040" cy="237744"/>
          </a:xfrm>
          <a:prstGeom prst="rect">
            <a:avLst/>
          </a:prstGeom>
          <a:noFill/>
        </p:spPr>
        <p:txBody>
          <a:bodyPr wrap="square" lIns="0" rIns="0" tIns="0" bIns="0">
            <a:spAutoFit/>
          </a:bodyPr>
          <a:lstStyle/>
          <a:p>
            <a:pPr>
              <a:spcAft>
                <a:spcPts val="500"/>
              </a:spcAft>
              <a:defRPr sz="1000" b="0">
                <a:solidFill>
                  <a:srgbClr val="172C43"/>
                </a:solidFill>
                <a:latin typeface="Aptos"/>
              </a:defRPr>
            </a:pPr>
            <a:r>
              <a:t>23</a:t>
            </a:r>
          </a:p>
        </p:txBody>
      </p:sp>
      <p:sp>
        <p:nvSpPr>
          <p:cNvPr id="6" name="TextBox 5"/>
          <p:cNvSpPr txBox="1"/>
          <p:nvPr/>
        </p:nvSpPr>
        <p:spPr>
          <a:xfrm>
            <a:off x="548640" y="1874519"/>
            <a:ext cx="365760" cy="365760"/>
          </a:xfrm>
          <a:prstGeom prst="rect">
            <a:avLst/>
          </a:prstGeom>
          <a:noFill/>
        </p:spPr>
        <p:txBody>
          <a:bodyPr wrap="square" lIns="0" rIns="0" tIns="0" bIns="0">
            <a:spAutoFit/>
          </a:bodyPr>
          <a:lstStyle/>
          <a:p>
            <a:pPr>
              <a:spcAft>
                <a:spcPts val="500"/>
              </a:spcAft>
              <a:defRPr sz="1400" b="1">
                <a:solidFill>
                  <a:srgbClr val="066B67"/>
                </a:solidFill>
                <a:latin typeface="Aptos"/>
              </a:defRPr>
            </a:pPr>
            <a:r>
              <a:t>01</a:t>
            </a:r>
          </a:p>
        </p:txBody>
      </p:sp>
      <p:sp>
        <p:nvSpPr>
          <p:cNvPr id="7" name="TextBox 6"/>
          <p:cNvSpPr txBox="1"/>
          <p:nvPr/>
        </p:nvSpPr>
        <p:spPr>
          <a:xfrm>
            <a:off x="1097280" y="1874519"/>
            <a:ext cx="4663440" cy="932688"/>
          </a:xfrm>
          <a:prstGeom prst="rect">
            <a:avLst/>
          </a:prstGeom>
          <a:noFill/>
        </p:spPr>
        <p:txBody>
          <a:bodyPr wrap="square" lIns="0" rIns="0" tIns="0" bIns="0">
            <a:spAutoFit/>
          </a:bodyPr>
          <a:lstStyle/>
          <a:p>
            <a:pPr>
              <a:spcAft>
                <a:spcPts val="500"/>
              </a:spcAft>
              <a:defRPr sz="1800" b="0">
                <a:solidFill>
                  <a:srgbClr val="172C43"/>
                </a:solidFill>
                <a:latin typeface="Aptos"/>
              </a:defRPr>
            </a:pPr>
            <a:r>
              <a:t>Open Knowledge → Skills and add or import the procedure.</a:t>
            </a:r>
          </a:p>
        </p:txBody>
      </p:sp>
      <p:sp>
        <p:nvSpPr>
          <p:cNvPr id="8" name="TextBox 7"/>
          <p:cNvSpPr txBox="1"/>
          <p:nvPr/>
        </p:nvSpPr>
        <p:spPr>
          <a:xfrm>
            <a:off x="548640" y="2971800"/>
            <a:ext cx="365760" cy="365760"/>
          </a:xfrm>
          <a:prstGeom prst="rect">
            <a:avLst/>
          </a:prstGeom>
          <a:noFill/>
        </p:spPr>
        <p:txBody>
          <a:bodyPr wrap="square" lIns="0" rIns="0" tIns="0" bIns="0">
            <a:spAutoFit/>
          </a:bodyPr>
          <a:lstStyle/>
          <a:p>
            <a:pPr>
              <a:spcAft>
                <a:spcPts val="500"/>
              </a:spcAft>
              <a:defRPr sz="1400" b="1">
                <a:solidFill>
                  <a:srgbClr val="066B67"/>
                </a:solidFill>
                <a:latin typeface="Aptos"/>
              </a:defRPr>
            </a:pPr>
            <a:r>
              <a:t>02</a:t>
            </a:r>
          </a:p>
        </p:txBody>
      </p:sp>
      <p:sp>
        <p:nvSpPr>
          <p:cNvPr id="9" name="TextBox 8"/>
          <p:cNvSpPr txBox="1"/>
          <p:nvPr/>
        </p:nvSpPr>
        <p:spPr>
          <a:xfrm>
            <a:off x="1097280" y="2971800"/>
            <a:ext cx="4663440" cy="932688"/>
          </a:xfrm>
          <a:prstGeom prst="rect">
            <a:avLst/>
          </a:prstGeom>
          <a:noFill/>
        </p:spPr>
        <p:txBody>
          <a:bodyPr wrap="square" lIns="0" rIns="0" tIns="0" bIns="0">
            <a:spAutoFit/>
          </a:bodyPr>
          <a:lstStyle/>
          <a:p>
            <a:pPr>
              <a:spcAft>
                <a:spcPts val="500"/>
              </a:spcAft>
              <a:defRPr sz="1800" b="0">
                <a:solidFill>
                  <a:srgbClr val="172C43"/>
                </a:solidFill>
                <a:latin typeface="Aptos"/>
              </a:defRPr>
            </a:pPr>
            <a:r>
              <a:t>Write a description defining when it applies and select the relevant agent types.</a:t>
            </a:r>
          </a:p>
        </p:txBody>
      </p:sp>
      <p:sp>
        <p:nvSpPr>
          <p:cNvPr id="10" name="TextBox 9"/>
          <p:cNvSpPr txBox="1"/>
          <p:nvPr/>
        </p:nvSpPr>
        <p:spPr>
          <a:xfrm>
            <a:off x="548640" y="4069079"/>
            <a:ext cx="365760" cy="365760"/>
          </a:xfrm>
          <a:prstGeom prst="rect">
            <a:avLst/>
          </a:prstGeom>
          <a:noFill/>
        </p:spPr>
        <p:txBody>
          <a:bodyPr wrap="square" lIns="0" rIns="0" tIns="0" bIns="0">
            <a:spAutoFit/>
          </a:bodyPr>
          <a:lstStyle/>
          <a:p>
            <a:pPr>
              <a:spcAft>
                <a:spcPts val="500"/>
              </a:spcAft>
              <a:defRPr sz="1400" b="1">
                <a:solidFill>
                  <a:srgbClr val="066B67"/>
                </a:solidFill>
                <a:latin typeface="Aptos"/>
              </a:defRPr>
            </a:pPr>
            <a:r>
              <a:t>03</a:t>
            </a:r>
          </a:p>
        </p:txBody>
      </p:sp>
      <p:sp>
        <p:nvSpPr>
          <p:cNvPr id="11" name="TextBox 10"/>
          <p:cNvSpPr txBox="1"/>
          <p:nvPr/>
        </p:nvSpPr>
        <p:spPr>
          <a:xfrm>
            <a:off x="1097280" y="4069079"/>
            <a:ext cx="4663440" cy="932688"/>
          </a:xfrm>
          <a:prstGeom prst="rect">
            <a:avLst/>
          </a:prstGeom>
          <a:noFill/>
        </p:spPr>
        <p:txBody>
          <a:bodyPr wrap="square" lIns="0" rIns="0" tIns="0" bIns="0">
            <a:spAutoFit/>
          </a:bodyPr>
          <a:lstStyle/>
          <a:p>
            <a:pPr>
              <a:spcAft>
                <a:spcPts val="500"/>
              </a:spcAft>
              <a:defRPr sz="1800" b="0">
                <a:solidFill>
                  <a:srgbClr val="172C43"/>
                </a:solidFill>
                <a:latin typeface="Aptos"/>
              </a:defRPr>
            </a:pPr>
            <a:r>
              <a:t>Verify available tools separately; a procedure cannot grant missing tool permissions.</a:t>
            </a:r>
          </a:p>
        </p:txBody>
      </p:sp>
      <p:sp>
        <p:nvSpPr>
          <p:cNvPr id="12" name="TextBox 11"/>
          <p:cNvSpPr txBox="1"/>
          <p:nvPr/>
        </p:nvSpPr>
        <p:spPr>
          <a:xfrm>
            <a:off x="6309360" y="1874519"/>
            <a:ext cx="5212080" cy="274320"/>
          </a:xfrm>
          <a:prstGeom prst="rect">
            <a:avLst/>
          </a:prstGeom>
          <a:noFill/>
        </p:spPr>
        <p:txBody>
          <a:bodyPr wrap="square" lIns="0" rIns="0" tIns="0" bIns="0">
            <a:spAutoFit/>
          </a:bodyPr>
          <a:lstStyle/>
          <a:p>
            <a:pPr>
              <a:spcAft>
                <a:spcPts val="500"/>
              </a:spcAft>
              <a:defRPr sz="1200" b="1">
                <a:solidFill>
                  <a:srgbClr val="066B67"/>
                </a:solidFill>
                <a:latin typeface="Aptos"/>
              </a:defRPr>
            </a:pPr>
            <a:r>
              <a:t>CONTROLS</a:t>
            </a:r>
          </a:p>
        </p:txBody>
      </p:sp>
      <p:sp>
        <p:nvSpPr>
          <p:cNvPr id="13" name="TextBox 12"/>
          <p:cNvSpPr txBox="1"/>
          <p:nvPr/>
        </p:nvSpPr>
        <p:spPr>
          <a:xfrm>
            <a:off x="6309360" y="2267712"/>
            <a:ext cx="5212080" cy="1234440"/>
          </a:xfrm>
          <a:prstGeom prst="rect">
            <a:avLst/>
          </a:prstGeom>
          <a:noFill/>
        </p:spPr>
        <p:txBody>
          <a:bodyPr wrap="square" lIns="0" rIns="0" tIns="0" bIns="0">
            <a:spAutoFit/>
          </a:bodyPr>
          <a:lstStyle/>
          <a:p>
            <a:pPr>
              <a:spcAft>
                <a:spcPts val="500"/>
              </a:spcAft>
              <a:defRPr sz="1700" b="0">
                <a:solidFill>
                  <a:srgbClr val="172C43"/>
                </a:solidFill>
                <a:latin typeface="Aptos"/>
              </a:defRPr>
            </a:pPr>
            <a:r>
              <a:t>An enabled skill can remain unused when its description or scope does not match. A skill is not an authorization boundary.</a:t>
            </a:r>
          </a:p>
        </p:txBody>
      </p:sp>
      <p:sp>
        <p:nvSpPr>
          <p:cNvPr id="14" name="TextBox 13"/>
          <p:cNvSpPr txBox="1"/>
          <p:nvPr/>
        </p:nvSpPr>
        <p:spPr>
          <a:xfrm>
            <a:off x="6309360" y="3749039"/>
            <a:ext cx="5212080" cy="274320"/>
          </a:xfrm>
          <a:prstGeom prst="rect">
            <a:avLst/>
          </a:prstGeom>
          <a:noFill/>
        </p:spPr>
        <p:txBody>
          <a:bodyPr wrap="square" lIns="0" rIns="0" tIns="0" bIns="0">
            <a:spAutoFit/>
          </a:bodyPr>
          <a:lstStyle/>
          <a:p>
            <a:pPr>
              <a:spcAft>
                <a:spcPts val="500"/>
              </a:spcAft>
              <a:defRPr sz="1100" b="1">
                <a:solidFill>
                  <a:srgbClr val="066B67"/>
                </a:solidFill>
                <a:latin typeface="Aptos"/>
              </a:defRPr>
            </a:pPr>
            <a:r>
              <a:t>PROPOSED VERIFICATION — NOT EXECUTED</a:t>
            </a:r>
          </a:p>
        </p:txBody>
      </p:sp>
      <p:sp>
        <p:nvSpPr>
          <p:cNvPr id="15" name="TextBox 14"/>
          <p:cNvSpPr txBox="1"/>
          <p:nvPr/>
        </p:nvSpPr>
        <p:spPr>
          <a:xfrm>
            <a:off x="6309360" y="4160520"/>
            <a:ext cx="5212080" cy="1691640"/>
          </a:xfrm>
          <a:prstGeom prst="rect">
            <a:avLst/>
          </a:prstGeom>
          <a:noFill/>
        </p:spPr>
        <p:txBody>
          <a:bodyPr wrap="square" lIns="0" rIns="0" tIns="0" bIns="0">
            <a:spAutoFit/>
          </a:bodyPr>
          <a:lstStyle/>
          <a:p>
            <a:pPr>
              <a:spcAft>
                <a:spcPts val="500"/>
              </a:spcAft>
              <a:defRPr sz="1700" b="0">
                <a:solidFill>
                  <a:srgbClr val="172C43"/>
                </a:solidFill>
                <a:latin typeface="Aptos"/>
              </a:defRPr>
            </a:pPr>
            <a:r>
              <a:t>Proposed check: submit one matching and one nonmatching task. Inspect available invocation evidence for selection instead of inferring it solely from answer wording.</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TextBox 1"/>
          <p:cNvSpPr txBox="1"/>
          <p:nvPr/>
        </p:nvSpPr>
        <p:spPr>
          <a:xfrm>
            <a:off x="548640" y="256032"/>
            <a:ext cx="10972800" cy="274320"/>
          </a:xfrm>
          <a:prstGeom prst="rect">
            <a:avLst/>
          </a:prstGeom>
          <a:noFill/>
        </p:spPr>
        <p:txBody>
          <a:bodyPr wrap="square" lIns="0" rIns="0" tIns="0" bIns="0">
            <a:spAutoFit/>
          </a:bodyPr>
          <a:lstStyle/>
          <a:p>
            <a:pPr>
              <a:spcAft>
                <a:spcPts val="500"/>
              </a:spcAft>
              <a:defRPr sz="1100" b="1">
                <a:solidFill>
                  <a:srgbClr val="066B67"/>
                </a:solidFill>
                <a:latin typeface="Aptos"/>
              </a:defRPr>
            </a:pPr>
            <a:r>
              <a:t>AWS DEVOPS AGENT / PLATFORM REFERENCE</a:t>
            </a:r>
          </a:p>
        </p:txBody>
      </p:sp>
      <p:sp>
        <p:nvSpPr>
          <p:cNvPr id="3" name="TextBox 2"/>
          <p:cNvSpPr txBox="1"/>
          <p:nvPr/>
        </p:nvSpPr>
        <p:spPr>
          <a:xfrm>
            <a:off x="548640" y="777240"/>
            <a:ext cx="11064240" cy="914400"/>
          </a:xfrm>
          <a:prstGeom prst="rect">
            <a:avLst/>
          </a:prstGeom>
          <a:noFill/>
        </p:spPr>
        <p:txBody>
          <a:bodyPr wrap="square" lIns="0" rIns="0" tIns="0" bIns="0">
            <a:spAutoFit/>
          </a:bodyPr>
          <a:lstStyle/>
          <a:p>
            <a:pPr>
              <a:spcAft>
                <a:spcPts val="500"/>
              </a:spcAft>
              <a:defRPr sz="2900" b="1">
                <a:solidFill>
                  <a:srgbClr val="172C43"/>
                </a:solidFill>
                <a:latin typeface="Aptos"/>
              </a:defRPr>
            </a:pPr>
            <a:r>
              <a:t>Tool association and directed-action authorization</a:t>
            </a:r>
          </a:p>
        </p:txBody>
      </p:sp>
      <p:sp>
        <p:nvSpPr>
          <p:cNvPr id="4" name="TextBox 3"/>
          <p:cNvSpPr txBox="1"/>
          <p:nvPr/>
        </p:nvSpPr>
        <p:spPr>
          <a:xfrm>
            <a:off x="548640" y="6400800"/>
            <a:ext cx="10698480" cy="237744"/>
          </a:xfrm>
          <a:prstGeom prst="rect">
            <a:avLst/>
          </a:prstGeom>
          <a:noFill/>
        </p:spPr>
        <p:txBody>
          <a:bodyPr wrap="square" lIns="0" rIns="0" tIns="0" bIns="0">
            <a:spAutoFit/>
          </a:bodyPr>
          <a:lstStyle/>
          <a:p>
            <a:pPr>
              <a:spcAft>
                <a:spcPts val="500"/>
              </a:spcAft>
              <a:defRPr sz="1000" b="0">
                <a:solidFill>
                  <a:srgbClr val="536579"/>
                </a:solidFill>
                <a:latin typeface="Aptos"/>
              </a:defRPr>
            </a:pPr>
            <a:r>
              <a:t>D-M06 · Process and retained state · Untimed</a:t>
            </a:r>
          </a:p>
        </p:txBody>
      </p:sp>
      <p:sp>
        <p:nvSpPr>
          <p:cNvPr id="5" name="TextBox 4"/>
          <p:cNvSpPr txBox="1"/>
          <p:nvPr/>
        </p:nvSpPr>
        <p:spPr>
          <a:xfrm>
            <a:off x="11292840" y="6400800"/>
            <a:ext cx="320040" cy="237744"/>
          </a:xfrm>
          <a:prstGeom prst="rect">
            <a:avLst/>
          </a:prstGeom>
          <a:noFill/>
        </p:spPr>
        <p:txBody>
          <a:bodyPr wrap="square" lIns="0" rIns="0" tIns="0" bIns="0">
            <a:spAutoFit/>
          </a:bodyPr>
          <a:lstStyle/>
          <a:p>
            <a:pPr>
              <a:spcAft>
                <a:spcPts val="500"/>
              </a:spcAft>
              <a:defRPr sz="1000" b="0">
                <a:solidFill>
                  <a:srgbClr val="172C43"/>
                </a:solidFill>
                <a:latin typeface="Aptos"/>
              </a:defRPr>
            </a:pPr>
            <a:r>
              <a:t>24</a:t>
            </a:r>
          </a:p>
        </p:txBody>
      </p:sp>
      <p:sp>
        <p:nvSpPr>
          <p:cNvPr id="6" name="TextBox 5"/>
          <p:cNvSpPr txBox="1"/>
          <p:nvPr/>
        </p:nvSpPr>
        <p:spPr>
          <a:xfrm>
            <a:off x="548640" y="1847088"/>
            <a:ext cx="2578608" cy="292608"/>
          </a:xfrm>
          <a:prstGeom prst="rect">
            <a:avLst/>
          </a:prstGeom>
          <a:noFill/>
        </p:spPr>
        <p:txBody>
          <a:bodyPr wrap="square" lIns="0" rIns="0" tIns="0" bIns="0">
            <a:spAutoFit/>
          </a:bodyPr>
          <a:lstStyle/>
          <a:p>
            <a:pPr>
              <a:spcAft>
                <a:spcPts val="500"/>
              </a:spcAft>
              <a:defRPr sz="1400" b="1">
                <a:solidFill>
                  <a:srgbClr val="066B67"/>
                </a:solidFill>
                <a:latin typeface="Aptos"/>
              </a:defRPr>
            </a:pPr>
            <a:r>
              <a:t>01</a:t>
            </a:r>
          </a:p>
        </p:txBody>
      </p:sp>
      <p:sp>
        <p:nvSpPr>
          <p:cNvPr id="7" name="TextBox 6"/>
          <p:cNvSpPr txBox="1"/>
          <p:nvPr/>
        </p:nvSpPr>
        <p:spPr>
          <a:xfrm>
            <a:off x="548640" y="2267712"/>
            <a:ext cx="2560320" cy="914400"/>
          </a:xfrm>
          <a:prstGeom prst="rect">
            <a:avLst/>
          </a:prstGeom>
          <a:noFill/>
        </p:spPr>
        <p:txBody>
          <a:bodyPr wrap="square" lIns="0" rIns="0" tIns="0" bIns="0">
            <a:spAutoFit/>
          </a:bodyPr>
          <a:lstStyle/>
          <a:p>
            <a:pPr>
              <a:spcAft>
                <a:spcPts val="500"/>
              </a:spcAft>
              <a:defRPr sz="2000" b="1">
                <a:solidFill>
                  <a:srgbClr val="172C43"/>
                </a:solidFill>
                <a:latin typeface="Aptos"/>
              </a:defRPr>
            </a:pPr>
            <a:r>
              <a:t>Registered provider or account</a:t>
            </a:r>
          </a:p>
        </p:txBody>
      </p:sp>
      <p:sp>
        <p:nvSpPr>
          <p:cNvPr id="8" name="TextBox 7"/>
          <p:cNvSpPr txBox="1"/>
          <p:nvPr/>
        </p:nvSpPr>
        <p:spPr>
          <a:xfrm>
            <a:off x="3401568" y="1847088"/>
            <a:ext cx="2578608" cy="292608"/>
          </a:xfrm>
          <a:prstGeom prst="rect">
            <a:avLst/>
          </a:prstGeom>
          <a:noFill/>
        </p:spPr>
        <p:txBody>
          <a:bodyPr wrap="square" lIns="0" rIns="0" tIns="0" bIns="0">
            <a:spAutoFit/>
          </a:bodyPr>
          <a:lstStyle/>
          <a:p>
            <a:pPr>
              <a:spcAft>
                <a:spcPts val="500"/>
              </a:spcAft>
              <a:defRPr sz="1400" b="1">
                <a:solidFill>
                  <a:srgbClr val="066B67"/>
                </a:solidFill>
                <a:latin typeface="Aptos"/>
              </a:defRPr>
            </a:pPr>
            <a:r>
              <a:t>02</a:t>
            </a:r>
          </a:p>
        </p:txBody>
      </p:sp>
      <p:sp>
        <p:nvSpPr>
          <p:cNvPr id="9" name="TextBox 8"/>
          <p:cNvSpPr txBox="1"/>
          <p:nvPr/>
        </p:nvSpPr>
        <p:spPr>
          <a:xfrm>
            <a:off x="3401568" y="2267712"/>
            <a:ext cx="2560320" cy="914400"/>
          </a:xfrm>
          <a:prstGeom prst="rect">
            <a:avLst/>
          </a:prstGeom>
          <a:noFill/>
        </p:spPr>
        <p:txBody>
          <a:bodyPr wrap="square" lIns="0" rIns="0" tIns="0" bIns="0">
            <a:spAutoFit/>
          </a:bodyPr>
          <a:lstStyle/>
          <a:p>
            <a:pPr>
              <a:spcAft>
                <a:spcPts val="500"/>
              </a:spcAft>
              <a:defRPr sz="2000" b="1">
                <a:solidFill>
                  <a:srgbClr val="172C43"/>
                </a:solidFill>
                <a:latin typeface="Aptos"/>
              </a:defRPr>
            </a:pPr>
            <a:r>
              <a:t>Scoped access and tool class</a:t>
            </a:r>
          </a:p>
        </p:txBody>
      </p:sp>
      <p:sp>
        <p:nvSpPr>
          <p:cNvPr id="10" name="TextBox 9"/>
          <p:cNvSpPr txBox="1"/>
          <p:nvPr/>
        </p:nvSpPr>
        <p:spPr>
          <a:xfrm>
            <a:off x="6254496" y="1847088"/>
            <a:ext cx="2578608" cy="292608"/>
          </a:xfrm>
          <a:prstGeom prst="rect">
            <a:avLst/>
          </a:prstGeom>
          <a:noFill/>
        </p:spPr>
        <p:txBody>
          <a:bodyPr wrap="square" lIns="0" rIns="0" tIns="0" bIns="0">
            <a:spAutoFit/>
          </a:bodyPr>
          <a:lstStyle/>
          <a:p>
            <a:pPr>
              <a:spcAft>
                <a:spcPts val="500"/>
              </a:spcAft>
              <a:defRPr sz="1400" b="1">
                <a:solidFill>
                  <a:srgbClr val="066B67"/>
                </a:solidFill>
                <a:latin typeface="Aptos"/>
              </a:defRPr>
            </a:pPr>
            <a:r>
              <a:t>03</a:t>
            </a:r>
          </a:p>
        </p:txBody>
      </p:sp>
      <p:sp>
        <p:nvSpPr>
          <p:cNvPr id="11" name="TextBox 10"/>
          <p:cNvSpPr txBox="1"/>
          <p:nvPr/>
        </p:nvSpPr>
        <p:spPr>
          <a:xfrm>
            <a:off x="6254496" y="2267712"/>
            <a:ext cx="2560320" cy="914400"/>
          </a:xfrm>
          <a:prstGeom prst="rect">
            <a:avLst/>
          </a:prstGeom>
          <a:noFill/>
        </p:spPr>
        <p:txBody>
          <a:bodyPr wrap="square" lIns="0" rIns="0" tIns="0" bIns="0">
            <a:spAutoFit/>
          </a:bodyPr>
          <a:lstStyle/>
          <a:p>
            <a:pPr>
              <a:spcAft>
                <a:spcPts val="500"/>
              </a:spcAft>
              <a:defRPr sz="2000" b="1">
                <a:solidFill>
                  <a:srgbClr val="172C43"/>
                </a:solidFill>
                <a:latin typeface="Aptos"/>
              </a:defRPr>
            </a:pPr>
            <a:r>
              <a:t>Specific approval</a:t>
            </a:r>
          </a:p>
        </p:txBody>
      </p:sp>
      <p:sp>
        <p:nvSpPr>
          <p:cNvPr id="12" name="TextBox 11"/>
          <p:cNvSpPr txBox="1"/>
          <p:nvPr/>
        </p:nvSpPr>
        <p:spPr>
          <a:xfrm>
            <a:off x="9107424" y="1847088"/>
            <a:ext cx="2578608" cy="292608"/>
          </a:xfrm>
          <a:prstGeom prst="rect">
            <a:avLst/>
          </a:prstGeom>
          <a:noFill/>
        </p:spPr>
        <p:txBody>
          <a:bodyPr wrap="square" lIns="0" rIns="0" tIns="0" bIns="0">
            <a:spAutoFit/>
          </a:bodyPr>
          <a:lstStyle/>
          <a:p>
            <a:pPr>
              <a:spcAft>
                <a:spcPts val="500"/>
              </a:spcAft>
              <a:defRPr sz="1400" b="1">
                <a:solidFill>
                  <a:srgbClr val="066B67"/>
                </a:solidFill>
                <a:latin typeface="Aptos"/>
              </a:defRPr>
            </a:pPr>
            <a:r>
              <a:t>04</a:t>
            </a:r>
          </a:p>
        </p:txBody>
      </p:sp>
      <p:sp>
        <p:nvSpPr>
          <p:cNvPr id="13" name="TextBox 12"/>
          <p:cNvSpPr txBox="1"/>
          <p:nvPr/>
        </p:nvSpPr>
        <p:spPr>
          <a:xfrm>
            <a:off x="9107424" y="2267712"/>
            <a:ext cx="2560320" cy="914400"/>
          </a:xfrm>
          <a:prstGeom prst="rect">
            <a:avLst/>
          </a:prstGeom>
          <a:noFill/>
        </p:spPr>
        <p:txBody>
          <a:bodyPr wrap="square" lIns="0" rIns="0" tIns="0" bIns="0">
            <a:spAutoFit/>
          </a:bodyPr>
          <a:lstStyle/>
          <a:p>
            <a:pPr>
              <a:spcAft>
                <a:spcPts val="500"/>
              </a:spcAft>
              <a:defRPr sz="2000" b="1">
                <a:solidFill>
                  <a:srgbClr val="172C43"/>
                </a:solidFill>
                <a:latin typeface="Aptos"/>
              </a:defRPr>
            </a:pPr>
            <a:r>
              <a:t>Attributed execution</a:t>
            </a:r>
          </a:p>
        </p:txBody>
      </p:sp>
      <p:sp>
        <p:nvSpPr>
          <p:cNvPr id="14" name="TextBox 13"/>
          <p:cNvSpPr txBox="1"/>
          <p:nvPr/>
        </p:nvSpPr>
        <p:spPr>
          <a:xfrm>
            <a:off x="548640" y="3456432"/>
            <a:ext cx="5486400" cy="274320"/>
          </a:xfrm>
          <a:prstGeom prst="rect">
            <a:avLst/>
          </a:prstGeom>
          <a:noFill/>
        </p:spPr>
        <p:txBody>
          <a:bodyPr wrap="square" lIns="0" rIns="0" tIns="0" bIns="0">
            <a:spAutoFit/>
          </a:bodyPr>
          <a:lstStyle/>
          <a:p>
            <a:pPr>
              <a:spcAft>
                <a:spcPts val="500"/>
              </a:spcAft>
              <a:defRPr sz="1200" b="1">
                <a:solidFill>
                  <a:srgbClr val="066B67"/>
                </a:solidFill>
                <a:latin typeface="Aptos"/>
              </a:defRPr>
            </a:pPr>
            <a:r>
              <a:t>DOCUMENTED OPERATION</a:t>
            </a:r>
          </a:p>
        </p:txBody>
      </p:sp>
      <p:sp>
        <p:nvSpPr>
          <p:cNvPr id="15" name="TextBox 14"/>
          <p:cNvSpPr txBox="1"/>
          <p:nvPr/>
        </p:nvSpPr>
        <p:spPr>
          <a:xfrm>
            <a:off x="548640" y="3858768"/>
            <a:ext cx="5532120" cy="1920240"/>
          </a:xfrm>
          <a:prstGeom prst="rect">
            <a:avLst/>
          </a:prstGeom>
          <a:noFill/>
        </p:spPr>
        <p:txBody>
          <a:bodyPr wrap="square" lIns="0" rIns="0" tIns="0" bIns="0">
            <a:spAutoFit/>
          </a:bodyPr>
          <a:lstStyle/>
          <a:p>
            <a:pPr>
              <a:spcAft>
                <a:spcPts val="500"/>
              </a:spcAft>
              <a:defRPr sz="1800" b="0">
                <a:solidFill>
                  <a:srgbClr val="172C43"/>
                </a:solidFill>
                <a:latin typeface="Aptos"/>
              </a:defRPr>
            </a:pPr>
            <a:r>
              <a:t>MCP registration, authentication, Agent Space association and selected tools establish availability. Mutating operations additionally require directed-action controls. AWS actions use the configured elevated role and approval scoped to the operation and resource.</a:t>
            </a:r>
          </a:p>
        </p:txBody>
      </p:sp>
      <p:sp>
        <p:nvSpPr>
          <p:cNvPr id="16" name="TextBox 15"/>
          <p:cNvSpPr txBox="1"/>
          <p:nvPr/>
        </p:nvSpPr>
        <p:spPr>
          <a:xfrm>
            <a:off x="6400800" y="3456432"/>
            <a:ext cx="5212080" cy="274320"/>
          </a:xfrm>
          <a:prstGeom prst="rect">
            <a:avLst/>
          </a:prstGeom>
          <a:noFill/>
        </p:spPr>
        <p:txBody>
          <a:bodyPr wrap="square" lIns="0" rIns="0" tIns="0" bIns="0">
            <a:spAutoFit/>
          </a:bodyPr>
          <a:lstStyle/>
          <a:p>
            <a:pPr>
              <a:spcAft>
                <a:spcPts val="500"/>
              </a:spcAft>
              <a:defRPr sz="1200" b="1">
                <a:solidFill>
                  <a:srgbClr val="066B67"/>
                </a:solidFill>
                <a:latin typeface="Aptos"/>
              </a:defRPr>
            </a:pPr>
            <a:r>
              <a:t>STATE AND LIFECYCLE</a:t>
            </a:r>
          </a:p>
        </p:txBody>
      </p:sp>
      <p:sp>
        <p:nvSpPr>
          <p:cNvPr id="17" name="TextBox 16"/>
          <p:cNvSpPr txBox="1"/>
          <p:nvPr/>
        </p:nvSpPr>
        <p:spPr>
          <a:xfrm>
            <a:off x="6400800" y="3858768"/>
            <a:ext cx="5120640" cy="1920240"/>
          </a:xfrm>
          <a:prstGeom prst="rect">
            <a:avLst/>
          </a:prstGeom>
          <a:noFill/>
        </p:spPr>
        <p:txBody>
          <a:bodyPr wrap="square" lIns="0" rIns="0" tIns="0" bIns="0">
            <a:spAutoFit/>
          </a:bodyPr>
          <a:lstStyle/>
          <a:p>
            <a:pPr>
              <a:spcAft>
                <a:spcPts val="500"/>
              </a:spcAft>
              <a:defRPr sz="1800" b="0">
                <a:solidFill>
                  <a:srgbClr val="172C43"/>
                </a:solidFill>
                <a:latin typeface="Aptos"/>
              </a:defRPr>
            </a:pPr>
            <a:r>
              <a:t>Provider configuration, selected tools, role policies and approvals are different records. Approval is not reusable for a different operation or resource.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TextBox 1"/>
          <p:cNvSpPr txBox="1"/>
          <p:nvPr/>
        </p:nvSpPr>
        <p:spPr>
          <a:xfrm>
            <a:off x="548640" y="256032"/>
            <a:ext cx="10972800" cy="274320"/>
          </a:xfrm>
          <a:prstGeom prst="rect">
            <a:avLst/>
          </a:prstGeom>
          <a:noFill/>
        </p:spPr>
        <p:txBody>
          <a:bodyPr wrap="square" lIns="0" rIns="0" tIns="0" bIns="0">
            <a:spAutoFit/>
          </a:bodyPr>
          <a:lstStyle/>
          <a:p>
            <a:pPr>
              <a:spcAft>
                <a:spcPts val="500"/>
              </a:spcAft>
              <a:defRPr sz="1100" b="1">
                <a:solidFill>
                  <a:srgbClr val="066B67"/>
                </a:solidFill>
                <a:latin typeface="Aptos"/>
              </a:defRPr>
            </a:pPr>
            <a:r>
              <a:t>AWS DEVOPS AGENT / PLATFORM REFERENCE</a:t>
            </a:r>
          </a:p>
        </p:txBody>
      </p:sp>
      <p:sp>
        <p:nvSpPr>
          <p:cNvPr id="3" name="TextBox 2"/>
          <p:cNvSpPr txBox="1"/>
          <p:nvPr/>
        </p:nvSpPr>
        <p:spPr>
          <a:xfrm>
            <a:off x="548640" y="777240"/>
            <a:ext cx="11064240" cy="914400"/>
          </a:xfrm>
          <a:prstGeom prst="rect">
            <a:avLst/>
          </a:prstGeom>
          <a:noFill/>
        </p:spPr>
        <p:txBody>
          <a:bodyPr wrap="square" lIns="0" rIns="0" tIns="0" bIns="0">
            <a:spAutoFit/>
          </a:bodyPr>
          <a:lstStyle/>
          <a:p>
            <a:pPr>
              <a:spcAft>
                <a:spcPts val="500"/>
              </a:spcAft>
              <a:defRPr sz="2900" b="1">
                <a:solidFill>
                  <a:srgbClr val="172C43"/>
                </a:solidFill>
                <a:latin typeface="Aptos"/>
              </a:defRPr>
            </a:pPr>
            <a:r>
              <a:t>Tool association and directed-action authorization — configuration</a:t>
            </a:r>
          </a:p>
        </p:txBody>
      </p:sp>
      <p:sp>
        <p:nvSpPr>
          <p:cNvPr id="4" name="TextBox 3"/>
          <p:cNvSpPr txBox="1"/>
          <p:nvPr/>
        </p:nvSpPr>
        <p:spPr>
          <a:xfrm>
            <a:off x="548640" y="6400800"/>
            <a:ext cx="10698480" cy="237744"/>
          </a:xfrm>
          <a:prstGeom prst="rect">
            <a:avLst/>
          </a:prstGeom>
          <a:noFill/>
        </p:spPr>
        <p:txBody>
          <a:bodyPr wrap="square" lIns="0" rIns="0" tIns="0" bIns="0">
            <a:spAutoFit/>
          </a:bodyPr>
          <a:lstStyle/>
          <a:p>
            <a:pPr>
              <a:spcAft>
                <a:spcPts val="500"/>
              </a:spcAft>
              <a:defRPr sz="1000" b="0">
                <a:solidFill>
                  <a:srgbClr val="536579"/>
                </a:solidFill>
                <a:latin typeface="Aptos"/>
              </a:defRPr>
            </a:pPr>
            <a:r>
              <a:t>D-M06 · Enablement and proposed verification · Untimed</a:t>
            </a:r>
          </a:p>
        </p:txBody>
      </p:sp>
      <p:sp>
        <p:nvSpPr>
          <p:cNvPr id="5" name="TextBox 4"/>
          <p:cNvSpPr txBox="1"/>
          <p:nvPr/>
        </p:nvSpPr>
        <p:spPr>
          <a:xfrm>
            <a:off x="11292840" y="6400800"/>
            <a:ext cx="320040" cy="237744"/>
          </a:xfrm>
          <a:prstGeom prst="rect">
            <a:avLst/>
          </a:prstGeom>
          <a:noFill/>
        </p:spPr>
        <p:txBody>
          <a:bodyPr wrap="square" lIns="0" rIns="0" tIns="0" bIns="0">
            <a:spAutoFit/>
          </a:bodyPr>
          <a:lstStyle/>
          <a:p>
            <a:pPr>
              <a:spcAft>
                <a:spcPts val="500"/>
              </a:spcAft>
              <a:defRPr sz="1000" b="0">
                <a:solidFill>
                  <a:srgbClr val="172C43"/>
                </a:solidFill>
                <a:latin typeface="Aptos"/>
              </a:defRPr>
            </a:pPr>
            <a:r>
              <a:t>25</a:t>
            </a:r>
          </a:p>
        </p:txBody>
      </p:sp>
      <p:sp>
        <p:nvSpPr>
          <p:cNvPr id="6" name="TextBox 5"/>
          <p:cNvSpPr txBox="1"/>
          <p:nvPr/>
        </p:nvSpPr>
        <p:spPr>
          <a:xfrm>
            <a:off x="548640" y="1874519"/>
            <a:ext cx="365760" cy="365760"/>
          </a:xfrm>
          <a:prstGeom prst="rect">
            <a:avLst/>
          </a:prstGeom>
          <a:noFill/>
        </p:spPr>
        <p:txBody>
          <a:bodyPr wrap="square" lIns="0" rIns="0" tIns="0" bIns="0">
            <a:spAutoFit/>
          </a:bodyPr>
          <a:lstStyle/>
          <a:p>
            <a:pPr>
              <a:spcAft>
                <a:spcPts val="500"/>
              </a:spcAft>
              <a:defRPr sz="1400" b="1">
                <a:solidFill>
                  <a:srgbClr val="066B67"/>
                </a:solidFill>
                <a:latin typeface="Aptos"/>
              </a:defRPr>
            </a:pPr>
            <a:r>
              <a:t>01</a:t>
            </a:r>
          </a:p>
        </p:txBody>
      </p:sp>
      <p:sp>
        <p:nvSpPr>
          <p:cNvPr id="7" name="TextBox 6"/>
          <p:cNvSpPr txBox="1"/>
          <p:nvPr/>
        </p:nvSpPr>
        <p:spPr>
          <a:xfrm>
            <a:off x="1097280" y="1874519"/>
            <a:ext cx="4663440" cy="932688"/>
          </a:xfrm>
          <a:prstGeom prst="rect">
            <a:avLst/>
          </a:prstGeom>
          <a:noFill/>
        </p:spPr>
        <p:txBody>
          <a:bodyPr wrap="square" lIns="0" rIns="0" tIns="0" bIns="0">
            <a:spAutoFit/>
          </a:bodyPr>
          <a:lstStyle/>
          <a:p>
            <a:pPr>
              <a:spcAft>
                <a:spcPts val="500"/>
              </a:spcAft>
              <a:defRPr sz="1800" b="0">
                <a:solidFill>
                  <a:srgbClr val="172C43"/>
                </a:solidFill>
                <a:latin typeface="Aptos"/>
              </a:defRPr>
            </a:pPr>
            <a:r>
              <a:t>Register and authenticate the provider, associate it with the Agent Space, and select the required tools.</a:t>
            </a:r>
          </a:p>
        </p:txBody>
      </p:sp>
      <p:sp>
        <p:nvSpPr>
          <p:cNvPr id="8" name="TextBox 7"/>
          <p:cNvSpPr txBox="1"/>
          <p:nvPr/>
        </p:nvSpPr>
        <p:spPr>
          <a:xfrm>
            <a:off x="548640" y="2971800"/>
            <a:ext cx="365760" cy="365760"/>
          </a:xfrm>
          <a:prstGeom prst="rect">
            <a:avLst/>
          </a:prstGeom>
          <a:noFill/>
        </p:spPr>
        <p:txBody>
          <a:bodyPr wrap="square" lIns="0" rIns="0" tIns="0" bIns="0">
            <a:spAutoFit/>
          </a:bodyPr>
          <a:lstStyle/>
          <a:p>
            <a:pPr>
              <a:spcAft>
                <a:spcPts val="500"/>
              </a:spcAft>
              <a:defRPr sz="1400" b="1">
                <a:solidFill>
                  <a:srgbClr val="066B67"/>
                </a:solidFill>
                <a:latin typeface="Aptos"/>
              </a:defRPr>
            </a:pPr>
            <a:r>
              <a:t>02</a:t>
            </a:r>
          </a:p>
        </p:txBody>
      </p:sp>
      <p:sp>
        <p:nvSpPr>
          <p:cNvPr id="9" name="TextBox 8"/>
          <p:cNvSpPr txBox="1"/>
          <p:nvPr/>
        </p:nvSpPr>
        <p:spPr>
          <a:xfrm>
            <a:off x="1097280" y="2971800"/>
            <a:ext cx="4663440" cy="932688"/>
          </a:xfrm>
          <a:prstGeom prst="rect">
            <a:avLst/>
          </a:prstGeom>
          <a:noFill/>
        </p:spPr>
        <p:txBody>
          <a:bodyPr wrap="square" lIns="0" rIns="0" tIns="0" bIns="0">
            <a:spAutoFit/>
          </a:bodyPr>
          <a:lstStyle/>
          <a:p>
            <a:pPr>
              <a:spcAft>
                <a:spcPts val="500"/>
              </a:spcAft>
              <a:defRPr sz="1500" b="0">
                <a:solidFill>
                  <a:srgbClr val="172C43"/>
                </a:solidFill>
                <a:latin typeface="Aptos"/>
              </a:defRPr>
            </a:pPr>
            <a:r>
              <a:t>Review tool classifications explicitly. Programmatically registered tools without classification are documented to default to READ_ONLY.</a:t>
            </a:r>
          </a:p>
        </p:txBody>
      </p:sp>
      <p:sp>
        <p:nvSpPr>
          <p:cNvPr id="10" name="TextBox 9"/>
          <p:cNvSpPr txBox="1"/>
          <p:nvPr/>
        </p:nvSpPr>
        <p:spPr>
          <a:xfrm>
            <a:off x="548640" y="4069079"/>
            <a:ext cx="365760" cy="365760"/>
          </a:xfrm>
          <a:prstGeom prst="rect">
            <a:avLst/>
          </a:prstGeom>
          <a:noFill/>
        </p:spPr>
        <p:txBody>
          <a:bodyPr wrap="square" lIns="0" rIns="0" tIns="0" bIns="0">
            <a:spAutoFit/>
          </a:bodyPr>
          <a:lstStyle/>
          <a:p>
            <a:pPr>
              <a:spcAft>
                <a:spcPts val="500"/>
              </a:spcAft>
              <a:defRPr sz="1400" b="1">
                <a:solidFill>
                  <a:srgbClr val="066B67"/>
                </a:solidFill>
                <a:latin typeface="Aptos"/>
              </a:defRPr>
            </a:pPr>
            <a:r>
              <a:t>03</a:t>
            </a:r>
          </a:p>
        </p:txBody>
      </p:sp>
      <p:sp>
        <p:nvSpPr>
          <p:cNvPr id="11" name="TextBox 10"/>
          <p:cNvSpPr txBox="1"/>
          <p:nvPr/>
        </p:nvSpPr>
        <p:spPr>
          <a:xfrm>
            <a:off x="1097280" y="4069079"/>
            <a:ext cx="4663440" cy="932688"/>
          </a:xfrm>
          <a:prstGeom prst="rect">
            <a:avLst/>
          </a:prstGeom>
          <a:noFill/>
        </p:spPr>
        <p:txBody>
          <a:bodyPr wrap="square" lIns="0" rIns="0" tIns="0" bIns="0">
            <a:spAutoFit/>
          </a:bodyPr>
          <a:lstStyle/>
          <a:p>
            <a:pPr>
              <a:spcAft>
                <a:spcPts val="500"/>
              </a:spcAft>
              <a:defRPr sz="1500" b="0">
                <a:solidFill>
                  <a:srgbClr val="172C43"/>
                </a:solidFill>
                <a:latin typeface="Aptos"/>
              </a:defRPr>
            </a:pPr>
            <a:r>
              <a:t>For eligible mutations, enable directed actions and configure the account role or integration; review the exact operation before approval.</a:t>
            </a:r>
          </a:p>
        </p:txBody>
      </p:sp>
      <p:sp>
        <p:nvSpPr>
          <p:cNvPr id="12" name="TextBox 11"/>
          <p:cNvSpPr txBox="1"/>
          <p:nvPr/>
        </p:nvSpPr>
        <p:spPr>
          <a:xfrm>
            <a:off x="6309360" y="1874519"/>
            <a:ext cx="5212080" cy="274320"/>
          </a:xfrm>
          <a:prstGeom prst="rect">
            <a:avLst/>
          </a:prstGeom>
          <a:noFill/>
        </p:spPr>
        <p:txBody>
          <a:bodyPr wrap="square" lIns="0" rIns="0" tIns="0" bIns="0">
            <a:spAutoFit/>
          </a:bodyPr>
          <a:lstStyle/>
          <a:p>
            <a:pPr>
              <a:spcAft>
                <a:spcPts val="500"/>
              </a:spcAft>
              <a:defRPr sz="1200" b="1">
                <a:solidFill>
                  <a:srgbClr val="066B67"/>
                </a:solidFill>
                <a:latin typeface="Aptos"/>
              </a:defRPr>
            </a:pPr>
            <a:r>
              <a:t>CONTROLS</a:t>
            </a:r>
          </a:p>
        </p:txBody>
      </p:sp>
      <p:sp>
        <p:nvSpPr>
          <p:cNvPr id="13" name="TextBox 12"/>
          <p:cNvSpPr txBox="1"/>
          <p:nvPr/>
        </p:nvSpPr>
        <p:spPr>
          <a:xfrm>
            <a:off x="6309360" y="2267712"/>
            <a:ext cx="5212080" cy="1234440"/>
          </a:xfrm>
          <a:prstGeom prst="rect">
            <a:avLst/>
          </a:prstGeom>
          <a:noFill/>
        </p:spPr>
        <p:txBody>
          <a:bodyPr wrap="square" lIns="0" rIns="0" tIns="0" bIns="0">
            <a:spAutoFit/>
          </a:bodyPr>
          <a:lstStyle/>
          <a:p>
            <a:pPr>
              <a:spcAft>
                <a:spcPts val="500"/>
              </a:spcAft>
              <a:defRPr sz="1500" b="0">
                <a:solidFill>
                  <a:srgbClr val="172C43"/>
                </a:solidFill>
                <a:latin typeface="Aptos"/>
              </a:defRPr>
            </a:pPr>
            <a:r>
              <a:t>Misclassifying a mutating server tool as read-only is an operational hazard. Destructive third-party tools are a separate non-invocable class. A network path does not grant application access.</a:t>
            </a:r>
          </a:p>
        </p:txBody>
      </p:sp>
      <p:sp>
        <p:nvSpPr>
          <p:cNvPr id="14" name="TextBox 13"/>
          <p:cNvSpPr txBox="1"/>
          <p:nvPr/>
        </p:nvSpPr>
        <p:spPr>
          <a:xfrm>
            <a:off x="6309360" y="3749039"/>
            <a:ext cx="5212080" cy="274320"/>
          </a:xfrm>
          <a:prstGeom prst="rect">
            <a:avLst/>
          </a:prstGeom>
          <a:noFill/>
        </p:spPr>
        <p:txBody>
          <a:bodyPr wrap="square" lIns="0" rIns="0" tIns="0" bIns="0">
            <a:spAutoFit/>
          </a:bodyPr>
          <a:lstStyle/>
          <a:p>
            <a:pPr>
              <a:spcAft>
                <a:spcPts val="500"/>
              </a:spcAft>
              <a:defRPr sz="1100" b="1">
                <a:solidFill>
                  <a:srgbClr val="066B67"/>
                </a:solidFill>
                <a:latin typeface="Aptos"/>
              </a:defRPr>
            </a:pPr>
            <a:r>
              <a:t>PROPOSED VERIFICATION — NOT EXECUTED</a:t>
            </a:r>
          </a:p>
        </p:txBody>
      </p:sp>
      <p:sp>
        <p:nvSpPr>
          <p:cNvPr id="15" name="TextBox 14"/>
          <p:cNvSpPr txBox="1"/>
          <p:nvPr/>
        </p:nvSpPr>
        <p:spPr>
          <a:xfrm>
            <a:off x="6309360" y="4160520"/>
            <a:ext cx="5212080" cy="1691640"/>
          </a:xfrm>
          <a:prstGeom prst="rect">
            <a:avLst/>
          </a:prstGeom>
          <a:noFill/>
        </p:spPr>
        <p:txBody>
          <a:bodyPr wrap="square" lIns="0" rIns="0" tIns="0" bIns="0">
            <a:spAutoFit/>
          </a:bodyPr>
          <a:lstStyle/>
          <a:p>
            <a:pPr>
              <a:spcAft>
                <a:spcPts val="500"/>
              </a:spcAft>
              <a:defRPr sz="1700" b="0">
                <a:solidFill>
                  <a:srgbClr val="172C43"/>
                </a:solidFill>
                <a:latin typeface="Aptos"/>
              </a:defRPr>
            </a:pPr>
            <a:r>
              <a:t>Proposed check: in an authorized test environment, verify a read, a rejected mutation and one narrowly approved mutation. Retain tool parameters, approval identity and independent resource state before and after.</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TextBox 1"/>
          <p:cNvSpPr txBox="1"/>
          <p:nvPr/>
        </p:nvSpPr>
        <p:spPr>
          <a:xfrm>
            <a:off x="548640" y="256032"/>
            <a:ext cx="10972800" cy="274320"/>
          </a:xfrm>
          <a:prstGeom prst="rect">
            <a:avLst/>
          </a:prstGeom>
          <a:noFill/>
        </p:spPr>
        <p:txBody>
          <a:bodyPr wrap="square" lIns="0" rIns="0" tIns="0" bIns="0">
            <a:spAutoFit/>
          </a:bodyPr>
          <a:lstStyle/>
          <a:p>
            <a:pPr>
              <a:spcAft>
                <a:spcPts val="500"/>
              </a:spcAft>
              <a:defRPr sz="1100" b="1">
                <a:solidFill>
                  <a:srgbClr val="066B67"/>
                </a:solidFill>
                <a:latin typeface="Aptos"/>
              </a:defRPr>
            </a:pPr>
            <a:r>
              <a:t>AWS DEVOPS AGENT / PLATFORM REFERENCE</a:t>
            </a:r>
          </a:p>
        </p:txBody>
      </p:sp>
      <p:sp>
        <p:nvSpPr>
          <p:cNvPr id="3" name="TextBox 2"/>
          <p:cNvSpPr txBox="1"/>
          <p:nvPr/>
        </p:nvSpPr>
        <p:spPr>
          <a:xfrm>
            <a:off x="548640" y="777240"/>
            <a:ext cx="11064240" cy="914400"/>
          </a:xfrm>
          <a:prstGeom prst="rect">
            <a:avLst/>
          </a:prstGeom>
          <a:noFill/>
        </p:spPr>
        <p:txBody>
          <a:bodyPr wrap="square" lIns="0" rIns="0" tIns="0" bIns="0">
            <a:spAutoFit/>
          </a:bodyPr>
          <a:lstStyle/>
          <a:p>
            <a:pPr>
              <a:spcAft>
                <a:spcPts val="500"/>
              </a:spcAft>
              <a:defRPr sz="2900" b="1">
                <a:solidFill>
                  <a:srgbClr val="172C43"/>
                </a:solidFill>
                <a:latin typeface="Aptos"/>
              </a:defRPr>
            </a:pPr>
            <a:r>
              <a:t>Ephemeral sandbox execution</a:t>
            </a:r>
          </a:p>
        </p:txBody>
      </p:sp>
      <p:sp>
        <p:nvSpPr>
          <p:cNvPr id="4" name="TextBox 3"/>
          <p:cNvSpPr txBox="1"/>
          <p:nvPr/>
        </p:nvSpPr>
        <p:spPr>
          <a:xfrm>
            <a:off x="548640" y="6400800"/>
            <a:ext cx="10698480" cy="237744"/>
          </a:xfrm>
          <a:prstGeom prst="rect">
            <a:avLst/>
          </a:prstGeom>
          <a:noFill/>
        </p:spPr>
        <p:txBody>
          <a:bodyPr wrap="square" lIns="0" rIns="0" tIns="0" bIns="0">
            <a:spAutoFit/>
          </a:bodyPr>
          <a:lstStyle/>
          <a:p>
            <a:pPr>
              <a:spcAft>
                <a:spcPts val="500"/>
              </a:spcAft>
              <a:defRPr sz="1000" b="0">
                <a:solidFill>
                  <a:srgbClr val="536579"/>
                </a:solidFill>
                <a:latin typeface="Aptos"/>
              </a:defRPr>
            </a:pPr>
            <a:r>
              <a:t>D-M07 · Process and retained state · Untimed</a:t>
            </a:r>
          </a:p>
        </p:txBody>
      </p:sp>
      <p:sp>
        <p:nvSpPr>
          <p:cNvPr id="5" name="TextBox 4"/>
          <p:cNvSpPr txBox="1"/>
          <p:nvPr/>
        </p:nvSpPr>
        <p:spPr>
          <a:xfrm>
            <a:off x="11292840" y="6400800"/>
            <a:ext cx="320040" cy="237744"/>
          </a:xfrm>
          <a:prstGeom prst="rect">
            <a:avLst/>
          </a:prstGeom>
          <a:noFill/>
        </p:spPr>
        <p:txBody>
          <a:bodyPr wrap="square" lIns="0" rIns="0" tIns="0" bIns="0">
            <a:spAutoFit/>
          </a:bodyPr>
          <a:lstStyle/>
          <a:p>
            <a:pPr>
              <a:spcAft>
                <a:spcPts val="500"/>
              </a:spcAft>
              <a:defRPr sz="1000" b="0">
                <a:solidFill>
                  <a:srgbClr val="172C43"/>
                </a:solidFill>
                <a:latin typeface="Aptos"/>
              </a:defRPr>
            </a:pPr>
            <a:r>
              <a:t>26</a:t>
            </a:r>
          </a:p>
        </p:txBody>
      </p:sp>
      <p:sp>
        <p:nvSpPr>
          <p:cNvPr id="6" name="TextBox 5"/>
          <p:cNvSpPr txBox="1"/>
          <p:nvPr/>
        </p:nvSpPr>
        <p:spPr>
          <a:xfrm>
            <a:off x="548640" y="1847088"/>
            <a:ext cx="2578608" cy="292608"/>
          </a:xfrm>
          <a:prstGeom prst="rect">
            <a:avLst/>
          </a:prstGeom>
          <a:noFill/>
        </p:spPr>
        <p:txBody>
          <a:bodyPr wrap="square" lIns="0" rIns="0" tIns="0" bIns="0">
            <a:spAutoFit/>
          </a:bodyPr>
          <a:lstStyle/>
          <a:p>
            <a:pPr>
              <a:spcAft>
                <a:spcPts val="500"/>
              </a:spcAft>
              <a:defRPr sz="1400" b="1">
                <a:solidFill>
                  <a:srgbClr val="066B67"/>
                </a:solidFill>
                <a:latin typeface="Aptos"/>
              </a:defRPr>
            </a:pPr>
            <a:r>
              <a:t>01</a:t>
            </a:r>
          </a:p>
        </p:txBody>
      </p:sp>
      <p:sp>
        <p:nvSpPr>
          <p:cNvPr id="7" name="TextBox 6"/>
          <p:cNvSpPr txBox="1"/>
          <p:nvPr/>
        </p:nvSpPr>
        <p:spPr>
          <a:xfrm>
            <a:off x="548640" y="2267712"/>
            <a:ext cx="2560320" cy="914400"/>
          </a:xfrm>
          <a:prstGeom prst="rect">
            <a:avLst/>
          </a:prstGeom>
          <a:noFill/>
        </p:spPr>
        <p:txBody>
          <a:bodyPr wrap="square" lIns="0" rIns="0" tIns="0" bIns="0">
            <a:spAutoFit/>
          </a:bodyPr>
          <a:lstStyle/>
          <a:p>
            <a:pPr>
              <a:spcAft>
                <a:spcPts val="500"/>
              </a:spcAft>
              <a:defRPr sz="2000" b="1">
                <a:solidFill>
                  <a:srgbClr val="172C43"/>
                </a:solidFill>
                <a:latin typeface="Aptos"/>
              </a:defRPr>
            </a:pPr>
            <a:r>
              <a:t>Agent Space configuration</a:t>
            </a:r>
          </a:p>
        </p:txBody>
      </p:sp>
      <p:sp>
        <p:nvSpPr>
          <p:cNvPr id="8" name="TextBox 7"/>
          <p:cNvSpPr txBox="1"/>
          <p:nvPr/>
        </p:nvSpPr>
        <p:spPr>
          <a:xfrm>
            <a:off x="3401568" y="1847088"/>
            <a:ext cx="2578608" cy="292608"/>
          </a:xfrm>
          <a:prstGeom prst="rect">
            <a:avLst/>
          </a:prstGeom>
          <a:noFill/>
        </p:spPr>
        <p:txBody>
          <a:bodyPr wrap="square" lIns="0" rIns="0" tIns="0" bIns="0">
            <a:spAutoFit/>
          </a:bodyPr>
          <a:lstStyle/>
          <a:p>
            <a:pPr>
              <a:spcAft>
                <a:spcPts val="500"/>
              </a:spcAft>
              <a:defRPr sz="1400" b="1">
                <a:solidFill>
                  <a:srgbClr val="066B67"/>
                </a:solidFill>
                <a:latin typeface="Aptos"/>
              </a:defRPr>
            </a:pPr>
            <a:r>
              <a:t>02</a:t>
            </a:r>
          </a:p>
        </p:txBody>
      </p:sp>
      <p:sp>
        <p:nvSpPr>
          <p:cNvPr id="9" name="TextBox 8"/>
          <p:cNvSpPr txBox="1"/>
          <p:nvPr/>
        </p:nvSpPr>
        <p:spPr>
          <a:xfrm>
            <a:off x="3401568" y="2267712"/>
            <a:ext cx="2560320" cy="914400"/>
          </a:xfrm>
          <a:prstGeom prst="rect">
            <a:avLst/>
          </a:prstGeom>
          <a:noFill/>
        </p:spPr>
        <p:txBody>
          <a:bodyPr wrap="square" lIns="0" rIns="0" tIns="0" bIns="0">
            <a:spAutoFit/>
          </a:bodyPr>
          <a:lstStyle/>
          <a:p>
            <a:pPr>
              <a:spcAft>
                <a:spcPts val="500"/>
              </a:spcAft>
              <a:defRPr sz="2000" b="1">
                <a:solidFill>
                  <a:srgbClr val="172C43"/>
                </a:solidFill>
                <a:latin typeface="Aptos"/>
              </a:defRPr>
            </a:pPr>
            <a:r>
              <a:t>Investigation runtime</a:t>
            </a:r>
          </a:p>
        </p:txBody>
      </p:sp>
      <p:sp>
        <p:nvSpPr>
          <p:cNvPr id="10" name="TextBox 9"/>
          <p:cNvSpPr txBox="1"/>
          <p:nvPr/>
        </p:nvSpPr>
        <p:spPr>
          <a:xfrm>
            <a:off x="6254496" y="1847088"/>
            <a:ext cx="2578608" cy="292608"/>
          </a:xfrm>
          <a:prstGeom prst="rect">
            <a:avLst/>
          </a:prstGeom>
          <a:noFill/>
        </p:spPr>
        <p:txBody>
          <a:bodyPr wrap="square" lIns="0" rIns="0" tIns="0" bIns="0">
            <a:spAutoFit/>
          </a:bodyPr>
          <a:lstStyle/>
          <a:p>
            <a:pPr>
              <a:spcAft>
                <a:spcPts val="500"/>
              </a:spcAft>
              <a:defRPr sz="1400" b="1">
                <a:solidFill>
                  <a:srgbClr val="066B67"/>
                </a:solidFill>
                <a:latin typeface="Aptos"/>
              </a:defRPr>
            </a:pPr>
            <a:r>
              <a:t>03</a:t>
            </a:r>
          </a:p>
        </p:txBody>
      </p:sp>
      <p:sp>
        <p:nvSpPr>
          <p:cNvPr id="11" name="TextBox 10"/>
          <p:cNvSpPr txBox="1"/>
          <p:nvPr/>
        </p:nvSpPr>
        <p:spPr>
          <a:xfrm>
            <a:off x="6254496" y="2267712"/>
            <a:ext cx="2560320" cy="914400"/>
          </a:xfrm>
          <a:prstGeom prst="rect">
            <a:avLst/>
          </a:prstGeom>
          <a:noFill/>
        </p:spPr>
        <p:txBody>
          <a:bodyPr wrap="square" lIns="0" rIns="0" tIns="0" bIns="0">
            <a:spAutoFit/>
          </a:bodyPr>
          <a:lstStyle/>
          <a:p>
            <a:pPr>
              <a:spcAft>
                <a:spcPts val="500"/>
              </a:spcAft>
              <a:defRPr sz="2000" b="1">
                <a:solidFill>
                  <a:srgbClr val="172C43"/>
                </a:solidFill>
                <a:latin typeface="Aptos"/>
              </a:defRPr>
            </a:pPr>
            <a:r>
              <a:t>Permitted code and network work</a:t>
            </a:r>
          </a:p>
        </p:txBody>
      </p:sp>
      <p:sp>
        <p:nvSpPr>
          <p:cNvPr id="12" name="TextBox 11"/>
          <p:cNvSpPr txBox="1"/>
          <p:nvPr/>
        </p:nvSpPr>
        <p:spPr>
          <a:xfrm>
            <a:off x="9107424" y="1847088"/>
            <a:ext cx="2578608" cy="292608"/>
          </a:xfrm>
          <a:prstGeom prst="rect">
            <a:avLst/>
          </a:prstGeom>
          <a:noFill/>
        </p:spPr>
        <p:txBody>
          <a:bodyPr wrap="square" lIns="0" rIns="0" tIns="0" bIns="0">
            <a:spAutoFit/>
          </a:bodyPr>
          <a:lstStyle/>
          <a:p>
            <a:pPr>
              <a:spcAft>
                <a:spcPts val="500"/>
              </a:spcAft>
              <a:defRPr sz="1400" b="1">
                <a:solidFill>
                  <a:srgbClr val="066B67"/>
                </a:solidFill>
                <a:latin typeface="Aptos"/>
              </a:defRPr>
            </a:pPr>
            <a:r>
              <a:t>04</a:t>
            </a:r>
          </a:p>
        </p:txBody>
      </p:sp>
      <p:sp>
        <p:nvSpPr>
          <p:cNvPr id="13" name="TextBox 12"/>
          <p:cNvSpPr txBox="1"/>
          <p:nvPr/>
        </p:nvSpPr>
        <p:spPr>
          <a:xfrm>
            <a:off x="9107424" y="2267712"/>
            <a:ext cx="2560320" cy="914400"/>
          </a:xfrm>
          <a:prstGeom prst="rect">
            <a:avLst/>
          </a:prstGeom>
          <a:noFill/>
        </p:spPr>
        <p:txBody>
          <a:bodyPr wrap="square" lIns="0" rIns="0" tIns="0" bIns="0">
            <a:spAutoFit/>
          </a:bodyPr>
          <a:lstStyle/>
          <a:p>
            <a:pPr>
              <a:spcAft>
                <a:spcPts val="500"/>
              </a:spcAft>
              <a:defRPr sz="2000" b="1">
                <a:solidFill>
                  <a:srgbClr val="172C43"/>
                </a:solidFill>
                <a:latin typeface="Aptos"/>
              </a:defRPr>
            </a:pPr>
            <a:r>
              <a:t>Investigation output</a:t>
            </a:r>
          </a:p>
        </p:txBody>
      </p:sp>
      <p:sp>
        <p:nvSpPr>
          <p:cNvPr id="14" name="TextBox 13"/>
          <p:cNvSpPr txBox="1"/>
          <p:nvPr/>
        </p:nvSpPr>
        <p:spPr>
          <a:xfrm>
            <a:off x="548640" y="3456432"/>
            <a:ext cx="5486400" cy="274320"/>
          </a:xfrm>
          <a:prstGeom prst="rect">
            <a:avLst/>
          </a:prstGeom>
          <a:noFill/>
        </p:spPr>
        <p:txBody>
          <a:bodyPr wrap="square" lIns="0" rIns="0" tIns="0" bIns="0">
            <a:spAutoFit/>
          </a:bodyPr>
          <a:lstStyle/>
          <a:p>
            <a:pPr>
              <a:spcAft>
                <a:spcPts val="500"/>
              </a:spcAft>
              <a:defRPr sz="1200" b="1">
                <a:solidFill>
                  <a:srgbClr val="066B67"/>
                </a:solidFill>
                <a:latin typeface="Aptos"/>
              </a:defRPr>
            </a:pPr>
            <a:r>
              <a:t>DOCUMENTED OPERATION</a:t>
            </a:r>
          </a:p>
        </p:txBody>
      </p:sp>
      <p:sp>
        <p:nvSpPr>
          <p:cNvPr id="15" name="TextBox 14"/>
          <p:cNvSpPr txBox="1"/>
          <p:nvPr/>
        </p:nvSpPr>
        <p:spPr>
          <a:xfrm>
            <a:off x="548640" y="3858768"/>
            <a:ext cx="5532120" cy="1920240"/>
          </a:xfrm>
          <a:prstGeom prst="rect">
            <a:avLst/>
          </a:prstGeom>
          <a:noFill/>
        </p:spPr>
        <p:txBody>
          <a:bodyPr wrap="square" lIns="0" rIns="0" tIns="0" bIns="0">
            <a:spAutoFit/>
          </a:bodyPr>
          <a:lstStyle/>
          <a:p>
            <a:pPr>
              <a:spcAft>
                <a:spcPts val="500"/>
              </a:spcAft>
              <a:defRPr sz="1800" b="0">
                <a:solidFill>
                  <a:srgbClr val="172C43"/>
                </a:solidFill>
                <a:latin typeface="Aptos"/>
              </a:defRPr>
            </a:pPr>
            <a:r>
              <a:t>The platform provides investigation-local computation with preconfigured packages and outbound endpoint rules. This execution surface is separate from directed-action authorization.</a:t>
            </a:r>
          </a:p>
        </p:txBody>
      </p:sp>
      <p:sp>
        <p:nvSpPr>
          <p:cNvPr id="16" name="TextBox 15"/>
          <p:cNvSpPr txBox="1"/>
          <p:nvPr/>
        </p:nvSpPr>
        <p:spPr>
          <a:xfrm>
            <a:off x="6400800" y="3456432"/>
            <a:ext cx="5212080" cy="274320"/>
          </a:xfrm>
          <a:prstGeom prst="rect">
            <a:avLst/>
          </a:prstGeom>
          <a:noFill/>
        </p:spPr>
        <p:txBody>
          <a:bodyPr wrap="square" lIns="0" rIns="0" tIns="0" bIns="0">
            <a:spAutoFit/>
          </a:bodyPr>
          <a:lstStyle/>
          <a:p>
            <a:pPr>
              <a:spcAft>
                <a:spcPts val="500"/>
              </a:spcAft>
              <a:defRPr sz="1200" b="1">
                <a:solidFill>
                  <a:srgbClr val="066B67"/>
                </a:solidFill>
                <a:latin typeface="Aptos"/>
              </a:defRPr>
            </a:pPr>
            <a:r>
              <a:t>STATE AND LIFECYCLE</a:t>
            </a:r>
          </a:p>
        </p:txBody>
      </p:sp>
      <p:sp>
        <p:nvSpPr>
          <p:cNvPr id="17" name="TextBox 16"/>
          <p:cNvSpPr txBox="1"/>
          <p:nvPr/>
        </p:nvSpPr>
        <p:spPr>
          <a:xfrm>
            <a:off x="6400800" y="3858768"/>
            <a:ext cx="5120640" cy="1920240"/>
          </a:xfrm>
          <a:prstGeom prst="rect">
            <a:avLst/>
          </a:prstGeom>
          <a:noFill/>
        </p:spPr>
        <p:txBody>
          <a:bodyPr wrap="square" lIns="0" rIns="0" tIns="0" bIns="0">
            <a:spAutoFit/>
          </a:bodyPr>
          <a:lstStyle/>
          <a:p>
            <a:pPr>
              <a:spcAft>
                <a:spcPts val="500"/>
              </a:spcAft>
              <a:defRPr sz="1800" b="0">
                <a:solidFill>
                  <a:srgbClr val="172C43"/>
                </a:solidFill>
                <a:latin typeface="Aptos"/>
              </a:defRPr>
            </a:pPr>
            <a:r>
              <a:t>The environment is ephemeral and scoped to an investigation; do not use it as a persistent knowledge store.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TextBox 1"/>
          <p:cNvSpPr txBox="1"/>
          <p:nvPr/>
        </p:nvSpPr>
        <p:spPr>
          <a:xfrm>
            <a:off x="548640" y="256032"/>
            <a:ext cx="10972800" cy="274320"/>
          </a:xfrm>
          <a:prstGeom prst="rect">
            <a:avLst/>
          </a:prstGeom>
          <a:noFill/>
        </p:spPr>
        <p:txBody>
          <a:bodyPr wrap="square" lIns="0" rIns="0" tIns="0" bIns="0">
            <a:spAutoFit/>
          </a:bodyPr>
          <a:lstStyle/>
          <a:p>
            <a:pPr>
              <a:spcAft>
                <a:spcPts val="500"/>
              </a:spcAft>
              <a:defRPr sz="1100" b="1">
                <a:solidFill>
                  <a:srgbClr val="066B67"/>
                </a:solidFill>
                <a:latin typeface="Aptos"/>
              </a:defRPr>
            </a:pPr>
            <a:r>
              <a:t>AWS DEVOPS AGENT / PLATFORM REFERENCE</a:t>
            </a:r>
          </a:p>
        </p:txBody>
      </p:sp>
      <p:sp>
        <p:nvSpPr>
          <p:cNvPr id="3" name="TextBox 2"/>
          <p:cNvSpPr txBox="1"/>
          <p:nvPr/>
        </p:nvSpPr>
        <p:spPr>
          <a:xfrm>
            <a:off x="548640" y="777240"/>
            <a:ext cx="11064240" cy="914400"/>
          </a:xfrm>
          <a:prstGeom prst="rect">
            <a:avLst/>
          </a:prstGeom>
          <a:noFill/>
        </p:spPr>
        <p:txBody>
          <a:bodyPr wrap="square" lIns="0" rIns="0" tIns="0" bIns="0">
            <a:spAutoFit/>
          </a:bodyPr>
          <a:lstStyle/>
          <a:p>
            <a:pPr>
              <a:spcAft>
                <a:spcPts val="500"/>
              </a:spcAft>
              <a:defRPr sz="2900" b="1">
                <a:solidFill>
                  <a:srgbClr val="172C43"/>
                </a:solidFill>
                <a:latin typeface="Aptos"/>
              </a:defRPr>
            </a:pPr>
            <a:r>
              <a:t>Ephemeral sandbox execution — configuration</a:t>
            </a:r>
          </a:p>
        </p:txBody>
      </p:sp>
      <p:sp>
        <p:nvSpPr>
          <p:cNvPr id="4" name="TextBox 3"/>
          <p:cNvSpPr txBox="1"/>
          <p:nvPr/>
        </p:nvSpPr>
        <p:spPr>
          <a:xfrm>
            <a:off x="548640" y="6400800"/>
            <a:ext cx="10698480" cy="237744"/>
          </a:xfrm>
          <a:prstGeom prst="rect">
            <a:avLst/>
          </a:prstGeom>
          <a:noFill/>
        </p:spPr>
        <p:txBody>
          <a:bodyPr wrap="square" lIns="0" rIns="0" tIns="0" bIns="0">
            <a:spAutoFit/>
          </a:bodyPr>
          <a:lstStyle/>
          <a:p>
            <a:pPr>
              <a:spcAft>
                <a:spcPts val="500"/>
              </a:spcAft>
              <a:defRPr sz="1000" b="0">
                <a:solidFill>
                  <a:srgbClr val="536579"/>
                </a:solidFill>
                <a:latin typeface="Aptos"/>
              </a:defRPr>
            </a:pPr>
            <a:r>
              <a:t>D-M07 · Enablement and proposed verification · Untimed</a:t>
            </a:r>
          </a:p>
        </p:txBody>
      </p:sp>
      <p:sp>
        <p:nvSpPr>
          <p:cNvPr id="5" name="TextBox 4"/>
          <p:cNvSpPr txBox="1"/>
          <p:nvPr/>
        </p:nvSpPr>
        <p:spPr>
          <a:xfrm>
            <a:off x="11292840" y="6400800"/>
            <a:ext cx="320040" cy="237744"/>
          </a:xfrm>
          <a:prstGeom prst="rect">
            <a:avLst/>
          </a:prstGeom>
          <a:noFill/>
        </p:spPr>
        <p:txBody>
          <a:bodyPr wrap="square" lIns="0" rIns="0" tIns="0" bIns="0">
            <a:spAutoFit/>
          </a:bodyPr>
          <a:lstStyle/>
          <a:p>
            <a:pPr>
              <a:spcAft>
                <a:spcPts val="500"/>
              </a:spcAft>
              <a:defRPr sz="1000" b="0">
                <a:solidFill>
                  <a:srgbClr val="172C43"/>
                </a:solidFill>
                <a:latin typeface="Aptos"/>
              </a:defRPr>
            </a:pPr>
            <a:r>
              <a:t>27</a:t>
            </a:r>
          </a:p>
        </p:txBody>
      </p:sp>
      <p:sp>
        <p:nvSpPr>
          <p:cNvPr id="6" name="TextBox 5"/>
          <p:cNvSpPr txBox="1"/>
          <p:nvPr/>
        </p:nvSpPr>
        <p:spPr>
          <a:xfrm>
            <a:off x="548640" y="1874519"/>
            <a:ext cx="365760" cy="365760"/>
          </a:xfrm>
          <a:prstGeom prst="rect">
            <a:avLst/>
          </a:prstGeom>
          <a:noFill/>
        </p:spPr>
        <p:txBody>
          <a:bodyPr wrap="square" lIns="0" rIns="0" tIns="0" bIns="0">
            <a:spAutoFit/>
          </a:bodyPr>
          <a:lstStyle/>
          <a:p>
            <a:pPr>
              <a:spcAft>
                <a:spcPts val="500"/>
              </a:spcAft>
              <a:defRPr sz="1400" b="1">
                <a:solidFill>
                  <a:srgbClr val="066B67"/>
                </a:solidFill>
                <a:latin typeface="Aptos"/>
              </a:defRPr>
            </a:pPr>
            <a:r>
              <a:t>01</a:t>
            </a:r>
          </a:p>
        </p:txBody>
      </p:sp>
      <p:sp>
        <p:nvSpPr>
          <p:cNvPr id="7" name="TextBox 6"/>
          <p:cNvSpPr txBox="1"/>
          <p:nvPr/>
        </p:nvSpPr>
        <p:spPr>
          <a:xfrm>
            <a:off x="1097280" y="1874519"/>
            <a:ext cx="4663440" cy="932688"/>
          </a:xfrm>
          <a:prstGeom prst="rect">
            <a:avLst/>
          </a:prstGeom>
          <a:noFill/>
        </p:spPr>
        <p:txBody>
          <a:bodyPr wrap="square" lIns="0" rIns="0" tIns="0" bIns="0">
            <a:spAutoFit/>
          </a:bodyPr>
          <a:lstStyle/>
          <a:p>
            <a:pPr>
              <a:spcAft>
                <a:spcPts val="500"/>
              </a:spcAft>
              <a:defRPr sz="1800" b="0">
                <a:solidFill>
                  <a:srgbClr val="172C43"/>
                </a:solidFill>
                <a:latin typeface="Aptos"/>
              </a:defRPr>
            </a:pPr>
            <a:r>
              <a:t>Open Capabilities → Sandbox → Configure for the Agent Space.</a:t>
            </a:r>
          </a:p>
        </p:txBody>
      </p:sp>
      <p:sp>
        <p:nvSpPr>
          <p:cNvPr id="8" name="TextBox 7"/>
          <p:cNvSpPr txBox="1"/>
          <p:nvPr/>
        </p:nvSpPr>
        <p:spPr>
          <a:xfrm>
            <a:off x="548640" y="2971800"/>
            <a:ext cx="365760" cy="365760"/>
          </a:xfrm>
          <a:prstGeom prst="rect">
            <a:avLst/>
          </a:prstGeom>
          <a:noFill/>
        </p:spPr>
        <p:txBody>
          <a:bodyPr wrap="square" lIns="0" rIns="0" tIns="0" bIns="0">
            <a:spAutoFit/>
          </a:bodyPr>
          <a:lstStyle/>
          <a:p>
            <a:pPr>
              <a:spcAft>
                <a:spcPts val="500"/>
              </a:spcAft>
              <a:defRPr sz="1400" b="1">
                <a:solidFill>
                  <a:srgbClr val="066B67"/>
                </a:solidFill>
                <a:latin typeface="Aptos"/>
              </a:defRPr>
            </a:pPr>
            <a:r>
              <a:t>02</a:t>
            </a:r>
          </a:p>
        </p:txBody>
      </p:sp>
      <p:sp>
        <p:nvSpPr>
          <p:cNvPr id="9" name="TextBox 8"/>
          <p:cNvSpPr txBox="1"/>
          <p:nvPr/>
        </p:nvSpPr>
        <p:spPr>
          <a:xfrm>
            <a:off x="1097280" y="2971800"/>
            <a:ext cx="4663440" cy="932688"/>
          </a:xfrm>
          <a:prstGeom prst="rect">
            <a:avLst/>
          </a:prstGeom>
          <a:noFill/>
        </p:spPr>
        <p:txBody>
          <a:bodyPr wrap="square" lIns="0" rIns="0" tIns="0" bIns="0">
            <a:spAutoFit/>
          </a:bodyPr>
          <a:lstStyle/>
          <a:p>
            <a:pPr>
              <a:spcAft>
                <a:spcPts val="500"/>
              </a:spcAft>
              <a:defRPr sz="1800" b="0">
                <a:solidFill>
                  <a:srgbClr val="172C43"/>
                </a:solidFill>
                <a:latin typeface="Aptos"/>
              </a:defRPr>
            </a:pPr>
            <a:r>
              <a:t>Opt in and set package requirements and permitted outbound hosts, methods and paths.</a:t>
            </a:r>
          </a:p>
        </p:txBody>
      </p:sp>
      <p:sp>
        <p:nvSpPr>
          <p:cNvPr id="10" name="TextBox 9"/>
          <p:cNvSpPr txBox="1"/>
          <p:nvPr/>
        </p:nvSpPr>
        <p:spPr>
          <a:xfrm>
            <a:off x="548640" y="4069079"/>
            <a:ext cx="365760" cy="365760"/>
          </a:xfrm>
          <a:prstGeom prst="rect">
            <a:avLst/>
          </a:prstGeom>
          <a:noFill/>
        </p:spPr>
        <p:txBody>
          <a:bodyPr wrap="square" lIns="0" rIns="0" tIns="0" bIns="0">
            <a:spAutoFit/>
          </a:bodyPr>
          <a:lstStyle/>
          <a:p>
            <a:pPr>
              <a:spcAft>
                <a:spcPts val="500"/>
              </a:spcAft>
              <a:defRPr sz="1400" b="1">
                <a:solidFill>
                  <a:srgbClr val="066B67"/>
                </a:solidFill>
                <a:latin typeface="Aptos"/>
              </a:defRPr>
            </a:pPr>
            <a:r>
              <a:t>03</a:t>
            </a:r>
          </a:p>
        </p:txBody>
      </p:sp>
      <p:sp>
        <p:nvSpPr>
          <p:cNvPr id="11" name="TextBox 10"/>
          <p:cNvSpPr txBox="1"/>
          <p:nvPr/>
        </p:nvSpPr>
        <p:spPr>
          <a:xfrm>
            <a:off x="1097280" y="4069079"/>
            <a:ext cx="4663440" cy="932688"/>
          </a:xfrm>
          <a:prstGeom prst="rect">
            <a:avLst/>
          </a:prstGeom>
          <a:noFill/>
        </p:spPr>
        <p:txBody>
          <a:bodyPr wrap="square" lIns="0" rIns="0" tIns="0" bIns="0">
            <a:spAutoFit/>
          </a:bodyPr>
          <a:lstStyle/>
          <a:p>
            <a:pPr>
              <a:spcAft>
                <a:spcPts val="500"/>
              </a:spcAft>
              <a:defRPr sz="1800" b="0">
                <a:solidFill>
                  <a:srgbClr val="172C43"/>
                </a:solidFill>
                <a:latin typeface="Aptos"/>
              </a:defRPr>
            </a:pPr>
            <a:r>
              <a:t>Confirm current feature and Region availability before an authorized test investigation.</a:t>
            </a:r>
          </a:p>
        </p:txBody>
      </p:sp>
      <p:sp>
        <p:nvSpPr>
          <p:cNvPr id="12" name="TextBox 11"/>
          <p:cNvSpPr txBox="1"/>
          <p:nvPr/>
        </p:nvSpPr>
        <p:spPr>
          <a:xfrm>
            <a:off x="6309360" y="1874519"/>
            <a:ext cx="5212080" cy="274320"/>
          </a:xfrm>
          <a:prstGeom prst="rect">
            <a:avLst/>
          </a:prstGeom>
          <a:noFill/>
        </p:spPr>
        <p:txBody>
          <a:bodyPr wrap="square" lIns="0" rIns="0" tIns="0" bIns="0">
            <a:spAutoFit/>
          </a:bodyPr>
          <a:lstStyle/>
          <a:p>
            <a:pPr>
              <a:spcAft>
                <a:spcPts val="500"/>
              </a:spcAft>
              <a:defRPr sz="1200" b="1">
                <a:solidFill>
                  <a:srgbClr val="066B67"/>
                </a:solidFill>
                <a:latin typeface="Aptos"/>
              </a:defRPr>
            </a:pPr>
            <a:r>
              <a:t>CONTROLS</a:t>
            </a:r>
          </a:p>
        </p:txBody>
      </p:sp>
      <p:sp>
        <p:nvSpPr>
          <p:cNvPr id="13" name="TextBox 12"/>
          <p:cNvSpPr txBox="1"/>
          <p:nvPr/>
        </p:nvSpPr>
        <p:spPr>
          <a:xfrm>
            <a:off x="6309360" y="2267712"/>
            <a:ext cx="5212080" cy="1234440"/>
          </a:xfrm>
          <a:prstGeom prst="rect">
            <a:avLst/>
          </a:prstGeom>
          <a:noFill/>
        </p:spPr>
        <p:txBody>
          <a:bodyPr wrap="square" lIns="0" rIns="0" tIns="0" bIns="0">
            <a:spAutoFit/>
          </a:bodyPr>
          <a:lstStyle/>
          <a:p>
            <a:pPr>
              <a:spcAft>
                <a:spcPts val="500"/>
              </a:spcAft>
              <a:defRPr sz="1700" b="0">
                <a:solidFill>
                  <a:srgbClr val="172C43"/>
                </a:solidFill>
                <a:latin typeface="Aptos"/>
              </a:defRPr>
            </a:pPr>
            <a:r>
              <a:t>The reviewed preview scope is investigations, not all chat or custom-agent work. Network permissions and workload permissions remain separate controls.</a:t>
            </a:r>
          </a:p>
        </p:txBody>
      </p:sp>
      <p:sp>
        <p:nvSpPr>
          <p:cNvPr id="14" name="TextBox 13"/>
          <p:cNvSpPr txBox="1"/>
          <p:nvPr/>
        </p:nvSpPr>
        <p:spPr>
          <a:xfrm>
            <a:off x="6309360" y="3749039"/>
            <a:ext cx="5212080" cy="274320"/>
          </a:xfrm>
          <a:prstGeom prst="rect">
            <a:avLst/>
          </a:prstGeom>
          <a:noFill/>
        </p:spPr>
        <p:txBody>
          <a:bodyPr wrap="square" lIns="0" rIns="0" tIns="0" bIns="0">
            <a:spAutoFit/>
          </a:bodyPr>
          <a:lstStyle/>
          <a:p>
            <a:pPr>
              <a:spcAft>
                <a:spcPts val="500"/>
              </a:spcAft>
              <a:defRPr sz="1100" b="1">
                <a:solidFill>
                  <a:srgbClr val="066B67"/>
                </a:solidFill>
                <a:latin typeface="Aptos"/>
              </a:defRPr>
            </a:pPr>
            <a:r>
              <a:t>PROPOSED VERIFICATION — NOT EXECUTED</a:t>
            </a:r>
          </a:p>
        </p:txBody>
      </p:sp>
      <p:sp>
        <p:nvSpPr>
          <p:cNvPr id="15" name="TextBox 14"/>
          <p:cNvSpPr txBox="1"/>
          <p:nvPr/>
        </p:nvSpPr>
        <p:spPr>
          <a:xfrm>
            <a:off x="6309360" y="4160520"/>
            <a:ext cx="5212080" cy="1691640"/>
          </a:xfrm>
          <a:prstGeom prst="rect">
            <a:avLst/>
          </a:prstGeom>
          <a:noFill/>
        </p:spPr>
        <p:txBody>
          <a:bodyPr wrap="square" lIns="0" rIns="0" tIns="0" bIns="0">
            <a:spAutoFit/>
          </a:bodyPr>
          <a:lstStyle/>
          <a:p>
            <a:pPr>
              <a:spcAft>
                <a:spcPts val="500"/>
              </a:spcAft>
              <a:defRPr sz="1700" b="0">
                <a:solidFill>
                  <a:srgbClr val="172C43"/>
                </a:solidFill>
                <a:latin typeface="Aptos"/>
              </a:defRPr>
            </a:pPr>
            <a:r>
              <a:t>Proposed check: run a harmless computation, confirm allowed and denied outbound requests, and verify that the output is retained in investigation evidence rather than assumed to persist in the runtime.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TextBox 1"/>
          <p:cNvSpPr txBox="1"/>
          <p:nvPr/>
        </p:nvSpPr>
        <p:spPr>
          <a:xfrm>
            <a:off x="548640" y="256032"/>
            <a:ext cx="10972800" cy="274320"/>
          </a:xfrm>
          <a:prstGeom prst="rect">
            <a:avLst/>
          </a:prstGeom>
          <a:noFill/>
        </p:spPr>
        <p:txBody>
          <a:bodyPr wrap="square" lIns="0" rIns="0" tIns="0" bIns="0">
            <a:spAutoFit/>
          </a:bodyPr>
          <a:lstStyle/>
          <a:p>
            <a:pPr>
              <a:spcAft>
                <a:spcPts val="500"/>
              </a:spcAft>
              <a:defRPr sz="1100" b="1">
                <a:solidFill>
                  <a:srgbClr val="066B67"/>
                </a:solidFill>
                <a:latin typeface="Aptos"/>
              </a:defRPr>
            </a:pPr>
            <a:r>
              <a:t>AWS DEVOPS AGENT / PLATFORM REFERENCE</a:t>
            </a:r>
          </a:p>
        </p:txBody>
      </p:sp>
      <p:sp>
        <p:nvSpPr>
          <p:cNvPr id="3" name="TextBox 2"/>
          <p:cNvSpPr txBox="1"/>
          <p:nvPr/>
        </p:nvSpPr>
        <p:spPr>
          <a:xfrm>
            <a:off x="548640" y="777240"/>
            <a:ext cx="11064240" cy="914400"/>
          </a:xfrm>
          <a:prstGeom prst="rect">
            <a:avLst/>
          </a:prstGeom>
          <a:noFill/>
        </p:spPr>
        <p:txBody>
          <a:bodyPr wrap="square" lIns="0" rIns="0" tIns="0" bIns="0">
            <a:spAutoFit/>
          </a:bodyPr>
          <a:lstStyle/>
          <a:p>
            <a:pPr>
              <a:spcAft>
                <a:spcPts val="500"/>
              </a:spcAft>
              <a:defRPr sz="2900" b="1">
                <a:solidFill>
                  <a:srgbClr val="172C43"/>
                </a:solidFill>
                <a:latin typeface="Aptos"/>
              </a:defRPr>
            </a:pPr>
            <a:r>
              <a:t>Verify contextual recall without accepting a stale diagnosis</a:t>
            </a:r>
          </a:p>
        </p:txBody>
      </p:sp>
      <p:sp>
        <p:nvSpPr>
          <p:cNvPr id="4" name="TextBox 3"/>
          <p:cNvSpPr txBox="1"/>
          <p:nvPr/>
        </p:nvSpPr>
        <p:spPr>
          <a:xfrm>
            <a:off x="548640" y="6400800"/>
            <a:ext cx="10698480" cy="237744"/>
          </a:xfrm>
          <a:prstGeom prst="rect">
            <a:avLst/>
          </a:prstGeom>
          <a:noFill/>
        </p:spPr>
        <p:txBody>
          <a:bodyPr wrap="square" lIns="0" rIns="0" tIns="0" bIns="0">
            <a:spAutoFit/>
          </a:bodyPr>
          <a:lstStyle/>
          <a:p>
            <a:pPr>
              <a:spcAft>
                <a:spcPts val="500"/>
              </a:spcAft>
              <a:defRPr sz="1000" b="0">
                <a:solidFill>
                  <a:srgbClr val="536579"/>
                </a:solidFill>
                <a:latin typeface="Aptos"/>
              </a:defRPr>
            </a:pPr>
            <a:r>
              <a:t>8 minute optional exercise; not part of a measured runtime</a:t>
            </a:r>
          </a:p>
        </p:txBody>
      </p:sp>
      <p:sp>
        <p:nvSpPr>
          <p:cNvPr id="5" name="TextBox 4"/>
          <p:cNvSpPr txBox="1"/>
          <p:nvPr/>
        </p:nvSpPr>
        <p:spPr>
          <a:xfrm>
            <a:off x="11292840" y="6400800"/>
            <a:ext cx="320040" cy="237744"/>
          </a:xfrm>
          <a:prstGeom prst="rect">
            <a:avLst/>
          </a:prstGeom>
          <a:noFill/>
        </p:spPr>
        <p:txBody>
          <a:bodyPr wrap="square" lIns="0" rIns="0" tIns="0" bIns="0">
            <a:spAutoFit/>
          </a:bodyPr>
          <a:lstStyle/>
          <a:p>
            <a:pPr>
              <a:spcAft>
                <a:spcPts val="500"/>
              </a:spcAft>
              <a:defRPr sz="1000" b="0">
                <a:solidFill>
                  <a:srgbClr val="172C43"/>
                </a:solidFill>
                <a:latin typeface="Aptos"/>
              </a:defRPr>
            </a:pPr>
            <a:r>
              <a:t>28</a:t>
            </a:r>
          </a:p>
        </p:txBody>
      </p:sp>
      <p:sp>
        <p:nvSpPr>
          <p:cNvPr id="6" name="TextBox 5"/>
          <p:cNvSpPr txBox="1"/>
          <p:nvPr/>
        </p:nvSpPr>
        <p:spPr>
          <a:xfrm>
            <a:off x="548640" y="1828800"/>
            <a:ext cx="914400" cy="365760"/>
          </a:xfrm>
          <a:prstGeom prst="rect">
            <a:avLst/>
          </a:prstGeom>
          <a:noFill/>
        </p:spPr>
        <p:txBody>
          <a:bodyPr wrap="square" lIns="0" rIns="0" tIns="0" bIns="0">
            <a:spAutoFit/>
          </a:bodyPr>
          <a:lstStyle/>
          <a:p>
            <a:pPr>
              <a:spcAft>
                <a:spcPts val="500"/>
              </a:spcAft>
              <a:defRPr sz="1700" b="1">
                <a:solidFill>
                  <a:srgbClr val="066B67"/>
                </a:solidFill>
                <a:latin typeface="Aptos"/>
              </a:defRPr>
            </a:pPr>
            <a:r>
              <a:t>2 min</a:t>
            </a:r>
          </a:p>
        </p:txBody>
      </p:sp>
      <p:sp>
        <p:nvSpPr>
          <p:cNvPr id="7" name="TextBox 6"/>
          <p:cNvSpPr txBox="1"/>
          <p:nvPr/>
        </p:nvSpPr>
        <p:spPr>
          <a:xfrm>
            <a:off x="1737360" y="1828800"/>
            <a:ext cx="9784080" cy="548640"/>
          </a:xfrm>
          <a:prstGeom prst="rect">
            <a:avLst/>
          </a:prstGeom>
          <a:noFill/>
        </p:spPr>
        <p:txBody>
          <a:bodyPr wrap="square" lIns="0" rIns="0" tIns="0" bIns="0">
            <a:spAutoFit/>
          </a:bodyPr>
          <a:lstStyle/>
          <a:p>
            <a:pPr>
              <a:spcAft>
                <a:spcPts val="500"/>
              </a:spcAft>
              <a:defRPr sz="1900" b="0">
                <a:solidFill>
                  <a:srgbClr val="172C43"/>
                </a:solidFill>
                <a:latin typeface="Aptos"/>
              </a:defRPr>
            </a:pPr>
            <a:r>
              <a:t>Inspect a completed investigation and its verified correction.</a:t>
            </a:r>
          </a:p>
        </p:txBody>
      </p:sp>
      <p:sp>
        <p:nvSpPr>
          <p:cNvPr id="8" name="TextBox 7"/>
          <p:cNvSpPr txBox="1"/>
          <p:nvPr/>
        </p:nvSpPr>
        <p:spPr>
          <a:xfrm>
            <a:off x="548640" y="2587752"/>
            <a:ext cx="914400" cy="365760"/>
          </a:xfrm>
          <a:prstGeom prst="rect">
            <a:avLst/>
          </a:prstGeom>
          <a:noFill/>
        </p:spPr>
        <p:txBody>
          <a:bodyPr wrap="square" lIns="0" rIns="0" tIns="0" bIns="0">
            <a:spAutoFit/>
          </a:bodyPr>
          <a:lstStyle/>
          <a:p>
            <a:pPr>
              <a:spcAft>
                <a:spcPts val="500"/>
              </a:spcAft>
              <a:defRPr sz="1700" b="1">
                <a:solidFill>
                  <a:srgbClr val="066B67"/>
                </a:solidFill>
                <a:latin typeface="Aptos"/>
              </a:defRPr>
            </a:pPr>
            <a:r>
              <a:t>2 min</a:t>
            </a:r>
          </a:p>
        </p:txBody>
      </p:sp>
      <p:sp>
        <p:nvSpPr>
          <p:cNvPr id="9" name="TextBox 8"/>
          <p:cNvSpPr txBox="1"/>
          <p:nvPr/>
        </p:nvSpPr>
        <p:spPr>
          <a:xfrm>
            <a:off x="1737360" y="2587752"/>
            <a:ext cx="9784080" cy="548640"/>
          </a:xfrm>
          <a:prstGeom prst="rect">
            <a:avLst/>
          </a:prstGeom>
          <a:noFill/>
        </p:spPr>
        <p:txBody>
          <a:bodyPr wrap="square" lIns="0" rIns="0" tIns="0" bIns="0">
            <a:spAutoFit/>
          </a:bodyPr>
          <a:lstStyle/>
          <a:p>
            <a:pPr>
              <a:spcAft>
                <a:spcPts val="500"/>
              </a:spcAft>
              <a:defRPr sz="1900" b="0">
                <a:solidFill>
                  <a:srgbClr val="172C43"/>
                </a:solidFill>
                <a:latin typeface="Aptos"/>
              </a:defRPr>
            </a:pPr>
            <a:r>
              <a:t>Inspect the monitor entry or reflection and its current state.</a:t>
            </a:r>
          </a:p>
        </p:txBody>
      </p:sp>
      <p:sp>
        <p:nvSpPr>
          <p:cNvPr id="10" name="TextBox 9"/>
          <p:cNvSpPr txBox="1"/>
          <p:nvPr/>
        </p:nvSpPr>
        <p:spPr>
          <a:xfrm>
            <a:off x="548640" y="3346704"/>
            <a:ext cx="914400" cy="365760"/>
          </a:xfrm>
          <a:prstGeom prst="rect">
            <a:avLst/>
          </a:prstGeom>
          <a:noFill/>
        </p:spPr>
        <p:txBody>
          <a:bodyPr wrap="square" lIns="0" rIns="0" tIns="0" bIns="0">
            <a:spAutoFit/>
          </a:bodyPr>
          <a:lstStyle/>
          <a:p>
            <a:pPr>
              <a:spcAft>
                <a:spcPts val="500"/>
              </a:spcAft>
              <a:defRPr sz="1700" b="1">
                <a:solidFill>
                  <a:srgbClr val="066B67"/>
                </a:solidFill>
                <a:latin typeface="Aptos"/>
              </a:defRPr>
            </a:pPr>
            <a:r>
              <a:t>2 min</a:t>
            </a:r>
          </a:p>
        </p:txBody>
      </p:sp>
      <p:sp>
        <p:nvSpPr>
          <p:cNvPr id="11" name="TextBox 10"/>
          <p:cNvSpPr txBox="1"/>
          <p:nvPr/>
        </p:nvSpPr>
        <p:spPr>
          <a:xfrm>
            <a:off x="1737360" y="3346704"/>
            <a:ext cx="9784080" cy="548640"/>
          </a:xfrm>
          <a:prstGeom prst="rect">
            <a:avLst/>
          </a:prstGeom>
          <a:noFill/>
        </p:spPr>
        <p:txBody>
          <a:bodyPr wrap="square" lIns="0" rIns="0" tIns="0" bIns="0">
            <a:spAutoFit/>
          </a:bodyPr>
          <a:lstStyle/>
          <a:p>
            <a:pPr>
              <a:spcAft>
                <a:spcPts val="500"/>
              </a:spcAft>
              <a:defRPr sz="1900" b="0">
                <a:solidFill>
                  <a:srgbClr val="172C43"/>
                </a:solidFill>
                <a:latin typeface="Aptos"/>
              </a:defRPr>
            </a:pPr>
            <a:r>
              <a:t>Review a later invocation for observable retrieval evidence.</a:t>
            </a:r>
          </a:p>
        </p:txBody>
      </p:sp>
      <p:sp>
        <p:nvSpPr>
          <p:cNvPr id="12" name="TextBox 11"/>
          <p:cNvSpPr txBox="1"/>
          <p:nvPr/>
        </p:nvSpPr>
        <p:spPr>
          <a:xfrm>
            <a:off x="548640" y="4105656"/>
            <a:ext cx="914400" cy="365760"/>
          </a:xfrm>
          <a:prstGeom prst="rect">
            <a:avLst/>
          </a:prstGeom>
          <a:noFill/>
        </p:spPr>
        <p:txBody>
          <a:bodyPr wrap="square" lIns="0" rIns="0" tIns="0" bIns="0">
            <a:spAutoFit/>
          </a:bodyPr>
          <a:lstStyle/>
          <a:p>
            <a:pPr>
              <a:spcAft>
                <a:spcPts val="500"/>
              </a:spcAft>
              <a:defRPr sz="1700" b="1">
                <a:solidFill>
                  <a:srgbClr val="066B67"/>
                </a:solidFill>
                <a:latin typeface="Aptos"/>
              </a:defRPr>
            </a:pPr>
            <a:r>
              <a:t>2 min</a:t>
            </a:r>
          </a:p>
        </p:txBody>
      </p:sp>
      <p:sp>
        <p:nvSpPr>
          <p:cNvPr id="13" name="TextBox 12"/>
          <p:cNvSpPr txBox="1"/>
          <p:nvPr/>
        </p:nvSpPr>
        <p:spPr>
          <a:xfrm>
            <a:off x="1737360" y="4105656"/>
            <a:ext cx="9784080" cy="548640"/>
          </a:xfrm>
          <a:prstGeom prst="rect">
            <a:avLst/>
          </a:prstGeom>
          <a:noFill/>
        </p:spPr>
        <p:txBody>
          <a:bodyPr wrap="square" lIns="0" rIns="0" tIns="0" bIns="0">
            <a:spAutoFit/>
          </a:bodyPr>
          <a:lstStyle/>
          <a:p>
            <a:pPr>
              <a:spcAft>
                <a:spcPts val="500"/>
              </a:spcAft>
              <a:defRPr sz="1700" b="0">
                <a:solidFill>
                  <a:srgbClr val="172C43"/>
                </a:solidFill>
                <a:latin typeface="Aptos"/>
              </a:defRPr>
            </a:pPr>
            <a:r>
              <a:t>Challenge the conclusion with current contradictory telemetry and record unknowns.</a:t>
            </a:r>
          </a:p>
        </p:txBody>
      </p:sp>
      <p:sp>
        <p:nvSpPr>
          <p:cNvPr id="14" name="TextBox 13"/>
          <p:cNvSpPr txBox="1"/>
          <p:nvPr/>
        </p:nvSpPr>
        <p:spPr>
          <a:xfrm>
            <a:off x="548640" y="5212080"/>
            <a:ext cx="10972800" cy="914400"/>
          </a:xfrm>
          <a:prstGeom prst="rect">
            <a:avLst/>
          </a:prstGeom>
          <a:noFill/>
        </p:spPr>
        <p:txBody>
          <a:bodyPr wrap="square" lIns="0" rIns="0" tIns="0" bIns="0">
            <a:spAutoFit/>
          </a:bodyPr>
          <a:lstStyle/>
          <a:p>
            <a:pPr>
              <a:spcAft>
                <a:spcPts val="500"/>
              </a:spcAft>
              <a:defRPr sz="1800" b="0">
                <a:solidFill>
                  <a:srgbClr val="172C43"/>
                </a:solidFill>
                <a:latin typeface="Aptos"/>
              </a:defRPr>
            </a:pPr>
            <a:r>
              <a:t>Report three separate outcomes: memory exists, memory use is observable or unverified, and diagnosis is independently supported or rejected.</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TextBox 1"/>
          <p:cNvSpPr txBox="1"/>
          <p:nvPr/>
        </p:nvSpPr>
        <p:spPr>
          <a:xfrm>
            <a:off x="548640" y="256032"/>
            <a:ext cx="10972800" cy="274320"/>
          </a:xfrm>
          <a:prstGeom prst="rect">
            <a:avLst/>
          </a:prstGeom>
          <a:noFill/>
        </p:spPr>
        <p:txBody>
          <a:bodyPr wrap="square" lIns="0" rIns="0" tIns="0" bIns="0">
            <a:spAutoFit/>
          </a:bodyPr>
          <a:lstStyle/>
          <a:p>
            <a:pPr>
              <a:spcAft>
                <a:spcPts val="500"/>
              </a:spcAft>
              <a:defRPr sz="1100" b="1">
                <a:solidFill>
                  <a:srgbClr val="066B67"/>
                </a:solidFill>
                <a:latin typeface="Aptos"/>
              </a:defRPr>
            </a:pPr>
            <a:r>
              <a:t>AWS DEVOPS AGENT / PLATFORM REFERENCE</a:t>
            </a:r>
          </a:p>
        </p:txBody>
      </p:sp>
      <p:sp>
        <p:nvSpPr>
          <p:cNvPr id="3" name="TextBox 2"/>
          <p:cNvSpPr txBox="1"/>
          <p:nvPr/>
        </p:nvSpPr>
        <p:spPr>
          <a:xfrm>
            <a:off x="548640" y="777240"/>
            <a:ext cx="11064240" cy="914400"/>
          </a:xfrm>
          <a:prstGeom prst="rect">
            <a:avLst/>
          </a:prstGeom>
          <a:noFill/>
        </p:spPr>
        <p:txBody>
          <a:bodyPr wrap="square" lIns="0" rIns="0" tIns="0" bIns="0">
            <a:spAutoFit/>
          </a:bodyPr>
          <a:lstStyle/>
          <a:p>
            <a:pPr>
              <a:spcAft>
                <a:spcPts val="500"/>
              </a:spcAft>
              <a:defRPr sz="2900" b="1">
                <a:solidFill>
                  <a:srgbClr val="172C43"/>
                </a:solidFill>
                <a:latin typeface="Aptos"/>
              </a:defRPr>
            </a:pPr>
            <a:r>
              <a:t>Official source register</a:t>
            </a:r>
          </a:p>
        </p:txBody>
      </p:sp>
      <p:sp>
        <p:nvSpPr>
          <p:cNvPr id="4" name="TextBox 3"/>
          <p:cNvSpPr txBox="1"/>
          <p:nvPr/>
        </p:nvSpPr>
        <p:spPr>
          <a:xfrm>
            <a:off x="548640" y="6400800"/>
            <a:ext cx="10698480" cy="237744"/>
          </a:xfrm>
          <a:prstGeom prst="rect">
            <a:avLst/>
          </a:prstGeom>
          <a:noFill/>
        </p:spPr>
        <p:txBody>
          <a:bodyPr wrap="square" lIns="0" rIns="0" tIns="0" bIns="0">
            <a:spAutoFit/>
          </a:bodyPr>
          <a:lstStyle/>
          <a:p>
            <a:pPr>
              <a:spcAft>
                <a:spcPts val="500"/>
              </a:spcAft>
              <a:defRPr sz="1000" b="0">
                <a:solidFill>
                  <a:srgbClr val="536579"/>
                </a:solidFill>
                <a:latin typeface="Aptos"/>
              </a:defRPr>
            </a:pPr>
            <a:r>
              <a:t>Untimed evidence appendix; complete URLs in speaker notes</a:t>
            </a:r>
          </a:p>
        </p:txBody>
      </p:sp>
      <p:sp>
        <p:nvSpPr>
          <p:cNvPr id="5" name="TextBox 4"/>
          <p:cNvSpPr txBox="1"/>
          <p:nvPr/>
        </p:nvSpPr>
        <p:spPr>
          <a:xfrm>
            <a:off x="11292840" y="6400800"/>
            <a:ext cx="320040" cy="237744"/>
          </a:xfrm>
          <a:prstGeom prst="rect">
            <a:avLst/>
          </a:prstGeom>
          <a:noFill/>
        </p:spPr>
        <p:txBody>
          <a:bodyPr wrap="square" lIns="0" rIns="0" tIns="0" bIns="0">
            <a:spAutoFit/>
          </a:bodyPr>
          <a:lstStyle/>
          <a:p>
            <a:pPr>
              <a:spcAft>
                <a:spcPts val="500"/>
              </a:spcAft>
              <a:defRPr sz="1000" b="0">
                <a:solidFill>
                  <a:srgbClr val="172C43"/>
                </a:solidFill>
                <a:latin typeface="Aptos"/>
              </a:defRPr>
            </a:pPr>
            <a:r>
              <a:t>29</a:t>
            </a:r>
          </a:p>
        </p:txBody>
      </p:sp>
      <p:sp>
        <p:nvSpPr>
          <p:cNvPr id="6" name="TextBox 5"/>
          <p:cNvSpPr txBox="1"/>
          <p:nvPr/>
        </p:nvSpPr>
        <p:spPr>
          <a:xfrm>
            <a:off x="548640" y="1828800"/>
            <a:ext cx="10972800" cy="457200"/>
          </a:xfrm>
          <a:prstGeom prst="rect">
            <a:avLst/>
          </a:prstGeom>
          <a:noFill/>
        </p:spPr>
        <p:txBody>
          <a:bodyPr wrap="square" lIns="0" rIns="0" tIns="0" bIns="0">
            <a:spAutoFit/>
          </a:bodyPr>
          <a:lstStyle/>
          <a:p>
            <a:pPr>
              <a:spcAft>
                <a:spcPts val="500"/>
              </a:spcAft>
              <a:defRPr sz="1800" b="0">
                <a:solidFill>
                  <a:srgbClr val="172C43"/>
                </a:solidFill>
                <a:latin typeface="Aptos"/>
              </a:defRPr>
            </a:pPr>
            <a:r>
              <a:rPr>
                <a:hlinkClick r:id="rId3"/>
              </a:rPr>
              <a:t>D01  Creating an Agent Space</a:t>
            </a:r>
          </a:p>
        </p:txBody>
      </p:sp>
      <p:sp>
        <p:nvSpPr>
          <p:cNvPr id="7" name="TextBox 6"/>
          <p:cNvSpPr txBox="1"/>
          <p:nvPr/>
        </p:nvSpPr>
        <p:spPr>
          <a:xfrm>
            <a:off x="548640" y="2450592"/>
            <a:ext cx="10972800" cy="457200"/>
          </a:xfrm>
          <a:prstGeom prst="rect">
            <a:avLst/>
          </a:prstGeom>
          <a:noFill/>
        </p:spPr>
        <p:txBody>
          <a:bodyPr wrap="square" lIns="0" rIns="0" tIns="0" bIns="0">
            <a:spAutoFit/>
          </a:bodyPr>
          <a:lstStyle/>
          <a:p>
            <a:pPr>
              <a:spcAft>
                <a:spcPts val="500"/>
              </a:spcAft>
              <a:defRPr sz="1800" b="0">
                <a:solidFill>
                  <a:srgbClr val="172C43"/>
                </a:solidFill>
                <a:latin typeface="Aptos"/>
              </a:defRPr>
            </a:pPr>
            <a:r>
              <a:rPr>
                <a:hlinkClick r:id="rId4"/>
              </a:rPr>
              <a:t>D02  Connecting MCP servers</a:t>
            </a:r>
          </a:p>
        </p:txBody>
      </p:sp>
      <p:sp>
        <p:nvSpPr>
          <p:cNvPr id="8" name="TextBox 7"/>
          <p:cNvSpPr txBox="1"/>
          <p:nvPr/>
        </p:nvSpPr>
        <p:spPr>
          <a:xfrm>
            <a:off x="548640" y="3072384"/>
            <a:ext cx="10972800" cy="457200"/>
          </a:xfrm>
          <a:prstGeom prst="rect">
            <a:avLst/>
          </a:prstGeom>
          <a:noFill/>
        </p:spPr>
        <p:txBody>
          <a:bodyPr wrap="square" lIns="0" rIns="0" tIns="0" bIns="0">
            <a:spAutoFit/>
          </a:bodyPr>
          <a:lstStyle/>
          <a:p>
            <a:pPr>
              <a:spcAft>
                <a:spcPts val="500"/>
              </a:spcAft>
              <a:defRPr sz="1800" b="0">
                <a:solidFill>
                  <a:srgbClr val="172C43"/>
                </a:solidFill>
                <a:latin typeface="Aptos"/>
              </a:defRPr>
            </a:pPr>
            <a:r>
              <a:rPr>
                <a:hlinkClick r:id="rId5"/>
              </a:rPr>
              <a:t>D03  Connecting to privately hosted tools</a:t>
            </a:r>
          </a:p>
        </p:txBody>
      </p:sp>
      <p:sp>
        <p:nvSpPr>
          <p:cNvPr id="9" name="TextBox 8"/>
          <p:cNvSpPr txBox="1"/>
          <p:nvPr/>
        </p:nvSpPr>
        <p:spPr>
          <a:xfrm>
            <a:off x="548640" y="3694176"/>
            <a:ext cx="10972800" cy="457200"/>
          </a:xfrm>
          <a:prstGeom prst="rect">
            <a:avLst/>
          </a:prstGeom>
          <a:noFill/>
        </p:spPr>
        <p:txBody>
          <a:bodyPr wrap="square" lIns="0" rIns="0" tIns="0" bIns="0">
            <a:spAutoFit/>
          </a:bodyPr>
          <a:lstStyle/>
          <a:p>
            <a:pPr>
              <a:spcAft>
                <a:spcPts val="500"/>
              </a:spcAft>
              <a:defRPr sz="1800" b="0">
                <a:solidFill>
                  <a:srgbClr val="172C43"/>
                </a:solidFill>
                <a:latin typeface="Aptos"/>
              </a:defRPr>
            </a:pPr>
            <a:r>
              <a:rPr>
                <a:hlinkClick r:id="rId6"/>
              </a:rPr>
              <a:t>D04  Managed agents</a:t>
            </a:r>
          </a:p>
        </p:txBody>
      </p:sp>
      <p:sp>
        <p:nvSpPr>
          <p:cNvPr id="10" name="TextBox 9"/>
          <p:cNvSpPr txBox="1"/>
          <p:nvPr/>
        </p:nvSpPr>
        <p:spPr>
          <a:xfrm>
            <a:off x="548640" y="4315968"/>
            <a:ext cx="10972800" cy="457200"/>
          </a:xfrm>
          <a:prstGeom prst="rect">
            <a:avLst/>
          </a:prstGeom>
          <a:noFill/>
        </p:spPr>
        <p:txBody>
          <a:bodyPr wrap="square" lIns="0" rIns="0" tIns="0" bIns="0">
            <a:spAutoFit/>
          </a:bodyPr>
          <a:lstStyle/>
          <a:p>
            <a:pPr>
              <a:spcAft>
                <a:spcPts val="500"/>
              </a:spcAft>
              <a:defRPr sz="1800" b="0">
                <a:solidFill>
                  <a:srgbClr val="172C43"/>
                </a:solidFill>
                <a:latin typeface="Aptos"/>
              </a:defRPr>
            </a:pPr>
            <a:r>
              <a:rPr>
                <a:hlinkClick r:id="rId7"/>
              </a:rPr>
              <a:t>D05  DevOps Agent memories</a:t>
            </a:r>
          </a:p>
        </p:txBody>
      </p:sp>
      <p:sp>
        <p:nvSpPr>
          <p:cNvPr id="11" name="TextBox 10"/>
          <p:cNvSpPr txBox="1"/>
          <p:nvPr/>
        </p:nvSpPr>
        <p:spPr>
          <a:xfrm>
            <a:off x="548640" y="4937760"/>
            <a:ext cx="10972800" cy="457200"/>
          </a:xfrm>
          <a:prstGeom prst="rect">
            <a:avLst/>
          </a:prstGeom>
          <a:noFill/>
        </p:spPr>
        <p:txBody>
          <a:bodyPr wrap="square" lIns="0" rIns="0" tIns="0" bIns="0">
            <a:spAutoFit/>
          </a:bodyPr>
          <a:lstStyle/>
          <a:p>
            <a:pPr>
              <a:spcAft>
                <a:spcPts val="500"/>
              </a:spcAft>
              <a:defRPr sz="1800" b="0">
                <a:solidFill>
                  <a:srgbClr val="172C43"/>
                </a:solidFill>
                <a:latin typeface="Aptos"/>
              </a:defRPr>
            </a:pPr>
            <a:r>
              <a:rPr>
                <a:hlinkClick r:id="rId8"/>
              </a:rPr>
              <a:t>D06  Agent instructions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TextBox 1"/>
          <p:cNvSpPr txBox="1"/>
          <p:nvPr/>
        </p:nvSpPr>
        <p:spPr>
          <a:xfrm>
            <a:off x="548640" y="256032"/>
            <a:ext cx="10972800" cy="274320"/>
          </a:xfrm>
          <a:prstGeom prst="rect">
            <a:avLst/>
          </a:prstGeom>
          <a:noFill/>
        </p:spPr>
        <p:txBody>
          <a:bodyPr wrap="square" lIns="0" rIns="0" tIns="0" bIns="0">
            <a:spAutoFit/>
          </a:bodyPr>
          <a:lstStyle/>
          <a:p>
            <a:pPr>
              <a:spcAft>
                <a:spcPts val="500"/>
              </a:spcAft>
              <a:defRPr sz="1100" b="1">
                <a:solidFill>
                  <a:srgbClr val="066B67"/>
                </a:solidFill>
                <a:latin typeface="Aptos"/>
              </a:defRPr>
            </a:pPr>
            <a:r>
              <a:t>AWS DEVOPS AGENT / PLATFORM REFERENCE</a:t>
            </a:r>
          </a:p>
        </p:txBody>
      </p:sp>
      <p:sp>
        <p:nvSpPr>
          <p:cNvPr id="3" name="TextBox 2"/>
          <p:cNvSpPr txBox="1"/>
          <p:nvPr/>
        </p:nvSpPr>
        <p:spPr>
          <a:xfrm>
            <a:off x="548640" y="777240"/>
            <a:ext cx="11064240" cy="914400"/>
          </a:xfrm>
          <a:prstGeom prst="rect">
            <a:avLst/>
          </a:prstGeom>
          <a:noFill/>
        </p:spPr>
        <p:txBody>
          <a:bodyPr wrap="square" lIns="0" rIns="0" tIns="0" bIns="0">
            <a:spAutoFit/>
          </a:bodyPr>
          <a:lstStyle/>
          <a:p>
            <a:pPr>
              <a:spcAft>
                <a:spcPts val="500"/>
              </a:spcAft>
              <a:defRPr sz="2900" b="1">
                <a:solidFill>
                  <a:srgbClr val="172C43"/>
                </a:solidFill>
                <a:latin typeface="Aptos"/>
              </a:defRPr>
            </a:pPr>
            <a:r>
              <a:t>Official source register</a:t>
            </a:r>
          </a:p>
        </p:txBody>
      </p:sp>
      <p:sp>
        <p:nvSpPr>
          <p:cNvPr id="4" name="TextBox 3"/>
          <p:cNvSpPr txBox="1"/>
          <p:nvPr/>
        </p:nvSpPr>
        <p:spPr>
          <a:xfrm>
            <a:off x="548640" y="6400800"/>
            <a:ext cx="10698480" cy="237744"/>
          </a:xfrm>
          <a:prstGeom prst="rect">
            <a:avLst/>
          </a:prstGeom>
          <a:noFill/>
        </p:spPr>
        <p:txBody>
          <a:bodyPr wrap="square" lIns="0" rIns="0" tIns="0" bIns="0">
            <a:spAutoFit/>
          </a:bodyPr>
          <a:lstStyle/>
          <a:p>
            <a:pPr>
              <a:spcAft>
                <a:spcPts val="500"/>
              </a:spcAft>
              <a:defRPr sz="1000" b="0">
                <a:solidFill>
                  <a:srgbClr val="536579"/>
                </a:solidFill>
                <a:latin typeface="Aptos"/>
              </a:defRPr>
            </a:pPr>
            <a:r>
              <a:t>Untimed evidence appendix; complete URLs in speaker notes</a:t>
            </a:r>
          </a:p>
        </p:txBody>
      </p:sp>
      <p:sp>
        <p:nvSpPr>
          <p:cNvPr id="5" name="TextBox 4"/>
          <p:cNvSpPr txBox="1"/>
          <p:nvPr/>
        </p:nvSpPr>
        <p:spPr>
          <a:xfrm>
            <a:off x="11292840" y="6400800"/>
            <a:ext cx="320040" cy="237744"/>
          </a:xfrm>
          <a:prstGeom prst="rect">
            <a:avLst/>
          </a:prstGeom>
          <a:noFill/>
        </p:spPr>
        <p:txBody>
          <a:bodyPr wrap="square" lIns="0" rIns="0" tIns="0" bIns="0">
            <a:spAutoFit/>
          </a:bodyPr>
          <a:lstStyle/>
          <a:p>
            <a:pPr>
              <a:spcAft>
                <a:spcPts val="500"/>
              </a:spcAft>
              <a:defRPr sz="1000" b="0">
                <a:solidFill>
                  <a:srgbClr val="172C43"/>
                </a:solidFill>
                <a:latin typeface="Aptos"/>
              </a:defRPr>
            </a:pPr>
            <a:r>
              <a:t>30</a:t>
            </a:r>
          </a:p>
        </p:txBody>
      </p:sp>
      <p:sp>
        <p:nvSpPr>
          <p:cNvPr id="6" name="TextBox 5"/>
          <p:cNvSpPr txBox="1"/>
          <p:nvPr/>
        </p:nvSpPr>
        <p:spPr>
          <a:xfrm>
            <a:off x="548640" y="1828800"/>
            <a:ext cx="10972800" cy="457200"/>
          </a:xfrm>
          <a:prstGeom prst="rect">
            <a:avLst/>
          </a:prstGeom>
          <a:noFill/>
        </p:spPr>
        <p:txBody>
          <a:bodyPr wrap="square" lIns="0" rIns="0" tIns="0" bIns="0">
            <a:spAutoFit/>
          </a:bodyPr>
          <a:lstStyle/>
          <a:p>
            <a:pPr>
              <a:spcAft>
                <a:spcPts val="500"/>
              </a:spcAft>
              <a:defRPr sz="1800" b="0">
                <a:solidFill>
                  <a:srgbClr val="172C43"/>
                </a:solidFill>
                <a:latin typeface="Aptos"/>
              </a:defRPr>
            </a:pPr>
            <a:r>
              <a:rPr>
                <a:hlinkClick r:id="rId3"/>
              </a:rPr>
              <a:t>D07  DevOps Agent skills</a:t>
            </a:r>
          </a:p>
        </p:txBody>
      </p:sp>
      <p:sp>
        <p:nvSpPr>
          <p:cNvPr id="7" name="TextBox 6"/>
          <p:cNvSpPr txBox="1"/>
          <p:nvPr/>
        </p:nvSpPr>
        <p:spPr>
          <a:xfrm>
            <a:off x="548640" y="2450592"/>
            <a:ext cx="10972800" cy="457200"/>
          </a:xfrm>
          <a:prstGeom prst="rect">
            <a:avLst/>
          </a:prstGeom>
          <a:noFill/>
        </p:spPr>
        <p:txBody>
          <a:bodyPr wrap="square" lIns="0" rIns="0" tIns="0" bIns="0">
            <a:spAutoFit/>
          </a:bodyPr>
          <a:lstStyle/>
          <a:p>
            <a:pPr>
              <a:spcAft>
                <a:spcPts val="500"/>
              </a:spcAft>
              <a:defRPr sz="1800" b="0">
                <a:solidFill>
                  <a:srgbClr val="172C43"/>
                </a:solidFill>
                <a:latin typeface="Aptos"/>
              </a:defRPr>
            </a:pPr>
            <a:r>
              <a:rPr>
                <a:hlinkClick r:id="rId4"/>
              </a:rPr>
              <a:t>D08  Creating a custom agent</a:t>
            </a:r>
          </a:p>
        </p:txBody>
      </p:sp>
      <p:sp>
        <p:nvSpPr>
          <p:cNvPr id="8" name="TextBox 7"/>
          <p:cNvSpPr txBox="1"/>
          <p:nvPr/>
        </p:nvSpPr>
        <p:spPr>
          <a:xfrm>
            <a:off x="548640" y="3072384"/>
            <a:ext cx="10972800" cy="457200"/>
          </a:xfrm>
          <a:prstGeom prst="rect">
            <a:avLst/>
          </a:prstGeom>
          <a:noFill/>
        </p:spPr>
        <p:txBody>
          <a:bodyPr wrap="square" lIns="0" rIns="0" tIns="0" bIns="0">
            <a:spAutoFit/>
          </a:bodyPr>
          <a:lstStyle/>
          <a:p>
            <a:pPr>
              <a:spcAft>
                <a:spcPts val="500"/>
              </a:spcAft>
              <a:defRPr sz="1800" b="0">
                <a:solidFill>
                  <a:srgbClr val="172C43"/>
                </a:solidFill>
                <a:latin typeface="Aptos"/>
              </a:defRPr>
            </a:pPr>
            <a:r>
              <a:rPr>
                <a:hlinkClick r:id="rId5"/>
              </a:rPr>
              <a:t>D09  Custom agents</a:t>
            </a:r>
          </a:p>
        </p:txBody>
      </p:sp>
      <p:sp>
        <p:nvSpPr>
          <p:cNvPr id="9" name="TextBox 8"/>
          <p:cNvSpPr txBox="1"/>
          <p:nvPr/>
        </p:nvSpPr>
        <p:spPr>
          <a:xfrm>
            <a:off x="548640" y="3694176"/>
            <a:ext cx="10972800" cy="457200"/>
          </a:xfrm>
          <a:prstGeom prst="rect">
            <a:avLst/>
          </a:prstGeom>
          <a:noFill/>
        </p:spPr>
        <p:txBody>
          <a:bodyPr wrap="square" lIns="0" rIns="0" tIns="0" bIns="0">
            <a:spAutoFit/>
          </a:bodyPr>
          <a:lstStyle/>
          <a:p>
            <a:pPr>
              <a:spcAft>
                <a:spcPts val="500"/>
              </a:spcAft>
              <a:defRPr sz="1800" b="0">
                <a:solidFill>
                  <a:srgbClr val="172C43"/>
                </a:solidFill>
                <a:latin typeface="Aptos"/>
              </a:defRPr>
            </a:pPr>
            <a:r>
              <a:rPr>
                <a:hlinkClick r:id="rId6"/>
              </a:rPr>
              <a:t>D10  Incident initiation and corrective feedback</a:t>
            </a:r>
          </a:p>
        </p:txBody>
      </p:sp>
      <p:sp>
        <p:nvSpPr>
          <p:cNvPr id="10" name="TextBox 9"/>
          <p:cNvSpPr txBox="1"/>
          <p:nvPr/>
        </p:nvSpPr>
        <p:spPr>
          <a:xfrm>
            <a:off x="548640" y="4315968"/>
            <a:ext cx="10972800" cy="457200"/>
          </a:xfrm>
          <a:prstGeom prst="rect">
            <a:avLst/>
          </a:prstGeom>
          <a:noFill/>
        </p:spPr>
        <p:txBody>
          <a:bodyPr wrap="square" lIns="0" rIns="0" tIns="0" bIns="0">
            <a:spAutoFit/>
          </a:bodyPr>
          <a:lstStyle/>
          <a:p>
            <a:pPr>
              <a:spcAft>
                <a:spcPts val="500"/>
              </a:spcAft>
              <a:defRPr sz="1800" b="0">
                <a:solidFill>
                  <a:srgbClr val="172C43"/>
                </a:solidFill>
                <a:latin typeface="Aptos"/>
              </a:defRPr>
            </a:pPr>
            <a:r>
              <a:rPr>
                <a:hlinkClick r:id="rId7"/>
              </a:rPr>
              <a:t>D11  Set up a Sandbox</a:t>
            </a:r>
          </a:p>
        </p:txBody>
      </p:sp>
      <p:sp>
        <p:nvSpPr>
          <p:cNvPr id="11" name="TextBox 10"/>
          <p:cNvSpPr txBox="1"/>
          <p:nvPr/>
        </p:nvSpPr>
        <p:spPr>
          <a:xfrm>
            <a:off x="548640" y="4937760"/>
            <a:ext cx="10972800" cy="457200"/>
          </a:xfrm>
          <a:prstGeom prst="rect">
            <a:avLst/>
          </a:prstGeom>
          <a:noFill/>
        </p:spPr>
        <p:txBody>
          <a:bodyPr wrap="square" lIns="0" rIns="0" tIns="0" bIns="0">
            <a:spAutoFit/>
          </a:bodyPr>
          <a:lstStyle/>
          <a:p>
            <a:pPr>
              <a:spcAft>
                <a:spcPts val="500"/>
              </a:spcAft>
              <a:defRPr sz="1800" b="0">
                <a:solidFill>
                  <a:srgbClr val="172C43"/>
                </a:solidFill>
                <a:latin typeface="Aptos"/>
              </a:defRPr>
            </a:pPr>
            <a:r>
              <a:rPr>
                <a:hlinkClick r:id="rId8"/>
              </a:rPr>
              <a:t>D12  Working with directed actions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TextBox 1"/>
          <p:cNvSpPr txBox="1"/>
          <p:nvPr/>
        </p:nvSpPr>
        <p:spPr>
          <a:xfrm>
            <a:off x="548640" y="256032"/>
            <a:ext cx="10972800" cy="274320"/>
          </a:xfrm>
          <a:prstGeom prst="rect">
            <a:avLst/>
          </a:prstGeom>
          <a:noFill/>
        </p:spPr>
        <p:txBody>
          <a:bodyPr wrap="square" lIns="0" rIns="0" tIns="0" bIns="0">
            <a:spAutoFit/>
          </a:bodyPr>
          <a:lstStyle/>
          <a:p>
            <a:pPr>
              <a:spcAft>
                <a:spcPts val="500"/>
              </a:spcAft>
              <a:defRPr sz="1100" b="1">
                <a:solidFill>
                  <a:srgbClr val="066B67"/>
                </a:solidFill>
                <a:latin typeface="Aptos"/>
              </a:defRPr>
            </a:pPr>
            <a:r>
              <a:t>AWS DEVOPS AGENT / PLATFORM REFERENCE</a:t>
            </a:r>
          </a:p>
        </p:txBody>
      </p:sp>
      <p:sp>
        <p:nvSpPr>
          <p:cNvPr id="3" name="TextBox 2"/>
          <p:cNvSpPr txBox="1"/>
          <p:nvPr/>
        </p:nvSpPr>
        <p:spPr>
          <a:xfrm>
            <a:off x="548640" y="777240"/>
            <a:ext cx="11064240" cy="914400"/>
          </a:xfrm>
          <a:prstGeom prst="rect">
            <a:avLst/>
          </a:prstGeom>
          <a:noFill/>
        </p:spPr>
        <p:txBody>
          <a:bodyPr wrap="square" lIns="0" rIns="0" tIns="0" bIns="0">
            <a:spAutoFit/>
          </a:bodyPr>
          <a:lstStyle/>
          <a:p>
            <a:pPr>
              <a:spcAft>
                <a:spcPts val="500"/>
              </a:spcAft>
              <a:defRPr sz="2900" b="1">
                <a:solidFill>
                  <a:srgbClr val="172C43"/>
                </a:solidFill>
                <a:latin typeface="Aptos"/>
              </a:defRPr>
            </a:pPr>
            <a:r>
              <a:t>Official source register</a:t>
            </a:r>
          </a:p>
        </p:txBody>
      </p:sp>
      <p:sp>
        <p:nvSpPr>
          <p:cNvPr id="4" name="TextBox 3"/>
          <p:cNvSpPr txBox="1"/>
          <p:nvPr/>
        </p:nvSpPr>
        <p:spPr>
          <a:xfrm>
            <a:off x="548640" y="6400800"/>
            <a:ext cx="10698480" cy="237744"/>
          </a:xfrm>
          <a:prstGeom prst="rect">
            <a:avLst/>
          </a:prstGeom>
          <a:noFill/>
        </p:spPr>
        <p:txBody>
          <a:bodyPr wrap="square" lIns="0" rIns="0" tIns="0" bIns="0">
            <a:spAutoFit/>
          </a:bodyPr>
          <a:lstStyle/>
          <a:p>
            <a:pPr>
              <a:spcAft>
                <a:spcPts val="500"/>
              </a:spcAft>
              <a:defRPr sz="1000" b="0">
                <a:solidFill>
                  <a:srgbClr val="536579"/>
                </a:solidFill>
                <a:latin typeface="Aptos"/>
              </a:defRPr>
            </a:pPr>
            <a:r>
              <a:t>Untimed evidence appendix; complete URLs in speaker notes</a:t>
            </a:r>
          </a:p>
        </p:txBody>
      </p:sp>
      <p:sp>
        <p:nvSpPr>
          <p:cNvPr id="5" name="TextBox 4"/>
          <p:cNvSpPr txBox="1"/>
          <p:nvPr/>
        </p:nvSpPr>
        <p:spPr>
          <a:xfrm>
            <a:off x="11292840" y="6400800"/>
            <a:ext cx="320040" cy="237744"/>
          </a:xfrm>
          <a:prstGeom prst="rect">
            <a:avLst/>
          </a:prstGeom>
          <a:noFill/>
        </p:spPr>
        <p:txBody>
          <a:bodyPr wrap="square" lIns="0" rIns="0" tIns="0" bIns="0">
            <a:spAutoFit/>
          </a:bodyPr>
          <a:lstStyle/>
          <a:p>
            <a:pPr>
              <a:spcAft>
                <a:spcPts val="500"/>
              </a:spcAft>
              <a:defRPr sz="1000" b="0">
                <a:solidFill>
                  <a:srgbClr val="172C43"/>
                </a:solidFill>
                <a:latin typeface="Aptos"/>
              </a:defRPr>
            </a:pPr>
            <a:r>
              <a:t>31</a:t>
            </a:r>
          </a:p>
        </p:txBody>
      </p:sp>
      <p:sp>
        <p:nvSpPr>
          <p:cNvPr id="6" name="TextBox 5"/>
          <p:cNvSpPr txBox="1"/>
          <p:nvPr/>
        </p:nvSpPr>
        <p:spPr>
          <a:xfrm>
            <a:off x="548640" y="1828800"/>
            <a:ext cx="10972800" cy="457200"/>
          </a:xfrm>
          <a:prstGeom prst="rect">
            <a:avLst/>
          </a:prstGeom>
          <a:noFill/>
        </p:spPr>
        <p:txBody>
          <a:bodyPr wrap="square" lIns="0" rIns="0" tIns="0" bIns="0">
            <a:spAutoFit/>
          </a:bodyPr>
          <a:lstStyle/>
          <a:p>
            <a:pPr>
              <a:spcAft>
                <a:spcPts val="500"/>
              </a:spcAft>
              <a:defRPr sz="1800" b="0">
                <a:solidFill>
                  <a:srgbClr val="172C43"/>
                </a:solidFill>
                <a:latin typeface="Aptos"/>
              </a:defRPr>
            </a:pPr>
            <a:r>
              <a:rPr>
                <a:hlinkClick r:id="rId3"/>
              </a:rPr>
              <a:t>D13  Managing assets</a:t>
            </a:r>
          </a:p>
        </p:txBody>
      </p:sp>
      <p:sp>
        <p:nvSpPr>
          <p:cNvPr id="7" name="TextBox 6"/>
          <p:cNvSpPr txBox="1"/>
          <p:nvPr/>
        </p:nvSpPr>
        <p:spPr>
          <a:xfrm>
            <a:off x="548640" y="2450592"/>
            <a:ext cx="10972800" cy="457200"/>
          </a:xfrm>
          <a:prstGeom prst="rect">
            <a:avLst/>
          </a:prstGeom>
          <a:noFill/>
        </p:spPr>
        <p:txBody>
          <a:bodyPr wrap="square" lIns="0" rIns="0" tIns="0" bIns="0">
            <a:spAutoFit/>
          </a:bodyPr>
          <a:lstStyle/>
          <a:p>
            <a:pPr>
              <a:spcAft>
                <a:spcPts val="500"/>
              </a:spcAft>
              <a:defRPr sz="1800" b="0">
                <a:solidFill>
                  <a:srgbClr val="172C43"/>
                </a:solidFill>
                <a:latin typeface="Aptos"/>
              </a:defRPr>
            </a:pPr>
            <a:r>
              <a:rPr>
                <a:hlinkClick r:id="rId4"/>
              </a:rPr>
              <a:t>D14  Documented changes and defaults</a:t>
            </a:r>
          </a:p>
        </p:txBody>
      </p:sp>
      <p:sp>
        <p:nvSpPr>
          <p:cNvPr id="8" name="TextBox 7"/>
          <p:cNvSpPr txBox="1"/>
          <p:nvPr/>
        </p:nvSpPr>
        <p:spPr>
          <a:xfrm>
            <a:off x="548640" y="3072384"/>
            <a:ext cx="10972800" cy="457200"/>
          </a:xfrm>
          <a:prstGeom prst="rect">
            <a:avLst/>
          </a:prstGeom>
          <a:noFill/>
        </p:spPr>
        <p:txBody>
          <a:bodyPr wrap="square" lIns="0" rIns="0" tIns="0" bIns="0">
            <a:spAutoFit/>
          </a:bodyPr>
          <a:lstStyle/>
          <a:p>
            <a:pPr>
              <a:spcAft>
                <a:spcPts val="500"/>
              </a:spcAft>
              <a:defRPr sz="1800" b="0">
                <a:solidFill>
                  <a:srgbClr val="172C43"/>
                </a:solidFill>
                <a:latin typeface="Aptos"/>
              </a:defRPr>
            </a:pPr>
            <a:r>
              <a:rPr>
                <a:hlinkClick r:id="rId5"/>
              </a:rPr>
              <a:t>D15  Learned skills and migration to memory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