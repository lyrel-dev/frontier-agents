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Application-scoped assessment configuration, authentication, reusable criteria, execution records and finding lineage. An assessment scenario is not itself a platform capability.</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Spaces organize an application's sources, assessment configurations, remediation settings and assigned users.</a:t>
            </a:r>
          </a:p>
          <a:p/>
          <a:p>
            <a:r>
              <a:t>Resources: Agent Space; source connections; user assignments; assessment configuration.</a:t>
            </a:r>
          </a:p>
          <a:p/>
          <a:p>
            <a:r>
              <a:t>Operations: Configure an application space; connect relevant evidence; assign users; manage configuration records.</a:t>
            </a:r>
          </a:p>
          <a:p/>
          <a:p>
            <a:r>
              <a:t>Boundary: Some resources, including security requirements, are shared across spaces. Do not infer isolation for every resource from the Agent Space label.</a:t>
            </a:r>
          </a:p>
          <a:p/>
          <a:p>
            <a:r>
              <a:t>Configuration and run lifecycle</a:t>
            </a:r>
          </a:p>
          <a:p>
            <a:r>
              <a:t>https://docs.aws.amazon.com/securityagent/latest/userguide/understand-lifecycle.html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Selected repositories, documents, targets and credentials supply different forms of application evidence to assessments.</a:t>
            </a:r>
          </a:p>
          <a:p/>
          <a:p>
            <a:r>
              <a:t>Resources: Source repository; design or scope document; endpoint configuration; credential definition.</a:t>
            </a:r>
          </a:p>
          <a:p/>
          <a:p>
            <a:r>
              <a:t>Operations: Select sources and scope documents appropriate to the assessment; maintain the target and authentication context.</a:t>
            </a:r>
          </a:p>
          <a:p/>
          <a:p>
            <a:r>
              <a:t>Boundary: A scope document states analytical focus; source code supplies system context. These inputs do not establish a general persistent incident-memory feature.</a:t>
            </a:r>
          </a:p>
          <a:p/>
          <a:p>
            <a:r>
              <a:t>How the service uses application context</a:t>
            </a:r>
          </a:p>
          <a:p>
            <a:r>
              <a:t>https://docs.aws.amazon.com/securityagent/latest/userguide/how-it-works.html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Enabled requirement packs supply applicability rules, compliance criteria and optional remediation guidance for design and code reviews.</a:t>
            </a:r>
          </a:p>
          <a:p/>
          <a:p>
            <a:r>
              <a:t>Resources: Requirement pack; individual requirement; enabled state.</a:t>
            </a:r>
          </a:p>
          <a:p/>
          <a:p>
            <a:r>
              <a:t>Operations: Create, inspect and enable packs; review generated requirements; configure the review to evaluate requirements.</a:t>
            </a:r>
          </a:p>
          <a:p/>
          <a:p>
            <a:r>
              <a:t>Boundary: Requirement generation is not a compliance certification. Pack changes do not retroactively rewrite completed assessments.</a:t>
            </a:r>
          </a:p>
          <a:p/>
          <a:p>
            <a:r>
              <a:t>Security requirements</a:t>
            </a:r>
          </a:p>
          <a:p>
            <a:r>
              <a:t>https://docs.aws.amazon.com/securityagent/latest/userguide/security-requirements.html</a:t>
            </a:r>
          </a:p>
          <a:p/>
          <a:p>
            <a:r>
              <a:t>Requirement generation and replacement</a:t>
            </a:r>
          </a:p>
          <a:p>
            <a:r>
              <a:t>https://docs.aws.amazon.com/securityagent/latest/userguide/import-security-requirements.html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domains, network configuration, application credentials and service permissions determine the reachable testing surface.</a:t>
            </a:r>
          </a:p>
          <a:p/>
          <a:p>
            <a:r>
              <a:t>Resources: Target domain; VPC access configuration; service role; credential definition.</a:t>
            </a:r>
          </a:p>
          <a:p/>
          <a:p>
            <a:r>
              <a:t>Operations: Verify intended targets; configure authorized connectivity; select credentials and instructions for each representative role.</a:t>
            </a:r>
          </a:p>
          <a:p/>
          <a:p>
            <a:r>
              <a:t>Boundary: Domain verification, network reachability and authentication are distinct prerequisites. Successful credential retrieval does not prove successful application login.</a:t>
            </a:r>
          </a:p>
          <a:p/>
          <a:p>
            <a:r>
              <a:t>Enable penetration testing</a:t>
            </a:r>
          </a:p>
          <a:p>
            <a:r>
              <a:t>https://docs.aws.amazon.com/securityagent/latest/userguide/enable-penetration-test.html</a:t>
            </a:r>
          </a:p>
          <a:p/>
          <a:p>
            <a:r>
              <a:t>Authentication credentials and Login Optimization</a:t>
            </a:r>
          </a:p>
          <a:p>
            <a:r>
              <a:t>https://docs.aws.amazon.com/securityagent/latest/userguide/provide-testing-credentials.html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Login Optimization records successful authentication navigation and reuses the saved workflow in subsequent login sessions and runs.</a:t>
            </a:r>
          </a:p>
          <a:p/>
          <a:p>
            <a:r>
              <a:t>Resources: Penetration-test configuration; learned login skill; Login optimization setting.</a:t>
            </a:r>
          </a:p>
          <a:p/>
          <a:p>
            <a:r>
              <a:t>Operations: Provide credentials; leave the default enabled or change the toggle; observe behavior after login-flow changes.</a:t>
            </a:r>
          </a:p>
          <a:p/>
          <a:p>
            <a:r>
              <a:t>Boundary: The documented learning concerns navigation and authentication, not a universal vulnerability-memory or model-retraining pipeline.</a:t>
            </a:r>
          </a:p>
          <a:p/>
          <a:p>
            <a:r>
              <a:t>Authentication credentials and Login Optimization</a:t>
            </a:r>
          </a:p>
          <a:p>
            <a:r>
              <a:t>https://docs.aws.amazon.com/securityagent/latest/userguide/provide-testing-credentials.html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Penetration tests, code reviews and threat models separate reusable configurations from individual execution records.</a:t>
            </a:r>
          </a:p>
          <a:p/>
          <a:p>
            <a:r>
              <a:t>Resources: Assessment configuration; run; execution status and results.</a:t>
            </a:r>
          </a:p>
          <a:p/>
          <a:p>
            <a:r>
              <a:t>Operations: Create or edit configurations; start subsequent runs; inspect results in their own execution context.</a:t>
            </a:r>
          </a:p>
          <a:p/>
          <a:p>
            <a:r>
              <a:t>Boundary: The lifecycle is not identical across assessment types: design reviews use a different one-off model with cloning.</a:t>
            </a:r>
          </a:p>
          <a:p/>
          <a:p>
            <a:r>
              <a:t>Configuration and run lifecycle</a:t>
            </a:r>
          </a:p>
          <a:p>
            <a:r>
              <a:t>https://docs.aws.amazon.com/securityagent/latest/userguide/understand-lifecycle.html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Revalidation tests selected existing findings in a separate job while preserving links to the original findings.</a:t>
            </a:r>
          </a:p>
          <a:p/>
          <a:p>
            <a:r>
              <a:t>Resources: Original finding; revalidation job; result; history links.</a:t>
            </a:r>
          </a:p>
          <a:p/>
          <a:p>
            <a:r>
              <a:t>Operations: Select findings from a completed run; start revalidation; inspect reproduced or non-reproduced outcomes and lineage.</a:t>
            </a:r>
          </a:p>
          <a:p/>
          <a:p>
            <a:r>
              <a:t>Boundary: Targeted revalidation is not broad new vulnerability discovery and does not establish that the application is secure.</a:t>
            </a:r>
          </a:p>
          <a:p/>
          <a:p>
            <a:r>
              <a:t>Finding revalidation</a:t>
            </a:r>
          </a:p>
          <a:p>
            <a:r>
              <a:t>https://docs.aws.amazon.com/securityagent/latest/userguide/revalidate-findings.html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repository integration initiates configured analysis and presents findings through the development workflow.</a:t>
            </a:r>
          </a:p>
          <a:p/>
          <a:p>
            <a:r>
              <a:t>Resources: Repository connection; review configuration; event-triggered execution; findings.</a:t>
            </a:r>
          </a:p>
          <a:p/>
          <a:p>
            <a:r>
              <a:t>Operations: Configure a supported repository and review criteria; inspect the resulting execution and findings for the relevant revision.</a:t>
            </a:r>
          </a:p>
          <a:p/>
          <a:p>
            <a:r>
              <a:t>Boundary: Treat integration configuration and the server-side assessment as separate components. A repository event does not authorize testing arbitrary application targets.</a:t>
            </a:r>
          </a:p>
          <a:p/>
          <a:p>
            <a:r>
              <a:t>Code review findings in GitHub</a:t>
            </a:r>
          </a:p>
          <a:p>
            <a:r>
              <a:t>https://docs.aws.amazon.com/securityagent/latest/userguide/review-code-findings-github.html</a:t>
            </a:r>
          </a:p>
          <a:p/>
          <a:p>
            <a:r>
              <a:t>Configuration and run lifecycle</a:t>
            </a:r>
          </a:p>
          <a:p>
            <a:r>
              <a:t>https://docs.aws.amazon.com/securityagent/latest/userguide/understand-lifecycle.html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service exposes customer-managed key configuration for supported data protection requirements.</a:t>
            </a:r>
          </a:p>
          <a:p/>
          <a:p>
            <a:r>
              <a:t>Resources: KMS key and policy; service configuration; encrypted resources.</a:t>
            </a:r>
          </a:p>
          <a:p/>
          <a:p>
            <a:r>
              <a:t>Operations: Configure a supported key and required permissions; review the documented effects before key-policy changes.</a:t>
            </a:r>
          </a:p>
          <a:p/>
          <a:p>
            <a:r>
              <a:t>Boundary: Encryption configuration does not by itself establish processing geography. Check the applicable data-protection and inference guidance separately.</a:t>
            </a:r>
          </a:p>
          <a:p/>
          <a:p>
            <a:r>
              <a:t>Customer-managed encryption keys</a:t>
            </a:r>
          </a:p>
          <a:p>
            <a:r>
              <a:t>https://docs.aws.amazon.com/securityagent/latest/userguide/customer-managed-keys.html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successful login session discovers how to navigate the configured application's authentication flow.</a:t>
            </a:r>
          </a:p>
          <a:p/>
          <a:p>
            <a:r>
              <a:t>The service captures successful navigation as a skill. Later login sessions in the same run and future runs can apply it rather than repeat discovery.</a:t>
            </a:r>
          </a:p>
          <a:p/>
          <a:p>
            <a:r>
              <a:t>Disabling Login Optimization preserves the saved skill. Re-enabling permits reuse; the documentation describes adaptation when the login flow changes.</a:t>
            </a:r>
          </a:p>
          <a:p/>
          <a:p>
            <a:r>
              <a:t>Enablement: Add at least one representative test credential to the penetration-test configuration. Open Additional configuration → Login optimization. The section requires an existing credential. Confirm the default-enabled toggle or deliberately disable it for a controlled comparison.</a:t>
            </a:r>
          </a:p>
          <a:p/>
          <a:p>
            <a:r>
              <a:t>This learned procedure is scoped to authentication behavior. It is not evidence of general incident learning or model-weight changes.</a:t>
            </a:r>
          </a:p>
          <a:p/>
          <a:p>
            <a:r>
              <a:t>Proposed verification: Proposed check: compare recorded first-run and later authentication behavior in an authorized staging application. Change the test login flow and inspect successful authentication and the observed role; do not equate faster navigation with broader security coverage.</a:t>
            </a:r>
          </a:p>
          <a:p/>
          <a:p>
            <a:r>
              <a:t>Authentication credentials and Login Optimization</a:t>
            </a:r>
          </a:p>
          <a:p>
            <a:r>
              <a:t>https://docs.aws.amazon.com/securityagent/latest/userguide/provide-testing-credentials.html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successful login session discovers how to navigate the configured application's authentication flow.</a:t>
            </a:r>
          </a:p>
          <a:p/>
          <a:p>
            <a:r>
              <a:t>The service captures successful navigation as a skill. Later login sessions in the same run and future runs can apply it rather than repeat discovery.</a:t>
            </a:r>
          </a:p>
          <a:p/>
          <a:p>
            <a:r>
              <a:t>Disabling Login Optimization preserves the saved skill. Re-enabling permits reuse; the documentation describes adaptation when the login flow changes.</a:t>
            </a:r>
          </a:p>
          <a:p/>
          <a:p>
            <a:r>
              <a:t>Enablement: Add at least one representative test credential to the penetration-test configuration. Open Additional configuration → Login optimization. The section requires an existing credential. Confirm the default-enabled toggle or deliberately disable it for a controlled comparison.</a:t>
            </a:r>
          </a:p>
          <a:p/>
          <a:p>
            <a:r>
              <a:t>This learned procedure is scoped to authentication behavior. It is not evidence of general incident learning or model-weight changes.</a:t>
            </a:r>
          </a:p>
          <a:p/>
          <a:p>
            <a:r>
              <a:t>Proposed verification: Proposed check: compare recorded first-run and later authentication behavior in an authorized staging application. Change the test login flow and inspect successful authentication and the observed role; do not equate faster navigation with broader security coverage.</a:t>
            </a:r>
          </a:p>
          <a:p/>
          <a:p>
            <a:r>
              <a:t>Authentication credentials and Login Optimization</a:t>
            </a:r>
          </a:p>
          <a:p>
            <a:r>
              <a:t>https://docs.aws.amazon.com/securityagent/latest/userguide/provide-testing-credentials.html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assessment needs access to an authenticated or privately reachable application surface.</a:t>
            </a:r>
          </a:p>
          <a:p/>
          <a:p>
            <a:r>
              <a:t>Direct input or supported AWS-native credential strategies supply credentials. For advanced strategies, the service resolves the configured resource, then follows login instructions to apply the result. Secrets Manager, role assumption and Lambda are separate strategies.</a:t>
            </a:r>
          </a:p>
          <a:p/>
          <a:p>
            <a:r>
              <a:t>The current credential and target configuration determines reachable access. Domain verification and optional private connectivity remain separate configuration records.</a:t>
            </a:r>
          </a:p>
          <a:p/>
          <a:p>
            <a:r>
              <a:t>Enablement: Verify the permitted target and configure private connectivity when required. Select a supported credential strategy and grant the service only the required source access. Provide login instructions describing where and how the resolved credential is applied; use test accounts without production access.</a:t>
            </a:r>
          </a:p>
          <a:p/>
          <a:p>
            <a:r>
              <a:t>Credential resolution can succeed while application login fails. A verified domain does not authorize every external system reached by the application.</a:t>
            </a:r>
          </a:p>
          <a:p/>
          <a:p>
            <a:r>
              <a:t>Proposed verification: Proposed check: record the actual authenticated identity, application role and reachable paths. Exercise a permitted path and confirm an out-of-scope path remains excluded. Do not count an unauthenticated run as authenticated coverage.</a:t>
            </a:r>
          </a:p>
          <a:p/>
          <a:p>
            <a:r>
              <a:t>Enable penetration testing</a:t>
            </a:r>
          </a:p>
          <a:p>
            <a:r>
              <a:t>https://docs.aws.amazon.com/securityagent/latest/userguide/enable-penetration-test.html</a:t>
            </a:r>
          </a:p>
          <a:p/>
          <a:p>
            <a:r>
              <a:t>Authentication credentials and Login Optimization</a:t>
            </a:r>
          </a:p>
          <a:p>
            <a:r>
              <a:t>https://docs.aws.amazon.com/securityagent/latest/userguide/provide-testing-credentials.html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assessment needs access to an authenticated or privately reachable application surface.</a:t>
            </a:r>
          </a:p>
          <a:p/>
          <a:p>
            <a:r>
              <a:t>Direct input or supported AWS-native credential strategies supply credentials. For advanced strategies, the service resolves the configured resource, then follows login instructions to apply the result. Secrets Manager, role assumption and Lambda are separate strategies.</a:t>
            </a:r>
          </a:p>
          <a:p/>
          <a:p>
            <a:r>
              <a:t>The current credential and target configuration determines reachable access. Domain verification and optional private connectivity remain separate configuration records.</a:t>
            </a:r>
          </a:p>
          <a:p/>
          <a:p>
            <a:r>
              <a:t>Enablement: Verify the permitted target and configure private connectivity when required. Select a supported credential strategy and grant the service only the required source access. Provide login instructions describing where and how the resolved credential is applied; use test accounts without production access.</a:t>
            </a:r>
          </a:p>
          <a:p/>
          <a:p>
            <a:r>
              <a:t>Credential resolution can succeed while application login fails. A verified domain does not authorize every external system reached by the application.</a:t>
            </a:r>
          </a:p>
          <a:p/>
          <a:p>
            <a:r>
              <a:t>Proposed verification: Proposed check: record the actual authenticated identity, application role and reachable paths. Exercise a permitted path and confirm an out-of-scope path remains excluded. Do not count an unauthenticated run as authenticated coverage.</a:t>
            </a:r>
          </a:p>
          <a:p/>
          <a:p>
            <a:r>
              <a:t>Enable penetration testing</a:t>
            </a:r>
          </a:p>
          <a:p>
            <a:r>
              <a:t>https://docs.aws.amazon.com/securityagent/latest/userguide/enable-penetration-test.html</a:t>
            </a:r>
          </a:p>
          <a:p/>
          <a:p>
            <a:r>
              <a:t>Authentication credentials and Login Optimization</a:t>
            </a:r>
          </a:p>
          <a:p>
            <a:r>
              <a:t>https://docs.aws.amazon.com/securityagent/latest/userguide/provide-testing-credentials.html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configured review evaluates an enabled requirement pack, or an administrator regenerates requirements from documents.</a:t>
            </a:r>
          </a:p>
          <a:p/>
          <a:p>
            <a:r>
              <a:t>Requirements express applicability and compliance criteria. Enabling a pack supplies criteria for subsequent eligible reviews; the review must be configured for requirement evaluation rather than only vulnerability analysis.</a:t>
            </a:r>
          </a:p>
          <a:p/>
          <a:p>
            <a:r>
              <a:t>Uploading new source documents regenerates the entire pack and replaces existing requirements, including manually added ones. Prior completed assessments are not retrospectively rewritten.</a:t>
            </a:r>
          </a:p>
          <a:p/>
          <a:p>
            <a:r>
              <a:t>Enablement: Open Security requirements and create or select the required pack. Review each requirement's applicability and compliance criteria before enabling the pack. Configure the design or code review to evaluate requirements. Do not upload replacement documents unless replacing the existing pack content is intended.</a:t>
            </a:r>
          </a:p>
          <a:p/>
          <a:p>
            <a:r>
              <a:t>Generated requirements need human review. A framework pack is not an audit result or guarantee of compliance.</a:t>
            </a:r>
          </a:p>
          <a:p/>
          <a:p>
            <a:r>
              <a:t>Proposed verification: Proposed check: evaluate a known compliant example, a known violation and an explicitly inapplicable example. Check applicability and evidence, not only the number of findings. Keep requirement changes in Git or the governing source system.</a:t>
            </a:r>
          </a:p>
          <a:p/>
          <a:p>
            <a:r>
              <a:t>Security requirements</a:t>
            </a:r>
          </a:p>
          <a:p>
            <a:r>
              <a:t>https://docs.aws.amazon.com/securityagent/latest/userguide/security-requirements.html</a:t>
            </a:r>
          </a:p>
          <a:p/>
          <a:p>
            <a:r>
              <a:t>Requirement generation and replacement</a:t>
            </a:r>
          </a:p>
          <a:p>
            <a:r>
              <a:t>https://docs.aws.amazon.com/securityagent/latest/userguide/import-security-requirements.html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configured review evaluates an enabled requirement pack, or an administrator regenerates requirements from documents.</a:t>
            </a:r>
          </a:p>
          <a:p/>
          <a:p>
            <a:r>
              <a:t>Requirements express applicability and compliance criteria. Enabling a pack supplies criteria for subsequent eligible reviews; the review must be configured for requirement evaluation rather than only vulnerability analysis.</a:t>
            </a:r>
          </a:p>
          <a:p/>
          <a:p>
            <a:r>
              <a:t>Uploading new source documents regenerates the entire pack and replaces existing requirements, including manually added ones. Prior completed assessments are not retrospectively rewritten.</a:t>
            </a:r>
          </a:p>
          <a:p/>
          <a:p>
            <a:r>
              <a:t>Enablement: Open Security requirements and create or select the required pack. Review each requirement's applicability and compliance criteria before enabling the pack. Configure the design or code review to evaluate requirements. Do not upload replacement documents unless replacing the existing pack content is intended.</a:t>
            </a:r>
          </a:p>
          <a:p/>
          <a:p>
            <a:r>
              <a:t>Generated requirements need human review. A framework pack is not an audit result or guarantee of compliance.</a:t>
            </a:r>
          </a:p>
          <a:p/>
          <a:p>
            <a:r>
              <a:t>Proposed verification: Proposed check: evaluate a known compliant example, a known violation and an explicitly inapplicable example. Check applicability and evidence, not only the number of findings. Keep requirement changes in Git or the governing source system.</a:t>
            </a:r>
          </a:p>
          <a:p/>
          <a:p>
            <a:r>
              <a:t>Security requirements</a:t>
            </a:r>
          </a:p>
          <a:p>
            <a:r>
              <a:t>https://docs.aws.amazon.com/securityagent/latest/userguide/security-requirements.html</a:t>
            </a:r>
          </a:p>
          <a:p/>
          <a:p>
            <a:r>
              <a:t>Requirement generation and replacement</a:t>
            </a:r>
          </a:p>
          <a:p>
            <a:r>
              <a:t>https://docs.aws.amazon.com/securityagent/latest/userguide/import-security-requirements.html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operator selects existing findings after a repair is deployed to the original target environment.</a:t>
            </a:r>
          </a:p>
          <a:p/>
          <a:p>
            <a:r>
              <a:t>The service authenticates using current configuration and repeats the selected findings' validation steps. It does not rediscover vulnerabilities or test unrelated areas.</a:t>
            </a:r>
          </a:p>
          <a:p/>
          <a:p>
            <a:r>
              <a:t>The original finding is preserved. The separate job reports Active when reproduced and Resolved when not reproduced during that revalidation, with links between findings and jobs.</a:t>
            </a:r>
          </a:p>
          <a:p/>
          <a:p>
            <a:r>
              <a:t>Enablement: Deploy the repair to the environment used by the original completed test. Open the run and choose Multiselect findings for revalidation. Select the relevant findings, choose Revalidate findings, and inspect the new job and history links.</a:t>
            </a:r>
          </a:p>
          <a:p/>
          <a:p>
            <a:r>
              <a:t>A non-reproduction result applies to the selected finding, target and execution conditions. It is not a whole-application assurance statement.</a:t>
            </a:r>
          </a:p>
          <a:p/>
          <a:p>
            <a:r>
              <a:t>Proposed verification: Proposed check: retain the deployed revision, credential identity, finding identifier and new job identifier. Confirm that the expected target was reached and assess whether any login or environmental failure weakened the result.</a:t>
            </a:r>
          </a:p>
          <a:p/>
          <a:p>
            <a:r>
              <a:t>Finding revalidation</a:t>
            </a:r>
          </a:p>
          <a:p>
            <a:r>
              <a:t>https://docs.aws.amazon.com/securityagent/latest/userguide/revalidate-findings.html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operator selects existing findings after a repair is deployed to the original target environment.</a:t>
            </a:r>
          </a:p>
          <a:p/>
          <a:p>
            <a:r>
              <a:t>The service authenticates using current configuration and repeats the selected findings' validation steps. It does not rediscover vulnerabilities or test unrelated areas.</a:t>
            </a:r>
          </a:p>
          <a:p/>
          <a:p>
            <a:r>
              <a:t>The original finding is preserved. The separate job reports Active when reproduced and Resolved when not reproduced during that revalidation, with links between findings and jobs.</a:t>
            </a:r>
          </a:p>
          <a:p/>
          <a:p>
            <a:r>
              <a:t>Enablement: Deploy the repair to the environment used by the original completed test. Open the run and choose Multiselect findings for revalidation. Select the relevant findings, choose Revalidate findings, and inspect the new job and history links.</a:t>
            </a:r>
          </a:p>
          <a:p/>
          <a:p>
            <a:r>
              <a:t>A non-reproduction result applies to the selected finding, target and execution conditions. It is not a whole-application assurance statement.</a:t>
            </a:r>
          </a:p>
          <a:p/>
          <a:p>
            <a:r>
              <a:t>Proposed verification: Proposed check: retain the deployed revision, credential identity, finding identifier and new job identifier. Confirm that the expected target was reached and assess whether any login or environmental failure weakened the result.</a:t>
            </a:r>
          </a:p>
          <a:p/>
          <a:p>
            <a:r>
              <a:t>Finding revalidation</a:t>
            </a:r>
          </a:p>
          <a:p>
            <a:r>
              <a:t>https://docs.aws.amazon.com/securityagent/latest/userguide/revalidate-findings.html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prepared-result exercise; authorized staging evidence only</a:t>
            </a:r>
          </a:p>
          <a:p>
            <a:r>
              <a:t>Distinguish authenticated access, learned login reuse and targeted finding revalidation; none establishes general application security.</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 Configuration and run lifecycle</a:t>
            </a:r>
          </a:p>
          <a:p>
            <a:r>
              <a:t>https://docs.aws.amazon.com/securityagent/latest/userguide/understand-lifecycle.html</a:t>
            </a:r>
          </a:p>
          <a:p>
            <a:r>
              <a:t>S02 How the service uses application context</a:t>
            </a:r>
          </a:p>
          <a:p>
            <a:r>
              <a:t>https://docs.aws.amazon.com/securityagent/latest/userguide/how-it-works.html</a:t>
            </a:r>
          </a:p>
          <a:p>
            <a:r>
              <a:t>S03 Security requirements</a:t>
            </a:r>
          </a:p>
          <a:p>
            <a:r>
              <a:t>https://docs.aws.amazon.com/securityagent/latest/userguide/security-requirements.html</a:t>
            </a:r>
          </a:p>
          <a:p>
            <a:r>
              <a:t>S04 Enable penetration testing</a:t>
            </a:r>
          </a:p>
          <a:p>
            <a:r>
              <a:t>https://docs.aws.amazon.com/securityagent/latest/userguide/enable-penetration-test.html</a:t>
            </a:r>
          </a:p>
          <a:p>
            <a:r>
              <a:t>S05 Authentication credentials and Login Optimization</a:t>
            </a:r>
          </a:p>
          <a:p>
            <a:r>
              <a:t>https://docs.aws.amazon.com/securityagent/latest/userguide/provide-testing-credentials.html</a:t>
            </a:r>
          </a:p>
          <a:p>
            <a:r>
              <a:t>S06 Finding revalidation</a:t>
            </a:r>
          </a:p>
          <a:p>
            <a:r>
              <a:t>https://docs.aws.amazon.com/securityagent/latest/userguide/revalidate-findings.html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 Code review findings in GitHub</a:t>
            </a:r>
          </a:p>
          <a:p>
            <a:r>
              <a:t>https://docs.aws.amazon.com/securityagent/latest/userguide/review-code-findings-github.html</a:t>
            </a:r>
          </a:p>
          <a:p>
            <a:r>
              <a:t>S08 Customer-managed encryption keys</a:t>
            </a:r>
          </a:p>
          <a:p>
            <a:r>
              <a:t>https://docs.aws.amazon.com/securityagent/latest/userguide/customer-managed-keys.html</a:t>
            </a:r>
          </a:p>
          <a:p>
            <a:r>
              <a:t>S09 Requirement generation and replacement</a:t>
            </a:r>
          </a:p>
          <a:p>
            <a:r>
              <a:t>https://docs.aws.amazon.com/securityagent/latest/userguide/import-security-requirements.html</a:t>
            </a:r>
          </a:p>
          <a:p>
            <a:r>
              <a:t>S10 Documentation history and feature changes</a:t>
            </a:r>
          </a:p>
          <a:p>
            <a:r>
              <a:t>https://docs.aws.amazon.com/securityagent/latest/userguide/doc-history.html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docs.aws.amazon.com/securityagent/latest/userguide/understand-lifecycle.html" TargetMode="External"/><Relationship Id="rId4" Type="http://schemas.openxmlformats.org/officeDocument/2006/relationships/hyperlink" Target="https://docs.aws.amazon.com/securityagent/latest/userguide/how-it-works.html" TargetMode="External"/><Relationship Id="rId5" Type="http://schemas.openxmlformats.org/officeDocument/2006/relationships/hyperlink" Target="https://docs.aws.amazon.com/securityagent/latest/userguide/security-requirements.html" TargetMode="External"/><Relationship Id="rId6" Type="http://schemas.openxmlformats.org/officeDocument/2006/relationships/hyperlink" Target="https://docs.aws.amazon.com/securityagent/latest/userguide/enable-penetration-test.html" TargetMode="External"/><Relationship Id="rId7" Type="http://schemas.openxmlformats.org/officeDocument/2006/relationships/hyperlink" Target="https://docs.aws.amazon.com/securityagent/latest/userguide/provide-testing-credentials.html" TargetMode="External"/><Relationship Id="rId8" Type="http://schemas.openxmlformats.org/officeDocument/2006/relationships/hyperlink" Target="https://docs.aws.amazon.com/securityagent/latest/userguide/revalidate-finding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docs.aws.amazon.com/securityagent/latest/userguide/review-code-findings-github.html" TargetMode="External"/><Relationship Id="rId4" Type="http://schemas.openxmlformats.org/officeDocument/2006/relationships/hyperlink" Target="https://docs.aws.amazon.com/securityagent/latest/userguide/customer-managed-keys.html" TargetMode="External"/><Relationship Id="rId5" Type="http://schemas.openxmlformats.org/officeDocument/2006/relationships/hyperlink" Target="https://docs.aws.amazon.com/securityagent/latest/userguide/import-security-requirements.html" TargetMode="External"/><Relationship Id="rId6" Type="http://schemas.openxmlformats.org/officeDocument/2006/relationships/hyperlink" Target="https://docs.aws.amazon.com/securityagent/latest/userguide/doc-history.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Capabilities, operations and mechanisms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Reference deck — untimed; optional exercise has a separate budget</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a:t>
            </a:r>
          </a:p>
        </p:txBody>
      </p:sp>
      <p:sp>
        <p:nvSpPr>
          <p:cNvPr id="6" name="TextBox 5"/>
          <p:cNvSpPr txBox="1"/>
          <p:nvPr/>
        </p:nvSpPr>
        <p:spPr>
          <a:xfrm>
            <a:off x="548640" y="1828800"/>
            <a:ext cx="10881360" cy="914400"/>
          </a:xfrm>
          <a:prstGeom prst="rect">
            <a:avLst/>
          </a:prstGeom>
          <a:noFill/>
        </p:spPr>
        <p:txBody>
          <a:bodyPr wrap="square" lIns="0" rIns="0" tIns="0" bIns="0">
            <a:spAutoFit/>
          </a:bodyPr>
          <a:lstStyle/>
          <a:p>
            <a:pPr>
              <a:spcAft>
                <a:spcPts val="500"/>
              </a:spcAft>
              <a:defRPr sz="1900" b="0">
                <a:solidFill>
                  <a:srgbClr val="172C43"/>
                </a:solidFill>
                <a:latin typeface="Aptos"/>
              </a:defRPr>
            </a:pPr>
            <a:r>
              <a:t>Application-scoped assessment configuration, authentication, reusable criteria, execution records and finding lineage. An assessment scenario is not itself a platform capability.</a:t>
            </a:r>
          </a:p>
        </p:txBody>
      </p:sp>
      <p:sp>
        <p:nvSpPr>
          <p:cNvPr id="7" name="TextBox 6"/>
          <p:cNvSpPr txBox="1"/>
          <p:nvPr/>
        </p:nvSpPr>
        <p:spPr>
          <a:xfrm>
            <a:off x="548640" y="3017520"/>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Platform capability</a:t>
            </a:r>
          </a:p>
        </p:txBody>
      </p:sp>
      <p:sp>
        <p:nvSpPr>
          <p:cNvPr id="8" name="TextBox 7"/>
          <p:cNvSpPr txBox="1"/>
          <p:nvPr/>
        </p:nvSpPr>
        <p:spPr>
          <a:xfrm>
            <a:off x="2880360" y="3017520"/>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 reusable ability exposed by the platform.</a:t>
            </a:r>
          </a:p>
        </p:txBody>
      </p:sp>
      <p:sp>
        <p:nvSpPr>
          <p:cNvPr id="9" name="TextBox 8"/>
          <p:cNvSpPr txBox="1"/>
          <p:nvPr/>
        </p:nvSpPr>
        <p:spPr>
          <a:xfrm>
            <a:off x="548640" y="3639312"/>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Operation</a:t>
            </a:r>
          </a:p>
        </p:txBody>
      </p:sp>
      <p:sp>
        <p:nvSpPr>
          <p:cNvPr id="10" name="TextBox 9"/>
          <p:cNvSpPr txBox="1"/>
          <p:nvPr/>
        </p:nvSpPr>
        <p:spPr>
          <a:xfrm>
            <a:off x="2880360" y="3639312"/>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An action on a platform resource or configuration object.</a:t>
            </a:r>
          </a:p>
        </p:txBody>
      </p:sp>
      <p:sp>
        <p:nvSpPr>
          <p:cNvPr id="11" name="TextBox 10"/>
          <p:cNvSpPr txBox="1"/>
          <p:nvPr/>
        </p:nvSpPr>
        <p:spPr>
          <a:xfrm>
            <a:off x="548640" y="4261104"/>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Mechanism</a:t>
            </a:r>
          </a:p>
        </p:txBody>
      </p:sp>
      <p:sp>
        <p:nvSpPr>
          <p:cNvPr id="12" name="TextBox 11"/>
          <p:cNvSpPr txBox="1"/>
          <p:nvPr/>
        </p:nvSpPr>
        <p:spPr>
          <a:xfrm>
            <a:off x="2880360" y="4261104"/>
            <a:ext cx="8229600" cy="457200"/>
          </a:xfrm>
          <a:prstGeom prst="rect">
            <a:avLst/>
          </a:prstGeom>
          <a:noFill/>
        </p:spPr>
        <p:txBody>
          <a:bodyPr wrap="square" lIns="0" rIns="0" tIns="0" bIns="0">
            <a:spAutoFit/>
          </a:bodyPr>
          <a:lstStyle/>
          <a:p>
            <a:pPr>
              <a:spcAft>
                <a:spcPts val="500"/>
              </a:spcAft>
              <a:defRPr sz="1400" b="0">
                <a:solidFill>
                  <a:srgbClr val="172C43"/>
                </a:solidFill>
                <a:latin typeface="Aptos"/>
              </a:defRPr>
            </a:pPr>
            <a:r>
              <a:t>The documented process connecting inputs, state, execution and outputs.</a:t>
            </a:r>
          </a:p>
        </p:txBody>
      </p:sp>
      <p:sp>
        <p:nvSpPr>
          <p:cNvPr id="13" name="TextBox 12"/>
          <p:cNvSpPr txBox="1"/>
          <p:nvPr/>
        </p:nvSpPr>
        <p:spPr>
          <a:xfrm>
            <a:off x="548640" y="4882896"/>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Use case</a:t>
            </a:r>
          </a:p>
        </p:txBody>
      </p:sp>
      <p:sp>
        <p:nvSpPr>
          <p:cNvPr id="14" name="TextBox 13"/>
          <p:cNvSpPr txBox="1"/>
          <p:nvPr/>
        </p:nvSpPr>
        <p:spPr>
          <a:xfrm>
            <a:off x="2880360" y="4882896"/>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An engineering problem that combines capabilities and mechanisms.</a:t>
            </a:r>
          </a:p>
        </p:txBody>
      </p:sp>
      <p:sp>
        <p:nvSpPr>
          <p:cNvPr id="15" name="TextBox 14"/>
          <p:cNvSpPr txBox="1"/>
          <p:nvPr/>
        </p:nvSpPr>
        <p:spPr>
          <a:xfrm>
            <a:off x="548640" y="5623560"/>
            <a:ext cx="10972800" cy="548640"/>
          </a:xfrm>
          <a:prstGeom prst="rect">
            <a:avLst/>
          </a:prstGeom>
          <a:noFill/>
        </p:spPr>
        <p:txBody>
          <a:bodyPr wrap="square" lIns="0" rIns="0" tIns="0" bIns="0">
            <a:spAutoFit/>
          </a:bodyPr>
          <a:lstStyle/>
          <a:p>
            <a:pPr>
              <a:spcAft>
                <a:spcPts val="500"/>
              </a:spcAft>
              <a:defRPr sz="1300" b="0">
                <a:solidFill>
                  <a:srgbClr val="172C43"/>
                </a:solidFill>
                <a:latin typeface="Aptos"/>
              </a:defRPr>
            </a:pPr>
            <a:r>
              <a:t>The current documentation identifies AWS Security Agent as part of AWS Continuum. Availability is feature-specific: do not apply penetration-testing availability to every design, code, threat-model or pipeline feature. Verify the selected feature before rollout.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Application-scoped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S-C01 · Scope and application context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Agent Spaces organize an application's sources, assessment configurations, remediation settings and assigned users.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 Space; source connections; user assignments; assessment configuration.</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Configure an application space; connect relevant evidence; assign users; manage configuration records.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Some resources, including security requirements, are shared across spaces. Do not infer isolation for every resource from the Agent Space label.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Application-context assembly</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S-C02 · Scope and application context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3</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Selected repositories, documents, targets and credentials supply different forms of application evidence to assessments.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Source repository; design or scope document; endpoint configuration; credential definition.</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Select sources and scope documents appropriate to the assessment; maintain the target and authentication context.</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A scope document states analytical focus; source code supplies system context. These inputs do not establish a general persistent incident-memory feature.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Reusable assessment criteria</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S-C03 · Scope and application context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4</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Enabled requirement packs supply applicability rules, compliance criteria and optional remediation guidance for design and code reviews.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Requirement pack; individual requirement; enabled state.</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inspect and enable packs; review generated requirements; configure the review to evaluate requirements.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Requirement generation is not a compliance certification. Pack changes do not retroactively rewrite completed assessments.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Authenticated and private target access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S-C04 · Authentication and execution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5</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Verified domains, network configuration, application credentials and service permissions determine the reachable testing surface.</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Target domain; VPC access configuration; service role; credential definition.</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1700" b="0">
                <a:solidFill>
                  <a:srgbClr val="172C43"/>
                </a:solidFill>
                <a:latin typeface="Aptos"/>
              </a:defRPr>
            </a:pPr>
            <a:r>
              <a:t>Verify intended targets; configure authorized connectivity; select credentials and instructions for each representative role.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Domain verification, network reachability and authentication are distinct prerequisites. Successful credential retrieval does not prove successful application login.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Reuse of learned login procedures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S-C05 · Authentication and execution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6</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Login Optimization records successful authentication navigation and reuses the saved workflow in subsequent login sessions and runs.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Penetration-test configuration; learned login skill; Login optimization setting.</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Provide credentials; leave the default enabled or change the toggle; observe behavior after login-flow changes.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The documented learning concerns navigation and authentication, not a universal vulnerability-memory or model-retraining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Reusable configurations and separate runs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S-C06 · Authentication and execution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7</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Penetration tests, code reviews and threat models separate reusable configurations from individual execution records.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Assessment configuration; run; execution status and results.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or edit configurations; start subsequent runs; inspect results in their own execution context.</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The lifecycle is not identical across assessment types: design reviews use a different one-off model with cloning.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Finding lineage and targeted replay</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S-C07 · Evidence and integration controls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8</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Revalidation tests selected existing findings in a separate job while preserving links to the original findings.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Original finding; revalidation job; result; history links.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Select findings from a completed run; start revalidation; inspect reproduced or non-reproduced outcomes and lineage.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Targeted revalidation is not broad new vulnerability discovery and does not establish that the application is secure.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Repository-event integration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S-C08 · Evidence and integration controls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9</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Supported repository integration initiates configured analysis and presents findings through the development workflow.</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Repository connection; review configuration; event-triggered execution; findings.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1700" b="0">
                <a:solidFill>
                  <a:srgbClr val="172C43"/>
                </a:solidFill>
                <a:latin typeface="Aptos"/>
              </a:defRPr>
            </a:pPr>
            <a:r>
              <a:t>Configure a supported repository and review criteria; inspect the resulting execution and findings for the relevant revision.</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Treat integration configuration and the server-side assessment as separate components. A repository event does not authorize testing arbitrary application targets.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Customer-managed encryption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S-C09 · Evidence and integration controls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10</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The service exposes customer-managed key configuration for supported data protection requirements.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KMS key and policy; service configuration; encrypted resources.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Configure a supported key and required permissions; review the documented effects before key-policy changes.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Encryption configuration does not by itself establish processing geography. Check the applicable data-protection and inference guidance separately.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Learned authentication navigation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S-M01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11</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Provided test credentials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Successful login navigation</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Saved skill file</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Reuse in later sessions</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service captures successful navigation as a skill. Later login sessions in the same run and future runs can apply it rather than repeat discovery.</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Disabling Login Optimization preserves the saved skill. Re-enabling permits reuse; the documentation describes adaptation when the login flow changes.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Learned authentication navigation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S-M01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12</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Add at least one representative test credential to the penetration-test configuration.</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Additional configuration → Login optimization. The section requires an existing credential.</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Confirm the default-enabled toggle or deliberately disable it for a controlled comparison.</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This learned procedure is scoped to authentication behavior. It is not evidence of general incident learning or model-weight changes.</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compare recorded first-run and later authentication behavior in an authorized staging application. Change the test login flow and inspect successful authentication and the observed role; do not equate faster navigation with broader security coverage.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Credential resolution and target reachability</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S-M02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13</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Authorized target configuration</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Service access to credential source</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Application login instructions</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Authenticated test surface</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Direct input or supported AWS-native credential strategies supply credentials. For advanced strategies, the service resolves the configured resource, then follows login instructions to apply the result. Secrets Manager, role assumption and Lambda are separate strategies.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current credential and target configuration determines reachable access. Domain verification and optional private connectivity remain separate configuration records.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Credential resolution and target reachability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S-M02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14</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Verify the permitted target and configure private connectivity when required.</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Select a supported credential strategy and grant the service only the required source access.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500" b="0">
                <a:solidFill>
                  <a:srgbClr val="172C43"/>
                </a:solidFill>
                <a:latin typeface="Aptos"/>
              </a:defRPr>
            </a:pPr>
            <a:r>
              <a:t>Provide login instructions describing where and how the resolved credential is applied; use test accounts without production access.</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Credential resolution can succeed while application login fails. A verified domain does not authorize every external system reached by the application.</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record the actual authenticated identity, application role and reachable paths. Exercise a permitted path and confirm an out-of-scope path remains excluded. Do not count an unauthenticated run as authenticated coverage.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Requirement-pack evaluation and regeneration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S-M03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15</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Reviewed requirement definitions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Enabled pack</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Configured review mode</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Requirement-level findings</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Requirements express applicability and compliance criteria. Enabling a pack supplies criteria for subsequent eligible reviews; the review must be configured for requirement evaluation rather than only vulnerability analysis.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Uploading new source documents regenerates the entire pack and replaces existing requirements, including manually added ones. Prior completed assessments are not retrospectively rewritten.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Requirement-pack evaluation and regeneration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S-M03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16</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Security requirements and create or select the required pack.</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Review each requirement's applicability and compliance criteria before enabling the pack.</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500" b="0">
                <a:solidFill>
                  <a:srgbClr val="172C43"/>
                </a:solidFill>
                <a:latin typeface="Aptos"/>
              </a:defRPr>
            </a:pPr>
            <a:r>
              <a:t>Configure the design or code review to evaluate requirements. Do not upload replacement documents unless replacing the existing pack content is intended.</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Generated requirements need human review. A framework pack is not an audit result or guarantee of compliance.</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evaluate a known compliant example, a known violation and an explicitly inapplicable example. Check applicability and evidence, not only the number of findings. Keep requirement changes in Git or the governing source system.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Targeted revalidation with preserved lineage</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S-M04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17</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Original finding</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Separate revalidation job</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Repeated validation steps</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Linked result history</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service authenticates using current configuration and repeats the selected findings' validation steps. It does not rediscover vulnerabilities or test unrelated areas.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original finding is preserved. The separate job reports Active when reproduced and Resolved when not reproduced during that revalidation, with links between findings and jobs.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Targeted revalidation with preserved lineage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S-M04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18</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Deploy the repair to the environment used by the original completed test.</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the run and choose Multiselect findings for revalidation.</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Select the relevant findings, choose Revalidate findings, and inspect the new job and history links.</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A non-reproduction result applies to the selected finding, target and execution conditions. It is not a whole-application assurance statement.</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retain the deployed revision, credential identity, finding identifier and new job identifier. Confirm that the expected target was reached and assess whether any login or environmental failure weakened the result.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Inspect learned login behavior and a finding revalidation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8 minute optional exercise; not part of a measured runtime</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19</a:t>
            </a:r>
          </a:p>
        </p:txBody>
      </p:sp>
      <p:sp>
        <p:nvSpPr>
          <p:cNvPr id="6" name="TextBox 5"/>
          <p:cNvSpPr txBox="1"/>
          <p:nvPr/>
        </p:nvSpPr>
        <p:spPr>
          <a:xfrm>
            <a:off x="548640" y="1828800"/>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7" name="TextBox 6"/>
          <p:cNvSpPr txBox="1"/>
          <p:nvPr/>
        </p:nvSpPr>
        <p:spPr>
          <a:xfrm>
            <a:off x="1737360" y="1828800"/>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Inspect the test target, test credential and Login Optimization setting.</a:t>
            </a:r>
          </a:p>
        </p:txBody>
      </p:sp>
      <p:sp>
        <p:nvSpPr>
          <p:cNvPr id="8" name="TextBox 7"/>
          <p:cNvSpPr txBox="1"/>
          <p:nvPr/>
        </p:nvSpPr>
        <p:spPr>
          <a:xfrm>
            <a:off x="548640" y="2587752"/>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9" name="TextBox 8"/>
          <p:cNvSpPr txBox="1"/>
          <p:nvPr/>
        </p:nvSpPr>
        <p:spPr>
          <a:xfrm>
            <a:off x="1737360" y="2587752"/>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Compare first and later successful login behavior.</a:t>
            </a:r>
          </a:p>
        </p:txBody>
      </p:sp>
      <p:sp>
        <p:nvSpPr>
          <p:cNvPr id="10" name="TextBox 9"/>
          <p:cNvSpPr txBox="1"/>
          <p:nvPr/>
        </p:nvSpPr>
        <p:spPr>
          <a:xfrm>
            <a:off x="548640" y="3346704"/>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11" name="TextBox 10"/>
          <p:cNvSpPr txBox="1"/>
          <p:nvPr/>
        </p:nvSpPr>
        <p:spPr>
          <a:xfrm>
            <a:off x="1737360" y="3346704"/>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Inspect one original finding and the deployed repair revision.</a:t>
            </a:r>
          </a:p>
        </p:txBody>
      </p:sp>
      <p:sp>
        <p:nvSpPr>
          <p:cNvPr id="12" name="TextBox 11"/>
          <p:cNvSpPr txBox="1"/>
          <p:nvPr/>
        </p:nvSpPr>
        <p:spPr>
          <a:xfrm>
            <a:off x="548640" y="4105656"/>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13" name="TextBox 12"/>
          <p:cNvSpPr txBox="1"/>
          <p:nvPr/>
        </p:nvSpPr>
        <p:spPr>
          <a:xfrm>
            <a:off x="1737360" y="4105656"/>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Trace its revalidation job and state the result's scope and limitations.</a:t>
            </a:r>
          </a:p>
        </p:txBody>
      </p:sp>
      <p:sp>
        <p:nvSpPr>
          <p:cNvPr id="14" name="TextBox 13"/>
          <p:cNvSpPr txBox="1"/>
          <p:nvPr/>
        </p:nvSpPr>
        <p:spPr>
          <a:xfrm>
            <a:off x="548640" y="5212080"/>
            <a:ext cx="10972800" cy="914400"/>
          </a:xfrm>
          <a:prstGeom prst="rect">
            <a:avLst/>
          </a:prstGeom>
          <a:noFill/>
        </p:spPr>
        <p:txBody>
          <a:bodyPr wrap="square" lIns="0" rIns="0" tIns="0" bIns="0">
            <a:spAutoFit/>
          </a:bodyPr>
          <a:lstStyle/>
          <a:p>
            <a:pPr>
              <a:spcAft>
                <a:spcPts val="500"/>
              </a:spcAft>
              <a:defRPr sz="1800" b="0">
                <a:solidFill>
                  <a:srgbClr val="172C43"/>
                </a:solidFill>
                <a:latin typeface="Aptos"/>
              </a:defRPr>
            </a:pPr>
            <a:r>
              <a:t>Distinguish authenticated access, learned login reuse and targeted finding revalidation; none establishes general application security.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20</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S01  Configuration and run lifecycle</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S02  How the service uses application context</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S03  Security requirements</a:t>
            </a:r>
          </a:p>
        </p:txBody>
      </p:sp>
      <p:sp>
        <p:nvSpPr>
          <p:cNvPr id="9" name="TextBox 8"/>
          <p:cNvSpPr txBox="1"/>
          <p:nvPr/>
        </p:nvSpPr>
        <p:spPr>
          <a:xfrm>
            <a:off x="548640" y="3694176"/>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6"/>
              </a:rPr>
              <a:t>S04  Enable penetration testing</a:t>
            </a:r>
          </a:p>
        </p:txBody>
      </p:sp>
      <p:sp>
        <p:nvSpPr>
          <p:cNvPr id="10" name="TextBox 9"/>
          <p:cNvSpPr txBox="1"/>
          <p:nvPr/>
        </p:nvSpPr>
        <p:spPr>
          <a:xfrm>
            <a:off x="548640" y="4315968"/>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7"/>
              </a:rPr>
              <a:t>S05  Authentication credentials and Login Optimization</a:t>
            </a:r>
          </a:p>
        </p:txBody>
      </p:sp>
      <p:sp>
        <p:nvSpPr>
          <p:cNvPr id="11" name="TextBox 10"/>
          <p:cNvSpPr txBox="1"/>
          <p:nvPr/>
        </p:nvSpPr>
        <p:spPr>
          <a:xfrm>
            <a:off x="548640" y="493776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8"/>
              </a:rPr>
              <a:t>S06  Finding revalidation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SECURITY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21</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S07  Code review findings in GitHub</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S08  Customer-managed encryption keys</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S09  Requirement generation and replacement</a:t>
            </a:r>
          </a:p>
        </p:txBody>
      </p:sp>
      <p:sp>
        <p:nvSpPr>
          <p:cNvPr id="9" name="TextBox 8"/>
          <p:cNvSpPr txBox="1"/>
          <p:nvPr/>
        </p:nvSpPr>
        <p:spPr>
          <a:xfrm>
            <a:off x="548640" y="3694176"/>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6"/>
              </a:rPr>
              <a:t>S10  Documentation history and feature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