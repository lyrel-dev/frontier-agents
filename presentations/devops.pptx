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An Agent Space connects configuration to executions</a:t>
            </a:r>
          </a:p>
          <a:p/>
          <a:p>
            <a:r>
              <a:t>Budget 2 minutes; cumulative 00:00–02:00.</a:t>
            </a:r>
          </a:p>
          <a:p/>
          <a:p>
            <a:r>
              <a:t>Configuration, execution and evidence are different objects.</a:t>
            </a:r>
          </a:p>
          <a:p/>
          <a:p>
            <a:r>
              <a:t>Use the display as the speaking outline. The following canonical guide text is reference, not a mandatory verbatim script.</a:t>
            </a:r>
          </a:p>
          <a:p/>
          <a:p>
            <a:r>
              <a:t>D-01 — Service functions and resource model</a:t>
            </a:r>
          </a:p>
          <a:p/>
          <a:p>
            <a:r>
              <a:t>D-01 — Service functions and resource model The built-in functions are incident investigation, on-demand operational questions, and incident-prevention recommendations. Release-readiness review and release testing are separate preview paths. Custom agents execute operator-defined work; a scheduled health report is an application of that facility, not another independent platform primitive. Availability is feature- and Region-specific. Consult the Region table rather than assuming that the Region of a monitored workload determines where the Agent Space must reside. DS01 DS15 DS18 The configuration has two levels. An account registers providers; an Agent Space associates accounts and providers and selects available tools. Within that space, knowledge resources and agent definitions govern the context available to executions. An investigation or custom-agent invocation is a run, not the configuration that produced it. DS02 DS03 DS10 Account / Region</a:t>
            </a:r>
          </a:p>
          <a:p>
            <a:r>
              <a:t>  Capability provider registration ── association + selected tools ──┐</a:t>
            </a:r>
          </a:p>
          <a:p>
            <a:r>
              <a:t>  Primary / secondary AWS account roles ────────────────────────────┤</a:t>
            </a:r>
          </a:p>
          <a:p>
            <a:r>
              <a:t>                                                                  ▼</a:t>
            </a:r>
          </a:p>
          <a:p>
            <a:r>
              <a:t>Agent Space ── operator access ── people / authorized clients</a:t>
            </a:r>
          </a:p>
          <a:p>
            <a:r>
              <a:t>  ├─ discovered resources → topology and environment understanding</a:t>
            </a:r>
          </a:p>
          <a:p>
            <a:r>
              <a:t>  ├─ instructions / skills / memory stores</a:t>
            </a:r>
          </a:p>
          <a:p>
            <a:r>
              <a:t>  ├─ managed agents → investigations / chat / evaluations</a:t>
            </a:r>
          </a:p>
          <a:p>
            <a:r>
              <a:t>  └─ custom-agent definition → trigger → invocation → tool results The graph is an explanatory model of documented resources, not an AWS API schema. Topology helps investigations navigate relationships; it does not constrain all possible reads. IAM permissions and integration authorization determine what resources can actually be accessed. DS04 Reusable capabilities, grouped by responsibility Group Capability Configurable or inspectable objects Detailed treatment Access Scope AWS and operator access independently Resource role; operator role; account association D-02 Connectivity Make selected external tools reachable and callable Provider; authentication; private connection; tool selection D-03, D-04 Context Discover resources and infer relationships Discovery results; topology; learned understanding D-05 Context Retain and retrieve environment-specific information Store; memory; description; version; active state D-M01, D-M02 Behavior Supply standing guidance and specialized procedures Agent instructions; skill and its applicability D-M03, D-M04 Execution Route incident signals and accept steering Triage decision; investigation; feedback D-06 Execution Define and schedule bounded operational work Custom agent; assigned tools; trigger; invocation D-07 Execution Run investigation-local computation Sandbox packages and network policy D-M05 Effects Authorize particular mutations Elevated role; tool category; approval D-M06 Administration Manage configuration through APIs Asset type, ID, metadata, files, versions D-08 Observation Inspect executions and generated outputs Investigation details; invocation trajectory; audit events D-06, D-07, D-M06 This table is an index, not a second capability database. The referenced sections are the canonical explanations.</a:t>
            </a:r>
          </a:p>
          <a:p/>
          <a:p>
            <a:r>
              <a:t>DS01 https://docs.aws.amazon.com/devopsagent/latest/userguide/about-aws-devops-agent-supported-regions.html</a:t>
            </a:r>
          </a:p>
          <a:p/>
          <a:p>
            <a:r>
              <a:t>DS02 https://docs.aws.amazon.com/devopsagent/latest/userguide/getting-started-with-aws-devops-agent-creating-an-agent-space.html</a:t>
            </a:r>
          </a:p>
          <a:p/>
          <a:p>
            <a:r>
              <a:t>DS03 https://docs.aws.amazon.com/devopsagent/latest/userguide/configuring-integrations-and-knowledge-connecting-mcp-servers.html</a:t>
            </a:r>
          </a:p>
          <a:p/>
          <a:p>
            <a:r>
              <a:t>DS04 https://docs.aws.amazon.com/devopsagent/latest/userguide/about-aws-devops-agent-what-is-a-devops-agent-topology.html</a:t>
            </a:r>
          </a:p>
          <a:p/>
          <a:p>
            <a:r>
              <a:t>DS10 https://docs.aws.amazon.com/devopsagent/latest/userguide/working-with-devops-agent-custom-agents-index.html</a:t>
            </a:r>
          </a:p>
          <a:p/>
          <a:p>
            <a:r>
              <a:t>DS15 https://docs.aws.amazon.com/devopsagent/latest/userguide/production-operations-proactive-incident-prevention.html</a:t>
            </a:r>
          </a:p>
          <a:p/>
          <a:p>
            <a:r>
              <a:t>DS18 https://docs.aws.amazon.com/devopsagent/latest/userguide/working-with-devops-agent-custom-agents-index.html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Two access paths need separate verification</a:t>
            </a:r>
          </a:p>
          <a:p/>
          <a:p>
            <a:r>
              <a:t>Budget 2 minutes; cumulative 02:00–04:00.</a:t>
            </a:r>
          </a:p>
          <a:p/>
          <a:p>
            <a:r>
              <a:t>A created workspace is not proof that its data sources are readable.</a:t>
            </a:r>
          </a:p>
          <a:p/>
          <a:p>
            <a:r>
              <a:t>Use the display as the speaking outline. The following canonical guide text is reference, not a mandatory verbatim script.</a:t>
            </a:r>
          </a:p>
          <a:p/>
          <a:p>
            <a:r>
              <a:t>D-02 — Establish the two access paths</a:t>
            </a:r>
          </a:p>
          <a:p/>
          <a:p>
            <a:r>
              <a:t>D-02 — Establish the two access paths Administrator procedure. In the AWS console, create an Agent Space, give it a name, and configure primary-account resource access. Select an automatically created role, an existing role, or the policy-template route for customized permissions. Configure the Web App role separately, then create the space. The expected confirmation is an Operator access button that opens an authenticated web application. Creating a space successfully is not confirmation that a particular telemetry API is readable. DS02 Decision Resource-access path Operator-access path Purpose Allow the service to inspect authorized AWS resources Allow personnel to interact with the space Review Target accounts, actions, resource scope and trust Which users can enter and what operations they can perform Proposed test Read one known non-sensitive resource and inspect its identity Sign in as the intended operator, not only the setup administrator Failure interpretation Missing data can be an API or role problem An unavailable app can be an identity/access problem Engineering procedure: record the space ID, Region, role ARNs and one tested resource. Keep policy source in Git. Do not publish account secrets or copy broad policy examples without adapting their resource scope. For secondary-account trust and exact IAM statements, use the linked current AWS procedure; this guide does not invent a universal trust policy. DS19</a:t>
            </a:r>
          </a:p>
          <a:p/>
          <a:p>
            <a:r>
              <a:t>DS02 https://docs.aws.amazon.com/devopsagent/latest/userguide/getting-started-with-aws-devops-agent-creating-an-agent-space.html</a:t>
            </a:r>
          </a:p>
          <a:p/>
          <a:p>
            <a:r>
              <a:t>DS19 https://docs.aws.amazon.com/devopsagent/latest/userguide/whats-new.html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MCP setup has authentication-specific decisions</a:t>
            </a:r>
          </a:p>
          <a:p/>
          <a:p>
            <a:r>
              <a:t>Budget 3 minutes; cumulative 04:00–07:00.</a:t>
            </a:r>
          </a:p>
          <a:p/>
          <a:p>
            <a:r>
              <a:t>Role-less SigV4 validation is deferred to association.</a:t>
            </a:r>
          </a:p>
          <a:p/>
          <a:p>
            <a:r>
              <a:t>Use the display as the speaking outline. The following canonical guide text is reference, not a mandatory verbatim script.</a:t>
            </a:r>
          </a:p>
          <a:p/>
          <a:p>
            <a:r>
              <a:t>D-03 — Connect an external MCP tool provider</a:t>
            </a:r>
          </a:p>
          <a:p/>
          <a:p>
            <a:r>
              <a:t>D-03 — Connect an external MCP tool provider Inbound versus outbound: this section concerns DevOps Agent calling an external MCP server. A client calling DevOps Agent's own remote endpoint is the opposite integration direction; see D-09. In Capability Providers → MCP Server → Register , enter a name and HTTPS endpoint, choose authentication, and supply the relevant fields. The documented transport is Streamable HTTP. After registration, associate the provider under the Agent Space's Capabilities → MCP Servers and select the required tools. DS03 Authentication choice Configuration to prepare OAuth client credentials Client ID/secret, token exchange URL, parameters and scopes OAuth three-legged flow Client details, exchange and authorization URLs, scopes API key Secret value and the actual HTTP header name Multiple secret headers Explicit secret/header pairs; registration-only credential updates SigV4 Signing Region, AWS service name, and dedicated role or documented role-less option In the role-less SigV4 option, validation is deferred until association and uses the primary account role. Registration alone is therefore not a successful connectivity test. Removal of a provider registration requires removing its associations first. Authentication update support differs by method. DS03 Engineering verification: register a staging provider exposing only a non-mutating service_status tool. Ask for a known service identifier, inspect the returned tool arguments/result, and compare the result with the source. Then request a deliberately unselected tool; the test is whether it is unavailable, not whether the model verbally promises restraint. Tool-effect classification is a separate decision under D-M06.</a:t>
            </a:r>
          </a:p>
          <a:p/>
          <a:p>
            <a:r>
              <a:t>DS03 https://docs.aws.amazon.com/devopsagent/latest/userguide/configuring-integrations-and-knowledge-connecting-mcp-servers.html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Private routing and provider identity are separate</a:t>
            </a:r>
          </a:p>
          <a:p/>
          <a:p>
            <a:r>
              <a:t>Budget 2 minutes; cumulative 07:00–09:00.</a:t>
            </a:r>
          </a:p>
          <a:p/>
          <a:p>
            <a:r>
              <a:t>Check the gateway path and target port before rotating a valid secret.</a:t>
            </a:r>
          </a:p>
          <a:p/>
          <a:p>
            <a:r>
              <a:t>Use the display as the speaking outline. The following canonical guide text is reference, not a mandatory verbatim script.</a:t>
            </a:r>
          </a:p>
          <a:p/>
          <a:p>
            <a:r>
              <a:t>D-04 — Private connectivity is a network mechanism</a:t>
            </a:r>
          </a:p>
          <a:p/>
          <a:p>
            <a:r>
              <a:t>D-04 — Private connectivity is a network mechanism AWS uses VPC Lattice and a service-managed resource gateway whose ENIs are placed in selected subnets. Traffic reaches the target from those ENIs, not from the public integration IP list. The private connection and the provider's endpoint URL are separate configuration objects. DS05 Configuration procedure: select a VPC, suitable subnets and security groups; specify a routable host and required port ranges; create the connection; associate it with the provider. For OAuth, account for both the MCP endpoint and token endpoint. On failure, inspect failureMessage , DNS, routing, port ranges and target-side rules before modifying credentials. The newer guidance states that omitted port ranges allow only 443. DS05 DS19 Illustrative configuration review: an endpoint https://metrics.example.internal:8443/mcp needs a route and port range covering 8443. A successful HTTPS check on port 443 is not evidence that this endpoint works. A firewall rule should identify the selected gateway network path. It should not be copied from an unrelated public-service allowlist. This example is a review checklist, not a deployable AWS resource definition.</a:t>
            </a:r>
          </a:p>
          <a:p/>
          <a:p>
            <a:r>
              <a:t>DS05 https://docs.aws.amazon.com/devopsagent/latest/userguide/configuring-integrations-and-knowledge-connecting-to-privately-hosted-tools.html</a:t>
            </a:r>
          </a:p>
          <a:p/>
          <a:p>
            <a:r>
              <a:t>DS19 https://docs.aws.amazon.com/devopsagent/latest/userguide/whats-new.html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Topology is a representation, not an access boundary</a:t>
            </a:r>
          </a:p>
          <a:p/>
          <a:p>
            <a:r>
              <a:t>Budget 2 minutes; cumulative 09:00–11:00.</a:t>
            </a:r>
          </a:p>
          <a:p/>
          <a:p>
            <a:r>
              <a:t>A missing graph node does not establish that a direct resource read is denied.</a:t>
            </a:r>
          </a:p>
          <a:p/>
          <a:p>
            <a:r>
              <a:t>Use the display as the speaking outline. The following canonical guide text is reference, not a mandatory verbatim script.</a:t>
            </a:r>
          </a:p>
          <a:p/>
          <a:p>
            <a:r>
              <a:t>D-05 — Discovery, topology and learned understanding</a:t>
            </a:r>
          </a:p>
          <a:p/>
          <a:p>
            <a:r>
              <a:t>D-05 — Discovery, topology and learned understanding Discovery collects CloudFormation resources and, for tagged resources outside CloudFormation deployments, uses enabled Resource Explorer. Relationship evidence can include configuration, tags, deployment mapping and observability. Learned topology/pipeline views summarize that evidence; raw-resource views expose different levels of granularity. A missing graph node does not prove the agent cannot investigate the resource. DS04 The managed Learning agent maintains environment knowledge. Its page provides knowledge, run history and scheduled-trigger inspection. Its schedules belong to the platform, unlike custom-agent triggers. Newer documentation moves learned topology, dependency, pipeline and tool-use knowledge into memory; older pages still call these learned skills. DS06 DS19 Engineering verification: choose one service, identify its actual deployed resources and repository revision, and compare them with the graph. Record missing or incorrectly inferred edges separately. Inspect a learning run and the output's version after refresh; clicking a refresh control is not the completion evidence. Do not enable additional account writes to repair a read/discovery gap.</a:t>
            </a:r>
          </a:p>
          <a:p/>
          <a:p>
            <a:r>
              <a:t>DS04 https://docs.aws.amazon.com/devopsagent/latest/userguide/about-aws-devops-agent-what-is-a-devops-agent-topology.html</a:t>
            </a:r>
          </a:p>
          <a:p/>
          <a:p>
            <a:r>
              <a:t>DS06 https://docs.aws.amazon.com/devopsagent/latest/userguide/working-with-devops-agent-managed-agents.html</a:t>
            </a:r>
          </a:p>
          <a:p/>
          <a:p>
            <a:r>
              <a:t>DS19 https://docs.aws.amazon.com/devopsagent/latest/userguide/whats-new.html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Past incidents become selected contextual evidence</a:t>
            </a:r>
          </a:p>
          <a:p/>
          <a:p>
            <a:r>
              <a:t>Budget 3 minutes; cumulative 11:00–14:00.</a:t>
            </a:r>
          </a:p>
          <a:p/>
          <a:p>
            <a:r>
              <a:t>Retention, retrieval and diagnostic correctness require separate observations.</a:t>
            </a:r>
          </a:p>
          <a:p/>
          <a:p>
            <a:r>
              <a:t>Use the display as the speaking outline. The following canonical guide text is reference, not a mandatory verbatim script.</a:t>
            </a:r>
          </a:p>
          <a:p/>
          <a:p>
            <a:r>
              <a:t>D-M01 — How previous incidents become reusable context</a:t>
            </a:r>
          </a:p>
          <a:p/>
          <a:p>
            <a:r>
              <a:t>D-M01 — How previous incidents become reusable context Production and retrieval are distinct. The managed monitors store associates recurring causes and investigation evidence with an alarm or metric. AWS describes a daily learning pass when the space has investigations in the preceding two weeks; entries without updates for two weeks can be removed and full stores evict the oldest item. This is operational context, not permanent incident retention. DS07 At session start, an agent sees store descriptions. It opens relevant stores, evaluates entry descriptions, and reads selected content. Updates create immutable versions. A store may exist without being selected. The public documentation does not identify a customer-controlled model-training process or disclose a retrieval-ranking implementation. DS07 Past investigations → learning process → monitor-specific memory</a:t>
            </a:r>
          </a:p>
          <a:p>
            <a:r>
              <a:t>                                             ↓</a:t>
            </a:r>
          </a:p>
          <a:p>
            <a:r>
              <a:t>New signal → store relevance → entry relevance → selected context</a:t>
            </a:r>
          </a:p>
          <a:p>
            <a:r>
              <a:t>                                             ↓</a:t>
            </a:r>
          </a:p>
          <a:p>
            <a:r>
              <a:t>                              diagnosis using current evidence Operator procedure: open Knowledge → Memories , inspect the monitor store, open the relevant entry, and inspect version and modification time. Confirm that the store and entry are active. Inactive entries are excluded; the monitor store is documented as enabled by default. Use Chat to request a correction to retained information and inspect the resulting content. DS07 DS19 Proposed acceptance test: retain the old incident's independently established cause, then investigate a new occurrence with deliberately different evidence. Record three separate conclusions: entry exists; retrieval was observable or unverified; current diagnosis matches the new evidence. Do not infer retrieval merely because the answer repeats a familiar phrase.</a:t>
            </a:r>
          </a:p>
          <a:p/>
          <a:p>
            <a:r>
              <a:t>DS07 https://docs.aws.amazon.com/devopsagent/latest/userguide/about-aws-devops-agent-devops-agent-memories.html</a:t>
            </a:r>
          </a:p>
          <a:p/>
          <a:p>
            <a:r>
              <a:t>DS19 https://docs.aws.amazon.com/devopsagent/latest/userguide/whats-new.html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Corrections and access attachments solve different problems</a:t>
            </a:r>
          </a:p>
          <a:p/>
          <a:p>
            <a:r>
              <a:t>Budget 2 minutes; cumulative 14:00–16:00.</a:t>
            </a:r>
          </a:p>
          <a:p/>
          <a:p>
            <a:r>
              <a:t>Feedback changes contextual knowledge; attachment changes which context an agent may use.</a:t>
            </a:r>
          </a:p>
          <a:p/>
          <a:p>
            <a:r>
              <a:t>Use the display as the speaking outline. The following canonical guide text is reference, not a mandatory verbatim script.</a:t>
            </a:r>
          </a:p>
          <a:p/>
          <a:p>
            <a:r>
              <a:t>D-M02 — Corrective feedback produces a separate lesson</a:t>
            </a:r>
          </a:p>
          <a:p/>
          <a:p>
            <a:r>
              <a:t>D-M02 — Corrective feedback produces a separate lesson Corrective feedback is not the same producer as monitor-history synthesis. In a completed investigation, Add feedback records the verdict and, when wrong, the actual cause; Chat is another entry point. The most recent feedback submission replaces earlier feedback for that investigation. Sharing it with AWS requires separate confirmation. The dated change log describes a reflections store for lessons from corrections. DS08 DS19</a:t>
            </a:r>
          </a:p>
          <a:p/>
          <a:p>
            <a:r>
              <a:t>DS08 https://docs.aws.amazon.com/devopsagent/latest/userguide/production-operations-autonomous-incident-response.html</a:t>
            </a:r>
          </a:p>
          <a:p/>
          <a:p>
            <a:r>
              <a:t>DS19 https://docs.aws.amazon.com/devopsagent/latest/userguide/whats-new.html</a:t>
            </a:r>
          </a:p>
          <a:p/>
          <a:p>
            <a:r>
              <a:t>D-M07 — Memory attachment and lifecycle</a:t>
            </a:r>
          </a:p>
          <a:p/>
          <a:p>
            <a:r>
              <a:t>D-M07 — Memory attachment and lifecycle A new custom agent has no store attachments. Its definition selects accessible stores; it can write to attached custom stores, while managed stores are read-only to it. This is narrower than the managed Chat agent's documented memory editing behavior. DS10 Object/action Documented consequence Practical inspection Deactivate a store or entry Stop active access without deleting content Check the active state and rerun a harmless read test Edit memory New immutable version Compare content and timestamp Remove custom-agent attachment Remove that agent's access to the store Inspect the saved definition Delete a custom store through Chat Contents must be removed first Confirm store and entries separately Delete a custom store in console Deletes its contents; not reversible Review the selected store before confirmation Delete a managed store Not supported Use supported activation/content controls instead The last two deletion behaviors and the description-selection model are documented in the newer indexed memory guidance. See the evidence notes for the older/newer-page discrepancy. DS07</a:t>
            </a:r>
          </a:p>
          <a:p/>
          <a:p>
            <a:r>
              <a:t>DS07 https://docs.aws.amazon.com/devopsagent/latest/userguide/about-aws-devops-agent-devops-agent-memories.html</a:t>
            </a:r>
          </a:p>
          <a:p/>
          <a:p>
            <a:r>
              <a:t>DS10 https://docs.aws.amazon.com/devopsagent/latest/userguide/working-with-devops-agent-custom-agents-index.html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Instructions and skills enter the session differently</a:t>
            </a:r>
          </a:p>
          <a:p/>
          <a:p>
            <a:r>
              <a:t>Budget 2 minutes; cumulative 16:00–18:00.</a:t>
            </a:r>
          </a:p>
          <a:p/>
          <a:p>
            <a:r>
              <a:t>Prompt guidance does not grant or revoke IAM permissions.</a:t>
            </a:r>
          </a:p>
          <a:p/>
          <a:p>
            <a:r>
              <a:t>Use the display as the speaking outline. The following canonical guide text is reference, not a mandatory verbatim script.</a:t>
            </a:r>
          </a:p>
          <a:p/>
          <a:p>
            <a:r>
              <a:t>D-M03 — Standing instructions enter each new session</a:t>
            </a:r>
          </a:p>
          <a:p/>
          <a:p>
            <a:r>
              <a:t>D-M03 — Standing instructions enter each new session Global and agent-specific AGENTS.md text is supplied at startup; it is not selected by relevance. Changes apply to sessions started after saving. A running session retains its startup content. DS09 Procedure: open Agents → Managed agents , select the relevant agent, and edit the global or agent-specific instructions on Agent definition . Confirm the global change when prompted. Start a new session for verification. Older cached instructions pages show Knowledge → Instructions ; the newer indexed guide and managed-agent page agree on the Agents route. DS09 DS06 Original example, not an AWS default: ## Incident output contract</a:t>
            </a:r>
          </a:p>
          <a:p>
            <a:r>
              <a:t>Identify the resource and UTC time range for every material observation.</a:t>
            </a:r>
          </a:p>
          <a:p>
            <a:r>
              <a:t>Separate current observations from historical context.</a:t>
            </a:r>
          </a:p>
          <a:p>
            <a:r>
              <a:t>When required data is unavailable, name the failed read and continue only</a:t>
            </a:r>
          </a:p>
          <a:p>
            <a:r>
              <a:t>with conclusions supported by the remaining evidence. Save this only where applicable. Check an old and a new session to test propagation. An instruction changes prompt context; it does not modify IAM authorization. Keep the authoritative text in Git, rather than retaining manual document snapshots.</a:t>
            </a:r>
          </a:p>
          <a:p/>
          <a:p>
            <a:r>
              <a:t>DS06 https://docs.aws.amazon.com/devopsagent/latest/userguide/working-with-devops-agent-managed-agents.html</a:t>
            </a:r>
          </a:p>
          <a:p/>
          <a:p>
            <a:r>
              <a:t>DS09 https://docs.aws.amazon.com/devopsagent/latest/userguide/about-aws-devops-agent-agent-instructions.html</a:t>
            </a:r>
          </a:p>
          <a:p/>
          <a:p>
            <a:r>
              <a:t>D-M04 — Skills are selected procedures, not standing memory</a:t>
            </a:r>
          </a:p>
          <a:p/>
          <a:p>
            <a:r>
              <a:t>D-M04 — Skills are selected procedures, not standing memory A skill requires SKILL.md ; its name, description and agent-type targeting determine applicability. Additional references or data can accompany it. Without Sandbox, the supported material is non-executable; Sandbox adds a code-execution surface for applicable investigations. DS11 Procedure: add a skill from Knowledge → Skills , write a description naming the relevant symptoms and services, choose agent scope, and supply the procedure. Test a matching request and a nonmatching request. Inspect available run evidence for selection and tool use; document an unavailable signal as unverified rather than asserting selection. Original example: ---</a:t>
            </a:r>
          </a:p>
          <a:p>
            <a:r>
              <a:t>name: checkout-upstream-timeout</a:t>
            </a:r>
          </a:p>
          <a:p>
            <a:r>
              <a:t>description: Investigate checkout timeouts involving the inventory dependency.</a:t>
            </a:r>
          </a:p>
          <a:p>
            <a:r>
              <a:t>--- Add a procedure that compares upstream response time, connection errors and deployment timestamps using the actually connected tools. Record failed reads and distinguish observations from hypotheses. The example frontmatter illustrates applicability; it is not a complete environment-specific runbook. A procedure cannot confer missing tool permissions.</a:t>
            </a:r>
          </a:p>
          <a:p/>
          <a:p>
            <a:r>
              <a:t>DS11 https://docs.aws.amazon.com/devopsagent/latest/userguide/about-aws-devops-agent-devops-agent-skills.html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Inspect triage before diagnosing a missing investigation</a:t>
            </a:r>
          </a:p>
          <a:p/>
          <a:p>
            <a:r>
              <a:t>Budget 2 minutes; cumulative 18:00–20:00.</a:t>
            </a:r>
          </a:p>
          <a:p/>
          <a:p>
            <a:r>
              <a:t>Routing correction and root-cause feedback are different operations.</a:t>
            </a:r>
          </a:p>
          <a:p/>
          <a:p>
            <a:r>
              <a:t>Use the display as the speaking outline. The following canonical guide text is reference, not a mandatory verbatim script.</a:t>
            </a:r>
          </a:p>
          <a:p/>
          <a:p>
            <a:r>
              <a:t>D-06 — Incident routing and investigation feedback</a:t>
            </a:r>
          </a:p>
          <a:p/>
          <a:p>
            <a:r>
              <a:t>D-06 — Incident routing and investigation feedback An external signal is triaged before an independent investigation is necessarily started. Linked adds the signal to existing work; Skipped applies configured skip criteria; Proceed schedules new work. The web app shows the decision and reason. Unlinking or unskipping reschedules independent investigation; correlation or skip skills can be corrected for future events. DS08 For a manual investigation, supply the problem, optional starting evidence, incident time, name and priority. Inspect investigation output and tool evidence, then submit feedback after completion. A route decision, a diagnosis, and a feedback verdict are different records. DS08 Engineering procedure: for an unexpected absence of investigation, first inspect the triage record. A linked event is not lost; follow its primary investigation. A skipped event calls for reviewing the matching skill. For incorrect diagnosis, add the verified correction rather than changing a routing rule unless routing itself was wrong. Prevention evaluations analyze multiple investigations into recommendations. The Improvements page exposes the latest evaluation summary, manual evaluation and schedule controls; the documented default is weekly. This differs from daily monitor-memory refresh. DS15</a:t>
            </a:r>
          </a:p>
          <a:p/>
          <a:p>
            <a:r>
              <a:t>DS08 https://docs.aws.amazon.com/devopsagent/latest/userguide/production-operations-autonomous-incident-response.html</a:t>
            </a:r>
          </a:p>
          <a:p/>
          <a:p>
            <a:r>
              <a:t>DS15 https://docs.aws.amazon.com/devopsagent/latest/userguide/production-operations-proactive-incident-prevention.html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A trigger creates work; cancellation affects a run</a:t>
            </a:r>
          </a:p>
          <a:p/>
          <a:p>
            <a:r>
              <a:t>Budget 2 minutes; cumulative 20:00–22:00.</a:t>
            </a:r>
          </a:p>
          <a:p/>
          <a:p>
            <a:r>
              <a:t>In-flight calls may finish after cancellation; a schedule is not the data window.</a:t>
            </a:r>
          </a:p>
          <a:p/>
          <a:p>
            <a:r>
              <a:t>Use the display as the speaking outline. The following canonical guide text is reference, not a mandatory verbatim script.</a:t>
            </a:r>
          </a:p>
          <a:p/>
          <a:p>
            <a:r>
              <a:t>D-07 — Custom-agent definitions, schedules and cancellation</a:t>
            </a:r>
          </a:p>
          <a:p/>
          <a:p>
            <a:r>
              <a:t>D-07 — Custom-agent definitions, schedules and cancellation Define a name, system prompt, selected skills and memory stores. Use Chat for tool assignment and inspect the saved definition before executing. The available tool set is the selected subset of the space's integrations. DS12 Execution procedure: choose the agent, select Run Now or Run with prompt , then open the invocation in History . Inspect tool arguments and results, not only the final text. To schedule it, open Triggers , create a rate or cron expression, and check the displayed next run. cron(0 9 ? * MON-FRI *) is 09:00 UTC on weekdays, not automatically Zurich civil time. Pause the trigger to stop future starts. Cancel an existing run separately; an in-flight tool call may finish after cancellation. DS13 Original system-prompt outline: “Read the selected staging service's alarm and deployment tools for the previous 24 complete hours. Return resource IDs, the UTC window, failed reads and links to material results. Do not publish to external destinations.” This becomes usable only after real tool names and access have been selected. A schedule without those dependencies is not a reporting capability.</a:t>
            </a:r>
          </a:p>
          <a:p/>
          <a:p>
            <a:r>
              <a:t>DS12 https://docs.aws.amazon.com/devopsagent/latest/userguide/custom-agents-creating-a-custom-agent.html</a:t>
            </a:r>
          </a:p>
          <a:p/>
          <a:p>
            <a:r>
              <a:t>DS13 https://docs.aws.amazon.com/devopsagent/latest/userguide/custom-agents-executing-custom-agents.html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Sandbox and directed actions have different boundaries</a:t>
            </a:r>
          </a:p>
          <a:p/>
          <a:p>
            <a:r>
              <a:t>Budget 3 minutes; cumulative 22:00–25:00.</a:t>
            </a:r>
          </a:p>
          <a:p/>
          <a:p>
            <a:r>
              <a:t>Application or tool effects must be reviewed; “read-only” is not a universal agent label.</a:t>
            </a:r>
          </a:p>
          <a:p/>
          <a:p>
            <a:r>
              <a:t>Use the display as the speaking outline. The following canonical guide text is reference, not a mandatory verbatim script.</a:t>
            </a:r>
          </a:p>
          <a:p/>
          <a:p>
            <a:r>
              <a:t>D-M05 — Investigation-local computation</a:t>
            </a:r>
          </a:p>
          <a:p/>
          <a:p>
            <a:r>
              <a:t>D-M05 — Investigation-local computation Sandbox provisions a fresh Linux environment per investigation. It can execute code, access configured packages and use account profiles within existing permissions. Its default outbound policy permits AWS service endpoints; other destinations require allowlisting. The reviewed preview does not extend this environment to all chat or custom-agent paths. DS14 Procedure: in the console, select the space, open Capabilities → Sandbox → Configure , select packages and add required host/method/path rules, then save. An empty allowlist is not total network isolation. Remove the Sandbox configuration to stop future use; do not assume that changing configuration rewinds already executed code. DS14 Proposed check: process a harmless supplied dataset, inspect code and numerical results, and test that an unlisted non-AWS endpoint is unavailable. Do not use production mutation as a connectivity test. Network filtering, AWS permissions and directed-action approvals are distinct controls.</a:t>
            </a:r>
          </a:p>
          <a:p/>
          <a:p>
            <a:r>
              <a:t>DS14 https://docs.aws.amazon.com/devopsagent/latest/userguide/configuring-integrations-and-knowledge-sandbox.html</a:t>
            </a:r>
          </a:p>
          <a:p/>
          <a:p>
            <a:r>
              <a:t>D-M06 — Directed-action authorization</a:t>
            </a:r>
          </a:p>
          <a:p/>
          <a:p>
            <a:r>
              <a:t>D-M06 — Directed-action authorization Directed actions require space opt-in, eligible target-account elevated access or integration configuration, and specific operator approval. The approval binds the operation and resource; AWS calls are attributed through CloudTrail. A saved role is a permission ceiling, not a standing approval. DS16 Procedure: enable the space setting; register the target account's agentElevatedRoleArn ; review tool categories for connected services; ask for the particular change; review or adjust parameters; approve or reject; then compare resulting state with the approved operation. Programmatically registered tools without toolDetails default to read-only. Incorrect classification can bypass the expected approval prompt. DS16 When using UpdateAgentSpace , supplying preferences replaces that complete map; omitted preferences revert to defaults. Read current settings first and verify them afterward. A denied mutation should lead to inspection of enablement, role trust, permission policy, tool category and approval scope—not unconditional elevation. DS16</a:t>
            </a:r>
          </a:p>
          <a:p/>
          <a:p>
            <a:r>
              <a:t>DS16 https://docs.aws.amazon.com/devopsagent/latest/userguide/working-with-devops-agent-working-with-directed-actions.html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Update semantics are part of the operational contract</a:t>
            </a:r>
          </a:p>
          <a:p/>
          <a:p>
            <a:r>
              <a:t>Budget 2 minutes; cumulative 25:00–27:00.</a:t>
            </a:r>
          </a:p>
          <a:p/>
          <a:p>
            <a:r>
              <a:t>Read current configuration first, then verify the saved result.</a:t>
            </a:r>
          </a:p>
          <a:p/>
          <a:p>
            <a:r>
              <a:t>Use the display as the speaking outline. The following canonical guide text is reference, not a mandatory verbatim script.</a:t>
            </a:r>
          </a:p>
          <a:p/>
          <a:p>
            <a:r>
              <a:t>D-08 — Configuration APIs and update semantics</a:t>
            </a:r>
          </a:p>
          <a:p/>
          <a:p>
            <a:r>
              <a:t>D-08 — Configuration APIs and update semantics Asset management uses the devops-agent CLI/SDK client but aidevops: IAM actions. ListAssetTypes discovers supported types; other asset operations generally authorize against the Agent Space ARN. Metadata keys use snake_case, while top-level request keys use camelCase. Metadata updates use PATCH semantics; asset type cannot be changed. Custom-agent skill/store references require asset IDs, not names. DS17 Read-only inspection pattern: aws devops-agent list-asset-types --region "$AWS_REGION"</a:t>
            </a:r>
          </a:p>
          <a:p>
            <a:r>
              <a:t>aws devops-agent list-assets --agent-space-id "$AGENT_SPACE_ID" --region "$AWS_REGION" Set both variables to your approved environment; these commands were not executed here. Inspect returned metadata before changing it. Asset PATCH behavior must not be generalized to the replacement behavior of the directed-action preference map. For content upload/file operations and deployment templates, follow the type-specific official examples rather than constructing an undocumented payload. DS17</a:t>
            </a:r>
          </a:p>
          <a:p/>
          <a:p>
            <a:r>
              <a:t>DS17 https://docs.aws.amazon.com/devopsagent/latest/userguide/about-aws-devops-agent-managing-assets.html</a:t>
            </a:r>
          </a:p>
          <a:p/>
          <a:p>
            <a:r>
              <a:t>D-M06 — Directed-action authorization</a:t>
            </a:r>
          </a:p>
          <a:p/>
          <a:p>
            <a:r>
              <a:t>D-M06 — Directed-action authorization Directed actions require space opt-in, eligible target-account elevated access or integration configuration, and specific operator approval. The approval binds the operation and resource; AWS calls are attributed through CloudTrail. A saved role is a permission ceiling, not a standing approval. DS16 Procedure: enable the space setting; register the target account's agentElevatedRoleArn ; review tool categories for connected services; ask for the particular change; review or adjust parameters; approve or reject; then compare resulting state with the approved operation. Programmatically registered tools without toolDetails default to read-only. Incorrect classification can bypass the expected approval prompt. DS16 When using UpdateAgentSpace , supplying preferences replaces that complete map; omitted preferences revert to defaults. Read current settings first and verify them afterward. A denied mutation should lead to inspection of enablement, role trust, permission policy, tool category and approval scope—not unconditional elevation. DS16</a:t>
            </a:r>
          </a:p>
          <a:p/>
          <a:p>
            <a:r>
              <a:t>DS16 https://docs.aws.amazon.com/devopsagent/latest/userguide/working-with-devops-agent-working-with-directed-actions.html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Exercise: same alarm, different evidence</a:t>
            </a:r>
          </a:p>
          <a:p/>
          <a:p>
            <a:r>
              <a:t>Budget 8 minutes; cumulative 27:00–35:00.</a:t>
            </a:r>
          </a:p>
          <a:p/>
          <a:p>
            <a:r>
              <a:t>Synthetic prepared-result exercise. Do not claim observed AWS recall or a proven deployment cause.</a:t>
            </a:r>
          </a:p>
          <a:p/>
          <a:p>
            <a:r>
              <a:t>Prepared-result exercise; no live result claimed.</a:t>
            </a:r>
          </a:p>
          <a:p/>
          <a:p>
            <a:r>
              <a:t>D-U01 — Worked example: recurring alarm, different cause</a:t>
            </a:r>
          </a:p>
          <a:p/>
          <a:p>
            <a:r>
              <a:t>D-U01 — Worked example: recurring alarm, different cause Synthetic exercise, not an AWS execution. The same checkout latency alarm fired in two incidents. In the first, connection exhaustion was verified. The new fixture contains the evidence below; values are invented and are not performance claims. Observation Earlier incident New incident Database connections / configured limit 100 / 100 34 / 100 Database query p95 900 ms 18 ms Inventory upstream p95 40 ms 2,900 ms Checkout p95 3,200 ms 3,100 ms Known change Database pool configuration Inventory deployment at 10:02 UTC Walkthrough: inspect the old monitor entry; start a separately identified investigation with the new UTC window and evidence; ask for competing explanations; locate observable memory/tool access; compare the result to the table. The prior database hypothesis is weakened by current connection and query figures. The inventory path is the stronger lead, but a nearby deployment alone does not establish its internal cause. Expected output: a current-evidence explanation identifying upstream latency as the supported direction, the old cause as historical context, and missing upstream logs as an unresolved dependency. No deployment action is justified solely by this fixture. A wrong repeated database diagnosis should receive corrective feedback with the contrary evidence. Failure branch: when no retrieval evidence is exposed, record memory use as unverified. When current telemetry is inaccessible, report insufficient evidence; do not substitute the old memory for current measurements. This exercise tests the distinction between retention, retrieval and diagnosis, not whether a memorized sentence appears.</a:t>
            </a:r>
          </a:p>
          <a:p/>
          <a:p>
            <a:r>
              <a:t>D-M01 — How previous incidents become reusable context</a:t>
            </a:r>
          </a:p>
          <a:p/>
          <a:p>
            <a:r>
              <a:t>D-M01 — How previous incidents become reusable context Production and retrieval are distinct. The managed monitors store associates recurring causes and investigation evidence with an alarm or metric. AWS describes a daily learning pass when the space has investigations in the preceding two weeks; entries without updates for two weeks can be removed and full stores evict the oldest item. This is operational context, not permanent incident retention. DS07 At session start, an agent sees store descriptions. It opens relevant stores, evaluates entry descriptions, and reads selected content. Updates create immutable versions. A store may exist without being selected. The public documentation does not identify a customer-controlled model-training process or disclose a retrieval-ranking implementation. DS07 Past investigations → learning process → monitor-specific memory</a:t>
            </a:r>
          </a:p>
          <a:p>
            <a:r>
              <a:t>                                             ↓</a:t>
            </a:r>
          </a:p>
          <a:p>
            <a:r>
              <a:t>New signal → store relevance → entry relevance → selected context</a:t>
            </a:r>
          </a:p>
          <a:p>
            <a:r>
              <a:t>                                             ↓</a:t>
            </a:r>
          </a:p>
          <a:p>
            <a:r>
              <a:t>                              diagnosis using current evidence Operator procedure: open Knowledge → Memories , inspect the monitor store, open the relevant entry, and inspect version and modification time. Confirm that the store and entry are active. Inactive entries are excluded; the monitor store is documented as enabled by default. Use Chat to request a correction to retained information and inspect the resulting content. DS07 DS19 Proposed acceptance test: retain the old incident's independently established cause, then investigate a new occurrence with deliberately different evidence. Record three separate conclusions: entry exists; retrieval was observable or unverified; current diagnosis matches the new evidence. Do not infer retrieval merely because the answer repeats a familiar phrase.</a:t>
            </a:r>
          </a:p>
          <a:p/>
          <a:p>
            <a:r>
              <a:t>DS07 https://docs.aws.amazon.com/devopsagent/latest/userguide/about-aws-devops-agent-devops-agent-memories.html</a:t>
            </a:r>
          </a:p>
          <a:p/>
          <a:p>
            <a:r>
              <a:t>DS19 https://docs.aws.amazon.com/devopsagent/latest/userguide/whats-new.html</a:t>
            </a:r>
          </a:p>
          <a:p/>
          <a:p>
            <a:r>
              <a:t>D-M02 — Corrective feedback produces a separate lesson</a:t>
            </a:r>
          </a:p>
          <a:p/>
          <a:p>
            <a:r>
              <a:t>D-M02 — Corrective feedback produces a separate lesson Corrective feedback is not the same producer as monitor-history synthesis. In a completed investigation, Add feedback records the verdict and, when wrong, the actual cause; Chat is another entry point. The most recent feedback submission replaces earlier feedback for that investigation. Sharing it with AWS requires separate confirmation. The dated change log describes a reflections store for lessons from corrections. DS08 DS19</a:t>
            </a:r>
          </a:p>
          <a:p/>
          <a:p>
            <a:r>
              <a:t>DS08 https://docs.aws.amazon.com/devopsagent/latest/userguide/production-operations-autonomous-incident-response.html</a:t>
            </a:r>
          </a:p>
          <a:p/>
          <a:p>
            <a:r>
              <a:t>DS19 https://docs.aws.amazon.com/devopsagent/latest/userguide/whats-new.html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Diagnose the failing layer, then retest</a:t>
            </a:r>
          </a:p>
          <a:p/>
          <a:p>
            <a:r>
              <a:t>Budget 2 minutes; cumulative 35:00–37:00.</a:t>
            </a:r>
          </a:p>
          <a:p/>
          <a:p>
            <a:r>
              <a:t>Full remote-protocol and release-profile procedures remain linked scope, not completed live tests.</a:t>
            </a:r>
          </a:p>
          <a:p/>
          <a:p>
            <a:r>
              <a:t>Use the display as the speaking outline. The following canonical guide text is reference, not a mandatory verbatim script.</a:t>
            </a:r>
          </a:p>
          <a:p/>
          <a:p>
            <a:r>
              <a:t>D-10 — Limits and diagnostic decisions</a:t>
            </a:r>
          </a:p>
          <a:p/>
          <a:p>
            <a:r>
              <a:t>D-10 — Limits and diagnostic decisions Selected defaults in the reviewed quota guide: three concurrent investigations per space; five concurrent custom invocations per space but one per custom agent; one-hour custom invocation timeout; 500 allowlisted MCP tools; 50 memory stores, 200 entries per store and 100 KB per entry. Some concurrency quotas are adjustable; the custom-agent and memory limits shown are not. Confirm the effective quota before rollout. DS22 Symptom Inspect first Corrective decision / expected evidence Web app unavailable Operator identity and role Repair entry permissions; opening as administrator is not the end-user test Missing topology resource CloudFormation/Resource Explorer and readable metadata Distinguish discovery absence from denied direct access Provider registers but no tool works Space association, selected tools, auth mode For role-less SigV4, verify primary-account validation and invoke permission Private endpoint times out Connection failureMessage, DNS, port ranges, gateway ENIs Correct the network path before rotating a valid secret Memory is ignored Store/entry activation, descriptions, agent attachments Compare availability and observed retrieval separately Instruction change has no effect Session start time and instruction scope Retest in a newly started session Custom run cannot start Existing invocation and per-agent concurrency Cancel or inspect current work; do not duplicate definitions Mutation is rejected Opt-in, role, category, approval Repair the failing layer; preserve the narrow target scope This diagnostic ordering is an engineering synthesis of D-02 through D-M06, not an additional AWS troubleshooting API.</a:t>
            </a:r>
          </a:p>
          <a:p/>
          <a:p>
            <a:r>
              <a:t>DS22 https://docs.aws.amazon.com/devopsagent/latest/userguide/quotas.html</a:t>
            </a:r>
          </a:p>
          <a:p/>
          <a:p>
            <a:r>
              <a:t>D-11 — Coverage and evidence notes</a:t>
            </a:r>
          </a:p>
          <a:p/>
          <a:p>
            <a:r>
              <a:t>D-11 — Coverage and evidence notes AWS subject Treatment here Deliberate boundary Workspace, roles, topology Configuration and diagnostic model Exact organization IAM policy remains in official reference MCP/private connectivity Authentication decisions and operational sequence No customer network topology assumed Knowledge and learning Producer, retrieval, feedback, activation, attachment, lifecycle No claims about hidden ranking or model training Managed/custom execution Routing, manual runs, schedules, cancellation, observation Not every external incident provider reproduced Assets and directed actions Distinct update semantics and authorization Full SDK schemas and denial lists linked Sandbox/release preview Configuration and effect boundaries Full release-profile authoring is deferred Quotas Selected day-to-day constraints Complete current quota/Region tables remain authoritative Source-version decisions: older cached pages and newer indexed AWS content differed for instruction navigation, custom-store attachment and learned-knowledge storage. This edition uses the newer indexed managed-agent, memory, asset and dated-change guidance for those points. The Region table was not reproduced as a complete regional inventory. A retrieval date is not a claim that AWS published the page on that date. Official sources and reviewed sections DS01 Service/feature eligibility; Supported Regions and Feature availability. DS02 Space creation; primary account and Web App roles; verification. DS03 MCP requirements; registration, association, authentication, rotation and role-less validation. Newer indexed content used. DS04 Topology views, discovery and scope beyond the graph. DS05 Private gateway operation, firewall rules and connection verification. DS06 Managed agents; Learning history and platform-owned triggers. Indexed content used. DS07 Memory production, retrieval, versions, activation, custom-store deletion. Older HTML reconciled with newer indexed content. DS08 Investigation initiation, triage decisions/corrections and feedback. DS09 Instruction scoping and new-session behavior; newer indexed navigation used. DS10 Custom-agent tool/store scope and invocation model. Newer indexed content used. DS11 Skill applicability, format and authoring. DS12 Custom-agent creation and store selection. Indexed content used. DS13 Manual execution, schedules, cancellation and trajectories. DS14 Sandbox execution, network defaults, configuration and preview limits. DS15 Prevention evaluations and controls. DS16 Directed-action enablement, preferences replacement, categories, approval and audit. DS17 Asset operation/permission map, IDs and PATCH metadata. Newer indexed content used. DS18 Built-in versus custom capabilities. DS19 Dated changes: monitor default, memory migration, reflections, private ports. DS20 Access methods and direction; client-specific setup not reproduced. DS21 Release testing operation and application-write warning. DS22 Selected quota defaults and adjustability; newer indexed table used.</a:t>
            </a:r>
          </a:p>
          <a:p/>
          <a:p>
            <a:r>
              <a:t>DS01 https://docs.aws.amazon.com/devopsagent/latest/userguide/about-aws-devops-agent-supported-regions.html</a:t>
            </a:r>
          </a:p>
          <a:p/>
          <a:p>
            <a:r>
              <a:t>DS02 https://docs.aws.amazon.com/devopsagent/latest/userguide/getting-started-with-aws-devops-agent-creating-an-agent-space.html</a:t>
            </a:r>
          </a:p>
          <a:p/>
          <a:p>
            <a:r>
              <a:t>DS03 https://docs.aws.amazon.com/devopsagent/latest/userguide/configuring-integrations-and-knowledge-connecting-mcp-servers.html</a:t>
            </a:r>
          </a:p>
          <a:p/>
          <a:p>
            <a:r>
              <a:t>DS04 https://docs.aws.amazon.com/devopsagent/latest/userguide/about-aws-devops-agent-what-is-a-devops-agent-topology.html</a:t>
            </a:r>
          </a:p>
          <a:p/>
          <a:p>
            <a:r>
              <a:t>DS05 https://docs.aws.amazon.com/devopsagent/latest/userguide/configuring-integrations-and-knowledge-connecting-to-privately-hosted-tools.html</a:t>
            </a:r>
          </a:p>
          <a:p/>
          <a:p>
            <a:r>
              <a:t>DS06 https://docs.aws.amazon.com/devopsagent/latest/userguide/working-with-devops-agent-managed-agents.html</a:t>
            </a:r>
          </a:p>
          <a:p/>
          <a:p>
            <a:r>
              <a:t>DS07 https://docs.aws.amazon.com/devopsagent/latest/userguide/about-aws-devops-agent-devops-agent-memories.html</a:t>
            </a:r>
          </a:p>
          <a:p/>
          <a:p>
            <a:r>
              <a:t>DS08 https://docs.aws.amazon.com/devopsagent/latest/userguide/production-operations-autonomous-incident-response.html</a:t>
            </a:r>
          </a:p>
          <a:p/>
          <a:p>
            <a:r>
              <a:t>DS09 https://docs.aws.amazon.com/devopsagent/latest/userguide/about-aws-devops-agent-agent-instructions.html</a:t>
            </a:r>
          </a:p>
          <a:p/>
          <a:p>
            <a:r>
              <a:t>DS10 https://docs.aws.amazon.com/devopsagent/latest/userguide/working-with-devops-agent-custom-agents-index.html</a:t>
            </a:r>
          </a:p>
          <a:p/>
          <a:p>
            <a:r>
              <a:t>DS11 https://docs.aws.amazon.com/devopsagent/latest/userguide/about-aws-devops-agent-devops-agent-skills.html</a:t>
            </a:r>
          </a:p>
          <a:p/>
          <a:p>
            <a:r>
              <a:t>DS12 https://docs.aws.amazon.com/devopsagent/latest/userguide/custom-agents-creating-a-custom-agent.html</a:t>
            </a:r>
          </a:p>
          <a:p/>
          <a:p>
            <a:r>
              <a:t>DS13 https://docs.aws.amazon.com/devopsagent/latest/userguide/custom-agents-executing-custom-agents.html</a:t>
            </a:r>
          </a:p>
          <a:p/>
          <a:p>
            <a:r>
              <a:t>DS14 https://docs.aws.amazon.com/devopsagent/latest/userguide/configuring-integrations-and-knowledge-sandbox.html</a:t>
            </a:r>
          </a:p>
          <a:p/>
          <a:p>
            <a:r>
              <a:t>DS15 https://docs.aws.amazon.com/devopsagent/latest/userguide/production-operations-proactive-incident-prevention.html</a:t>
            </a:r>
          </a:p>
          <a:p/>
          <a:p>
            <a:r>
              <a:t>DS16 https://docs.aws.amazon.com/devopsagent/latest/userguide/working-with-devops-agent-working-with-directed-actions.html</a:t>
            </a:r>
          </a:p>
          <a:p/>
          <a:p>
            <a:r>
              <a:t>DS17 https://docs.aws.amazon.com/devopsagent/latest/userguide/about-aws-devops-agent-managing-assets.html</a:t>
            </a:r>
          </a:p>
          <a:p/>
          <a:p>
            <a:r>
              <a:t>DS18 https://docs.aws.amazon.com/devopsagent/latest/userguide/working-with-devops-agent-custom-agents-index.html</a:t>
            </a:r>
          </a:p>
          <a:p/>
          <a:p>
            <a:r>
              <a:t>DS19 https://docs.aws.amazon.com/devopsagent/latest/userguide/whats-new.html</a:t>
            </a:r>
          </a:p>
          <a:p/>
          <a:p>
            <a:r>
              <a:t>DS20 https://docs.aws.amazon.com/devopsagent/latest/userguide/working-with-devops-agent-accessing-devops-agent-index.html</a:t>
            </a:r>
          </a:p>
          <a:p/>
          <a:p>
            <a:r>
              <a:t>DS21 https://docs.aws.amazon.com/devopsagent/latest/userguide/release-management-release-testing.html</a:t>
            </a:r>
          </a:p>
          <a:p/>
          <a:p>
            <a:r>
              <a:t>DS22 https://docs.aws.amazon.com/devopsagent/latest/userguide/quotas.html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appendix, outside the timed programme.</a:t>
            </a:r>
          </a:p>
          <a:p/>
          <a:p>
            <a:r>
              <a:t>DS01 https://docs.aws.amazon.com/devopsagent/latest/userguide/about-aws-devops-agent-supported-regions.html</a:t>
            </a:r>
          </a:p>
          <a:p>
            <a:r>
              <a:t>DS02 https://docs.aws.amazon.com/devopsagent/latest/userguide/getting-started-with-aws-devops-agent-creating-an-agent-space.html</a:t>
            </a:r>
          </a:p>
          <a:p>
            <a:r>
              <a:t>DS03 https://docs.aws.amazon.com/devopsagent/latest/userguide/configuring-integrations-and-knowledge-connecting-mcp-servers.html</a:t>
            </a:r>
          </a:p>
          <a:p>
            <a:r>
              <a:t>DS04 https://docs.aws.amazon.com/devopsagent/latest/userguide/about-aws-devops-agent-what-is-a-devops-agent-topology.html</a:t>
            </a:r>
          </a:p>
          <a:p>
            <a:r>
              <a:t>DS05 https://docs.aws.amazon.com/devopsagent/latest/userguide/configuring-integrations-and-knowledge-connecting-to-privately-hosted-tools.html</a:t>
            </a:r>
          </a:p>
          <a:p>
            <a:r>
              <a:t>DS06 https://docs.aws.amazon.com/devopsagent/latest/userguide/working-with-devops-agent-managed-agents.html</a:t>
            </a:r>
          </a:p>
          <a:p>
            <a:r>
              <a:t>DS07 https://docs.aws.amazon.com/devopsagent/latest/userguide/about-aws-devops-agent-devops-agent-memories.html</a:t>
            </a:r>
          </a:p>
          <a:p>
            <a:r>
              <a:t>DS08 https://docs.aws.amazon.com/devopsagent/latest/userguide/production-operations-autonomous-incident-response.html</a:t>
            </a:r>
          </a:p>
          <a:p>
            <a:r>
              <a:t>DS09 https://docs.aws.amazon.com/devopsagent/latest/userguide/about-aws-devops-agent-agent-instructions.html</a:t>
            </a:r>
          </a:p>
          <a:p>
            <a:r>
              <a:t>DS10 https://docs.aws.amazon.com/devopsagent/latest/userguide/working-with-devops-agent-custom-agents-index.html</a:t>
            </a:r>
          </a:p>
          <a:p>
            <a:r>
              <a:t>DS11 https://docs.aws.amazon.com/devopsagent/latest/userguide/about-aws-devops-agent-devops-agent-skills.html</a:t>
            </a:r>
          </a:p>
          <a:p>
            <a:r>
              <a:t>DS12 https://docs.aws.amazon.com/devopsagent/latest/userguide/custom-agents-creating-a-custom-agent.html</a:t>
            </a:r>
          </a:p>
          <a:p>
            <a:r>
              <a:t>DS13 https://docs.aws.amazon.com/devopsagent/latest/userguide/custom-agents-executing-custom-agents.html</a:t>
            </a:r>
          </a:p>
          <a:p>
            <a:r>
              <a:t>DS14 https://docs.aws.amazon.com/devopsagent/latest/userguide/configuring-integrations-and-knowledge-sandbox.html</a:t>
            </a:r>
          </a:p>
          <a:p>
            <a:r>
              <a:t>DS15 https://docs.aws.amazon.com/devopsagent/latest/userguide/production-operations-proactive-incident-prevention.html</a:t>
            </a:r>
          </a:p>
          <a:p>
            <a:r>
              <a:t>DS16 https://docs.aws.amazon.com/devopsagent/latest/userguide/working-with-devops-agent-working-with-directed-actions.html</a:t>
            </a:r>
          </a:p>
          <a:p>
            <a:r>
              <a:t>DS17 https://docs.aws.amazon.com/devopsagent/latest/userguide/about-aws-devops-agent-managing-assets.html</a:t>
            </a:r>
          </a:p>
          <a:p>
            <a:r>
              <a:t>DS18 https://docs.aws.amazon.com/devopsagent/latest/userguide/working-with-devops-agent-custom-agents-index.html</a:t>
            </a:r>
          </a:p>
          <a:p>
            <a:r>
              <a:t>DS19 https://docs.aws.amazon.com/devopsagent/latest/userguide/whats-new.html</a:t>
            </a:r>
          </a:p>
          <a:p>
            <a:r>
              <a:t>DS20 https://docs.aws.amazon.com/devopsagent/latest/userguide/working-with-devops-agent-accessing-devops-agent-index.html</a:t>
            </a:r>
          </a:p>
          <a:p>
            <a:r>
              <a:t>DS21 https://docs.aws.amazon.com/devopsagent/latest/userguide/release-management-release-testing.html</a:t>
            </a:r>
          </a:p>
          <a:p>
            <a:r>
              <a:t>DS22 https://docs.aws.amazon.com/devopsagent/latest/userguide/quotas.html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lnSpc>
                <a:spcPct val="112000"/>
              </a:lnSpc>
              <a:spcAft>
                <a:spcPts val="0"/>
              </a:spcAft>
              <a:defRPr sz="1100" b="1">
                <a:solidFill>
                  <a:srgbClr val="526579"/>
                </a:solidFill>
                <a:latin typeface="Liberation Sans"/>
              </a:defRPr>
            </a:pPr>
            <a:r>
              <a:t>AWS DEVOPS AGENT</a:t>
            </a:r>
          </a:p>
        </p:txBody>
      </p:sp>
      <p:sp>
        <p:nvSpPr>
          <p:cNvPr id="4" name="TextBox 3"/>
          <p:cNvSpPr txBox="1"/>
          <p:nvPr/>
        </p:nvSpPr>
        <p:spPr>
          <a:xfrm>
            <a:off x="502920" y="658368"/>
            <a:ext cx="11109960" cy="868680"/>
          </a:xfrm>
          <a:prstGeom prst="rect">
            <a:avLst/>
          </a:prstGeom>
          <a:noFill/>
        </p:spPr>
        <p:txBody>
          <a:bodyPr wrap="square" lIns="0" rIns="0" tIns="0" bIns="0">
            <a:spAutoFit/>
          </a:bodyPr>
          <a:lstStyle/>
          <a:p>
            <a:pPr>
              <a:lnSpc>
                <a:spcPct val="112000"/>
              </a:lnSpc>
              <a:spcAft>
                <a:spcPts val="0"/>
              </a:spcAft>
              <a:defRPr sz="3000" b="1">
                <a:solidFill>
                  <a:srgbClr val="172C43"/>
                </a:solidFill>
                <a:latin typeface="Liberation Sans"/>
              </a:defRPr>
            </a:pPr>
            <a:r>
              <a:t>An Agent Space connects configuration to executions</a:t>
            </a:r>
          </a:p>
        </p:txBody>
      </p:sp>
      <p:sp>
        <p:nvSpPr>
          <p:cNvPr id="5" name="Rectangle 4"/>
          <p:cNvSpPr/>
          <p:nvPr/>
        </p:nvSpPr>
        <p:spPr>
          <a:xfrm>
            <a:off x="502920"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Account registrations</a:t>
            </a:r>
          </a:p>
        </p:txBody>
      </p:sp>
      <p:sp>
        <p:nvSpPr>
          <p:cNvPr id="8" name="TextBox 7"/>
          <p:cNvSpPr txBox="1"/>
          <p:nvPr/>
        </p:nvSpPr>
        <p:spPr>
          <a:xfrm>
            <a:off x="667512"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Providers and AWS account access</a:t>
            </a:r>
          </a:p>
        </p:txBody>
      </p:sp>
      <p:sp>
        <p:nvSpPr>
          <p:cNvPr id="9" name="TextBox 8"/>
          <p:cNvSpPr txBox="1"/>
          <p:nvPr/>
        </p:nvSpPr>
        <p:spPr>
          <a:xfrm>
            <a:off x="3124962" y="3337560"/>
            <a:ext cx="228600" cy="365760"/>
          </a:xfrm>
          <a:prstGeom prst="rect">
            <a:avLst/>
          </a:prstGeom>
          <a:noFill/>
        </p:spPr>
        <p:txBody>
          <a:bodyPr wrap="square" lIns="0" rIns="0" tIns="0" bIns="0">
            <a:spAutoFit/>
          </a:bodyPr>
          <a:lstStyle/>
          <a:p>
            <a:pPr>
              <a:lnSpc>
                <a:spcPct val="112000"/>
              </a:lnSpc>
              <a:spcAft>
                <a:spcPts val="0"/>
              </a:spcAft>
              <a:defRPr sz="1900" b="1">
                <a:solidFill>
                  <a:srgbClr val="096B68"/>
                </a:solidFill>
                <a:latin typeface="Liberation Sans"/>
              </a:defRPr>
            </a:pPr>
            <a:r>
              <a:t>→</a:t>
            </a:r>
          </a:p>
        </p:txBody>
      </p:sp>
      <p:sp>
        <p:nvSpPr>
          <p:cNvPr id="10" name="Rectangle 9"/>
          <p:cNvSpPr/>
          <p:nvPr/>
        </p:nvSpPr>
        <p:spPr>
          <a:xfrm>
            <a:off x="3367278"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67278"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31870"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Agent Space</a:t>
            </a:r>
          </a:p>
        </p:txBody>
      </p:sp>
      <p:sp>
        <p:nvSpPr>
          <p:cNvPr id="13" name="TextBox 12"/>
          <p:cNvSpPr txBox="1"/>
          <p:nvPr/>
        </p:nvSpPr>
        <p:spPr>
          <a:xfrm>
            <a:off x="3531870"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Associations, selected tools and operator access</a:t>
            </a:r>
          </a:p>
        </p:txBody>
      </p:sp>
      <p:sp>
        <p:nvSpPr>
          <p:cNvPr id="14" name="TextBox 13"/>
          <p:cNvSpPr txBox="1"/>
          <p:nvPr/>
        </p:nvSpPr>
        <p:spPr>
          <a:xfrm>
            <a:off x="5989320" y="3337560"/>
            <a:ext cx="228600" cy="365760"/>
          </a:xfrm>
          <a:prstGeom prst="rect">
            <a:avLst/>
          </a:prstGeom>
          <a:noFill/>
        </p:spPr>
        <p:txBody>
          <a:bodyPr wrap="square" lIns="0" rIns="0" tIns="0" bIns="0">
            <a:spAutoFit/>
          </a:bodyPr>
          <a:lstStyle/>
          <a:p>
            <a:pPr>
              <a:lnSpc>
                <a:spcPct val="112000"/>
              </a:lnSpc>
              <a:spcAft>
                <a:spcPts val="0"/>
              </a:spcAft>
              <a:defRPr sz="1900" b="1">
                <a:solidFill>
                  <a:srgbClr val="096B68"/>
                </a:solidFill>
                <a:latin typeface="Liberation Sans"/>
              </a:defRPr>
            </a:pPr>
            <a:r>
              <a:t>→</a:t>
            </a:r>
          </a:p>
        </p:txBody>
      </p:sp>
      <p:sp>
        <p:nvSpPr>
          <p:cNvPr id="15" name="Rectangle 14"/>
          <p:cNvSpPr/>
          <p:nvPr/>
        </p:nvSpPr>
        <p:spPr>
          <a:xfrm>
            <a:off x="6231636"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96228"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Agent definition</a:t>
            </a:r>
          </a:p>
        </p:txBody>
      </p:sp>
      <p:sp>
        <p:nvSpPr>
          <p:cNvPr id="18" name="TextBox 17"/>
          <p:cNvSpPr txBox="1"/>
          <p:nvPr/>
        </p:nvSpPr>
        <p:spPr>
          <a:xfrm>
            <a:off x="6396228"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Managed behavior or custom prompt and attachments</a:t>
            </a:r>
          </a:p>
        </p:txBody>
      </p:sp>
      <p:sp>
        <p:nvSpPr>
          <p:cNvPr id="19" name="TextBox 18"/>
          <p:cNvSpPr txBox="1"/>
          <p:nvPr/>
        </p:nvSpPr>
        <p:spPr>
          <a:xfrm>
            <a:off x="8853678" y="3337560"/>
            <a:ext cx="228600" cy="365760"/>
          </a:xfrm>
          <a:prstGeom prst="rect">
            <a:avLst/>
          </a:prstGeom>
          <a:noFill/>
        </p:spPr>
        <p:txBody>
          <a:bodyPr wrap="square" lIns="0" rIns="0" tIns="0" bIns="0">
            <a:spAutoFit/>
          </a:bodyPr>
          <a:lstStyle/>
          <a:p>
            <a:pPr>
              <a:lnSpc>
                <a:spcPct val="112000"/>
              </a:lnSpc>
              <a:spcAft>
                <a:spcPts val="0"/>
              </a:spcAft>
              <a:defRPr sz="1900" b="1">
                <a:solidFill>
                  <a:srgbClr val="096B68"/>
                </a:solidFill>
                <a:latin typeface="Liberation Sans"/>
              </a:defRPr>
            </a:pPr>
            <a:r>
              <a:t>→</a:t>
            </a:r>
          </a:p>
        </p:txBody>
      </p:sp>
      <p:sp>
        <p:nvSpPr>
          <p:cNvPr id="20" name="Rectangle 19"/>
          <p:cNvSpPr/>
          <p:nvPr/>
        </p:nvSpPr>
        <p:spPr>
          <a:xfrm>
            <a:off x="9095994"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95994"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60586"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Execution</a:t>
            </a:r>
          </a:p>
        </p:txBody>
      </p:sp>
      <p:sp>
        <p:nvSpPr>
          <p:cNvPr id="23" name="TextBox 22"/>
          <p:cNvSpPr txBox="1"/>
          <p:nvPr/>
        </p:nvSpPr>
        <p:spPr>
          <a:xfrm>
            <a:off x="9260586"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Investigation, invocation and observable tool results</a:t>
            </a:r>
          </a:p>
        </p:txBody>
      </p:sp>
      <p:sp>
        <p:nvSpPr>
          <p:cNvPr id="24" name="Rectangle 23"/>
          <p:cNvSpPr/>
          <p:nvPr/>
        </p:nvSpPr>
        <p:spPr>
          <a:xfrm>
            <a:off x="502920" y="5705856"/>
            <a:ext cx="11201400" cy="576072"/>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5833872"/>
            <a:ext cx="10835640" cy="338328"/>
          </a:xfrm>
          <a:prstGeom prst="rect">
            <a:avLst/>
          </a:prstGeom>
          <a:noFill/>
        </p:spPr>
        <p:txBody>
          <a:bodyPr wrap="square" lIns="0" rIns="0" tIns="0" bIns="0">
            <a:spAutoFit/>
          </a:bodyPr>
          <a:lstStyle/>
          <a:p>
            <a:pPr>
              <a:lnSpc>
                <a:spcPct val="112000"/>
              </a:lnSpc>
              <a:spcAft>
                <a:spcPts val="0"/>
              </a:spcAft>
              <a:defRPr sz="1700" b="0">
                <a:solidFill>
                  <a:srgbClr val="FFFFFF"/>
                </a:solidFill>
                <a:latin typeface="Liberation Sans"/>
              </a:defRPr>
            </a:pPr>
            <a:r>
              <a:t>Configuration, execution and evidence are different objects.</a:t>
            </a:r>
          </a:p>
        </p:txBody>
      </p:sp>
      <p:sp>
        <p:nvSpPr>
          <p:cNvPr id="26" name="TextBox 25"/>
          <p:cNvSpPr txBox="1"/>
          <p:nvPr/>
        </p:nvSpPr>
        <p:spPr>
          <a:xfrm>
            <a:off x="502920" y="6446520"/>
            <a:ext cx="640080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D-01</a:t>
            </a:r>
          </a:p>
        </p:txBody>
      </p:sp>
      <p:sp>
        <p:nvSpPr>
          <p:cNvPr id="27" name="TextBox 26"/>
          <p:cNvSpPr txBox="1"/>
          <p:nvPr/>
        </p:nvSpPr>
        <p:spPr>
          <a:xfrm>
            <a:off x="7315200" y="6446520"/>
            <a:ext cx="438912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01 / 14     00:00–02:00  |  2 min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lnSpc>
                <a:spcPct val="112000"/>
              </a:lnSpc>
              <a:spcAft>
                <a:spcPts val="0"/>
              </a:spcAft>
              <a:defRPr sz="1100" b="1">
                <a:solidFill>
                  <a:srgbClr val="526579"/>
                </a:solidFill>
                <a:latin typeface="Liberation Sans"/>
              </a:defRPr>
            </a:pPr>
            <a:r>
              <a:t>AWS DEVOPS AGENT</a:t>
            </a:r>
          </a:p>
        </p:txBody>
      </p:sp>
      <p:sp>
        <p:nvSpPr>
          <p:cNvPr id="4" name="TextBox 3"/>
          <p:cNvSpPr txBox="1"/>
          <p:nvPr/>
        </p:nvSpPr>
        <p:spPr>
          <a:xfrm>
            <a:off x="502920" y="658368"/>
            <a:ext cx="11109960" cy="868680"/>
          </a:xfrm>
          <a:prstGeom prst="rect">
            <a:avLst/>
          </a:prstGeom>
          <a:noFill/>
        </p:spPr>
        <p:txBody>
          <a:bodyPr wrap="square" lIns="0" rIns="0" tIns="0" bIns="0">
            <a:spAutoFit/>
          </a:bodyPr>
          <a:lstStyle/>
          <a:p>
            <a:pPr>
              <a:lnSpc>
                <a:spcPct val="112000"/>
              </a:lnSpc>
              <a:spcAft>
                <a:spcPts val="0"/>
              </a:spcAft>
              <a:defRPr sz="3000" b="1">
                <a:solidFill>
                  <a:srgbClr val="172C43"/>
                </a:solidFill>
                <a:latin typeface="Liberation Sans"/>
              </a:defRPr>
            </a:pPr>
            <a:r>
              <a:t>Two access paths need separate verification</a:t>
            </a:r>
          </a:p>
        </p:txBody>
      </p:sp>
      <p:sp>
        <p:nvSpPr>
          <p:cNvPr id="5" name="Rectangle 4"/>
          <p:cNvSpPr/>
          <p:nvPr/>
        </p:nvSpPr>
        <p:spPr>
          <a:xfrm>
            <a:off x="502920" y="1755648"/>
            <a:ext cx="2377440" cy="948690"/>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 y="1865376"/>
            <a:ext cx="2121408" cy="756666"/>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Path</a:t>
            </a:r>
          </a:p>
        </p:txBody>
      </p:sp>
      <p:sp>
        <p:nvSpPr>
          <p:cNvPr id="7" name="Rectangle 6"/>
          <p:cNvSpPr/>
          <p:nvPr/>
        </p:nvSpPr>
        <p:spPr>
          <a:xfrm>
            <a:off x="2880360" y="1755648"/>
            <a:ext cx="3931920" cy="948690"/>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08376" y="1865376"/>
            <a:ext cx="3675887" cy="756666"/>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Purpose</a:t>
            </a:r>
          </a:p>
        </p:txBody>
      </p:sp>
      <p:sp>
        <p:nvSpPr>
          <p:cNvPr id="9" name="Rectangle 8"/>
          <p:cNvSpPr/>
          <p:nvPr/>
        </p:nvSpPr>
        <p:spPr>
          <a:xfrm>
            <a:off x="6812280" y="1755648"/>
            <a:ext cx="4892040" cy="948690"/>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0296" y="1865376"/>
            <a:ext cx="4636007" cy="756666"/>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Acceptance check</a:t>
            </a:r>
          </a:p>
        </p:txBody>
      </p:sp>
      <p:sp>
        <p:nvSpPr>
          <p:cNvPr id="11" name="Rectangle 10"/>
          <p:cNvSpPr/>
          <p:nvPr/>
        </p:nvSpPr>
        <p:spPr>
          <a:xfrm>
            <a:off x="502920" y="2704338"/>
            <a:ext cx="237744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 y="2814066"/>
            <a:ext cx="2121408"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Resource role</a:t>
            </a:r>
          </a:p>
        </p:txBody>
      </p:sp>
      <p:sp>
        <p:nvSpPr>
          <p:cNvPr id="13" name="Rectangle 12"/>
          <p:cNvSpPr/>
          <p:nvPr/>
        </p:nvSpPr>
        <p:spPr>
          <a:xfrm>
            <a:off x="2880360" y="2704338"/>
            <a:ext cx="393192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08376" y="2814066"/>
            <a:ext cx="3675887"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Read authorized AWS sources</a:t>
            </a:r>
          </a:p>
        </p:txBody>
      </p:sp>
      <p:sp>
        <p:nvSpPr>
          <p:cNvPr id="15" name="Rectangle 14"/>
          <p:cNvSpPr/>
          <p:nvPr/>
        </p:nvSpPr>
        <p:spPr>
          <a:xfrm>
            <a:off x="6812280" y="2704338"/>
            <a:ext cx="489204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0296" y="2814066"/>
            <a:ext cx="4636007"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Known resource and identity are correct</a:t>
            </a:r>
          </a:p>
        </p:txBody>
      </p:sp>
      <p:sp>
        <p:nvSpPr>
          <p:cNvPr id="17" name="Rectangle 16"/>
          <p:cNvSpPr/>
          <p:nvPr/>
        </p:nvSpPr>
        <p:spPr>
          <a:xfrm>
            <a:off x="502920" y="3653028"/>
            <a:ext cx="2377440" cy="948690"/>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 y="3762756"/>
            <a:ext cx="2121408"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Operator role</a:t>
            </a:r>
          </a:p>
        </p:txBody>
      </p:sp>
      <p:sp>
        <p:nvSpPr>
          <p:cNvPr id="19" name="Rectangle 18"/>
          <p:cNvSpPr/>
          <p:nvPr/>
        </p:nvSpPr>
        <p:spPr>
          <a:xfrm>
            <a:off x="2880360" y="3653028"/>
            <a:ext cx="3931920" cy="948690"/>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08376" y="3762756"/>
            <a:ext cx="3675887"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Let people use the space</a:t>
            </a:r>
          </a:p>
        </p:txBody>
      </p:sp>
      <p:sp>
        <p:nvSpPr>
          <p:cNvPr id="21" name="Rectangle 20"/>
          <p:cNvSpPr/>
          <p:nvPr/>
        </p:nvSpPr>
        <p:spPr>
          <a:xfrm>
            <a:off x="6812280" y="3653028"/>
            <a:ext cx="4892040" cy="948690"/>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40296" y="3762756"/>
            <a:ext cx="4636007"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Intended user—not only administrator—can enter</a:t>
            </a:r>
          </a:p>
        </p:txBody>
      </p:sp>
      <p:sp>
        <p:nvSpPr>
          <p:cNvPr id="23" name="Rectangle 22"/>
          <p:cNvSpPr/>
          <p:nvPr/>
        </p:nvSpPr>
        <p:spPr>
          <a:xfrm>
            <a:off x="502920" y="4601718"/>
            <a:ext cx="237744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6" y="4711446"/>
            <a:ext cx="2121408"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Connected provider</a:t>
            </a:r>
          </a:p>
        </p:txBody>
      </p:sp>
      <p:sp>
        <p:nvSpPr>
          <p:cNvPr id="25" name="Rectangle 24"/>
          <p:cNvSpPr/>
          <p:nvPr/>
        </p:nvSpPr>
        <p:spPr>
          <a:xfrm>
            <a:off x="2880360" y="4601718"/>
            <a:ext cx="393192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08376" y="4711446"/>
            <a:ext cx="3675887"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Access selected external tools</a:t>
            </a:r>
          </a:p>
        </p:txBody>
      </p:sp>
      <p:sp>
        <p:nvSpPr>
          <p:cNvPr id="27" name="Rectangle 26"/>
          <p:cNvSpPr/>
          <p:nvPr/>
        </p:nvSpPr>
        <p:spPr>
          <a:xfrm>
            <a:off x="6812280" y="4601718"/>
            <a:ext cx="489204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40296" y="4711446"/>
            <a:ext cx="4636007"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Arguments and returned source agree</a:t>
            </a:r>
          </a:p>
        </p:txBody>
      </p:sp>
      <p:sp>
        <p:nvSpPr>
          <p:cNvPr id="29" name="Rectangle 28"/>
          <p:cNvSpPr/>
          <p:nvPr/>
        </p:nvSpPr>
        <p:spPr>
          <a:xfrm>
            <a:off x="502920" y="5705856"/>
            <a:ext cx="11201400" cy="576072"/>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5833872"/>
            <a:ext cx="10835640" cy="338328"/>
          </a:xfrm>
          <a:prstGeom prst="rect">
            <a:avLst/>
          </a:prstGeom>
          <a:noFill/>
        </p:spPr>
        <p:txBody>
          <a:bodyPr wrap="square" lIns="0" rIns="0" tIns="0" bIns="0">
            <a:spAutoFit/>
          </a:bodyPr>
          <a:lstStyle/>
          <a:p>
            <a:pPr>
              <a:lnSpc>
                <a:spcPct val="112000"/>
              </a:lnSpc>
              <a:spcAft>
                <a:spcPts val="0"/>
              </a:spcAft>
              <a:defRPr sz="1700" b="0">
                <a:solidFill>
                  <a:srgbClr val="FFFFFF"/>
                </a:solidFill>
                <a:latin typeface="Liberation Sans"/>
              </a:defRPr>
            </a:pPr>
            <a:r>
              <a:t>A created workspace is not proof that its data sources are readable.</a:t>
            </a:r>
          </a:p>
        </p:txBody>
      </p:sp>
      <p:sp>
        <p:nvSpPr>
          <p:cNvPr id="31" name="TextBox 30"/>
          <p:cNvSpPr txBox="1"/>
          <p:nvPr/>
        </p:nvSpPr>
        <p:spPr>
          <a:xfrm>
            <a:off x="502920" y="6446520"/>
            <a:ext cx="640080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D-02</a:t>
            </a:r>
          </a:p>
        </p:txBody>
      </p:sp>
      <p:sp>
        <p:nvSpPr>
          <p:cNvPr id="32" name="TextBox 31"/>
          <p:cNvSpPr txBox="1"/>
          <p:nvPr/>
        </p:nvSpPr>
        <p:spPr>
          <a:xfrm>
            <a:off x="7315200" y="6446520"/>
            <a:ext cx="438912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02 / 14     02:00–04:00  |  2 min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lnSpc>
                <a:spcPct val="112000"/>
              </a:lnSpc>
              <a:spcAft>
                <a:spcPts val="0"/>
              </a:spcAft>
              <a:defRPr sz="1100" b="1">
                <a:solidFill>
                  <a:srgbClr val="526579"/>
                </a:solidFill>
                <a:latin typeface="Liberation Sans"/>
              </a:defRPr>
            </a:pPr>
            <a:r>
              <a:t>AWS DEVOPS AGENT</a:t>
            </a:r>
          </a:p>
        </p:txBody>
      </p:sp>
      <p:sp>
        <p:nvSpPr>
          <p:cNvPr id="4" name="TextBox 3"/>
          <p:cNvSpPr txBox="1"/>
          <p:nvPr/>
        </p:nvSpPr>
        <p:spPr>
          <a:xfrm>
            <a:off x="502920" y="658368"/>
            <a:ext cx="11109960" cy="868680"/>
          </a:xfrm>
          <a:prstGeom prst="rect">
            <a:avLst/>
          </a:prstGeom>
          <a:noFill/>
        </p:spPr>
        <p:txBody>
          <a:bodyPr wrap="square" lIns="0" rIns="0" tIns="0" bIns="0">
            <a:spAutoFit/>
          </a:bodyPr>
          <a:lstStyle/>
          <a:p>
            <a:pPr>
              <a:lnSpc>
                <a:spcPct val="112000"/>
              </a:lnSpc>
              <a:spcAft>
                <a:spcPts val="0"/>
              </a:spcAft>
              <a:defRPr sz="3000" b="1">
                <a:solidFill>
                  <a:srgbClr val="172C43"/>
                </a:solidFill>
                <a:latin typeface="Liberation Sans"/>
              </a:defRPr>
            </a:pPr>
            <a:r>
              <a:t>MCP setup has authentication-specific decisions</a:t>
            </a:r>
          </a:p>
        </p:txBody>
      </p:sp>
      <p:sp>
        <p:nvSpPr>
          <p:cNvPr id="5" name="Rectangle 4"/>
          <p:cNvSpPr/>
          <p:nvPr/>
        </p:nvSpPr>
        <p:spPr>
          <a:xfrm>
            <a:off x="502920" y="1755648"/>
            <a:ext cx="2743200" cy="758952"/>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 y="1865376"/>
            <a:ext cx="2487168" cy="566928"/>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Method</a:t>
            </a:r>
          </a:p>
        </p:txBody>
      </p:sp>
      <p:sp>
        <p:nvSpPr>
          <p:cNvPr id="7" name="Rectangle 6"/>
          <p:cNvSpPr/>
          <p:nvPr/>
        </p:nvSpPr>
        <p:spPr>
          <a:xfrm>
            <a:off x="3246120" y="1755648"/>
            <a:ext cx="8458200" cy="758952"/>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74136" y="1865376"/>
            <a:ext cx="8202168" cy="566928"/>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Required decisions</a:t>
            </a:r>
          </a:p>
        </p:txBody>
      </p:sp>
      <p:sp>
        <p:nvSpPr>
          <p:cNvPr id="9" name="Rectangle 8"/>
          <p:cNvSpPr/>
          <p:nvPr/>
        </p:nvSpPr>
        <p:spPr>
          <a:xfrm>
            <a:off x="502920" y="2514600"/>
            <a:ext cx="274320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 y="2624328"/>
            <a:ext cx="248716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OAuth</a:t>
            </a:r>
          </a:p>
        </p:txBody>
      </p:sp>
      <p:sp>
        <p:nvSpPr>
          <p:cNvPr id="11" name="Rectangle 10"/>
          <p:cNvSpPr/>
          <p:nvPr/>
        </p:nvSpPr>
        <p:spPr>
          <a:xfrm>
            <a:off x="3246120" y="2514600"/>
            <a:ext cx="845820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74136" y="2624328"/>
            <a:ext cx="820216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Token/authorization endpoints, client and scopes</a:t>
            </a:r>
          </a:p>
        </p:txBody>
      </p:sp>
      <p:sp>
        <p:nvSpPr>
          <p:cNvPr id="13" name="Rectangle 12"/>
          <p:cNvSpPr/>
          <p:nvPr/>
        </p:nvSpPr>
        <p:spPr>
          <a:xfrm>
            <a:off x="502920" y="3273552"/>
            <a:ext cx="274320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 y="3383280"/>
            <a:ext cx="2487168" cy="566928"/>
          </a:xfrm>
          <a:prstGeom prst="rect">
            <a:avLst/>
          </a:prstGeom>
          <a:noFill/>
        </p:spPr>
        <p:txBody>
          <a:bodyPr wrap="square" lIns="0" rIns="0" tIns="0" bIns="0">
            <a:spAutoFit/>
          </a:bodyPr>
          <a:lstStyle/>
          <a:p>
            <a:pPr>
              <a:lnSpc>
                <a:spcPct val="112000"/>
              </a:lnSpc>
              <a:spcAft>
                <a:spcPts val="0"/>
              </a:spcAft>
              <a:defRPr sz="1800" b="0">
                <a:solidFill>
                  <a:srgbClr val="172C43"/>
                </a:solidFill>
                <a:latin typeface="Liberation Sans"/>
              </a:defRPr>
            </a:pPr>
            <a:r>
              <a:t>API key / secret headers</a:t>
            </a:r>
          </a:p>
        </p:txBody>
      </p:sp>
      <p:sp>
        <p:nvSpPr>
          <p:cNvPr id="15" name="Rectangle 14"/>
          <p:cNvSpPr/>
          <p:nvPr/>
        </p:nvSpPr>
        <p:spPr>
          <a:xfrm>
            <a:off x="3246120" y="3273552"/>
            <a:ext cx="845820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74136" y="3383280"/>
            <a:ext cx="820216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Actual header names and supported rotation path</a:t>
            </a:r>
          </a:p>
        </p:txBody>
      </p:sp>
      <p:sp>
        <p:nvSpPr>
          <p:cNvPr id="17" name="Rectangle 16"/>
          <p:cNvSpPr/>
          <p:nvPr/>
        </p:nvSpPr>
        <p:spPr>
          <a:xfrm>
            <a:off x="502920" y="4032504"/>
            <a:ext cx="274320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 y="4142232"/>
            <a:ext cx="248716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SigV4</a:t>
            </a:r>
          </a:p>
        </p:txBody>
      </p:sp>
      <p:sp>
        <p:nvSpPr>
          <p:cNvPr id="19" name="Rectangle 18"/>
          <p:cNvSpPr/>
          <p:nvPr/>
        </p:nvSpPr>
        <p:spPr>
          <a:xfrm>
            <a:off x="3246120" y="4032504"/>
            <a:ext cx="845820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74136" y="4142232"/>
            <a:ext cx="820216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Signing Region, service and role option</a:t>
            </a:r>
          </a:p>
        </p:txBody>
      </p:sp>
      <p:sp>
        <p:nvSpPr>
          <p:cNvPr id="21" name="Rectangle 20"/>
          <p:cNvSpPr/>
          <p:nvPr/>
        </p:nvSpPr>
        <p:spPr>
          <a:xfrm>
            <a:off x="502920" y="4791456"/>
            <a:ext cx="274320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6" y="4901184"/>
            <a:ext cx="248716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Association</a:t>
            </a:r>
          </a:p>
        </p:txBody>
      </p:sp>
      <p:sp>
        <p:nvSpPr>
          <p:cNvPr id="23" name="Rectangle 22"/>
          <p:cNvSpPr/>
          <p:nvPr/>
        </p:nvSpPr>
        <p:spPr>
          <a:xfrm>
            <a:off x="3246120" y="4791456"/>
            <a:ext cx="845820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374136" y="4901184"/>
            <a:ext cx="820216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Select tools in the Agent Space; verify there</a:t>
            </a:r>
          </a:p>
        </p:txBody>
      </p:sp>
      <p:sp>
        <p:nvSpPr>
          <p:cNvPr id="25" name="Rectangle 24"/>
          <p:cNvSpPr/>
          <p:nvPr/>
        </p:nvSpPr>
        <p:spPr>
          <a:xfrm>
            <a:off x="502920" y="5705856"/>
            <a:ext cx="11201400" cy="576072"/>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5833872"/>
            <a:ext cx="10835640" cy="338328"/>
          </a:xfrm>
          <a:prstGeom prst="rect">
            <a:avLst/>
          </a:prstGeom>
          <a:noFill/>
        </p:spPr>
        <p:txBody>
          <a:bodyPr wrap="square" lIns="0" rIns="0" tIns="0" bIns="0">
            <a:spAutoFit/>
          </a:bodyPr>
          <a:lstStyle/>
          <a:p>
            <a:pPr>
              <a:lnSpc>
                <a:spcPct val="112000"/>
              </a:lnSpc>
              <a:spcAft>
                <a:spcPts val="0"/>
              </a:spcAft>
              <a:defRPr sz="1700" b="0">
                <a:solidFill>
                  <a:srgbClr val="FFFFFF"/>
                </a:solidFill>
                <a:latin typeface="Liberation Sans"/>
              </a:defRPr>
            </a:pPr>
            <a:r>
              <a:t>Role-less SigV4 validation is deferred to association.</a:t>
            </a:r>
          </a:p>
        </p:txBody>
      </p:sp>
      <p:sp>
        <p:nvSpPr>
          <p:cNvPr id="27" name="TextBox 26"/>
          <p:cNvSpPr txBox="1"/>
          <p:nvPr/>
        </p:nvSpPr>
        <p:spPr>
          <a:xfrm>
            <a:off x="502920" y="6446520"/>
            <a:ext cx="640080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D-03</a:t>
            </a:r>
          </a:p>
        </p:txBody>
      </p:sp>
      <p:sp>
        <p:nvSpPr>
          <p:cNvPr id="28" name="TextBox 27"/>
          <p:cNvSpPr txBox="1"/>
          <p:nvPr/>
        </p:nvSpPr>
        <p:spPr>
          <a:xfrm>
            <a:off x="7315200" y="6446520"/>
            <a:ext cx="438912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03 / 14     04:00–07:00  |  3 min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lnSpc>
                <a:spcPct val="112000"/>
              </a:lnSpc>
              <a:spcAft>
                <a:spcPts val="0"/>
              </a:spcAft>
              <a:defRPr sz="1100" b="1">
                <a:solidFill>
                  <a:srgbClr val="526579"/>
                </a:solidFill>
                <a:latin typeface="Liberation Sans"/>
              </a:defRPr>
            </a:pPr>
            <a:r>
              <a:t>AWS DEVOPS AGENT</a:t>
            </a:r>
          </a:p>
        </p:txBody>
      </p:sp>
      <p:sp>
        <p:nvSpPr>
          <p:cNvPr id="4" name="TextBox 3"/>
          <p:cNvSpPr txBox="1"/>
          <p:nvPr/>
        </p:nvSpPr>
        <p:spPr>
          <a:xfrm>
            <a:off x="502920" y="658368"/>
            <a:ext cx="11109960" cy="868680"/>
          </a:xfrm>
          <a:prstGeom prst="rect">
            <a:avLst/>
          </a:prstGeom>
          <a:noFill/>
        </p:spPr>
        <p:txBody>
          <a:bodyPr wrap="square" lIns="0" rIns="0" tIns="0" bIns="0">
            <a:spAutoFit/>
          </a:bodyPr>
          <a:lstStyle/>
          <a:p>
            <a:pPr>
              <a:lnSpc>
                <a:spcPct val="112000"/>
              </a:lnSpc>
              <a:spcAft>
                <a:spcPts val="0"/>
              </a:spcAft>
              <a:defRPr sz="3000" b="1">
                <a:solidFill>
                  <a:srgbClr val="172C43"/>
                </a:solidFill>
                <a:latin typeface="Liberation Sans"/>
              </a:defRPr>
            </a:pPr>
            <a:r>
              <a:t>Private routing and provider identity are separate</a:t>
            </a:r>
          </a:p>
        </p:txBody>
      </p:sp>
      <p:sp>
        <p:nvSpPr>
          <p:cNvPr id="5" name="Rectangle 4"/>
          <p:cNvSpPr/>
          <p:nvPr/>
        </p:nvSpPr>
        <p:spPr>
          <a:xfrm>
            <a:off x="502920"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Agent service</a:t>
            </a:r>
          </a:p>
        </p:txBody>
      </p:sp>
      <p:sp>
        <p:nvSpPr>
          <p:cNvPr id="8" name="TextBox 7"/>
          <p:cNvSpPr txBox="1"/>
          <p:nvPr/>
        </p:nvSpPr>
        <p:spPr>
          <a:xfrm>
            <a:off x="667512"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Uses configured private connection</a:t>
            </a:r>
          </a:p>
        </p:txBody>
      </p:sp>
      <p:sp>
        <p:nvSpPr>
          <p:cNvPr id="9" name="TextBox 8"/>
          <p:cNvSpPr txBox="1"/>
          <p:nvPr/>
        </p:nvSpPr>
        <p:spPr>
          <a:xfrm>
            <a:off x="3124962" y="3337560"/>
            <a:ext cx="228600" cy="365760"/>
          </a:xfrm>
          <a:prstGeom prst="rect">
            <a:avLst/>
          </a:prstGeom>
          <a:noFill/>
        </p:spPr>
        <p:txBody>
          <a:bodyPr wrap="square" lIns="0" rIns="0" tIns="0" bIns="0">
            <a:spAutoFit/>
          </a:bodyPr>
          <a:lstStyle/>
          <a:p>
            <a:pPr>
              <a:lnSpc>
                <a:spcPct val="112000"/>
              </a:lnSpc>
              <a:spcAft>
                <a:spcPts val="0"/>
              </a:spcAft>
              <a:defRPr sz="1900" b="1">
                <a:solidFill>
                  <a:srgbClr val="096B68"/>
                </a:solidFill>
                <a:latin typeface="Liberation Sans"/>
              </a:defRPr>
            </a:pPr>
            <a:r>
              <a:t>→</a:t>
            </a:r>
          </a:p>
        </p:txBody>
      </p:sp>
      <p:sp>
        <p:nvSpPr>
          <p:cNvPr id="10" name="Rectangle 9"/>
          <p:cNvSpPr/>
          <p:nvPr/>
        </p:nvSpPr>
        <p:spPr>
          <a:xfrm>
            <a:off x="3367278"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67278"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31870"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Resource gateway</a:t>
            </a:r>
          </a:p>
        </p:txBody>
      </p:sp>
      <p:sp>
        <p:nvSpPr>
          <p:cNvPr id="13" name="TextBox 12"/>
          <p:cNvSpPr txBox="1"/>
          <p:nvPr/>
        </p:nvSpPr>
        <p:spPr>
          <a:xfrm>
            <a:off x="3531870"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ENIs in selected VPC subnets</a:t>
            </a:r>
          </a:p>
        </p:txBody>
      </p:sp>
      <p:sp>
        <p:nvSpPr>
          <p:cNvPr id="14" name="TextBox 13"/>
          <p:cNvSpPr txBox="1"/>
          <p:nvPr/>
        </p:nvSpPr>
        <p:spPr>
          <a:xfrm>
            <a:off x="5989320" y="3337560"/>
            <a:ext cx="228600" cy="365760"/>
          </a:xfrm>
          <a:prstGeom prst="rect">
            <a:avLst/>
          </a:prstGeom>
          <a:noFill/>
        </p:spPr>
        <p:txBody>
          <a:bodyPr wrap="square" lIns="0" rIns="0" tIns="0" bIns="0">
            <a:spAutoFit/>
          </a:bodyPr>
          <a:lstStyle/>
          <a:p>
            <a:pPr>
              <a:lnSpc>
                <a:spcPct val="112000"/>
              </a:lnSpc>
              <a:spcAft>
                <a:spcPts val="0"/>
              </a:spcAft>
              <a:defRPr sz="1900" b="1">
                <a:solidFill>
                  <a:srgbClr val="096B68"/>
                </a:solidFill>
                <a:latin typeface="Liberation Sans"/>
              </a:defRPr>
            </a:pPr>
            <a:r>
              <a:t>→</a:t>
            </a:r>
          </a:p>
        </p:txBody>
      </p:sp>
      <p:sp>
        <p:nvSpPr>
          <p:cNvPr id="15" name="Rectangle 14"/>
          <p:cNvSpPr/>
          <p:nvPr/>
        </p:nvSpPr>
        <p:spPr>
          <a:xfrm>
            <a:off x="6231636"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96228"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Endpoint route</a:t>
            </a:r>
          </a:p>
        </p:txBody>
      </p:sp>
      <p:sp>
        <p:nvSpPr>
          <p:cNvPr id="18" name="TextBox 17"/>
          <p:cNvSpPr txBox="1"/>
          <p:nvPr/>
        </p:nvSpPr>
        <p:spPr>
          <a:xfrm>
            <a:off x="6396228"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DNS, host and allowed port ranges</a:t>
            </a:r>
          </a:p>
        </p:txBody>
      </p:sp>
      <p:sp>
        <p:nvSpPr>
          <p:cNvPr id="19" name="TextBox 18"/>
          <p:cNvSpPr txBox="1"/>
          <p:nvPr/>
        </p:nvSpPr>
        <p:spPr>
          <a:xfrm>
            <a:off x="8853678" y="3337560"/>
            <a:ext cx="228600" cy="365760"/>
          </a:xfrm>
          <a:prstGeom prst="rect">
            <a:avLst/>
          </a:prstGeom>
          <a:noFill/>
        </p:spPr>
        <p:txBody>
          <a:bodyPr wrap="square" lIns="0" rIns="0" tIns="0" bIns="0">
            <a:spAutoFit/>
          </a:bodyPr>
          <a:lstStyle/>
          <a:p>
            <a:pPr>
              <a:lnSpc>
                <a:spcPct val="112000"/>
              </a:lnSpc>
              <a:spcAft>
                <a:spcPts val="0"/>
              </a:spcAft>
              <a:defRPr sz="1900" b="1">
                <a:solidFill>
                  <a:srgbClr val="096B68"/>
                </a:solidFill>
                <a:latin typeface="Liberation Sans"/>
              </a:defRPr>
            </a:pPr>
            <a:r>
              <a:t>→</a:t>
            </a:r>
          </a:p>
        </p:txBody>
      </p:sp>
      <p:sp>
        <p:nvSpPr>
          <p:cNvPr id="20" name="Rectangle 19"/>
          <p:cNvSpPr/>
          <p:nvPr/>
        </p:nvSpPr>
        <p:spPr>
          <a:xfrm>
            <a:off x="9095994"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95994"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60586"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Authenticated tool</a:t>
            </a:r>
          </a:p>
        </p:txBody>
      </p:sp>
      <p:sp>
        <p:nvSpPr>
          <p:cNvPr id="23" name="TextBox 22"/>
          <p:cNvSpPr txBox="1"/>
          <p:nvPr/>
        </p:nvSpPr>
        <p:spPr>
          <a:xfrm>
            <a:off x="9260586"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Provider authentication and selected operation</a:t>
            </a:r>
          </a:p>
        </p:txBody>
      </p:sp>
      <p:sp>
        <p:nvSpPr>
          <p:cNvPr id="24" name="Rectangle 23"/>
          <p:cNvSpPr/>
          <p:nvPr/>
        </p:nvSpPr>
        <p:spPr>
          <a:xfrm>
            <a:off x="502920" y="5705856"/>
            <a:ext cx="11201400" cy="576072"/>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5833872"/>
            <a:ext cx="10835640" cy="338328"/>
          </a:xfrm>
          <a:prstGeom prst="rect">
            <a:avLst/>
          </a:prstGeom>
          <a:noFill/>
        </p:spPr>
        <p:txBody>
          <a:bodyPr wrap="square" lIns="0" rIns="0" tIns="0" bIns="0">
            <a:spAutoFit/>
          </a:bodyPr>
          <a:lstStyle/>
          <a:p>
            <a:pPr>
              <a:lnSpc>
                <a:spcPct val="112000"/>
              </a:lnSpc>
              <a:spcAft>
                <a:spcPts val="0"/>
              </a:spcAft>
              <a:defRPr sz="1700" b="0">
                <a:solidFill>
                  <a:srgbClr val="FFFFFF"/>
                </a:solidFill>
                <a:latin typeface="Liberation Sans"/>
              </a:defRPr>
            </a:pPr>
            <a:r>
              <a:t>Check the gateway path and target port before rotating a valid secret.</a:t>
            </a:r>
          </a:p>
        </p:txBody>
      </p:sp>
      <p:sp>
        <p:nvSpPr>
          <p:cNvPr id="26" name="TextBox 25"/>
          <p:cNvSpPr txBox="1"/>
          <p:nvPr/>
        </p:nvSpPr>
        <p:spPr>
          <a:xfrm>
            <a:off x="502920" y="6446520"/>
            <a:ext cx="640080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D-04</a:t>
            </a:r>
          </a:p>
        </p:txBody>
      </p:sp>
      <p:sp>
        <p:nvSpPr>
          <p:cNvPr id="27" name="TextBox 26"/>
          <p:cNvSpPr txBox="1"/>
          <p:nvPr/>
        </p:nvSpPr>
        <p:spPr>
          <a:xfrm>
            <a:off x="7315200" y="6446520"/>
            <a:ext cx="438912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04 / 14     07:00–09:00  |  2 min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lnSpc>
                <a:spcPct val="112000"/>
              </a:lnSpc>
              <a:spcAft>
                <a:spcPts val="0"/>
              </a:spcAft>
              <a:defRPr sz="1100" b="1">
                <a:solidFill>
                  <a:srgbClr val="526579"/>
                </a:solidFill>
                <a:latin typeface="Liberation Sans"/>
              </a:defRPr>
            </a:pPr>
            <a:r>
              <a:t>AWS DEVOPS AGENT</a:t>
            </a:r>
          </a:p>
        </p:txBody>
      </p:sp>
      <p:sp>
        <p:nvSpPr>
          <p:cNvPr id="4" name="TextBox 3"/>
          <p:cNvSpPr txBox="1"/>
          <p:nvPr/>
        </p:nvSpPr>
        <p:spPr>
          <a:xfrm>
            <a:off x="502920" y="658368"/>
            <a:ext cx="11109960" cy="868680"/>
          </a:xfrm>
          <a:prstGeom prst="rect">
            <a:avLst/>
          </a:prstGeom>
          <a:noFill/>
        </p:spPr>
        <p:txBody>
          <a:bodyPr wrap="square" lIns="0" rIns="0" tIns="0" bIns="0">
            <a:spAutoFit/>
          </a:bodyPr>
          <a:lstStyle/>
          <a:p>
            <a:pPr>
              <a:lnSpc>
                <a:spcPct val="112000"/>
              </a:lnSpc>
              <a:spcAft>
                <a:spcPts val="0"/>
              </a:spcAft>
              <a:defRPr sz="3000" b="1">
                <a:solidFill>
                  <a:srgbClr val="172C43"/>
                </a:solidFill>
                <a:latin typeface="Liberation Sans"/>
              </a:defRPr>
            </a:pPr>
            <a:r>
              <a:t>Topology is a representation, not an access boundary</a:t>
            </a:r>
          </a:p>
        </p:txBody>
      </p:sp>
      <p:sp>
        <p:nvSpPr>
          <p:cNvPr id="5" name="Rectangle 4"/>
          <p:cNvSpPr/>
          <p:nvPr/>
        </p:nvSpPr>
        <p:spPr>
          <a:xfrm>
            <a:off x="502920" y="1828800"/>
            <a:ext cx="3563112"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828800"/>
            <a:ext cx="3563112"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2057400"/>
            <a:ext cx="3233928"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Discovery</a:t>
            </a:r>
          </a:p>
        </p:txBody>
      </p:sp>
      <p:sp>
        <p:nvSpPr>
          <p:cNvPr id="8" name="TextBox 7"/>
          <p:cNvSpPr txBox="1"/>
          <p:nvPr/>
        </p:nvSpPr>
        <p:spPr>
          <a:xfrm>
            <a:off x="667512" y="3063240"/>
            <a:ext cx="3233928"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CloudFormation resources and enabled Resource Explorer supply inventory.</a:t>
            </a:r>
          </a:p>
        </p:txBody>
      </p:sp>
      <p:sp>
        <p:nvSpPr>
          <p:cNvPr id="9" name="Rectangle 8"/>
          <p:cNvSpPr/>
          <p:nvPr/>
        </p:nvSpPr>
        <p:spPr>
          <a:xfrm>
            <a:off x="4322064" y="1828800"/>
            <a:ext cx="3563112"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22064" y="1828800"/>
            <a:ext cx="3563112"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6656" y="2057400"/>
            <a:ext cx="3233928"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Relationships</a:t>
            </a:r>
          </a:p>
        </p:txBody>
      </p:sp>
      <p:sp>
        <p:nvSpPr>
          <p:cNvPr id="12" name="TextBox 11"/>
          <p:cNvSpPr txBox="1"/>
          <p:nvPr/>
        </p:nvSpPr>
        <p:spPr>
          <a:xfrm>
            <a:off x="4486656" y="3063240"/>
            <a:ext cx="3233928"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Configuration, tags, pipeline mapping and observability supply evidence.</a:t>
            </a:r>
          </a:p>
        </p:txBody>
      </p:sp>
      <p:sp>
        <p:nvSpPr>
          <p:cNvPr id="13" name="Rectangle 12"/>
          <p:cNvSpPr/>
          <p:nvPr/>
        </p:nvSpPr>
        <p:spPr>
          <a:xfrm>
            <a:off x="8141208" y="1828800"/>
            <a:ext cx="3563112"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41208" y="1828800"/>
            <a:ext cx="3563112"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5800" y="2057400"/>
            <a:ext cx="3233928"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Verification</a:t>
            </a:r>
          </a:p>
        </p:txBody>
      </p:sp>
      <p:sp>
        <p:nvSpPr>
          <p:cNvPr id="16" name="TextBox 15"/>
          <p:cNvSpPr txBox="1"/>
          <p:nvPr/>
        </p:nvSpPr>
        <p:spPr>
          <a:xfrm>
            <a:off x="8305800" y="3063240"/>
            <a:ext cx="3233928"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Compare one service/repository edge with the deployed configuration.</a:t>
            </a:r>
          </a:p>
        </p:txBody>
      </p:sp>
      <p:sp>
        <p:nvSpPr>
          <p:cNvPr id="17" name="Rectangle 16"/>
          <p:cNvSpPr/>
          <p:nvPr/>
        </p:nvSpPr>
        <p:spPr>
          <a:xfrm>
            <a:off x="502920" y="5705856"/>
            <a:ext cx="11201400" cy="576072"/>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5833872"/>
            <a:ext cx="10835640" cy="338328"/>
          </a:xfrm>
          <a:prstGeom prst="rect">
            <a:avLst/>
          </a:prstGeom>
          <a:noFill/>
        </p:spPr>
        <p:txBody>
          <a:bodyPr wrap="square" lIns="0" rIns="0" tIns="0" bIns="0">
            <a:spAutoFit/>
          </a:bodyPr>
          <a:lstStyle/>
          <a:p>
            <a:pPr>
              <a:lnSpc>
                <a:spcPct val="112000"/>
              </a:lnSpc>
              <a:spcAft>
                <a:spcPts val="0"/>
              </a:spcAft>
              <a:defRPr sz="1700" b="0">
                <a:solidFill>
                  <a:srgbClr val="FFFFFF"/>
                </a:solidFill>
                <a:latin typeface="Liberation Sans"/>
              </a:defRPr>
            </a:pPr>
            <a:r>
              <a:t>A missing graph node does not establish that a direct resource read is denied.</a:t>
            </a:r>
          </a:p>
        </p:txBody>
      </p:sp>
      <p:sp>
        <p:nvSpPr>
          <p:cNvPr id="19" name="TextBox 18"/>
          <p:cNvSpPr txBox="1"/>
          <p:nvPr/>
        </p:nvSpPr>
        <p:spPr>
          <a:xfrm>
            <a:off x="502920" y="6446520"/>
            <a:ext cx="640080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D-05</a:t>
            </a:r>
          </a:p>
        </p:txBody>
      </p:sp>
      <p:sp>
        <p:nvSpPr>
          <p:cNvPr id="20" name="TextBox 19"/>
          <p:cNvSpPr txBox="1"/>
          <p:nvPr/>
        </p:nvSpPr>
        <p:spPr>
          <a:xfrm>
            <a:off x="7315200" y="6446520"/>
            <a:ext cx="438912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05 / 14     09:00–11:00  |  2 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lnSpc>
                <a:spcPct val="112000"/>
              </a:lnSpc>
              <a:spcAft>
                <a:spcPts val="0"/>
              </a:spcAft>
              <a:defRPr sz="1100" b="1">
                <a:solidFill>
                  <a:srgbClr val="526579"/>
                </a:solidFill>
                <a:latin typeface="Liberation Sans"/>
              </a:defRPr>
            </a:pPr>
            <a:r>
              <a:t>AWS DEVOPS AGENT</a:t>
            </a:r>
          </a:p>
        </p:txBody>
      </p:sp>
      <p:sp>
        <p:nvSpPr>
          <p:cNvPr id="4" name="TextBox 3"/>
          <p:cNvSpPr txBox="1"/>
          <p:nvPr/>
        </p:nvSpPr>
        <p:spPr>
          <a:xfrm>
            <a:off x="502920" y="658368"/>
            <a:ext cx="11109960" cy="868680"/>
          </a:xfrm>
          <a:prstGeom prst="rect">
            <a:avLst/>
          </a:prstGeom>
          <a:noFill/>
        </p:spPr>
        <p:txBody>
          <a:bodyPr wrap="square" lIns="0" rIns="0" tIns="0" bIns="0">
            <a:spAutoFit/>
          </a:bodyPr>
          <a:lstStyle/>
          <a:p>
            <a:pPr>
              <a:lnSpc>
                <a:spcPct val="112000"/>
              </a:lnSpc>
              <a:spcAft>
                <a:spcPts val="0"/>
              </a:spcAft>
              <a:defRPr sz="3000" b="1">
                <a:solidFill>
                  <a:srgbClr val="172C43"/>
                </a:solidFill>
                <a:latin typeface="Liberation Sans"/>
              </a:defRPr>
            </a:pPr>
            <a:r>
              <a:t>Past incidents become selected contextual evidence</a:t>
            </a:r>
          </a:p>
        </p:txBody>
      </p:sp>
      <p:sp>
        <p:nvSpPr>
          <p:cNvPr id="5" name="Rectangle 4"/>
          <p:cNvSpPr/>
          <p:nvPr/>
        </p:nvSpPr>
        <p:spPr>
          <a:xfrm>
            <a:off x="502920"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Investigations</a:t>
            </a:r>
          </a:p>
        </p:txBody>
      </p:sp>
      <p:sp>
        <p:nvSpPr>
          <p:cNvPr id="8" name="TextBox 7"/>
          <p:cNvSpPr txBox="1"/>
          <p:nvPr/>
        </p:nvSpPr>
        <p:spPr>
          <a:xfrm>
            <a:off x="667512"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Earlier outcomes and evidence</a:t>
            </a:r>
          </a:p>
        </p:txBody>
      </p:sp>
      <p:sp>
        <p:nvSpPr>
          <p:cNvPr id="9" name="TextBox 8"/>
          <p:cNvSpPr txBox="1"/>
          <p:nvPr/>
        </p:nvSpPr>
        <p:spPr>
          <a:xfrm>
            <a:off x="3124962" y="3337560"/>
            <a:ext cx="228600" cy="365760"/>
          </a:xfrm>
          <a:prstGeom prst="rect">
            <a:avLst/>
          </a:prstGeom>
          <a:noFill/>
        </p:spPr>
        <p:txBody>
          <a:bodyPr wrap="square" lIns="0" rIns="0" tIns="0" bIns="0">
            <a:spAutoFit/>
          </a:bodyPr>
          <a:lstStyle/>
          <a:p>
            <a:pPr>
              <a:lnSpc>
                <a:spcPct val="112000"/>
              </a:lnSpc>
              <a:spcAft>
                <a:spcPts val="0"/>
              </a:spcAft>
              <a:defRPr sz="1900" b="1">
                <a:solidFill>
                  <a:srgbClr val="096B68"/>
                </a:solidFill>
                <a:latin typeface="Liberation Sans"/>
              </a:defRPr>
            </a:pPr>
            <a:r>
              <a:t>→</a:t>
            </a:r>
          </a:p>
        </p:txBody>
      </p:sp>
      <p:sp>
        <p:nvSpPr>
          <p:cNvPr id="10" name="Rectangle 9"/>
          <p:cNvSpPr/>
          <p:nvPr/>
        </p:nvSpPr>
        <p:spPr>
          <a:xfrm>
            <a:off x="3367278"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67278"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31870"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Learning process</a:t>
            </a:r>
          </a:p>
        </p:txBody>
      </p:sp>
      <p:sp>
        <p:nvSpPr>
          <p:cNvPr id="13" name="TextBox 12"/>
          <p:cNvSpPr txBox="1"/>
          <p:nvPr/>
        </p:nvSpPr>
        <p:spPr>
          <a:xfrm>
            <a:off x="3531870"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Synthesizes monitor-specific knowledge</a:t>
            </a:r>
          </a:p>
        </p:txBody>
      </p:sp>
      <p:sp>
        <p:nvSpPr>
          <p:cNvPr id="14" name="TextBox 13"/>
          <p:cNvSpPr txBox="1"/>
          <p:nvPr/>
        </p:nvSpPr>
        <p:spPr>
          <a:xfrm>
            <a:off x="5989320" y="3337560"/>
            <a:ext cx="228600" cy="365760"/>
          </a:xfrm>
          <a:prstGeom prst="rect">
            <a:avLst/>
          </a:prstGeom>
          <a:noFill/>
        </p:spPr>
        <p:txBody>
          <a:bodyPr wrap="square" lIns="0" rIns="0" tIns="0" bIns="0">
            <a:spAutoFit/>
          </a:bodyPr>
          <a:lstStyle/>
          <a:p>
            <a:pPr>
              <a:lnSpc>
                <a:spcPct val="112000"/>
              </a:lnSpc>
              <a:spcAft>
                <a:spcPts val="0"/>
              </a:spcAft>
              <a:defRPr sz="1900" b="1">
                <a:solidFill>
                  <a:srgbClr val="096B68"/>
                </a:solidFill>
                <a:latin typeface="Liberation Sans"/>
              </a:defRPr>
            </a:pPr>
            <a:r>
              <a:t>→</a:t>
            </a:r>
          </a:p>
        </p:txBody>
      </p:sp>
      <p:sp>
        <p:nvSpPr>
          <p:cNvPr id="15" name="Rectangle 14"/>
          <p:cNvSpPr/>
          <p:nvPr/>
        </p:nvSpPr>
        <p:spPr>
          <a:xfrm>
            <a:off x="6231636"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96228"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Memory store</a:t>
            </a:r>
          </a:p>
        </p:txBody>
      </p:sp>
      <p:sp>
        <p:nvSpPr>
          <p:cNvPr id="18" name="TextBox 17"/>
          <p:cNvSpPr txBox="1"/>
          <p:nvPr/>
        </p:nvSpPr>
        <p:spPr>
          <a:xfrm>
            <a:off x="6396228"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Descriptions, entries, versions and active state</a:t>
            </a:r>
          </a:p>
        </p:txBody>
      </p:sp>
      <p:sp>
        <p:nvSpPr>
          <p:cNvPr id="19" name="TextBox 18"/>
          <p:cNvSpPr txBox="1"/>
          <p:nvPr/>
        </p:nvSpPr>
        <p:spPr>
          <a:xfrm>
            <a:off x="8853678" y="3337560"/>
            <a:ext cx="228600" cy="365760"/>
          </a:xfrm>
          <a:prstGeom prst="rect">
            <a:avLst/>
          </a:prstGeom>
          <a:noFill/>
        </p:spPr>
        <p:txBody>
          <a:bodyPr wrap="square" lIns="0" rIns="0" tIns="0" bIns="0">
            <a:spAutoFit/>
          </a:bodyPr>
          <a:lstStyle/>
          <a:p>
            <a:pPr>
              <a:lnSpc>
                <a:spcPct val="112000"/>
              </a:lnSpc>
              <a:spcAft>
                <a:spcPts val="0"/>
              </a:spcAft>
              <a:defRPr sz="1900" b="1">
                <a:solidFill>
                  <a:srgbClr val="096B68"/>
                </a:solidFill>
                <a:latin typeface="Liberation Sans"/>
              </a:defRPr>
            </a:pPr>
            <a:r>
              <a:t>→</a:t>
            </a:r>
          </a:p>
        </p:txBody>
      </p:sp>
      <p:sp>
        <p:nvSpPr>
          <p:cNvPr id="20" name="Rectangle 19"/>
          <p:cNvSpPr/>
          <p:nvPr/>
        </p:nvSpPr>
        <p:spPr>
          <a:xfrm>
            <a:off x="9095994"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95994"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60586"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New investigation</a:t>
            </a:r>
          </a:p>
        </p:txBody>
      </p:sp>
      <p:sp>
        <p:nvSpPr>
          <p:cNvPr id="23" name="TextBox 22"/>
          <p:cNvSpPr txBox="1"/>
          <p:nvPr/>
        </p:nvSpPr>
        <p:spPr>
          <a:xfrm>
            <a:off x="9260586"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Selects relevant context and checks current evidence</a:t>
            </a:r>
          </a:p>
        </p:txBody>
      </p:sp>
      <p:sp>
        <p:nvSpPr>
          <p:cNvPr id="24" name="Rectangle 23"/>
          <p:cNvSpPr/>
          <p:nvPr/>
        </p:nvSpPr>
        <p:spPr>
          <a:xfrm>
            <a:off x="502920" y="5705856"/>
            <a:ext cx="11201400" cy="576072"/>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5833872"/>
            <a:ext cx="10835640" cy="338328"/>
          </a:xfrm>
          <a:prstGeom prst="rect">
            <a:avLst/>
          </a:prstGeom>
          <a:noFill/>
        </p:spPr>
        <p:txBody>
          <a:bodyPr wrap="square" lIns="0" rIns="0" tIns="0" bIns="0">
            <a:spAutoFit/>
          </a:bodyPr>
          <a:lstStyle/>
          <a:p>
            <a:pPr>
              <a:lnSpc>
                <a:spcPct val="112000"/>
              </a:lnSpc>
              <a:spcAft>
                <a:spcPts val="0"/>
              </a:spcAft>
              <a:defRPr sz="1700" b="0">
                <a:solidFill>
                  <a:srgbClr val="FFFFFF"/>
                </a:solidFill>
                <a:latin typeface="Liberation Sans"/>
              </a:defRPr>
            </a:pPr>
            <a:r>
              <a:t>Retention, retrieval and diagnostic correctness require separate observations.</a:t>
            </a:r>
          </a:p>
        </p:txBody>
      </p:sp>
      <p:sp>
        <p:nvSpPr>
          <p:cNvPr id="26" name="TextBox 25"/>
          <p:cNvSpPr txBox="1"/>
          <p:nvPr/>
        </p:nvSpPr>
        <p:spPr>
          <a:xfrm>
            <a:off x="502920" y="6446520"/>
            <a:ext cx="640080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D-M01</a:t>
            </a:r>
          </a:p>
        </p:txBody>
      </p:sp>
      <p:sp>
        <p:nvSpPr>
          <p:cNvPr id="27" name="TextBox 26"/>
          <p:cNvSpPr txBox="1"/>
          <p:nvPr/>
        </p:nvSpPr>
        <p:spPr>
          <a:xfrm>
            <a:off x="7315200" y="6446520"/>
            <a:ext cx="438912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06 / 14     11:00–14:00  |  3 min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lnSpc>
                <a:spcPct val="112000"/>
              </a:lnSpc>
              <a:spcAft>
                <a:spcPts val="0"/>
              </a:spcAft>
              <a:defRPr sz="1100" b="1">
                <a:solidFill>
                  <a:srgbClr val="526579"/>
                </a:solidFill>
                <a:latin typeface="Liberation Sans"/>
              </a:defRPr>
            </a:pPr>
            <a:r>
              <a:t>AWS DEVOPS AGENT</a:t>
            </a:r>
          </a:p>
        </p:txBody>
      </p:sp>
      <p:sp>
        <p:nvSpPr>
          <p:cNvPr id="4" name="TextBox 3"/>
          <p:cNvSpPr txBox="1"/>
          <p:nvPr/>
        </p:nvSpPr>
        <p:spPr>
          <a:xfrm>
            <a:off x="502920" y="658368"/>
            <a:ext cx="11109960" cy="868680"/>
          </a:xfrm>
          <a:prstGeom prst="rect">
            <a:avLst/>
          </a:prstGeom>
          <a:noFill/>
        </p:spPr>
        <p:txBody>
          <a:bodyPr wrap="square" lIns="0" rIns="0" tIns="0" bIns="0">
            <a:spAutoFit/>
          </a:bodyPr>
          <a:lstStyle/>
          <a:p>
            <a:pPr>
              <a:lnSpc>
                <a:spcPct val="112000"/>
              </a:lnSpc>
              <a:spcAft>
                <a:spcPts val="0"/>
              </a:spcAft>
              <a:defRPr sz="3000" b="1">
                <a:solidFill>
                  <a:srgbClr val="172C43"/>
                </a:solidFill>
                <a:latin typeface="Liberation Sans"/>
              </a:defRPr>
            </a:pPr>
            <a:r>
              <a:t>Corrections and access attachments solve different problems</a:t>
            </a:r>
          </a:p>
        </p:txBody>
      </p:sp>
      <p:sp>
        <p:nvSpPr>
          <p:cNvPr id="5" name="Rectangle 4"/>
          <p:cNvSpPr/>
          <p:nvPr/>
        </p:nvSpPr>
        <p:spPr>
          <a:xfrm>
            <a:off x="502920" y="1828800"/>
            <a:ext cx="5472684"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828800"/>
            <a:ext cx="5472684"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2057400"/>
            <a:ext cx="5143500"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Correct a diagnosis</a:t>
            </a:r>
          </a:p>
        </p:txBody>
      </p:sp>
      <p:sp>
        <p:nvSpPr>
          <p:cNvPr id="8" name="TextBox 7"/>
          <p:cNvSpPr txBox="1"/>
          <p:nvPr/>
        </p:nvSpPr>
        <p:spPr>
          <a:xfrm>
            <a:off x="667512" y="3063240"/>
            <a:ext cx="5143500"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Submit verified feedback; inspect the resulting lesson. AWS sharing is a separate choice.</a:t>
            </a:r>
          </a:p>
        </p:txBody>
      </p:sp>
      <p:sp>
        <p:nvSpPr>
          <p:cNvPr id="9" name="Rectangle 8"/>
          <p:cNvSpPr/>
          <p:nvPr/>
        </p:nvSpPr>
        <p:spPr>
          <a:xfrm>
            <a:off x="6231636" y="1828800"/>
            <a:ext cx="5472684"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31636" y="1828800"/>
            <a:ext cx="5472684"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96228" y="2057400"/>
            <a:ext cx="5143500"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Attach context</a:t>
            </a:r>
          </a:p>
        </p:txBody>
      </p:sp>
      <p:sp>
        <p:nvSpPr>
          <p:cNvPr id="12" name="TextBox 11"/>
          <p:cNvSpPr txBox="1"/>
          <p:nvPr/>
        </p:nvSpPr>
        <p:spPr>
          <a:xfrm>
            <a:off x="6396228" y="3063240"/>
            <a:ext cx="5143500"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New custom agents start without stores. Attach only required stores; managed stores are read-only to them.</a:t>
            </a:r>
          </a:p>
        </p:txBody>
      </p:sp>
      <p:sp>
        <p:nvSpPr>
          <p:cNvPr id="13" name="Rectangle 12"/>
          <p:cNvSpPr/>
          <p:nvPr/>
        </p:nvSpPr>
        <p:spPr>
          <a:xfrm>
            <a:off x="502920" y="5705856"/>
            <a:ext cx="11201400" cy="576072"/>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5833872"/>
            <a:ext cx="10835640" cy="338328"/>
          </a:xfrm>
          <a:prstGeom prst="rect">
            <a:avLst/>
          </a:prstGeom>
          <a:noFill/>
        </p:spPr>
        <p:txBody>
          <a:bodyPr wrap="square" lIns="0" rIns="0" tIns="0" bIns="0">
            <a:spAutoFit/>
          </a:bodyPr>
          <a:lstStyle/>
          <a:p>
            <a:pPr>
              <a:lnSpc>
                <a:spcPct val="112000"/>
              </a:lnSpc>
              <a:spcAft>
                <a:spcPts val="0"/>
              </a:spcAft>
              <a:defRPr sz="1700" b="0">
                <a:solidFill>
                  <a:srgbClr val="FFFFFF"/>
                </a:solidFill>
                <a:latin typeface="Liberation Sans"/>
              </a:defRPr>
            </a:pPr>
            <a:r>
              <a:t>Feedback changes contextual knowledge; attachment changes which context an agent may use.</a:t>
            </a:r>
          </a:p>
        </p:txBody>
      </p:sp>
      <p:sp>
        <p:nvSpPr>
          <p:cNvPr id="15" name="TextBox 14"/>
          <p:cNvSpPr txBox="1"/>
          <p:nvPr/>
        </p:nvSpPr>
        <p:spPr>
          <a:xfrm>
            <a:off x="502920" y="6446520"/>
            <a:ext cx="640080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D-M02 · D-M07</a:t>
            </a:r>
          </a:p>
        </p:txBody>
      </p:sp>
      <p:sp>
        <p:nvSpPr>
          <p:cNvPr id="16" name="TextBox 15"/>
          <p:cNvSpPr txBox="1"/>
          <p:nvPr/>
        </p:nvSpPr>
        <p:spPr>
          <a:xfrm>
            <a:off x="7315200" y="6446520"/>
            <a:ext cx="438912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07 / 14     14:00–16:00  |  2 min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lnSpc>
                <a:spcPct val="112000"/>
              </a:lnSpc>
              <a:spcAft>
                <a:spcPts val="0"/>
              </a:spcAft>
              <a:defRPr sz="1100" b="1">
                <a:solidFill>
                  <a:srgbClr val="526579"/>
                </a:solidFill>
                <a:latin typeface="Liberation Sans"/>
              </a:defRPr>
            </a:pPr>
            <a:r>
              <a:t>AWS DEVOPS AGENT</a:t>
            </a:r>
          </a:p>
        </p:txBody>
      </p:sp>
      <p:sp>
        <p:nvSpPr>
          <p:cNvPr id="4" name="TextBox 3"/>
          <p:cNvSpPr txBox="1"/>
          <p:nvPr/>
        </p:nvSpPr>
        <p:spPr>
          <a:xfrm>
            <a:off x="502920" y="658368"/>
            <a:ext cx="11109960" cy="868680"/>
          </a:xfrm>
          <a:prstGeom prst="rect">
            <a:avLst/>
          </a:prstGeom>
          <a:noFill/>
        </p:spPr>
        <p:txBody>
          <a:bodyPr wrap="square" lIns="0" rIns="0" tIns="0" bIns="0">
            <a:spAutoFit/>
          </a:bodyPr>
          <a:lstStyle/>
          <a:p>
            <a:pPr>
              <a:lnSpc>
                <a:spcPct val="112000"/>
              </a:lnSpc>
              <a:spcAft>
                <a:spcPts val="0"/>
              </a:spcAft>
              <a:defRPr sz="3000" b="1">
                <a:solidFill>
                  <a:srgbClr val="172C43"/>
                </a:solidFill>
                <a:latin typeface="Liberation Sans"/>
              </a:defRPr>
            </a:pPr>
            <a:r>
              <a:t>Instructions and skills enter the session differently</a:t>
            </a:r>
          </a:p>
        </p:txBody>
      </p:sp>
      <p:sp>
        <p:nvSpPr>
          <p:cNvPr id="5" name="Rectangle 4"/>
          <p:cNvSpPr/>
          <p:nvPr/>
        </p:nvSpPr>
        <p:spPr>
          <a:xfrm>
            <a:off x="502920" y="1755648"/>
            <a:ext cx="2377440" cy="948690"/>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 y="1865376"/>
            <a:ext cx="2121408" cy="756666"/>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Control</a:t>
            </a:r>
          </a:p>
        </p:txBody>
      </p:sp>
      <p:sp>
        <p:nvSpPr>
          <p:cNvPr id="7" name="Rectangle 6"/>
          <p:cNvSpPr/>
          <p:nvPr/>
        </p:nvSpPr>
        <p:spPr>
          <a:xfrm>
            <a:off x="2880360" y="1755648"/>
            <a:ext cx="3931920" cy="948690"/>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08376" y="1865376"/>
            <a:ext cx="3675887" cy="756666"/>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Loading behavior</a:t>
            </a:r>
          </a:p>
        </p:txBody>
      </p:sp>
      <p:sp>
        <p:nvSpPr>
          <p:cNvPr id="9" name="Rectangle 8"/>
          <p:cNvSpPr/>
          <p:nvPr/>
        </p:nvSpPr>
        <p:spPr>
          <a:xfrm>
            <a:off x="6812280" y="1755648"/>
            <a:ext cx="4892040" cy="948690"/>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0296" y="1865376"/>
            <a:ext cx="4636007" cy="756666"/>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Configuration test</a:t>
            </a:r>
          </a:p>
        </p:txBody>
      </p:sp>
      <p:sp>
        <p:nvSpPr>
          <p:cNvPr id="11" name="Rectangle 10"/>
          <p:cNvSpPr/>
          <p:nvPr/>
        </p:nvSpPr>
        <p:spPr>
          <a:xfrm>
            <a:off x="502920" y="2704338"/>
            <a:ext cx="237744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 y="2814066"/>
            <a:ext cx="2121408"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Instructions</a:t>
            </a:r>
          </a:p>
        </p:txBody>
      </p:sp>
      <p:sp>
        <p:nvSpPr>
          <p:cNvPr id="13" name="Rectangle 12"/>
          <p:cNvSpPr/>
          <p:nvPr/>
        </p:nvSpPr>
        <p:spPr>
          <a:xfrm>
            <a:off x="2880360" y="2704338"/>
            <a:ext cx="393192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08376" y="2814066"/>
            <a:ext cx="3675887"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Applicable text at session startup</a:t>
            </a:r>
          </a:p>
        </p:txBody>
      </p:sp>
      <p:sp>
        <p:nvSpPr>
          <p:cNvPr id="15" name="Rectangle 14"/>
          <p:cNvSpPr/>
          <p:nvPr/>
        </p:nvSpPr>
        <p:spPr>
          <a:xfrm>
            <a:off x="6812280" y="2704338"/>
            <a:ext cx="489204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0296" y="2814066"/>
            <a:ext cx="4636007"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Compare an existing and new session</a:t>
            </a:r>
          </a:p>
        </p:txBody>
      </p:sp>
      <p:sp>
        <p:nvSpPr>
          <p:cNvPr id="17" name="Rectangle 16"/>
          <p:cNvSpPr/>
          <p:nvPr/>
        </p:nvSpPr>
        <p:spPr>
          <a:xfrm>
            <a:off x="502920" y="3653028"/>
            <a:ext cx="2377440" cy="948690"/>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 y="3762756"/>
            <a:ext cx="2121408"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Skill</a:t>
            </a:r>
          </a:p>
        </p:txBody>
      </p:sp>
      <p:sp>
        <p:nvSpPr>
          <p:cNvPr id="19" name="Rectangle 18"/>
          <p:cNvSpPr/>
          <p:nvPr/>
        </p:nvSpPr>
        <p:spPr>
          <a:xfrm>
            <a:off x="2880360" y="3653028"/>
            <a:ext cx="3931920" cy="948690"/>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08376" y="3762756"/>
            <a:ext cx="3675887"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Procedure selected by description and scope</a:t>
            </a:r>
          </a:p>
        </p:txBody>
      </p:sp>
      <p:sp>
        <p:nvSpPr>
          <p:cNvPr id="21" name="Rectangle 20"/>
          <p:cNvSpPr/>
          <p:nvPr/>
        </p:nvSpPr>
        <p:spPr>
          <a:xfrm>
            <a:off x="6812280" y="3653028"/>
            <a:ext cx="4892040" cy="948690"/>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40296" y="3762756"/>
            <a:ext cx="4636007"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Compare a matching and nonmatching request</a:t>
            </a:r>
          </a:p>
        </p:txBody>
      </p:sp>
      <p:sp>
        <p:nvSpPr>
          <p:cNvPr id="23" name="Rectangle 22"/>
          <p:cNvSpPr/>
          <p:nvPr/>
        </p:nvSpPr>
        <p:spPr>
          <a:xfrm>
            <a:off x="502920" y="4601718"/>
            <a:ext cx="237744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6" y="4711446"/>
            <a:ext cx="2121408"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Permissions</a:t>
            </a:r>
          </a:p>
        </p:txBody>
      </p:sp>
      <p:sp>
        <p:nvSpPr>
          <p:cNvPr id="25" name="Rectangle 24"/>
          <p:cNvSpPr/>
          <p:nvPr/>
        </p:nvSpPr>
        <p:spPr>
          <a:xfrm>
            <a:off x="2880360" y="4601718"/>
            <a:ext cx="393192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08376" y="4711446"/>
            <a:ext cx="3675887"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Enforced by the connected systems</a:t>
            </a:r>
          </a:p>
        </p:txBody>
      </p:sp>
      <p:sp>
        <p:nvSpPr>
          <p:cNvPr id="27" name="Rectangle 26"/>
          <p:cNvSpPr/>
          <p:nvPr/>
        </p:nvSpPr>
        <p:spPr>
          <a:xfrm>
            <a:off x="6812280" y="4601718"/>
            <a:ext cx="489204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40296" y="4711446"/>
            <a:ext cx="4636007"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Test an expected denial separately</a:t>
            </a:r>
          </a:p>
        </p:txBody>
      </p:sp>
      <p:sp>
        <p:nvSpPr>
          <p:cNvPr id="29" name="Rectangle 28"/>
          <p:cNvSpPr/>
          <p:nvPr/>
        </p:nvSpPr>
        <p:spPr>
          <a:xfrm>
            <a:off x="502920" y="5705856"/>
            <a:ext cx="11201400" cy="576072"/>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5833872"/>
            <a:ext cx="10835640" cy="338328"/>
          </a:xfrm>
          <a:prstGeom prst="rect">
            <a:avLst/>
          </a:prstGeom>
          <a:noFill/>
        </p:spPr>
        <p:txBody>
          <a:bodyPr wrap="square" lIns="0" rIns="0" tIns="0" bIns="0">
            <a:spAutoFit/>
          </a:bodyPr>
          <a:lstStyle/>
          <a:p>
            <a:pPr>
              <a:lnSpc>
                <a:spcPct val="112000"/>
              </a:lnSpc>
              <a:spcAft>
                <a:spcPts val="0"/>
              </a:spcAft>
              <a:defRPr sz="1700" b="0">
                <a:solidFill>
                  <a:srgbClr val="FFFFFF"/>
                </a:solidFill>
                <a:latin typeface="Liberation Sans"/>
              </a:defRPr>
            </a:pPr>
            <a:r>
              <a:t>Prompt guidance does not grant or revoke IAM permissions.</a:t>
            </a:r>
          </a:p>
        </p:txBody>
      </p:sp>
      <p:sp>
        <p:nvSpPr>
          <p:cNvPr id="31" name="TextBox 30"/>
          <p:cNvSpPr txBox="1"/>
          <p:nvPr/>
        </p:nvSpPr>
        <p:spPr>
          <a:xfrm>
            <a:off x="502920" y="6446520"/>
            <a:ext cx="640080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D-M03 · D-M04</a:t>
            </a:r>
          </a:p>
        </p:txBody>
      </p:sp>
      <p:sp>
        <p:nvSpPr>
          <p:cNvPr id="32" name="TextBox 31"/>
          <p:cNvSpPr txBox="1"/>
          <p:nvPr/>
        </p:nvSpPr>
        <p:spPr>
          <a:xfrm>
            <a:off x="7315200" y="6446520"/>
            <a:ext cx="438912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08 / 14     16:00–18:00  |  2 min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lnSpc>
                <a:spcPct val="112000"/>
              </a:lnSpc>
              <a:spcAft>
                <a:spcPts val="0"/>
              </a:spcAft>
              <a:defRPr sz="1100" b="1">
                <a:solidFill>
                  <a:srgbClr val="526579"/>
                </a:solidFill>
                <a:latin typeface="Liberation Sans"/>
              </a:defRPr>
            </a:pPr>
            <a:r>
              <a:t>AWS DEVOPS AGENT</a:t>
            </a:r>
          </a:p>
        </p:txBody>
      </p:sp>
      <p:sp>
        <p:nvSpPr>
          <p:cNvPr id="4" name="TextBox 3"/>
          <p:cNvSpPr txBox="1"/>
          <p:nvPr/>
        </p:nvSpPr>
        <p:spPr>
          <a:xfrm>
            <a:off x="502920" y="658368"/>
            <a:ext cx="11109960" cy="868680"/>
          </a:xfrm>
          <a:prstGeom prst="rect">
            <a:avLst/>
          </a:prstGeom>
          <a:noFill/>
        </p:spPr>
        <p:txBody>
          <a:bodyPr wrap="square" lIns="0" rIns="0" tIns="0" bIns="0">
            <a:spAutoFit/>
          </a:bodyPr>
          <a:lstStyle/>
          <a:p>
            <a:pPr>
              <a:lnSpc>
                <a:spcPct val="112000"/>
              </a:lnSpc>
              <a:spcAft>
                <a:spcPts val="0"/>
              </a:spcAft>
              <a:defRPr sz="3000" b="1">
                <a:solidFill>
                  <a:srgbClr val="172C43"/>
                </a:solidFill>
                <a:latin typeface="Liberation Sans"/>
              </a:defRPr>
            </a:pPr>
            <a:r>
              <a:t>Inspect triage before diagnosing a missing investigation</a:t>
            </a:r>
          </a:p>
        </p:txBody>
      </p:sp>
      <p:sp>
        <p:nvSpPr>
          <p:cNvPr id="5" name="Rectangle 4"/>
          <p:cNvSpPr/>
          <p:nvPr/>
        </p:nvSpPr>
        <p:spPr>
          <a:xfrm>
            <a:off x="502920" y="1755648"/>
            <a:ext cx="2377440" cy="948690"/>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 y="1865376"/>
            <a:ext cx="2121408" cy="756666"/>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Decision</a:t>
            </a:r>
          </a:p>
        </p:txBody>
      </p:sp>
      <p:sp>
        <p:nvSpPr>
          <p:cNvPr id="7" name="Rectangle 6"/>
          <p:cNvSpPr/>
          <p:nvPr/>
        </p:nvSpPr>
        <p:spPr>
          <a:xfrm>
            <a:off x="2880360" y="1755648"/>
            <a:ext cx="3931920" cy="948690"/>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08376" y="1865376"/>
            <a:ext cx="3675887" cy="756666"/>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Meaning</a:t>
            </a:r>
          </a:p>
        </p:txBody>
      </p:sp>
      <p:sp>
        <p:nvSpPr>
          <p:cNvPr id="9" name="Rectangle 8"/>
          <p:cNvSpPr/>
          <p:nvPr/>
        </p:nvSpPr>
        <p:spPr>
          <a:xfrm>
            <a:off x="6812280" y="1755648"/>
            <a:ext cx="4892040" cy="948690"/>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0296" y="1865376"/>
            <a:ext cx="4636007" cy="756666"/>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Operator response</a:t>
            </a:r>
          </a:p>
        </p:txBody>
      </p:sp>
      <p:sp>
        <p:nvSpPr>
          <p:cNvPr id="11" name="Rectangle 10"/>
          <p:cNvSpPr/>
          <p:nvPr/>
        </p:nvSpPr>
        <p:spPr>
          <a:xfrm>
            <a:off x="502920" y="2704338"/>
            <a:ext cx="237744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 y="2814066"/>
            <a:ext cx="2121408"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Linked</a:t>
            </a:r>
          </a:p>
        </p:txBody>
      </p:sp>
      <p:sp>
        <p:nvSpPr>
          <p:cNvPr id="13" name="Rectangle 12"/>
          <p:cNvSpPr/>
          <p:nvPr/>
        </p:nvSpPr>
        <p:spPr>
          <a:xfrm>
            <a:off x="2880360" y="2704338"/>
            <a:ext cx="393192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08376" y="2814066"/>
            <a:ext cx="3675887"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Signal belongs to existing work</a:t>
            </a:r>
          </a:p>
        </p:txBody>
      </p:sp>
      <p:sp>
        <p:nvSpPr>
          <p:cNvPr id="15" name="Rectangle 14"/>
          <p:cNvSpPr/>
          <p:nvPr/>
        </p:nvSpPr>
        <p:spPr>
          <a:xfrm>
            <a:off x="6812280" y="2704338"/>
            <a:ext cx="489204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0296" y="2814066"/>
            <a:ext cx="4636007"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Inspect the primary investigation; unlink if wrong</a:t>
            </a:r>
          </a:p>
        </p:txBody>
      </p:sp>
      <p:sp>
        <p:nvSpPr>
          <p:cNvPr id="17" name="Rectangle 16"/>
          <p:cNvSpPr/>
          <p:nvPr/>
        </p:nvSpPr>
        <p:spPr>
          <a:xfrm>
            <a:off x="502920" y="3653028"/>
            <a:ext cx="2377440" cy="948690"/>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 y="3762756"/>
            <a:ext cx="2121408"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Skipped</a:t>
            </a:r>
          </a:p>
        </p:txBody>
      </p:sp>
      <p:sp>
        <p:nvSpPr>
          <p:cNvPr id="19" name="Rectangle 18"/>
          <p:cNvSpPr/>
          <p:nvPr/>
        </p:nvSpPr>
        <p:spPr>
          <a:xfrm>
            <a:off x="2880360" y="3653028"/>
            <a:ext cx="3931920" cy="948690"/>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08376" y="3762756"/>
            <a:ext cx="3675887"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Configured criteria excluded it</a:t>
            </a:r>
          </a:p>
        </p:txBody>
      </p:sp>
      <p:sp>
        <p:nvSpPr>
          <p:cNvPr id="21" name="Rectangle 20"/>
          <p:cNvSpPr/>
          <p:nvPr/>
        </p:nvSpPr>
        <p:spPr>
          <a:xfrm>
            <a:off x="6812280" y="3653028"/>
            <a:ext cx="4892040" cy="948690"/>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40296" y="3762756"/>
            <a:ext cx="4636007"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Inspect rule/skill; unskip if wrong</a:t>
            </a:r>
          </a:p>
        </p:txBody>
      </p:sp>
      <p:sp>
        <p:nvSpPr>
          <p:cNvPr id="23" name="Rectangle 22"/>
          <p:cNvSpPr/>
          <p:nvPr/>
        </p:nvSpPr>
        <p:spPr>
          <a:xfrm>
            <a:off x="502920" y="4601718"/>
            <a:ext cx="237744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6" y="4711446"/>
            <a:ext cx="2121408"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Proceed</a:t>
            </a:r>
          </a:p>
        </p:txBody>
      </p:sp>
      <p:sp>
        <p:nvSpPr>
          <p:cNvPr id="25" name="Rectangle 24"/>
          <p:cNvSpPr/>
          <p:nvPr/>
        </p:nvSpPr>
        <p:spPr>
          <a:xfrm>
            <a:off x="2880360" y="4601718"/>
            <a:ext cx="393192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08376" y="4711446"/>
            <a:ext cx="3675887"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Independent work is scheduled</a:t>
            </a:r>
          </a:p>
        </p:txBody>
      </p:sp>
      <p:sp>
        <p:nvSpPr>
          <p:cNvPr id="27" name="Rectangle 26"/>
          <p:cNvSpPr/>
          <p:nvPr/>
        </p:nvSpPr>
        <p:spPr>
          <a:xfrm>
            <a:off x="6812280" y="4601718"/>
            <a:ext cx="489204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40296" y="4711446"/>
            <a:ext cx="4636007"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Inspect execution and evidence</a:t>
            </a:r>
          </a:p>
        </p:txBody>
      </p:sp>
      <p:sp>
        <p:nvSpPr>
          <p:cNvPr id="29" name="Rectangle 28"/>
          <p:cNvSpPr/>
          <p:nvPr/>
        </p:nvSpPr>
        <p:spPr>
          <a:xfrm>
            <a:off x="502920" y="5705856"/>
            <a:ext cx="11201400" cy="576072"/>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5833872"/>
            <a:ext cx="10835640" cy="338328"/>
          </a:xfrm>
          <a:prstGeom prst="rect">
            <a:avLst/>
          </a:prstGeom>
          <a:noFill/>
        </p:spPr>
        <p:txBody>
          <a:bodyPr wrap="square" lIns="0" rIns="0" tIns="0" bIns="0">
            <a:spAutoFit/>
          </a:bodyPr>
          <a:lstStyle/>
          <a:p>
            <a:pPr>
              <a:lnSpc>
                <a:spcPct val="112000"/>
              </a:lnSpc>
              <a:spcAft>
                <a:spcPts val="0"/>
              </a:spcAft>
              <a:defRPr sz="1700" b="0">
                <a:solidFill>
                  <a:srgbClr val="FFFFFF"/>
                </a:solidFill>
                <a:latin typeface="Liberation Sans"/>
              </a:defRPr>
            </a:pPr>
            <a:r>
              <a:t>Routing correction and root-cause feedback are different operations.</a:t>
            </a:r>
          </a:p>
        </p:txBody>
      </p:sp>
      <p:sp>
        <p:nvSpPr>
          <p:cNvPr id="31" name="TextBox 30"/>
          <p:cNvSpPr txBox="1"/>
          <p:nvPr/>
        </p:nvSpPr>
        <p:spPr>
          <a:xfrm>
            <a:off x="502920" y="6446520"/>
            <a:ext cx="640080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D-06</a:t>
            </a:r>
          </a:p>
        </p:txBody>
      </p:sp>
      <p:sp>
        <p:nvSpPr>
          <p:cNvPr id="32" name="TextBox 31"/>
          <p:cNvSpPr txBox="1"/>
          <p:nvPr/>
        </p:nvSpPr>
        <p:spPr>
          <a:xfrm>
            <a:off x="7315200" y="6446520"/>
            <a:ext cx="438912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09 / 14     18:00–20:00  |  2 min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lnSpc>
                <a:spcPct val="112000"/>
              </a:lnSpc>
              <a:spcAft>
                <a:spcPts val="0"/>
              </a:spcAft>
              <a:defRPr sz="1100" b="1">
                <a:solidFill>
                  <a:srgbClr val="526579"/>
                </a:solidFill>
                <a:latin typeface="Liberation Sans"/>
              </a:defRPr>
            </a:pPr>
            <a:r>
              <a:t>AWS DEVOPS AGENT</a:t>
            </a:r>
          </a:p>
        </p:txBody>
      </p:sp>
      <p:sp>
        <p:nvSpPr>
          <p:cNvPr id="4" name="TextBox 3"/>
          <p:cNvSpPr txBox="1"/>
          <p:nvPr/>
        </p:nvSpPr>
        <p:spPr>
          <a:xfrm>
            <a:off x="502920" y="658368"/>
            <a:ext cx="11109960" cy="868680"/>
          </a:xfrm>
          <a:prstGeom prst="rect">
            <a:avLst/>
          </a:prstGeom>
          <a:noFill/>
        </p:spPr>
        <p:txBody>
          <a:bodyPr wrap="square" lIns="0" rIns="0" tIns="0" bIns="0">
            <a:spAutoFit/>
          </a:bodyPr>
          <a:lstStyle/>
          <a:p>
            <a:pPr>
              <a:lnSpc>
                <a:spcPct val="112000"/>
              </a:lnSpc>
              <a:spcAft>
                <a:spcPts val="0"/>
              </a:spcAft>
              <a:defRPr sz="3000" b="1">
                <a:solidFill>
                  <a:srgbClr val="172C43"/>
                </a:solidFill>
                <a:latin typeface="Liberation Sans"/>
              </a:defRPr>
            </a:pPr>
            <a:r>
              <a:t>A trigger creates work; cancellation affects a run</a:t>
            </a:r>
          </a:p>
        </p:txBody>
      </p:sp>
      <p:sp>
        <p:nvSpPr>
          <p:cNvPr id="5" name="Rectangle 4"/>
          <p:cNvSpPr/>
          <p:nvPr/>
        </p:nvSpPr>
        <p:spPr>
          <a:xfrm>
            <a:off x="502920"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Definition</a:t>
            </a:r>
          </a:p>
        </p:txBody>
      </p:sp>
      <p:sp>
        <p:nvSpPr>
          <p:cNvPr id="8" name="TextBox 7"/>
          <p:cNvSpPr txBox="1"/>
          <p:nvPr/>
        </p:nvSpPr>
        <p:spPr>
          <a:xfrm>
            <a:off x="667512"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Prompt, selected tools, skills and stores</a:t>
            </a:r>
          </a:p>
        </p:txBody>
      </p:sp>
      <p:sp>
        <p:nvSpPr>
          <p:cNvPr id="9" name="TextBox 8"/>
          <p:cNvSpPr txBox="1"/>
          <p:nvPr/>
        </p:nvSpPr>
        <p:spPr>
          <a:xfrm>
            <a:off x="3124962" y="3337560"/>
            <a:ext cx="228600" cy="365760"/>
          </a:xfrm>
          <a:prstGeom prst="rect">
            <a:avLst/>
          </a:prstGeom>
          <a:noFill/>
        </p:spPr>
        <p:txBody>
          <a:bodyPr wrap="square" lIns="0" rIns="0" tIns="0" bIns="0">
            <a:spAutoFit/>
          </a:bodyPr>
          <a:lstStyle/>
          <a:p>
            <a:pPr>
              <a:lnSpc>
                <a:spcPct val="112000"/>
              </a:lnSpc>
              <a:spcAft>
                <a:spcPts val="0"/>
              </a:spcAft>
              <a:defRPr sz="1900" b="1">
                <a:solidFill>
                  <a:srgbClr val="096B68"/>
                </a:solidFill>
                <a:latin typeface="Liberation Sans"/>
              </a:defRPr>
            </a:pPr>
            <a:r>
              <a:t>→</a:t>
            </a:r>
          </a:p>
        </p:txBody>
      </p:sp>
      <p:sp>
        <p:nvSpPr>
          <p:cNvPr id="10" name="Rectangle 9"/>
          <p:cNvSpPr/>
          <p:nvPr/>
        </p:nvSpPr>
        <p:spPr>
          <a:xfrm>
            <a:off x="3367278"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67278"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31870"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Trigger</a:t>
            </a:r>
          </a:p>
        </p:txBody>
      </p:sp>
      <p:sp>
        <p:nvSpPr>
          <p:cNvPr id="13" name="TextBox 12"/>
          <p:cNvSpPr txBox="1"/>
          <p:nvPr/>
        </p:nvSpPr>
        <p:spPr>
          <a:xfrm>
            <a:off x="3531870"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Manual, rate or cron; inspect next run</a:t>
            </a:r>
          </a:p>
        </p:txBody>
      </p:sp>
      <p:sp>
        <p:nvSpPr>
          <p:cNvPr id="14" name="TextBox 13"/>
          <p:cNvSpPr txBox="1"/>
          <p:nvPr/>
        </p:nvSpPr>
        <p:spPr>
          <a:xfrm>
            <a:off x="5989320" y="3337560"/>
            <a:ext cx="228600" cy="365760"/>
          </a:xfrm>
          <a:prstGeom prst="rect">
            <a:avLst/>
          </a:prstGeom>
          <a:noFill/>
        </p:spPr>
        <p:txBody>
          <a:bodyPr wrap="square" lIns="0" rIns="0" tIns="0" bIns="0">
            <a:spAutoFit/>
          </a:bodyPr>
          <a:lstStyle/>
          <a:p>
            <a:pPr>
              <a:lnSpc>
                <a:spcPct val="112000"/>
              </a:lnSpc>
              <a:spcAft>
                <a:spcPts val="0"/>
              </a:spcAft>
              <a:defRPr sz="1900" b="1">
                <a:solidFill>
                  <a:srgbClr val="096B68"/>
                </a:solidFill>
                <a:latin typeface="Liberation Sans"/>
              </a:defRPr>
            </a:pPr>
            <a:r>
              <a:t>→</a:t>
            </a:r>
          </a:p>
        </p:txBody>
      </p:sp>
      <p:sp>
        <p:nvSpPr>
          <p:cNvPr id="15" name="Rectangle 14"/>
          <p:cNvSpPr/>
          <p:nvPr/>
        </p:nvSpPr>
        <p:spPr>
          <a:xfrm>
            <a:off x="6231636"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96228"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Invocation</a:t>
            </a:r>
          </a:p>
        </p:txBody>
      </p:sp>
      <p:sp>
        <p:nvSpPr>
          <p:cNvPr id="18" name="TextBox 17"/>
          <p:cNvSpPr txBox="1"/>
          <p:nvPr/>
        </p:nvSpPr>
        <p:spPr>
          <a:xfrm>
            <a:off x="6396228"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History shows status and tool trajectory</a:t>
            </a:r>
          </a:p>
        </p:txBody>
      </p:sp>
      <p:sp>
        <p:nvSpPr>
          <p:cNvPr id="19" name="TextBox 18"/>
          <p:cNvSpPr txBox="1"/>
          <p:nvPr/>
        </p:nvSpPr>
        <p:spPr>
          <a:xfrm>
            <a:off x="8853678" y="3337560"/>
            <a:ext cx="228600" cy="365760"/>
          </a:xfrm>
          <a:prstGeom prst="rect">
            <a:avLst/>
          </a:prstGeom>
          <a:noFill/>
        </p:spPr>
        <p:txBody>
          <a:bodyPr wrap="square" lIns="0" rIns="0" tIns="0" bIns="0">
            <a:spAutoFit/>
          </a:bodyPr>
          <a:lstStyle/>
          <a:p>
            <a:pPr>
              <a:lnSpc>
                <a:spcPct val="112000"/>
              </a:lnSpc>
              <a:spcAft>
                <a:spcPts val="0"/>
              </a:spcAft>
              <a:defRPr sz="1900" b="1">
                <a:solidFill>
                  <a:srgbClr val="096B68"/>
                </a:solidFill>
                <a:latin typeface="Liberation Sans"/>
              </a:defRPr>
            </a:pPr>
            <a:r>
              <a:t>→</a:t>
            </a:r>
          </a:p>
        </p:txBody>
      </p:sp>
      <p:sp>
        <p:nvSpPr>
          <p:cNvPr id="20" name="Rectangle 19"/>
          <p:cNvSpPr/>
          <p:nvPr/>
        </p:nvSpPr>
        <p:spPr>
          <a:xfrm>
            <a:off x="9095994"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95994"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60586"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Stop controls</a:t>
            </a:r>
          </a:p>
        </p:txBody>
      </p:sp>
      <p:sp>
        <p:nvSpPr>
          <p:cNvPr id="23" name="TextBox 22"/>
          <p:cNvSpPr txBox="1"/>
          <p:nvPr/>
        </p:nvSpPr>
        <p:spPr>
          <a:xfrm>
            <a:off x="9260586"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Pause future starts; cancel existing work separately</a:t>
            </a:r>
          </a:p>
        </p:txBody>
      </p:sp>
      <p:sp>
        <p:nvSpPr>
          <p:cNvPr id="24" name="Rectangle 23"/>
          <p:cNvSpPr/>
          <p:nvPr/>
        </p:nvSpPr>
        <p:spPr>
          <a:xfrm>
            <a:off x="502920" y="5705856"/>
            <a:ext cx="11201400" cy="576072"/>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5833872"/>
            <a:ext cx="10835640" cy="338328"/>
          </a:xfrm>
          <a:prstGeom prst="rect">
            <a:avLst/>
          </a:prstGeom>
          <a:noFill/>
        </p:spPr>
        <p:txBody>
          <a:bodyPr wrap="square" lIns="0" rIns="0" tIns="0" bIns="0">
            <a:spAutoFit/>
          </a:bodyPr>
          <a:lstStyle/>
          <a:p>
            <a:pPr>
              <a:lnSpc>
                <a:spcPct val="112000"/>
              </a:lnSpc>
              <a:spcAft>
                <a:spcPts val="0"/>
              </a:spcAft>
              <a:defRPr sz="1700" b="0">
                <a:solidFill>
                  <a:srgbClr val="FFFFFF"/>
                </a:solidFill>
                <a:latin typeface="Liberation Sans"/>
              </a:defRPr>
            </a:pPr>
            <a:r>
              <a:t>In-flight calls may finish after cancellation; a schedule is not the data window.</a:t>
            </a:r>
          </a:p>
        </p:txBody>
      </p:sp>
      <p:sp>
        <p:nvSpPr>
          <p:cNvPr id="26" name="TextBox 25"/>
          <p:cNvSpPr txBox="1"/>
          <p:nvPr/>
        </p:nvSpPr>
        <p:spPr>
          <a:xfrm>
            <a:off x="502920" y="6446520"/>
            <a:ext cx="640080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D-07</a:t>
            </a:r>
          </a:p>
        </p:txBody>
      </p:sp>
      <p:sp>
        <p:nvSpPr>
          <p:cNvPr id="27" name="TextBox 26"/>
          <p:cNvSpPr txBox="1"/>
          <p:nvPr/>
        </p:nvSpPr>
        <p:spPr>
          <a:xfrm>
            <a:off x="7315200" y="6446520"/>
            <a:ext cx="438912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10 / 14     20:00–22:00  |  2 min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lnSpc>
                <a:spcPct val="112000"/>
              </a:lnSpc>
              <a:spcAft>
                <a:spcPts val="0"/>
              </a:spcAft>
              <a:defRPr sz="1100" b="1">
                <a:solidFill>
                  <a:srgbClr val="526579"/>
                </a:solidFill>
                <a:latin typeface="Liberation Sans"/>
              </a:defRPr>
            </a:pPr>
            <a:r>
              <a:t>AWS DEVOPS AGENT</a:t>
            </a:r>
          </a:p>
        </p:txBody>
      </p:sp>
      <p:sp>
        <p:nvSpPr>
          <p:cNvPr id="4" name="TextBox 3"/>
          <p:cNvSpPr txBox="1"/>
          <p:nvPr/>
        </p:nvSpPr>
        <p:spPr>
          <a:xfrm>
            <a:off x="502920" y="658368"/>
            <a:ext cx="11109960" cy="868680"/>
          </a:xfrm>
          <a:prstGeom prst="rect">
            <a:avLst/>
          </a:prstGeom>
          <a:noFill/>
        </p:spPr>
        <p:txBody>
          <a:bodyPr wrap="square" lIns="0" rIns="0" tIns="0" bIns="0">
            <a:spAutoFit/>
          </a:bodyPr>
          <a:lstStyle/>
          <a:p>
            <a:pPr>
              <a:lnSpc>
                <a:spcPct val="112000"/>
              </a:lnSpc>
              <a:spcAft>
                <a:spcPts val="0"/>
              </a:spcAft>
              <a:defRPr sz="3000" b="1">
                <a:solidFill>
                  <a:srgbClr val="172C43"/>
                </a:solidFill>
                <a:latin typeface="Liberation Sans"/>
              </a:defRPr>
            </a:pPr>
            <a:r>
              <a:t>Sandbox and directed actions have different boundaries</a:t>
            </a:r>
          </a:p>
        </p:txBody>
      </p:sp>
      <p:sp>
        <p:nvSpPr>
          <p:cNvPr id="5" name="Rectangle 4"/>
          <p:cNvSpPr/>
          <p:nvPr/>
        </p:nvSpPr>
        <p:spPr>
          <a:xfrm>
            <a:off x="502920" y="1828800"/>
            <a:ext cx="5472684"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828800"/>
            <a:ext cx="5472684"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2057400"/>
            <a:ext cx="5143500"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Sandbox</a:t>
            </a:r>
          </a:p>
        </p:txBody>
      </p:sp>
      <p:sp>
        <p:nvSpPr>
          <p:cNvPr id="8" name="TextBox 7"/>
          <p:cNvSpPr txBox="1"/>
          <p:nvPr/>
        </p:nvSpPr>
        <p:spPr>
          <a:xfrm>
            <a:off x="667512" y="3063240"/>
            <a:ext cx="5143500"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Fresh investigation-local environment; configured packages and outbound rules. Empty allowlist still permits AWS endpoints.</a:t>
            </a:r>
          </a:p>
        </p:txBody>
      </p:sp>
      <p:sp>
        <p:nvSpPr>
          <p:cNvPr id="9" name="Rectangle 8"/>
          <p:cNvSpPr/>
          <p:nvPr/>
        </p:nvSpPr>
        <p:spPr>
          <a:xfrm>
            <a:off x="6231636" y="1828800"/>
            <a:ext cx="5472684"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31636" y="1828800"/>
            <a:ext cx="5472684"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96228" y="2057400"/>
            <a:ext cx="5143500"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Directed actions</a:t>
            </a:r>
          </a:p>
        </p:txBody>
      </p:sp>
      <p:sp>
        <p:nvSpPr>
          <p:cNvPr id="12" name="TextBox 11"/>
          <p:cNvSpPr txBox="1"/>
          <p:nvPr/>
        </p:nvSpPr>
        <p:spPr>
          <a:xfrm>
            <a:off x="6396228" y="3063240"/>
            <a:ext cx="5143500"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Space opt-in, eligible access and specific operation/resource approval. Inspect classification and final state.</a:t>
            </a:r>
          </a:p>
        </p:txBody>
      </p:sp>
      <p:sp>
        <p:nvSpPr>
          <p:cNvPr id="13" name="Rectangle 12"/>
          <p:cNvSpPr/>
          <p:nvPr/>
        </p:nvSpPr>
        <p:spPr>
          <a:xfrm>
            <a:off x="502920" y="5705856"/>
            <a:ext cx="11201400" cy="576072"/>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5833872"/>
            <a:ext cx="10835640" cy="338328"/>
          </a:xfrm>
          <a:prstGeom prst="rect">
            <a:avLst/>
          </a:prstGeom>
          <a:noFill/>
        </p:spPr>
        <p:txBody>
          <a:bodyPr wrap="square" lIns="0" rIns="0" tIns="0" bIns="0">
            <a:spAutoFit/>
          </a:bodyPr>
          <a:lstStyle/>
          <a:p>
            <a:pPr>
              <a:lnSpc>
                <a:spcPct val="112000"/>
              </a:lnSpc>
              <a:spcAft>
                <a:spcPts val="0"/>
              </a:spcAft>
              <a:defRPr sz="1700" b="0">
                <a:solidFill>
                  <a:srgbClr val="FFFFFF"/>
                </a:solidFill>
                <a:latin typeface="Liberation Sans"/>
              </a:defRPr>
            </a:pPr>
            <a:r>
              <a:t>Application or tool effects must be reviewed; “read-only” is not a universal agent label.</a:t>
            </a:r>
          </a:p>
        </p:txBody>
      </p:sp>
      <p:sp>
        <p:nvSpPr>
          <p:cNvPr id="15" name="TextBox 14"/>
          <p:cNvSpPr txBox="1"/>
          <p:nvPr/>
        </p:nvSpPr>
        <p:spPr>
          <a:xfrm>
            <a:off x="502920" y="6446520"/>
            <a:ext cx="640080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D-M05 · D-M06</a:t>
            </a:r>
          </a:p>
        </p:txBody>
      </p:sp>
      <p:sp>
        <p:nvSpPr>
          <p:cNvPr id="16" name="TextBox 15"/>
          <p:cNvSpPr txBox="1"/>
          <p:nvPr/>
        </p:nvSpPr>
        <p:spPr>
          <a:xfrm>
            <a:off x="7315200" y="6446520"/>
            <a:ext cx="438912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11 / 14     22:00–25:00  |  3 min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lnSpc>
                <a:spcPct val="112000"/>
              </a:lnSpc>
              <a:spcAft>
                <a:spcPts val="0"/>
              </a:spcAft>
              <a:defRPr sz="1100" b="1">
                <a:solidFill>
                  <a:srgbClr val="526579"/>
                </a:solidFill>
                <a:latin typeface="Liberation Sans"/>
              </a:defRPr>
            </a:pPr>
            <a:r>
              <a:t>AWS DEVOPS AGENT</a:t>
            </a:r>
          </a:p>
        </p:txBody>
      </p:sp>
      <p:sp>
        <p:nvSpPr>
          <p:cNvPr id="4" name="TextBox 3"/>
          <p:cNvSpPr txBox="1"/>
          <p:nvPr/>
        </p:nvSpPr>
        <p:spPr>
          <a:xfrm>
            <a:off x="502920" y="658368"/>
            <a:ext cx="11109960" cy="868680"/>
          </a:xfrm>
          <a:prstGeom prst="rect">
            <a:avLst/>
          </a:prstGeom>
          <a:noFill/>
        </p:spPr>
        <p:txBody>
          <a:bodyPr wrap="square" lIns="0" rIns="0" tIns="0" bIns="0">
            <a:spAutoFit/>
          </a:bodyPr>
          <a:lstStyle/>
          <a:p>
            <a:pPr>
              <a:lnSpc>
                <a:spcPct val="112000"/>
              </a:lnSpc>
              <a:spcAft>
                <a:spcPts val="0"/>
              </a:spcAft>
              <a:defRPr sz="3000" b="1">
                <a:solidFill>
                  <a:srgbClr val="172C43"/>
                </a:solidFill>
                <a:latin typeface="Liberation Sans"/>
              </a:defRPr>
            </a:pPr>
            <a:r>
              <a:t>Update semantics are part of the operational contract</a:t>
            </a:r>
          </a:p>
        </p:txBody>
      </p:sp>
      <p:sp>
        <p:nvSpPr>
          <p:cNvPr id="5" name="Rectangle 4"/>
          <p:cNvSpPr/>
          <p:nvPr/>
        </p:nvSpPr>
        <p:spPr>
          <a:xfrm>
            <a:off x="502920" y="1755648"/>
            <a:ext cx="2377440" cy="948690"/>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 y="1865376"/>
            <a:ext cx="2121408" cy="756666"/>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Object</a:t>
            </a:r>
          </a:p>
        </p:txBody>
      </p:sp>
      <p:sp>
        <p:nvSpPr>
          <p:cNvPr id="7" name="Rectangle 6"/>
          <p:cNvSpPr/>
          <p:nvPr/>
        </p:nvSpPr>
        <p:spPr>
          <a:xfrm>
            <a:off x="2880360" y="1755648"/>
            <a:ext cx="3931920" cy="948690"/>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08376" y="1865376"/>
            <a:ext cx="3675887" cy="756666"/>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Update behavior</a:t>
            </a:r>
          </a:p>
        </p:txBody>
      </p:sp>
      <p:sp>
        <p:nvSpPr>
          <p:cNvPr id="9" name="Rectangle 8"/>
          <p:cNvSpPr/>
          <p:nvPr/>
        </p:nvSpPr>
        <p:spPr>
          <a:xfrm>
            <a:off x="6812280" y="1755648"/>
            <a:ext cx="4892040" cy="948690"/>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0296" y="1865376"/>
            <a:ext cx="4636007" cy="756666"/>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Avoid</a:t>
            </a:r>
          </a:p>
        </p:txBody>
      </p:sp>
      <p:sp>
        <p:nvSpPr>
          <p:cNvPr id="11" name="Rectangle 10"/>
          <p:cNvSpPr/>
          <p:nvPr/>
        </p:nvSpPr>
        <p:spPr>
          <a:xfrm>
            <a:off x="502920" y="2704338"/>
            <a:ext cx="237744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 y="2814066"/>
            <a:ext cx="2121408"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Asset metadata</a:t>
            </a:r>
          </a:p>
        </p:txBody>
      </p:sp>
      <p:sp>
        <p:nvSpPr>
          <p:cNvPr id="13" name="Rectangle 12"/>
          <p:cNvSpPr/>
          <p:nvPr/>
        </p:nvSpPr>
        <p:spPr>
          <a:xfrm>
            <a:off x="2880360" y="2704338"/>
            <a:ext cx="393192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08376" y="2814066"/>
            <a:ext cx="3675887"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PATCH semantics</a:t>
            </a:r>
          </a:p>
        </p:txBody>
      </p:sp>
      <p:sp>
        <p:nvSpPr>
          <p:cNvPr id="15" name="Rectangle 14"/>
          <p:cNvSpPr/>
          <p:nvPr/>
        </p:nvSpPr>
        <p:spPr>
          <a:xfrm>
            <a:off x="6812280" y="2704338"/>
            <a:ext cx="489204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0296" y="2814066"/>
            <a:ext cx="4636007"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Assuming names can replace required asset IDs</a:t>
            </a:r>
          </a:p>
        </p:txBody>
      </p:sp>
      <p:sp>
        <p:nvSpPr>
          <p:cNvPr id="17" name="Rectangle 16"/>
          <p:cNvSpPr/>
          <p:nvPr/>
        </p:nvSpPr>
        <p:spPr>
          <a:xfrm>
            <a:off x="502920" y="3653028"/>
            <a:ext cx="2377440" cy="948690"/>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 y="3762756"/>
            <a:ext cx="2121408"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Space preferences map</a:t>
            </a:r>
          </a:p>
        </p:txBody>
      </p:sp>
      <p:sp>
        <p:nvSpPr>
          <p:cNvPr id="19" name="Rectangle 18"/>
          <p:cNvSpPr/>
          <p:nvPr/>
        </p:nvSpPr>
        <p:spPr>
          <a:xfrm>
            <a:off x="2880360" y="3653028"/>
            <a:ext cx="3931920" cy="948690"/>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08376" y="3762756"/>
            <a:ext cx="3675887"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Replacement when supplied</a:t>
            </a:r>
          </a:p>
        </p:txBody>
      </p:sp>
      <p:sp>
        <p:nvSpPr>
          <p:cNvPr id="21" name="Rectangle 20"/>
          <p:cNvSpPr/>
          <p:nvPr/>
        </p:nvSpPr>
        <p:spPr>
          <a:xfrm>
            <a:off x="6812280" y="3653028"/>
            <a:ext cx="4892040" cy="948690"/>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40296" y="3762756"/>
            <a:ext cx="4636007"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Dropping existing values unintentionally</a:t>
            </a:r>
          </a:p>
        </p:txBody>
      </p:sp>
      <p:sp>
        <p:nvSpPr>
          <p:cNvPr id="23" name="Rectangle 22"/>
          <p:cNvSpPr/>
          <p:nvPr/>
        </p:nvSpPr>
        <p:spPr>
          <a:xfrm>
            <a:off x="502920" y="4601718"/>
            <a:ext cx="237744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6" y="4711446"/>
            <a:ext cx="2121408"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Memory entry</a:t>
            </a:r>
          </a:p>
        </p:txBody>
      </p:sp>
      <p:sp>
        <p:nvSpPr>
          <p:cNvPr id="25" name="Rectangle 24"/>
          <p:cNvSpPr/>
          <p:nvPr/>
        </p:nvSpPr>
        <p:spPr>
          <a:xfrm>
            <a:off x="2880360" y="4601718"/>
            <a:ext cx="393192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08376" y="4711446"/>
            <a:ext cx="3675887"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New immutable version</a:t>
            </a:r>
          </a:p>
        </p:txBody>
      </p:sp>
      <p:sp>
        <p:nvSpPr>
          <p:cNvPr id="27" name="Rectangle 26"/>
          <p:cNvSpPr/>
          <p:nvPr/>
        </p:nvSpPr>
        <p:spPr>
          <a:xfrm>
            <a:off x="6812280" y="4601718"/>
            <a:ext cx="489204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40296" y="4711446"/>
            <a:ext cx="4636007"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Treating edits as erased history</a:t>
            </a:r>
          </a:p>
        </p:txBody>
      </p:sp>
      <p:sp>
        <p:nvSpPr>
          <p:cNvPr id="29" name="Rectangle 28"/>
          <p:cNvSpPr/>
          <p:nvPr/>
        </p:nvSpPr>
        <p:spPr>
          <a:xfrm>
            <a:off x="502920" y="5705856"/>
            <a:ext cx="11201400" cy="576072"/>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5833872"/>
            <a:ext cx="10835640" cy="338328"/>
          </a:xfrm>
          <a:prstGeom prst="rect">
            <a:avLst/>
          </a:prstGeom>
          <a:noFill/>
        </p:spPr>
        <p:txBody>
          <a:bodyPr wrap="square" lIns="0" rIns="0" tIns="0" bIns="0">
            <a:spAutoFit/>
          </a:bodyPr>
          <a:lstStyle/>
          <a:p>
            <a:pPr>
              <a:lnSpc>
                <a:spcPct val="112000"/>
              </a:lnSpc>
              <a:spcAft>
                <a:spcPts val="0"/>
              </a:spcAft>
              <a:defRPr sz="1700" b="0">
                <a:solidFill>
                  <a:srgbClr val="FFFFFF"/>
                </a:solidFill>
                <a:latin typeface="Liberation Sans"/>
              </a:defRPr>
            </a:pPr>
            <a:r>
              <a:t>Read current configuration first, then verify the saved result.</a:t>
            </a:r>
          </a:p>
        </p:txBody>
      </p:sp>
      <p:sp>
        <p:nvSpPr>
          <p:cNvPr id="31" name="TextBox 30"/>
          <p:cNvSpPr txBox="1"/>
          <p:nvPr/>
        </p:nvSpPr>
        <p:spPr>
          <a:xfrm>
            <a:off x="502920" y="6446520"/>
            <a:ext cx="640080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D-08 · D-M06</a:t>
            </a:r>
          </a:p>
        </p:txBody>
      </p:sp>
      <p:sp>
        <p:nvSpPr>
          <p:cNvPr id="32" name="TextBox 31"/>
          <p:cNvSpPr txBox="1"/>
          <p:nvPr/>
        </p:nvSpPr>
        <p:spPr>
          <a:xfrm>
            <a:off x="7315200" y="6446520"/>
            <a:ext cx="438912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12 / 14     25:00–27:00  |  2 min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lnSpc>
                <a:spcPct val="112000"/>
              </a:lnSpc>
              <a:spcAft>
                <a:spcPts val="0"/>
              </a:spcAft>
              <a:defRPr sz="1100" b="1">
                <a:solidFill>
                  <a:srgbClr val="526579"/>
                </a:solidFill>
                <a:latin typeface="Liberation Sans"/>
              </a:defRPr>
            </a:pPr>
            <a:r>
              <a:t>AWS DEVOPS AGENT</a:t>
            </a:r>
          </a:p>
        </p:txBody>
      </p:sp>
      <p:sp>
        <p:nvSpPr>
          <p:cNvPr id="4" name="TextBox 3"/>
          <p:cNvSpPr txBox="1"/>
          <p:nvPr/>
        </p:nvSpPr>
        <p:spPr>
          <a:xfrm>
            <a:off x="502920" y="658368"/>
            <a:ext cx="11109960" cy="868680"/>
          </a:xfrm>
          <a:prstGeom prst="rect">
            <a:avLst/>
          </a:prstGeom>
          <a:noFill/>
        </p:spPr>
        <p:txBody>
          <a:bodyPr wrap="square" lIns="0" rIns="0" tIns="0" bIns="0">
            <a:spAutoFit/>
          </a:bodyPr>
          <a:lstStyle/>
          <a:p>
            <a:pPr>
              <a:lnSpc>
                <a:spcPct val="112000"/>
              </a:lnSpc>
              <a:spcAft>
                <a:spcPts val="0"/>
              </a:spcAft>
              <a:defRPr sz="3000" b="1">
                <a:solidFill>
                  <a:srgbClr val="172C43"/>
                </a:solidFill>
                <a:latin typeface="Liberation Sans"/>
              </a:defRPr>
            </a:pPr>
            <a:r>
              <a:t>Exercise: same alarm, different evidence</a:t>
            </a:r>
          </a:p>
        </p:txBody>
      </p:sp>
      <p:sp>
        <p:nvSpPr>
          <p:cNvPr id="5" name="Rectangle 4"/>
          <p:cNvSpPr/>
          <p:nvPr/>
        </p:nvSpPr>
        <p:spPr>
          <a:xfrm>
            <a:off x="502920" y="1755648"/>
            <a:ext cx="1097280" cy="758952"/>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 y="1865376"/>
            <a:ext cx="841247" cy="566928"/>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Time</a:t>
            </a:r>
          </a:p>
        </p:txBody>
      </p:sp>
      <p:sp>
        <p:nvSpPr>
          <p:cNvPr id="7" name="Rectangle 6"/>
          <p:cNvSpPr/>
          <p:nvPr/>
        </p:nvSpPr>
        <p:spPr>
          <a:xfrm>
            <a:off x="1600200" y="1755648"/>
            <a:ext cx="2834640" cy="758952"/>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728216" y="1865376"/>
            <a:ext cx="2578608" cy="566928"/>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Action</a:t>
            </a:r>
          </a:p>
        </p:txBody>
      </p:sp>
      <p:sp>
        <p:nvSpPr>
          <p:cNvPr id="9" name="Rectangle 8"/>
          <p:cNvSpPr/>
          <p:nvPr/>
        </p:nvSpPr>
        <p:spPr>
          <a:xfrm>
            <a:off x="4434840" y="1755648"/>
            <a:ext cx="7269480" cy="758952"/>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62855" y="1865376"/>
            <a:ext cx="7013448" cy="566928"/>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Prepared evidence</a:t>
            </a:r>
          </a:p>
        </p:txBody>
      </p:sp>
      <p:sp>
        <p:nvSpPr>
          <p:cNvPr id="11" name="Rectangle 10"/>
          <p:cNvSpPr/>
          <p:nvPr/>
        </p:nvSpPr>
        <p:spPr>
          <a:xfrm>
            <a:off x="502920" y="2514600"/>
            <a:ext cx="109728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 y="2624328"/>
            <a:ext cx="841247" cy="566928"/>
          </a:xfrm>
          <a:prstGeom prst="rect">
            <a:avLst/>
          </a:prstGeom>
          <a:noFill/>
        </p:spPr>
        <p:txBody>
          <a:bodyPr wrap="square" lIns="0" rIns="0" tIns="0" bIns="0">
            <a:spAutoFit/>
          </a:bodyPr>
          <a:lstStyle/>
          <a:p>
            <a:pPr>
              <a:lnSpc>
                <a:spcPct val="112000"/>
              </a:lnSpc>
              <a:spcAft>
                <a:spcPts val="0"/>
              </a:spcAft>
              <a:defRPr sz="1800" b="0">
                <a:solidFill>
                  <a:srgbClr val="172C43"/>
                </a:solidFill>
                <a:latin typeface="Liberation Sans"/>
              </a:defRPr>
            </a:pPr>
            <a:r>
              <a:t>0–2 min</a:t>
            </a:r>
          </a:p>
        </p:txBody>
      </p:sp>
      <p:sp>
        <p:nvSpPr>
          <p:cNvPr id="13" name="Rectangle 12"/>
          <p:cNvSpPr/>
          <p:nvPr/>
        </p:nvSpPr>
        <p:spPr>
          <a:xfrm>
            <a:off x="1600200" y="2514600"/>
            <a:ext cx="283464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728216" y="2624328"/>
            <a:ext cx="2578608" cy="566928"/>
          </a:xfrm>
          <a:prstGeom prst="rect">
            <a:avLst/>
          </a:prstGeom>
          <a:noFill/>
        </p:spPr>
        <p:txBody>
          <a:bodyPr wrap="square" lIns="0" rIns="0" tIns="0" bIns="0">
            <a:spAutoFit/>
          </a:bodyPr>
          <a:lstStyle/>
          <a:p>
            <a:pPr>
              <a:lnSpc>
                <a:spcPct val="112000"/>
              </a:lnSpc>
              <a:spcAft>
                <a:spcPts val="0"/>
              </a:spcAft>
              <a:defRPr sz="1800" b="0">
                <a:solidFill>
                  <a:srgbClr val="172C43"/>
                </a:solidFill>
                <a:latin typeface="Liberation Sans"/>
              </a:defRPr>
            </a:pPr>
            <a:r>
              <a:t>Inspect historical memory</a:t>
            </a:r>
          </a:p>
        </p:txBody>
      </p:sp>
      <p:sp>
        <p:nvSpPr>
          <p:cNvPr id="15" name="Rectangle 14"/>
          <p:cNvSpPr/>
          <p:nvPr/>
        </p:nvSpPr>
        <p:spPr>
          <a:xfrm>
            <a:off x="4434840" y="2514600"/>
            <a:ext cx="726948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62855" y="2624328"/>
            <a:ext cx="701344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Earlier database pool saturation</a:t>
            </a:r>
          </a:p>
        </p:txBody>
      </p:sp>
      <p:sp>
        <p:nvSpPr>
          <p:cNvPr id="17" name="Rectangle 16"/>
          <p:cNvSpPr/>
          <p:nvPr/>
        </p:nvSpPr>
        <p:spPr>
          <a:xfrm>
            <a:off x="502920" y="3273552"/>
            <a:ext cx="109728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 y="3383280"/>
            <a:ext cx="841247" cy="566928"/>
          </a:xfrm>
          <a:prstGeom prst="rect">
            <a:avLst/>
          </a:prstGeom>
          <a:noFill/>
        </p:spPr>
        <p:txBody>
          <a:bodyPr wrap="square" lIns="0" rIns="0" tIns="0" bIns="0">
            <a:spAutoFit/>
          </a:bodyPr>
          <a:lstStyle/>
          <a:p>
            <a:pPr>
              <a:lnSpc>
                <a:spcPct val="112000"/>
              </a:lnSpc>
              <a:spcAft>
                <a:spcPts val="0"/>
              </a:spcAft>
              <a:defRPr sz="1800" b="0">
                <a:solidFill>
                  <a:srgbClr val="172C43"/>
                </a:solidFill>
                <a:latin typeface="Liberation Sans"/>
              </a:defRPr>
            </a:pPr>
            <a:r>
              <a:t>2–4 min</a:t>
            </a:r>
          </a:p>
        </p:txBody>
      </p:sp>
      <p:sp>
        <p:nvSpPr>
          <p:cNvPr id="19" name="Rectangle 18"/>
          <p:cNvSpPr/>
          <p:nvPr/>
        </p:nvSpPr>
        <p:spPr>
          <a:xfrm>
            <a:off x="1600200" y="3273552"/>
            <a:ext cx="283464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728216" y="3383280"/>
            <a:ext cx="257860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Compare new fixture</a:t>
            </a:r>
          </a:p>
        </p:txBody>
      </p:sp>
      <p:sp>
        <p:nvSpPr>
          <p:cNvPr id="21" name="Rectangle 20"/>
          <p:cNvSpPr/>
          <p:nvPr/>
        </p:nvSpPr>
        <p:spPr>
          <a:xfrm>
            <a:off x="4434840" y="3273552"/>
            <a:ext cx="726948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62855" y="3383280"/>
            <a:ext cx="701344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DB 34/100 connections; query p95 18 ms</a:t>
            </a:r>
          </a:p>
        </p:txBody>
      </p:sp>
      <p:sp>
        <p:nvSpPr>
          <p:cNvPr id="23" name="Rectangle 22"/>
          <p:cNvSpPr/>
          <p:nvPr/>
        </p:nvSpPr>
        <p:spPr>
          <a:xfrm>
            <a:off x="502920" y="4032504"/>
            <a:ext cx="109728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6" y="4142232"/>
            <a:ext cx="841247" cy="566928"/>
          </a:xfrm>
          <a:prstGeom prst="rect">
            <a:avLst/>
          </a:prstGeom>
          <a:noFill/>
        </p:spPr>
        <p:txBody>
          <a:bodyPr wrap="square" lIns="0" rIns="0" tIns="0" bIns="0">
            <a:spAutoFit/>
          </a:bodyPr>
          <a:lstStyle/>
          <a:p>
            <a:pPr>
              <a:lnSpc>
                <a:spcPct val="112000"/>
              </a:lnSpc>
              <a:spcAft>
                <a:spcPts val="0"/>
              </a:spcAft>
              <a:defRPr sz="1800" b="0">
                <a:solidFill>
                  <a:srgbClr val="172C43"/>
                </a:solidFill>
                <a:latin typeface="Liberation Sans"/>
              </a:defRPr>
            </a:pPr>
            <a:r>
              <a:t>4–6 min</a:t>
            </a:r>
          </a:p>
        </p:txBody>
      </p:sp>
      <p:sp>
        <p:nvSpPr>
          <p:cNvPr id="25" name="Rectangle 24"/>
          <p:cNvSpPr/>
          <p:nvPr/>
        </p:nvSpPr>
        <p:spPr>
          <a:xfrm>
            <a:off x="1600200" y="4032504"/>
            <a:ext cx="283464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728216" y="4142232"/>
            <a:ext cx="257860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Evaluate current lead</a:t>
            </a:r>
          </a:p>
        </p:txBody>
      </p:sp>
      <p:sp>
        <p:nvSpPr>
          <p:cNvPr id="27" name="Rectangle 26"/>
          <p:cNvSpPr/>
          <p:nvPr/>
        </p:nvSpPr>
        <p:spPr>
          <a:xfrm>
            <a:off x="4434840" y="4032504"/>
            <a:ext cx="726948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62855" y="4142232"/>
            <a:ext cx="701344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Inventory p95 2,900 ms; checkout 3,100 ms</a:t>
            </a:r>
          </a:p>
        </p:txBody>
      </p:sp>
      <p:sp>
        <p:nvSpPr>
          <p:cNvPr id="29" name="Rectangle 28"/>
          <p:cNvSpPr/>
          <p:nvPr/>
        </p:nvSpPr>
        <p:spPr>
          <a:xfrm>
            <a:off x="502920" y="4791456"/>
            <a:ext cx="109728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0936" y="4901184"/>
            <a:ext cx="841247" cy="566928"/>
          </a:xfrm>
          <a:prstGeom prst="rect">
            <a:avLst/>
          </a:prstGeom>
          <a:noFill/>
        </p:spPr>
        <p:txBody>
          <a:bodyPr wrap="square" lIns="0" rIns="0" tIns="0" bIns="0">
            <a:spAutoFit/>
          </a:bodyPr>
          <a:lstStyle/>
          <a:p>
            <a:pPr>
              <a:lnSpc>
                <a:spcPct val="112000"/>
              </a:lnSpc>
              <a:spcAft>
                <a:spcPts val="0"/>
              </a:spcAft>
              <a:defRPr sz="1800" b="0">
                <a:solidFill>
                  <a:srgbClr val="172C43"/>
                </a:solidFill>
                <a:latin typeface="Liberation Sans"/>
              </a:defRPr>
            </a:pPr>
            <a:r>
              <a:t>6–8 min</a:t>
            </a:r>
          </a:p>
        </p:txBody>
      </p:sp>
      <p:sp>
        <p:nvSpPr>
          <p:cNvPr id="31" name="Rectangle 30"/>
          <p:cNvSpPr/>
          <p:nvPr/>
        </p:nvSpPr>
        <p:spPr>
          <a:xfrm>
            <a:off x="1600200" y="4791456"/>
            <a:ext cx="283464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728216" y="4901184"/>
            <a:ext cx="257860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Record the boundary</a:t>
            </a:r>
          </a:p>
        </p:txBody>
      </p:sp>
      <p:sp>
        <p:nvSpPr>
          <p:cNvPr id="33" name="Rectangle 32"/>
          <p:cNvSpPr/>
          <p:nvPr/>
        </p:nvSpPr>
        <p:spPr>
          <a:xfrm>
            <a:off x="4434840" y="4791456"/>
            <a:ext cx="726948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62855" y="4901184"/>
            <a:ext cx="701344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Upstream lead supported; internal cause unresolved</a:t>
            </a:r>
          </a:p>
        </p:txBody>
      </p:sp>
      <p:sp>
        <p:nvSpPr>
          <p:cNvPr id="35" name="Rectangle 34"/>
          <p:cNvSpPr/>
          <p:nvPr/>
        </p:nvSpPr>
        <p:spPr>
          <a:xfrm>
            <a:off x="502920" y="5705856"/>
            <a:ext cx="11201400" cy="576072"/>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800" y="5833872"/>
            <a:ext cx="10835640" cy="338328"/>
          </a:xfrm>
          <a:prstGeom prst="rect">
            <a:avLst/>
          </a:prstGeom>
          <a:noFill/>
        </p:spPr>
        <p:txBody>
          <a:bodyPr wrap="square" lIns="0" rIns="0" tIns="0" bIns="0">
            <a:spAutoFit/>
          </a:bodyPr>
          <a:lstStyle/>
          <a:p>
            <a:pPr>
              <a:lnSpc>
                <a:spcPct val="112000"/>
              </a:lnSpc>
              <a:spcAft>
                <a:spcPts val="0"/>
              </a:spcAft>
              <a:defRPr sz="1700" b="0">
                <a:solidFill>
                  <a:srgbClr val="FFFFFF"/>
                </a:solidFill>
                <a:latin typeface="Liberation Sans"/>
              </a:defRPr>
            </a:pPr>
            <a:r>
              <a:t>Synthetic prepared-result exercise. Do not claim observed AWS recall or a proven deployment cause.</a:t>
            </a:r>
          </a:p>
        </p:txBody>
      </p:sp>
      <p:sp>
        <p:nvSpPr>
          <p:cNvPr id="37" name="TextBox 36"/>
          <p:cNvSpPr txBox="1"/>
          <p:nvPr/>
        </p:nvSpPr>
        <p:spPr>
          <a:xfrm>
            <a:off x="502920" y="6446520"/>
            <a:ext cx="640080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D-U01 · D-M01 · D-M02</a:t>
            </a:r>
          </a:p>
        </p:txBody>
      </p:sp>
      <p:sp>
        <p:nvSpPr>
          <p:cNvPr id="38" name="TextBox 37"/>
          <p:cNvSpPr txBox="1"/>
          <p:nvPr/>
        </p:nvSpPr>
        <p:spPr>
          <a:xfrm>
            <a:off x="7315200" y="6446520"/>
            <a:ext cx="438912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13 / 14     27:00–35:00  |  8 min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lnSpc>
                <a:spcPct val="112000"/>
              </a:lnSpc>
              <a:spcAft>
                <a:spcPts val="0"/>
              </a:spcAft>
              <a:defRPr sz="1100" b="1">
                <a:solidFill>
                  <a:srgbClr val="526579"/>
                </a:solidFill>
                <a:latin typeface="Liberation Sans"/>
              </a:defRPr>
            </a:pPr>
            <a:r>
              <a:t>AWS DEVOPS AGENT</a:t>
            </a:r>
          </a:p>
        </p:txBody>
      </p:sp>
      <p:sp>
        <p:nvSpPr>
          <p:cNvPr id="4" name="TextBox 3"/>
          <p:cNvSpPr txBox="1"/>
          <p:nvPr/>
        </p:nvSpPr>
        <p:spPr>
          <a:xfrm>
            <a:off x="502920" y="658368"/>
            <a:ext cx="11109960" cy="868680"/>
          </a:xfrm>
          <a:prstGeom prst="rect">
            <a:avLst/>
          </a:prstGeom>
          <a:noFill/>
        </p:spPr>
        <p:txBody>
          <a:bodyPr wrap="square" lIns="0" rIns="0" tIns="0" bIns="0">
            <a:spAutoFit/>
          </a:bodyPr>
          <a:lstStyle/>
          <a:p>
            <a:pPr>
              <a:lnSpc>
                <a:spcPct val="112000"/>
              </a:lnSpc>
              <a:spcAft>
                <a:spcPts val="0"/>
              </a:spcAft>
              <a:defRPr sz="3000" b="1">
                <a:solidFill>
                  <a:srgbClr val="172C43"/>
                </a:solidFill>
                <a:latin typeface="Liberation Sans"/>
              </a:defRPr>
            </a:pPr>
            <a:r>
              <a:t>Diagnose the failing layer, then retest</a:t>
            </a:r>
          </a:p>
        </p:txBody>
      </p:sp>
      <p:sp>
        <p:nvSpPr>
          <p:cNvPr id="5" name="Rectangle 4"/>
          <p:cNvSpPr/>
          <p:nvPr/>
        </p:nvSpPr>
        <p:spPr>
          <a:xfrm>
            <a:off x="502920" y="1828800"/>
            <a:ext cx="3563112"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828800"/>
            <a:ext cx="3563112"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2057400"/>
            <a:ext cx="3233928"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Access and connectivity</a:t>
            </a:r>
          </a:p>
        </p:txBody>
      </p:sp>
      <p:sp>
        <p:nvSpPr>
          <p:cNvPr id="8" name="TextBox 7"/>
          <p:cNvSpPr txBox="1"/>
          <p:nvPr/>
        </p:nvSpPr>
        <p:spPr>
          <a:xfrm>
            <a:off x="667512" y="3063240"/>
            <a:ext cx="3233928"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Check operator identity, source role, provider association, route and endpoint port.</a:t>
            </a:r>
          </a:p>
        </p:txBody>
      </p:sp>
      <p:sp>
        <p:nvSpPr>
          <p:cNvPr id="9" name="Rectangle 8"/>
          <p:cNvSpPr/>
          <p:nvPr/>
        </p:nvSpPr>
        <p:spPr>
          <a:xfrm>
            <a:off x="4322064" y="1828800"/>
            <a:ext cx="3563112"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22064" y="1828800"/>
            <a:ext cx="3563112"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6656" y="2057400"/>
            <a:ext cx="3233928"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Context and execution</a:t>
            </a:r>
          </a:p>
        </p:txBody>
      </p:sp>
      <p:sp>
        <p:nvSpPr>
          <p:cNvPr id="12" name="TextBox 11"/>
          <p:cNvSpPr txBox="1"/>
          <p:nvPr/>
        </p:nvSpPr>
        <p:spPr>
          <a:xfrm>
            <a:off x="4486656" y="3063240"/>
            <a:ext cx="3233928"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Check activation, descriptions, attachments, session start and concurrency.</a:t>
            </a:r>
          </a:p>
        </p:txBody>
      </p:sp>
      <p:sp>
        <p:nvSpPr>
          <p:cNvPr id="13" name="Rectangle 12"/>
          <p:cNvSpPr/>
          <p:nvPr/>
        </p:nvSpPr>
        <p:spPr>
          <a:xfrm>
            <a:off x="8141208" y="1828800"/>
            <a:ext cx="3563112"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41208" y="1828800"/>
            <a:ext cx="3563112"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5800" y="2057400"/>
            <a:ext cx="3233928"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Changes and coverage</a:t>
            </a:r>
          </a:p>
        </p:txBody>
      </p:sp>
      <p:sp>
        <p:nvSpPr>
          <p:cNvPr id="16" name="TextBox 15"/>
          <p:cNvSpPr txBox="1"/>
          <p:nvPr/>
        </p:nvSpPr>
        <p:spPr>
          <a:xfrm>
            <a:off x="8305800" y="3063240"/>
            <a:ext cx="3233928"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Check exact approval and update semantics; consult current quotas and feature eligibility.</a:t>
            </a:r>
          </a:p>
        </p:txBody>
      </p:sp>
      <p:sp>
        <p:nvSpPr>
          <p:cNvPr id="17" name="Rectangle 16"/>
          <p:cNvSpPr/>
          <p:nvPr/>
        </p:nvSpPr>
        <p:spPr>
          <a:xfrm>
            <a:off x="502920" y="5705856"/>
            <a:ext cx="11201400" cy="576072"/>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5833872"/>
            <a:ext cx="10835640" cy="338328"/>
          </a:xfrm>
          <a:prstGeom prst="rect">
            <a:avLst/>
          </a:prstGeom>
          <a:noFill/>
        </p:spPr>
        <p:txBody>
          <a:bodyPr wrap="square" lIns="0" rIns="0" tIns="0" bIns="0">
            <a:spAutoFit/>
          </a:bodyPr>
          <a:lstStyle/>
          <a:p>
            <a:pPr>
              <a:lnSpc>
                <a:spcPct val="112000"/>
              </a:lnSpc>
              <a:spcAft>
                <a:spcPts val="0"/>
              </a:spcAft>
              <a:defRPr sz="1700" b="0">
                <a:solidFill>
                  <a:srgbClr val="FFFFFF"/>
                </a:solidFill>
                <a:latin typeface="Liberation Sans"/>
              </a:defRPr>
            </a:pPr>
            <a:r>
              <a:t>Full remote-protocol and release-profile procedures remain linked scope, not completed live tests.</a:t>
            </a:r>
          </a:p>
        </p:txBody>
      </p:sp>
      <p:sp>
        <p:nvSpPr>
          <p:cNvPr id="19" name="TextBox 18"/>
          <p:cNvSpPr txBox="1"/>
          <p:nvPr/>
        </p:nvSpPr>
        <p:spPr>
          <a:xfrm>
            <a:off x="502920" y="6446520"/>
            <a:ext cx="640080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D-10 · D-11</a:t>
            </a:r>
          </a:p>
        </p:txBody>
      </p:sp>
      <p:sp>
        <p:nvSpPr>
          <p:cNvPr id="20" name="TextBox 19"/>
          <p:cNvSpPr txBox="1"/>
          <p:nvPr/>
        </p:nvSpPr>
        <p:spPr>
          <a:xfrm>
            <a:off x="7315200" y="6446520"/>
            <a:ext cx="438912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14 / 14     35:00–37:00  |  2 min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0080"/>
            <a:ext cx="10972800" cy="914400"/>
          </a:xfrm>
          <a:prstGeom prst="rect">
            <a:avLst/>
          </a:prstGeom>
          <a:noFill/>
        </p:spPr>
        <p:txBody>
          <a:bodyPr wrap="square" lIns="0" rIns="0" tIns="0" bIns="0">
            <a:spAutoFit/>
          </a:bodyPr>
          <a:lstStyle/>
          <a:p>
            <a:pPr>
              <a:lnSpc>
                <a:spcPct val="112000"/>
              </a:lnSpc>
              <a:spcAft>
                <a:spcPts val="0"/>
              </a:spcAft>
              <a:defRPr sz="3200" b="1">
                <a:solidFill>
                  <a:srgbClr val="172C43"/>
                </a:solidFill>
                <a:latin typeface="Liberation Sans"/>
              </a:defRPr>
            </a:pPr>
            <a:r>
              <a:t>Evidence and use of this presentation</a:t>
            </a:r>
          </a:p>
        </p:txBody>
      </p:sp>
      <p:sp>
        <p:nvSpPr>
          <p:cNvPr id="4" name="TextBox 3"/>
          <p:cNvSpPr txBox="1"/>
          <p:nvPr/>
        </p:nvSpPr>
        <p:spPr>
          <a:xfrm>
            <a:off x="548640" y="1828800"/>
            <a:ext cx="2103120" cy="594360"/>
          </a:xfrm>
          <a:prstGeom prst="rect">
            <a:avLst/>
          </a:prstGeom>
          <a:noFill/>
        </p:spPr>
        <p:txBody>
          <a:bodyPr wrap="square" lIns="0" rIns="0" tIns="0" bIns="0">
            <a:spAutoFit/>
          </a:bodyPr>
          <a:lstStyle/>
          <a:p>
            <a:pPr>
              <a:lnSpc>
                <a:spcPct val="112000"/>
              </a:lnSpc>
              <a:spcAft>
                <a:spcPts val="0"/>
              </a:spcAft>
              <a:defRPr sz="1800" b="1">
                <a:solidFill>
                  <a:srgbClr val="172C43"/>
                </a:solidFill>
                <a:latin typeface="Liberation Sans"/>
              </a:defRPr>
            </a:pPr>
            <a:r>
              <a:t>Canonical guide</a:t>
            </a:r>
          </a:p>
        </p:txBody>
      </p:sp>
      <p:sp>
        <p:nvSpPr>
          <p:cNvPr id="5" name="TextBox 4"/>
          <p:cNvSpPr txBox="1"/>
          <p:nvPr/>
        </p:nvSpPr>
        <p:spPr>
          <a:xfrm>
            <a:off x="2880360" y="1828800"/>
            <a:ext cx="8641080" cy="658368"/>
          </a:xfrm>
          <a:prstGeom prst="rect">
            <a:avLst/>
          </a:prstGeom>
          <a:noFill/>
        </p:spPr>
        <p:txBody>
          <a:bodyPr wrap="square" lIns="0" rIns="0" tIns="0" bIns="0">
            <a:spAutoFit/>
          </a:bodyPr>
          <a:lstStyle/>
          <a:p>
            <a:pPr>
              <a:lnSpc>
                <a:spcPct val="112000"/>
              </a:lnSpc>
              <a:spcAft>
                <a:spcPts val="0"/>
              </a:spcAft>
              <a:defRPr sz="2000" b="0">
                <a:solidFill>
                  <a:srgbClr val="172C43"/>
                </a:solidFill>
                <a:latin typeface="Liberation Sans"/>
              </a:defRPr>
            </a:pPr>
            <a:r>
              <a:t>guides/devops.md — resource model, procedures, mechanisms, troubleshooting and worked example.</a:t>
            </a:r>
          </a:p>
        </p:txBody>
      </p:sp>
      <p:sp>
        <p:nvSpPr>
          <p:cNvPr id="6" name="TextBox 5"/>
          <p:cNvSpPr txBox="1"/>
          <p:nvPr/>
        </p:nvSpPr>
        <p:spPr>
          <a:xfrm>
            <a:off x="548640" y="2724912"/>
            <a:ext cx="2103120" cy="594360"/>
          </a:xfrm>
          <a:prstGeom prst="rect">
            <a:avLst/>
          </a:prstGeom>
          <a:noFill/>
        </p:spPr>
        <p:txBody>
          <a:bodyPr wrap="square" lIns="0" rIns="0" tIns="0" bIns="0">
            <a:spAutoFit/>
          </a:bodyPr>
          <a:lstStyle/>
          <a:p>
            <a:pPr>
              <a:lnSpc>
                <a:spcPct val="112000"/>
              </a:lnSpc>
              <a:spcAft>
                <a:spcPts val="0"/>
              </a:spcAft>
              <a:defRPr sz="1800" b="1">
                <a:solidFill>
                  <a:srgbClr val="172C43"/>
                </a:solidFill>
                <a:latin typeface="Liberation Sans"/>
              </a:defRPr>
            </a:pPr>
            <a:r>
              <a:t>Source traceability</a:t>
            </a:r>
          </a:p>
        </p:txBody>
      </p:sp>
      <p:sp>
        <p:nvSpPr>
          <p:cNvPr id="7" name="TextBox 6"/>
          <p:cNvSpPr txBox="1"/>
          <p:nvPr/>
        </p:nvSpPr>
        <p:spPr>
          <a:xfrm>
            <a:off x="2880360" y="2724912"/>
            <a:ext cx="8641080" cy="658368"/>
          </a:xfrm>
          <a:prstGeom prst="rect">
            <a:avLst/>
          </a:prstGeom>
          <a:noFill/>
        </p:spPr>
        <p:txBody>
          <a:bodyPr wrap="square" lIns="0" rIns="0" tIns="0" bIns="0">
            <a:spAutoFit/>
          </a:bodyPr>
          <a:lstStyle/>
          <a:p>
            <a:pPr>
              <a:lnSpc>
                <a:spcPct val="112000"/>
              </a:lnSpc>
              <a:spcAft>
                <a:spcPts val="0"/>
              </a:spcAft>
              <a:defRPr sz="2000" b="0">
                <a:solidFill>
                  <a:srgbClr val="172C43"/>
                </a:solidFill>
                <a:latin typeface="Liberation Sans"/>
              </a:defRPr>
            </a:pPr>
            <a:r>
              <a:t>Every content slide names guide sections. Speaker notes include the related guide text and official AWS source URLs.</a:t>
            </a:r>
          </a:p>
        </p:txBody>
      </p:sp>
      <p:sp>
        <p:nvSpPr>
          <p:cNvPr id="8" name="TextBox 7"/>
          <p:cNvSpPr txBox="1"/>
          <p:nvPr/>
        </p:nvSpPr>
        <p:spPr>
          <a:xfrm>
            <a:off x="548640" y="3621024"/>
            <a:ext cx="2103120" cy="594360"/>
          </a:xfrm>
          <a:prstGeom prst="rect">
            <a:avLst/>
          </a:prstGeom>
          <a:noFill/>
        </p:spPr>
        <p:txBody>
          <a:bodyPr wrap="square" lIns="0" rIns="0" tIns="0" bIns="0">
            <a:spAutoFit/>
          </a:bodyPr>
          <a:lstStyle/>
          <a:p>
            <a:pPr>
              <a:lnSpc>
                <a:spcPct val="112000"/>
              </a:lnSpc>
              <a:spcAft>
                <a:spcPts val="0"/>
              </a:spcAft>
              <a:defRPr sz="1800" b="1">
                <a:solidFill>
                  <a:srgbClr val="172C43"/>
                </a:solidFill>
                <a:latin typeface="Liberation Sans"/>
              </a:defRPr>
            </a:pPr>
            <a:r>
              <a:t>Delivery boundary</a:t>
            </a:r>
          </a:p>
        </p:txBody>
      </p:sp>
      <p:sp>
        <p:nvSpPr>
          <p:cNvPr id="9" name="TextBox 8"/>
          <p:cNvSpPr txBox="1"/>
          <p:nvPr/>
        </p:nvSpPr>
        <p:spPr>
          <a:xfrm>
            <a:off x="2880360" y="3621024"/>
            <a:ext cx="8641080" cy="658368"/>
          </a:xfrm>
          <a:prstGeom prst="rect">
            <a:avLst/>
          </a:prstGeom>
          <a:noFill/>
        </p:spPr>
        <p:txBody>
          <a:bodyPr wrap="square" lIns="0" rIns="0" tIns="0" bIns="0">
            <a:spAutoFit/>
          </a:bodyPr>
          <a:lstStyle/>
          <a:p>
            <a:pPr>
              <a:lnSpc>
                <a:spcPct val="112000"/>
              </a:lnSpc>
              <a:spcAft>
                <a:spcPts val="0"/>
              </a:spcAft>
              <a:defRPr sz="2000" b="0">
                <a:solidFill>
                  <a:srgbClr val="172C43"/>
                </a:solidFill>
                <a:latin typeface="Liberation Sans"/>
              </a:defRPr>
            </a:pPr>
            <a:r>
              <a:t>Presentation time includes the prepared-result exercise. No live AWS execution, measured benefit or exhaustive product coverage is asserted.</a:t>
            </a:r>
          </a:p>
        </p:txBody>
      </p:sp>
      <p:sp>
        <p:nvSpPr>
          <p:cNvPr id="10" name="TextBox 9"/>
          <p:cNvSpPr txBox="1"/>
          <p:nvPr/>
        </p:nvSpPr>
        <p:spPr>
          <a:xfrm>
            <a:off x="548640" y="4517136"/>
            <a:ext cx="2103120" cy="594360"/>
          </a:xfrm>
          <a:prstGeom prst="rect">
            <a:avLst/>
          </a:prstGeom>
          <a:noFill/>
        </p:spPr>
        <p:txBody>
          <a:bodyPr wrap="square" lIns="0" rIns="0" tIns="0" bIns="0">
            <a:spAutoFit/>
          </a:bodyPr>
          <a:lstStyle/>
          <a:p>
            <a:pPr>
              <a:lnSpc>
                <a:spcPct val="112000"/>
              </a:lnSpc>
              <a:spcAft>
                <a:spcPts val="0"/>
              </a:spcAft>
              <a:defRPr sz="1800" b="1">
                <a:solidFill>
                  <a:srgbClr val="172C43"/>
                </a:solidFill>
                <a:latin typeface="Liberation Sans"/>
              </a:defRPr>
            </a:pPr>
            <a:r>
              <a:t>Scope decisions</a:t>
            </a:r>
          </a:p>
        </p:txBody>
      </p:sp>
      <p:sp>
        <p:nvSpPr>
          <p:cNvPr id="11" name="TextBox 10"/>
          <p:cNvSpPr txBox="1"/>
          <p:nvPr/>
        </p:nvSpPr>
        <p:spPr>
          <a:xfrm>
            <a:off x="2880360" y="4517136"/>
            <a:ext cx="8641080" cy="658368"/>
          </a:xfrm>
          <a:prstGeom prst="rect">
            <a:avLst/>
          </a:prstGeom>
          <a:noFill/>
        </p:spPr>
        <p:txBody>
          <a:bodyPr wrap="square" lIns="0" rIns="0" tIns="0" bIns="0">
            <a:spAutoFit/>
          </a:bodyPr>
          <a:lstStyle/>
          <a:p>
            <a:pPr>
              <a:lnSpc>
                <a:spcPct val="112000"/>
              </a:lnSpc>
              <a:spcAft>
                <a:spcPts val="0"/>
              </a:spcAft>
              <a:defRPr sz="2000" b="0">
                <a:solidFill>
                  <a:srgbClr val="172C43"/>
                </a:solidFill>
                <a:latin typeface="Liberation Sans"/>
              </a:defRPr>
            </a:pPr>
            <a:r>
              <a:t>Read the coverage and source-version notes before extending this material to another feature, Region or provider.</a:t>
            </a:r>
          </a:p>
        </p:txBody>
      </p:sp>
      <p:sp>
        <p:nvSpPr>
          <p:cNvPr id="12" name="TextBox 11"/>
          <p:cNvSpPr txBox="1"/>
          <p:nvPr/>
        </p:nvSpPr>
        <p:spPr>
          <a:xfrm>
            <a:off x="502920" y="6446520"/>
            <a:ext cx="10972800" cy="201168"/>
          </a:xfrm>
          <a:prstGeom prst="rect">
            <a:avLst/>
          </a:prstGeom>
          <a:noFill/>
        </p:spPr>
        <p:txBody>
          <a:bodyPr wrap="square" lIns="0" rIns="0" tIns="0" bIns="0">
            <a:spAutoFit/>
          </a:bodyPr>
          <a:lstStyle/>
          <a:p>
            <a:pPr>
              <a:lnSpc>
                <a:spcPct val="112000"/>
              </a:lnSpc>
              <a:spcAft>
                <a:spcPts val="0"/>
              </a:spcAft>
              <a:defRPr sz="1100" b="0">
                <a:solidFill>
                  <a:srgbClr val="526579"/>
                </a:solidFill>
                <a:latin typeface="Liberation Sans"/>
              </a:defRPr>
            </a:pPr>
            <a:r>
              <a:t>UNTIMED APPENDIX · 2026-10-22-canonical-guides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AWS DevOps Agent — engineering presentation</dc:title>
  <dc:subject>Canonical guide 2026-10-22-canonical-guides</dc:subject>
  <dc:creator>Engineering documentation</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