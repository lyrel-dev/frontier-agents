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deck remains scoped to the application-security capabilities in the original report. On-demand penetration testing is generally available; design review, code review, threat modeling and CI/CD integration have their own preview status. The demonstration uses an authorized staging application and a prepared evidence package, not an unapproved real-world target.</a:t>
            </a:r>
          </a:p>
          <a:p/>
          <a:p>
            <a:r>
              <a:t>Official evidence:</a:t>
            </a:r>
          </a:p>
          <a:p>
            <a:r>
              <a:t>S04 — What is AWS Security Agent?: https://docs.aws.amazon.com/securityagent/latest/userguide/what-is.html</a:t>
            </a:r>
          </a:p>
          <a:p>
            <a:r>
              <a:t>S03 — On-demand penetration testing generally available: https://aws.amazon.com/about-aws/whats-new/2026/03/aws-security-agent-ondemand-penetration/</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The lifecycle view explains why a single “security agent” label is insufficient. A design review examines documents, a threat model proposes attack scenarios, source review examines code, and penetration testing exercises a running target. They produce different evidence and have different potential side effects. Availability is also feature-specific, so an organization can adopt the GA testing path without making the same approval decision for every preview capability.</a:t>
            </a:r>
          </a:p>
          <a:p/>
          <a:p>
            <a:r>
              <a:t>Official evidence:</a:t>
            </a:r>
          </a:p>
          <a:p>
            <a:r>
              <a:t>S03 — On-demand penetration testing generally available: https://aws.amazon.com/about-aws/whats-new/2026/03/aws-security-agent-ondemand-penetration/</a:t>
            </a:r>
          </a:p>
          <a:p>
            <a:r>
              <a:t>S05 — Pricing and billing: https://docs.aws.amazon.com/securityagent/latest/userguide/pricing.html</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02:00–03:15; allocated 01:15.</a:t>
            </a:r>
          </a:p>
          <a:p/>
          <a:p>
            <a:r>
              <a:t>The illustrative application has tenant-specific administration endpoints. The team wants to know whether an ordinary test identity can affect another tenant. No actual vulnerability is asserted here. Define dedicated tenants and identities, use synthetic data and keep all actions within the authorized staging scope. A useful result contains evidence and a clear affected path; closure requires a deployed fix and a focused reassessment.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03:15–04:45; allocated 01:30.</a:t>
            </a:r>
          </a:p>
          <a:p/>
          <a:p>
            <a:r>
              <a:t>Domain verification is a product prerequisite, not a substitute for organizational authorization. Scope must cover the target, identities and any third-party or downstream services that might be exercised. A sandboxed worker can still mutate the application it reaches. Isolate the target data and disable payment, notification and other irreversible side effects. Assign a human stop owner with independent visibility of target health.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04:45–06:00; allocated 01:15.</a:t>
            </a:r>
          </a:p>
          <a:p/>
          <a:p>
            <a:r>
              <a:t>Choose the risk model deliberately: the default Web application scope covers web and API risks; Gen AI application focuses on LLM-backed surfaces. Gen AI scope uses a fixed set of risk types rather than the web scope’s risk exclusions. Match source and API context to the deployed revision. Test dedicated credentials before the assessment and review discovered domains. Target domains may be tested, accessible domains support navigation without attack, and out-of-scope domains must not be accessed. Private deployments require the configured VPC path.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06:00–07:15; allocated 01:15.</a:t>
            </a:r>
          </a:p>
          <a:p/>
          <a:p>
            <a:r>
              <a:t>Task hours measure cumulative agent work, including parallel activity; they are not wall-clock minutes. A configured maximum task-hours limit stops work and preserves findings, whereas a service quota is not the same spending control. Reaching the run limit can still yield a Completed status, so inspect coverage rather than treating that label as a complete assessment. Monitor target health and define a stop owner before starting. The presentation reviews a prepared run rather than waiting for a full test.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07:15–15:15; allocated 08:00.</a:t>
            </a:r>
          </a:p>
          <a:p/>
          <a:p>
            <a:r>
              <a:t>The eight-minute slot cannot be treated as a guarantee of a complete penetration test. Walk through setup and a completed result rather than waiting for a new scan. A prompt asking the agent to stop at a health threshold is not an independent circuit breaker; the operator and environment controls enforce the safety plan. Do not execute reproduction material against any target outside the authorized scope.</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p>
            <a:r>
              <a:t>Preflight: Prepare a disposable staging app, independent health monitoring, a completed test and a named stop owner.</a:t>
            </a:r>
          </a:p>
          <a:p/>
          <a:p>
            <a:r>
              <a:t>Prompt: 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a:p/>
          <a:p>
            <a:r>
              <a:t>Runbook:</a:t>
            </a:r>
          </a:p>
          <a:p>
            <a:r>
              <a:t>01:00 — Verify authorization: Show target ownership, test window and dedicated identities.</a:t>
            </a:r>
          </a:p>
          <a:p>
            <a:r>
              <a:t>01:30 — Inspect context: Match source/deployment version, credentials and private reachability.</a:t>
            </a:r>
          </a:p>
          <a:p>
            <a:r>
              <a:t>01:30 — Inspect limits: Show work budget, exclusions and the stop procedure.</a:t>
            </a:r>
          </a:p>
          <a:p>
            <a:r>
              <a:t>02:00 — Observe a run: Use the prepared run view; correlate logs with target health.</a:t>
            </a:r>
          </a:p>
          <a:p>
            <a:r>
              <a:t>02:00 — Review one finding: Read impact, reproduction evidence, coverage and the next engineering action.</a:t>
            </a:r>
          </a:p>
          <a:p/>
          <a:p>
            <a:r>
              <a:t>Success: An authorized, bounded run and one inspectable evidence package; no claim of complete coverage.</a:t>
            </a:r>
          </a:p>
          <a:p/>
          <a:p>
            <a:r>
              <a:t>Fallback: Use a sanitized completed run if setup or job latency prevents a live view. Label illustrative findings clearly.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15:15–16:45; allocated 01:30.</a:t>
            </a:r>
          </a:p>
          <a:p/>
          <a:p>
            <a:r>
              <a:t>A finding should let a reviewer understand the affected behavior, the identity used, the observed result and the conditions needed to reproduce it. Inspect the action trace and the reported impact. Coverage matters: a clean result on an authenticated path does not establish that all other paths were tested. Accept or reject the finding on its evidence and business context, not on the severity label alone.</a:t>
            </a:r>
          </a:p>
          <a:p/>
          <a:p>
            <a:r>
              <a:t>Official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16:45–18:15; allocated 01:30.</a:t>
            </a:r>
          </a:p>
          <a:p/>
          <a:p>
            <a:r>
              <a:t>Automatic or requested remediation creates code for review. Delivery depends on the source and provider: a connected private repository can receive a pull or merge request, while an S3 source can receive a diff. Public repository handling has disclosure restrictions, so do not promise a universal remediation PR. Test the change, preserve unrelated behavior and use normal deployment controls. A generated patch does not establish that the vulnerability is resolved.</a:t>
            </a:r>
          </a:p>
          <a:p/>
          <a:p>
            <a:r>
              <a:t>Official evidence:</a:t>
            </a:r>
          </a:p>
          <a:p>
            <a:r>
              <a:t>S13 — Enable finding remediation: https://docs.aws.amazon.com/securityagent/latest/userguide/enable-remediate-findings.html</a:t>
            </a:r>
          </a:p>
          <a:p>
            <a:r>
              <a:t>S25 — Remediate code-review findings: https://docs.aws.amazon.com/securityagent/latest/userguide/remediate-code-scan-findings.html</a:t>
            </a:r>
          </a:p>
          <a:p>
            <a:r>
              <a:t>S32 — Remediate a penetration-test finding: https://docs.aws.amazon.com/securityagent/latest/userguide/remediate-finding.html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18:15–19:30; allocated 01:15.</a:t>
            </a:r>
          </a:p>
          <a:p/>
          <a:p>
            <a:r>
              <a:t>Revalidation is a focused reassessment, not a new broad discovery scan. The fix must already be deployed to the original target for the result to be meaningful. The result does not overwrite the historical finding. Preserve the original evidence and the linked revalidation attempt. Broad architectural or application changes may justify a full new penetration test instead of relying only on selected findings.</a:t>
            </a:r>
          </a:p>
          <a:p/>
          <a:p>
            <a:r>
              <a:t>Official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19:30–20:30; allocated 01:00.</a:t>
            </a:r>
          </a:p>
          <a:p/>
          <a:p>
            <a:r>
              <a:t>Generate the report from the selected penetration-test run and choose the severity, confidence, status and finding-type filters. Optional compliance-oriented sections and annotations preserve useful context, but do not establish certification. A completed run and an interim export have different evidence boundaries. Jira handoff requires a configured supported project. Keep finding identity, remediation links and reassessment status attached to the work item; ticket creation is not closure. Protect vulnerability details according to the intended audience.</a:t>
            </a:r>
          </a:p>
          <a:p/>
          <a:p>
            <a:r>
              <a:t>Official evidence:</a:t>
            </a:r>
          </a:p>
          <a:p>
            <a:r>
              <a:t>S15 — Export a penetration-test report: https://docs.aws.amazon.com/securityagent/latest/userguide/export-penetration-report.html</a:t>
            </a:r>
          </a:p>
          <a:p>
            <a:r>
              <a:t>S16 — Create Jira issues for findings: https://docs.aws.amazon.com/securityagent/latest/userguide/export-findings-to-issue-tracker.html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20:30–21:45; allocated 01:15.</a:t>
            </a:r>
          </a:p>
          <a:p/>
          <a:p>
            <a:r>
              <a:t>Security requirements make the review specific to the organization, such as approved authentication patterns or data-access expectations. Treat them as review criteria rather than an infrastructure enforcement policy. A design assessment is only as complete as its inputs; missing interfaces and trust boundaries should become explicit questions. This capability remains a separately evaluated preview workflow.</a:t>
            </a:r>
          </a:p>
          <a:p/>
          <a:p>
            <a:r>
              <a:t>Official evidence:</a:t>
            </a:r>
          </a:p>
          <a:p>
            <a:r>
              <a:t>S17 — Perform a design review: https://docs.aws.amazon.com/securityagent/latest/userguide/perform-design-review.html</a:t>
            </a:r>
          </a:p>
          <a:p>
            <a:r>
              <a:t>S18 — Security requirements: https://docs.aws.amazon.com/securityagent/latest/userguide/security-requirements.html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21:45–22:45; allocated 01:00.</a:t>
            </a:r>
          </a:p>
          <a:p/>
          <a:p>
            <a:r>
              <a:t>A threat model is useful when the team recognizes its assets, data flows and trust boundaries. Provide both design scope and current source when that helps focus the assessment. The reviewer should correct the system overview before treating the resulting threats as exhaustive. Keep threat-model recommendations distinct from observed exploitable findings in a running penetration test.</a:t>
            </a:r>
          </a:p>
          <a:p/>
          <a:p>
            <a:r>
              <a:t>Official evidence:</a:t>
            </a:r>
          </a:p>
          <a:p>
            <a:r>
              <a:t>S31 — Threat modeling quickstart: https://docs.aws.amazon.com/securityagent/latest/userguide/quickstart-threat-model.html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22:45–24:15; allocated 01:30.</a:t>
            </a:r>
          </a:p>
          <a:p/>
          <a:p>
            <a:r>
              <a:t>Repository review, change-triggered review and remediation answer different questions. PR/MR trigger filters can use target branches, events and provider-supported labels; filter groups replace the default trigger. Review comments and remediation are separate capabilities. The documented manual review comment is @AWS-Continuum-Pentesting review. Do not copy another agent’s review command or assume provider parity. Inspect findings, supported source paths and normal CI evidence before accepting a proposed repair. The code-review workflow remains preview.</a:t>
            </a:r>
          </a:p>
          <a:p/>
          <a:p>
            <a:r>
              <a:t>Official evidence:</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24:15–25:30; allocated 01:15.</a:t>
            </a:r>
          </a:p>
          <a:p/>
          <a:p>
            <a:r>
              <a:t>The IDE integration is an entry point into the service workflow. Review source upload, credentials, permissions and the destination Region before enabling it. A differential scan submitted from a build workflow uses the codebase as context and focuses findings on the supplied changes. Preserve the base and head revisions so the result can be tied to the intended diff. Neither path is a guarantee that every build is automatically gated.</a:t>
            </a:r>
          </a:p>
          <a:p/>
          <a:p>
            <a:r>
              <a:t>Official evidence:</a:t>
            </a:r>
          </a:p>
          <a:p>
            <a:r>
              <a:t>S26 — Code review from an IDE: https://docs.aws.amazon.com/securityagent/latest/userguide/code-review-ide-integration.html</a:t>
            </a:r>
          </a:p>
          <a:p>
            <a:r>
              <a:t>S27 — Run a differential code scan with S3: https://docs.aws.amazon.com/securityagent/latest/userguide/run-diff-scan-s3.html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25:30–27:00; allocated 01:30.</a:t>
            </a:r>
          </a:p>
          <a:p/>
          <a:p>
            <a:r>
              <a:t>The pipeline integration is a post-deployment test, not a pre-merge code scan. It assesses the configured deployed change. A scoped-out result can pass without exercising a new attack surface, and infrastructure errors can be configured fail-open. The documented defaults therefore need explicit review. A passing run can also advance the baseline, so tightening the policy later does not necessarily revisit earlier accepted commits. This is a reason to verify the exact gate contract before using it for production sign-off.</a:t>
            </a:r>
          </a:p>
          <a:p/>
          <a:p>
            <a:r>
              <a:t>Official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27:00–28:30; allocated 01:30.</a:t>
            </a:r>
          </a:p>
          <a:p/>
          <a:p>
            <a:r>
              <a:t>Use one owned application to establish the entire operating loop. Check Region and inference behavior separately from feature availability. Measure confirmed findings, rejected or unsupported claims, reviewer effort, task consumption and successful fix closure. Track which critical paths were exercised and what remains unknown. Do not report a finding count as a security improvement unless the team has assessed and acted on it.</a:t>
            </a:r>
          </a:p>
          <a:p/>
          <a:p>
            <a:r>
              <a:t>Official evidence:</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Close by distinguishing four things: a design concern, a source-code finding, an observed penetration-test finding and a verified repair. Each has a different evidence requirement. The team should adopt the first workflow it can operate safely and measure end to end, not every available preview at once. Questions come after the timed close. The feature crosswalk retains all 18 capability entries and their original qualifications for deeper reference.</a:t>
            </a:r>
          </a:p>
          <a:p/>
          <a:p>
            <a:r>
              <a:t>Official evidence:</a:t>
            </a:r>
          </a:p>
          <a:p>
            <a:r>
              <a:t>S10 — Security best practices: https://docs.aws.amazon.com/securityagent/latest/userguide/security-best-practices.html</a:t>
            </a:r>
          </a:p>
          <a:p>
            <a:r>
              <a:t>S14 — Revalidate findings: https://docs.aws.amazon.com/securityagent/latest/userguide/revalidate-findings.html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S03 — On-demand penetration testing generally available: https://aws.amazon.com/about-aws/whats-new/2026/03/aws-security-agent-ondemand-penetration/</a:t>
            </a:r>
          </a:p>
          <a:p>
            <a:r>
              <a:t>S06 — Set up AWS Security Agent: https://docs.aws.amazon.com/securityagent/latest/userguide/setup-security-agent.html</a:t>
            </a:r>
          </a:p>
          <a:p>
            <a:r>
              <a:t>S07 — Enable a target domain: https://docs.aws.amazon.com/securityagent/latest/userguide/enable-test-domain.html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Provide testing credentials: https://docs.aws.amazon.com/securityagent/latest/userguide/provide-testing-credentials.html</a:t>
            </a:r>
          </a:p>
          <a:p>
            <a:r>
              <a:t>S08 — Create a penetration test: https://docs.aws.amazon.com/securityagent/latest/userguide/perform-penetration-test.html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Create a penetration test: https://docs.aws.amazon.com/securityagent/latest/userguide/perform-penetration-test.html</a:t>
            </a:r>
          </a:p>
          <a:p>
            <a:r>
              <a:t>S11 — Security considerations and FAQs: https://docs.aws.amazon.com/securityagent/latest/userguide/security-guidance.html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Create a penetration test: https://docs.aws.amazon.com/securityagent/latest/userguide/perform-penetration-test.html</a:t>
            </a:r>
          </a:p>
          <a:p>
            <a:r>
              <a:t>S05 — Pricing and billing: https://docs.aws.amazon.com/securityagent/latest/userguide/pricing.html</a:t>
            </a:r>
          </a:p>
          <a:p>
            <a:r>
              <a:t>S11 — Security considerations and FAQs: https://docs.aws.amazon.com/securityagent/latest/userguide/security-guidance.html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S13 — Enable finding remediation: https://docs.aws.amazon.com/securityagent/latest/userguide/enable-remediate-findings.html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S16 — Create Jira issues for findings: https://docs.aws.amazon.com/securityagent/latest/userguide/export-findings-to-issue-tracker.html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S17 — Perform a design review: https://docs.aws.amazon.com/securityagent/latest/userguide/perform-design-review.html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S18 — Security requirements: https://docs.aws.amazon.com/securityagent/latest/userguide/security-requirements.html</a:t>
            </a:r>
          </a:p>
          <a:p>
            <a:r>
              <a:t>S19 — Import security requirements: https://docs.aws.amazon.com/securityagent/latest/userguide/import-security-requirements.html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S20 — Perform threat modeling: https://docs.aws.amazon.com/securityagent/latest/userguide/perform-threat-model.html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S21 — Perform a full code review: https://docs.aws.amazon.com/securityagent/latest/userguide/perform-code-review-scan.html</a:t>
            </a:r>
          </a:p>
          <a:p>
            <a:r>
              <a:t>S22 — Review code-scan findings: https://docs.aws.amazon.com/securityagent/latest/userguide/review-code-scan-findings.html</a:t>
            </a:r>
          </a:p>
          <a:p>
            <a:r>
              <a:t>S04 — What is AWS Security Agent?: https://docs.aws.amazon.com/securityagent/latest/userguide/what-is.html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S23 — Review findings in pull requests: https://docs.aws.amazon.com/securityagent/latest/userguide/review-code-findings-github.html</a:t>
            </a:r>
          </a:p>
          <a:p>
            <a:r>
              <a:t>S24 — Configure code-review triggers: https://docs.aws.amazon.com/securityagent/latest/userguide/configure-code-review-triggers.html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S26 — Code review from an IDE: https://docs.aws.amazon.com/securityagent/latest/userguide/code-review-ide-integration.html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S27 — Run a differential code scan with S3: https://docs.aws.amazon.com/securityagent/latest/userguide/run-diff-scan-s3.html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This appendix is outside the timed session. All source URLs are listed below and in the relevant slide notes. No live workflow or measured benefit is claimed.</a:t>
            </a:r>
          </a:p>
          <a:p/>
          <a:p>
            <a:r>
              <a:t>Official evidence:</a:t>
            </a:r>
          </a:p>
          <a:p>
            <a:r>
              <a:t>S03 — On-demand penetration testing generally available: https://aws.amazon.com/about-aws/whats-new/2026/03/aws-security-agent-ondemand-penetration/</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r>
              <a:t>S13 — Enable finding remediation: https://docs.aws.amazon.com/securityagent/latest/userguide/enable-remediate-findings.html</a:t>
            </a:r>
          </a:p>
          <a:p>
            <a:r>
              <a:t>S14 — Revalidate findings: https://docs.aws.amazon.com/securityagent/latest/userguide/revalidate-findings.html</a:t>
            </a:r>
          </a:p>
          <a:p>
            <a:r>
              <a:t>S16 — Create Jira issues for findings: https://docs.aws.amazon.com/securityagent/latest/userguide/export-findings-to-issue-tracker.html</a:t>
            </a:r>
          </a:p>
          <a:p>
            <a:r>
              <a:t>S17 — Perform a design review: https://docs.aws.amazon.com/securityagent/latest/userguide/perform-design-review.html</a:t>
            </a:r>
          </a:p>
          <a:p>
            <a:r>
              <a:t>S18 — Security requirements: https://docs.aws.amazon.com/securityagent/latest/userguide/security-requirements.html</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S26 — Code review from an IDE: https://docs.aws.amazon.com/securityagent/latest/userguide/code-review-ide-integration.html</a:t>
            </a:r>
          </a:p>
          <a:p>
            <a:r>
              <a:t>S27 — Run a differential code scan with S3: https://docs.aws.amazon.com/securityagent/latest/userguide/run-diff-scan-s3.html</a:t>
            </a:r>
          </a:p>
          <a:p>
            <a:r>
              <a:t>S28 — Run penetration tests from CI/CD: https://docs.aws.amazon.com/securityagent/latest/userguide/cicd-pentest.html</a:t>
            </a:r>
          </a:p>
          <a:p>
            <a:r>
              <a:t>S29 — GitHub Actions scoped-pentest tutorial: https://docs.aws.amazon.com/securityagent/latest/userguide/sample-cicd-github.html</a:t>
            </a:r>
          </a:p>
          <a:p>
            <a:r>
              <a:t>S30 — Resilience and regional availability: https://docs.aws.amazon.com/securityagent/latest/userguide/resilience.html</a:t>
            </a:r>
          </a:p>
          <a:p>
            <a:r>
              <a:t>S31 — Threat modeling quickstart: https://docs.aws.amazon.com/securityagent/latest/userguide/quickstart-threat-model.html</a:t>
            </a:r>
          </a:p>
          <a:p>
            <a:r>
              <a:t>S32 — Remediate a penetration-test finding: https://docs.aws.amazon.com/securityagent/latest/userguide/remediate-finding.html</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ws.amazon.com/about-aws/whats-new/2026/03/aws-security-agent-ondemand-penetration/" TargetMode="External"/><Relationship Id="rId4" Type="http://schemas.openxmlformats.org/officeDocument/2006/relationships/hyperlink" Target="https://docs.aws.amazon.com/securityagent/latest/userguide/what-is.html" TargetMode="External"/><Relationship Id="rId5" Type="http://schemas.openxmlformats.org/officeDocument/2006/relationships/hyperlink" Target="https://docs.aws.amazon.com/securityagent/latest/userguide/pricing.html" TargetMode="External"/><Relationship Id="rId6" Type="http://schemas.openxmlformats.org/officeDocument/2006/relationships/hyperlink" Target="https://docs.aws.amazon.com/securityagent/latest/userguide/perform-penetration-test.html" TargetMode="External"/><Relationship Id="rId7" Type="http://schemas.openxmlformats.org/officeDocument/2006/relationships/hyperlink" Target="https://docs.aws.amazon.com/securityagent/latest/userguide/provide-testing-credentials.html" TargetMode="External"/><Relationship Id="rId8" Type="http://schemas.openxmlformats.org/officeDocument/2006/relationships/hyperlink" Target="https://docs.aws.amazon.com/securityagent/latest/userguide/security-best-practic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Security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Application-security evidence from design review to deployed-fix revalidation.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S04, S03, S05</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Authorize → assess → triage → repair → revalidate</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30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8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controlled demo walkthrough</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1 app</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first scope</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On-demand penetration testing: GA. Design review, threat modeling, code review and CI/CD integration are separate preview capabilities.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Feature availability differs by security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feature’s own maturity and execution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S05, S28, S29</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Design review</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Assess architecture documents against security requirements.</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Threat model</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Map system context, threats and mitigation recommendations.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Code review</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repositories, changes and proposed code fixes.</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GA</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Penetration test</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a configured, authorized running application.</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Delivery integration</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a scoped post-deployment test as a pipeline gate.</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PENTEST WORKFLOW</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Fix verification</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Reassess a known finding after a deployed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assess a tenant-isolation control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unit of success is an accepted finding and verified repair—not a severity count.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02:00–03:15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S12, S14</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owned staging application and test window.</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NATIVE</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the approved authenticated paths.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APPSEC</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Triage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impact, confidence and reproduction evidence.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ENGINEERING</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the fix, deploy safely, and revalidate.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Specify authorization and target effects before 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Domain verification does not authorize every reachable dependency.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03:15–04:45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Boundary</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preparation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Owner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Target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Owned non-production domain and permitted paths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Written scope and dependency exclusions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Identity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Dedicated low-privilege test accounts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real customer or production credentials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State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Disposable data and disabled business side effects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Recovery plan and health monitoring</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Task budget, test window and stop owner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Operator can observe and stop the run</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test scope and supply current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context and credentials match the deployed version under test.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04:45–06:00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Authorized target, dedicated test credentials and network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Current source/API context; optional private VPC reachability</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 Web application or focused Gen AI application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Confirm sign-in and classify target, accessible and excluded domains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assessment matched to the deployed version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coverage assumptions and reachable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run limits and inspect test effects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task hours are not wall-clock minutes; the operator owns the stop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06:00–07:15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S12, S05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penetration test and authorized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work budget and a monitored staging deployment</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Set a maximum task-hours limit and monitor the run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progress, execution logs and emerging findings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Findings retained when the configured work limit is reached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state and consumed task hours—not a coverage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authorized staging assessment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Inspect a safe configuration, an active run view and one evidence-backed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07:15–15:15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 S12</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disposable staging app, independent health monitoring, a completed test and a named stop owner.</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An authorized, bounded run and one inspectable evidence package; no claim of complete coverage.</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sanitized completed run if setup or job latency prevents a live view. Label illustrative findings clearly.</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Verify authorization</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target ownership, test window and dedicated identities.</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context</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Match source/deployment version, credentials and private reachability.</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limits</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work budget, exclusions and the stop procedure.</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Observe a run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Use the prepared run view; correlate logs with target health.</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one finding</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Read impact, reproduction evidence, coverage and the next engineering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Examine finding evidence, impact and confidence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Severity without impact, confidence and coverage is not enough for a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15:15–16:45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 S10</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IDENTITY</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Affected path</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endpoint, role, tenant and deployed version?</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EVIDENCE</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Observed impact</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did the test actually demonstrate?</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REPEATABILITY</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Reproduction</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Preconditions and a reviewable action trace.</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QUALITY</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Confidence</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is confirmed, inferred or still uncertain?</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Coverage</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relevant routes were or were not exercised?</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HANDOFF</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Next action</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Owner, proposed fix and a closure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remediation proposal requires review and retesting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Acceptance: provider, repository visibility and source type determine delivery; the team reviews every fix.</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16:45–18:15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 S25, S32, S10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accepted finding and connected source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remediation enablement and repository access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proposed code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Deliver a PR/MR or downloadable diff as supported by the source</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Reviewable changes with finding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link between the security issue and proposed repair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Revalidate after the fix is deployed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“not reproduced” concerns this finding and this run—not a complete security certification.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18:15–19:30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existing finding and a deployed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original reachable target and current test authentication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Repeat the selected finding’s validation path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whether the vulnerability can be reproduced</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linked revalidation job and result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auditable history of reassessment attempts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Export evidence and hand work to the right owner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Sharing a report or ticket must preserve scope, revision and finding identity.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19:30–20:30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S15, S16, S14</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POINT IN TIME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 package</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filtered PDF with scope, test evidence and optional reviewer annotations. Record whether the run is complete or interim.</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CONFIGURED INTEGRATION</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handoff</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tracked work from selected findings; retain links to remediation and reassessment.</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Team rule: the ticket owner is accountable for closure; an exported report is not certification.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Design review applies reusable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review requirements and input assumptions before interpreting a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20:30–21:45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S17, S18</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Architecture/design documents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Enabled organizational security requirements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Assess the design against configured criteria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Return requirement-linked findings and recommendations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reviewable design assessment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issues to resolve before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Threat modeling connects design and code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validate the agent’s system model before accepting its threat analysis.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21:45–22:45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S31, S05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Design scope documents, source code or both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application context and security objective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Build an overview of the system</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Identify threats with severity, STRIDE classification and recommendations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structured threat model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and mitigation work for architectural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Code review has several entry points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Full-repository, change review and remediation share context—not identical triggers.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22:45–24:15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S21, S24, S25, S05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Primary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Repository 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repository or S3 source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Code findings and affected locations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PR / MR 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Ready-for-review event; configured branch, label or draft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Change-specific review feedback</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Remediation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finding and enabled source path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Provider-supported PR/MR or downloadable diff</a:t>
                      </a:r>
                    </a:p>
                  </a:txBody>
                  <a:tcPr marL="128016" marR="128016" marT="82296" marB="54864">
                    <a:solidFill>
                      <a:srgbClr val="F1F5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IDE and build workflows still call a service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local entry point does not make the assessment a local-only operation.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24:15–25:30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S26, S27</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access</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the documented MCP or Kiro integration to submit work with the required service setup and source context.</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Differential build scan</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Upload the supported source/diff artifacts and submit the documented API/SDK workflow.</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450" b="1">
                <a:solidFill>
                  <a:srgbClr val="FFFFFF"/>
                </a:solidFill>
                <a:latin typeface="Arial"/>
              </a:defRPr>
            </a:pPr>
            <a:r>
              <a:t>Acceptance: confirm what left the workstation or runner, which revision was scanned, and what checks actually ran.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passing delivery gate has limited assessment scope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Read scope, errors and baseline behavior—not just the pipeline color.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25:30–27:00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S28, S29</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Outcome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Interpretation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team treatment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Findings exceed threshold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Test returned blocking evidence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Block and triage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Scoped out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relevant changed attack surface was tested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Record scope decision; do not call it a clean full test</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Error / scope conflict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Coverage may be absent or outside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Use fail-closed for required sign-off</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Runner stopped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Server-side job may still need cleanup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Verify terminal job state and consumption</a:t>
                      </a:r>
                    </a:p>
                  </a:txBody>
                  <a:tcPr marL="128016" marR="128016" marT="82296" marB="54864">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one authorized finding-to-revalidation cycle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Assess one authorized target, review a finding and revalidate the repaired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27:00–28:30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S10, S12, S14, S30</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work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Evidence to keep</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Authorize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Isolate target and identities; approve data boundary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owner, recovery and stop record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Assess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one bounded test and inspect 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ID, coverage and accepted findings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Repair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and deploy one justified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Change revision, tests and deployment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Revalidate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Retest and decide whether to expand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Linked result, effort and cost</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Record authorization, findings and revalidation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Authorize the target. Inspect the evidence. Revalidate the deployed repair.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S10, S14, S05</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Scope includes reachable systems and real application effects.</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Inspect</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Severity is accompanied by evidence, impact and coverage.</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deployed fix is reassessed; original evidence remains traceable.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C01 · Run an authorized application penetration test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 on-demand penetration testing · Native; Agent Space and verified target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Launch an application-focused penetration test against configured targets and inspect discovered security findings.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an Agent Space, choose access and service roles, verify the target, and use a disposable non-production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Assessment scope, run identifier, target version, request evidence, and prioritized findings.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ownership, authorization, test-data isolation, stop responsibility, and environment recovery before launching.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Testing can change data or application state. Domain verification is a technical prerequisite, not a substitute for authorization covering every affected system.</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S06, S07, S10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C02 · Test authenticated and private application paths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pentest workflow · optional configuration · Native credential and VPC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Authenticated testing and VPC connectivity let the agent exercise protected application routes when correctly configured.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test-only identities, validate login, configure the service role/network, and classify discovered domains before the test.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Authenticated test scope, identity configuration, private connectivity, and affected endpoint record.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Verify the identity has no production access and that every reachable dependency has the intended scope classification.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Credentials may expose additional application paths and supporting domains. A private network does not make testing harmless or remove scope obligations.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S08, S10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C03 · Give a test current source and architecture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configuration · Native; connected repositories or uploaded resources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Attach code, API documentation, and design material to guide application understanding. Connected resources can supply updated source for later runs.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relevant resources or upload sanitized documentation; verify repository reachability from a private test network.</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Input document/source-version inventory and findings tied to that context.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the deployed commit and API inventory with attached context; record untested critical paths for separate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Context does not guarantee complete endpoint coverage. Match the selected branch and documentation to the deployed target.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C04 · Control task expenditure and monitor execution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run controls · Native task-hour cap, logs, and stop controls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a maximum task-hours limit and monitor the run’s logs; stop work that takes an undesirable direction.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Agree on a per-run work budget, excluded risk areas, an operator, and criteria for stopping the test.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execution record with limits, elapsed use, relevant logs, and stop decision.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Reconcile task hours with billing data and assess coverage separately from the run’s Completed status.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hours accumulate across parallel work and differ from wall-clock duration. Service quotas are not spending limits. A capped run can finish with partial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S05, S11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Triage evidence rather than severity alone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findings workflow · Native finding and log views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Inspect risk, confidence, affected endpoints, execution evidence, and reproduction details. Verification scripts are available when successfully generated and validated.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Give a reviewer access to the run, logs, deployed build, and permitted reproduction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Finding record with affected endpoint, reproduction evidence, confidence, and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impact and reproducibility in the authorized test environment before assigning urgency or closing a finding.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Not every finding has a script. Default filters can hide lower-confidence or unverified items; the visible count is not the complete security picture.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 S10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C06 · Request a proposed code fix for a pentest finding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remediation · repository setup required · Native GitHub PR proposal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With remediation enabled for a connected repository, users can request a finding-specific fix delivered as a GitHub pull request.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Authorize the GitHub app, enable remediation per repository in the Agent Space, and assign a human reviewer.</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Remediation code proposal linked to one finding and pending review/test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the diff and test it normally, then deploy only through the existing change process.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Enabling remediation is not approval to merge or deploy. Generated changes can be incomplete, wrong, or visible to repository readers.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 S10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C07 · Revalidate a previously reported finding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revalidation · Native focused verification run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Revalidation checks selected existing findings against the application’s current reachable state.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Deploy the intended fix to the tested environment, retain working authentication, and select the completed run’s relevant findings.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Finding revalidation run and observed current behavior on the patched target.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the separate revalidation job and evidence; use a broader test for substantial application changes.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does not search for new vulnerabilities. Resolved means the issue was not reproduced in this run, not that the application is globally secure.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Export a point-in-time evidence report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reporting · Native PDF export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Export a filtered penetration-test report with finding evidence and optional annotations for engineering or assurance review.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the run, finding filters, annotations, and intended audience; handle the resulting vulnerability details as sensitive.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Point-in-time exported report with applied filters, revision, and recorded annotations.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report filters, run status, target version, and unresolved findings before sharing.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compliance-oriented report layout is not a certification or a replacement for a required professional assessment. An interim report remains incomplete.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C09 · Create tracked Jira work from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Documented integration · pentest path; code path inherits preview · Native issue export; connected Jira project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one Jira issue for each selected finding, carrying finding details and suggested remediation into a connected project.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a Jira project to the Agent Space and agree on the project’s ownership and prioritization process.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Jira finding issue with assignment, reproduction evidence, and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issue content, duplicate creation, project visibility, and the link back to the original finding.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project must support Task issues. Unlinking removes the association, not the Jira issue; the workflow is not documented here as full bidirectional synchronization.</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C10 · Review a design against organizational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design review · Native document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Analyze design documents against enabled security requirements and return findings with remediation guidance.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the relevant requirements and provide a sanitized, current design with clear trust boundaries.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Design-review findings mapped to versioned security requirements and source documents.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Have an architect check assumptions and requirement applicability before treating a finding as a design decision.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result depends on document quality and the active requirement set; it is not an exhaustive architecture approval.</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S17, S05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00" b="1">
                <a:solidFill>
                  <a:srgbClr val="182B43"/>
                </a:solidFill>
                <a:latin typeface="Arial"/>
              </a:defRPr>
            </a:pPr>
            <a:r>
              <a:t>C11 · Maintain reusable organizational security criteria</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Supports preview design and code reviews · Native requirement packs and document import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Security requirement packs provide reusable evaluation criteria; document import can help draft requirements for review.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managed or custom requirements, review any generated items, and enable the intended packs for subsequent reviews.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requirement pack, change rationale, and review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the criteria on known acceptable and unacceptable examples before relying on the findings.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enabled pack is review configuration, not a guarantee of compliance. Imported statements need human checking for ambiguity and applicability.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S18, S19, S05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C12 · Generate a reusable STRIDE threat model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threat modeling · Native model generation and reruns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design scope documents, source context, or both to produce a system overview and STRIDE-classified threats with recommendations.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current architecture, trust boundaries, and relevant repositories or documents; define what is in scope.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STRIDE model with trust boundaries, assumptions, threats, and unresolved mitigations.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assets, identities, data flows, boundaries, and omitted dependencies with an engineer familiar with the system.</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model’s scope depends on the inputs: proposed-design documents and existing code serve different roles. It is not proof that every threat has been identified.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S20, S05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C13 · Scan a full codebase for security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code review · Native repository or S3-source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Run a full-code review against a connected supported repository or S3-hosted source and inspect file-level findings.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the chosen source, select the branch or source package, configure access, and choose the intended review criteria.</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Code-review findings associated with exact repository/source revision.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scanned revision, inspect finding context, and retain independent testing and code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Provider setup and source support vary. A successful job is not assurance that all vulnerabilities or policy violations were found.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S21, S22, S04, S05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C14 · Review pull requests or merge requests on configured triggers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provider-specific PR/MR integration · Native code-change feedback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Configured repository reviews post security findings on qualifying pull requests or merge requests, using the documented provider flow.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code-review comments, select supported repositories, and test trigger/filter behavior on a controlled change.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 or MR finding comments with trigger event, build revision, and reviewer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review execution and the exact commit; never use comment absence as a pass signal.</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Branch, label, draft, and filter settings affect invocation. No comment can mean no trigger matched—not that a security scan passed.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S23, S24, S05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C15 · Receive a code-review fix as a PR, MR, or diff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remediation depends on source provider · Native fix proposal; delivery varies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Supported connected private repositories can receive a PR or MR; S3 source and public GitHub paths use downloadable diffs.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the appropriate remediation capability and preserve the exact source revision used by the scan.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Proposed PR/MR or patch/diff and independent implementation tests.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Apply and review through the normal repository process; verify the original finding and new regressions independently.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Automated remediation is not supported for public GitLab or Bitbucket repositories in the documented matrix. Some findings require manual work.</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S25, S05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C16 · Start a code review from the developer’s IDE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MCP or Kiro Power integration · Configured client integration with cloud scan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IDE integration packages source for a service-backed code review and returns findings through the configured client.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Install the supported integration, review first-use provisioning permissions, and approve the code/data handling boundary.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IDE-submitted review task and code findings linked to the reviewed revision.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upload contents, resource ownership, retention settings, and returned scan revision before accepting the result.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not an offline local-only scan: source is uploaded to S3. Initial setup can provision an Agent Space, role, and bucket and requires corresponding IAM permissions.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S26, S05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C17 · Submit a differential source review from a build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S3/API code-review path · Native API; pipeline wiring is team-owned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documented API path accepts full source context in S3 together with a unified diff to focus a review on changed code.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Prepare approved S3 inputs and invoke the documented code-review job API from a suitably scoped build identity.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Build-submitted differential review record with full source baseline and unified diff.</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source/diff consistency and handle failed or skipped jobs distinctly from a clean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not automatic discovery of your CI provider. The team must supply the correct source snapshot, diff base, permissions, and job handling.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S27, S05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50" b="1">
                <a:solidFill>
                  <a:srgbClr val="182B43"/>
                </a:solidFill>
                <a:latin typeface="Arial"/>
              </a:defRPr>
            </a:pPr>
            <a:r>
              <a:t>C18 · Gate promotion using a scoped post-deployment pentest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Public preview · CI/CD pipeline integration · Native service job; configured pipeline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documented integration tests a deployed change and can gate subsequent promotion using scoped findings and thresholds.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Configure a staging target, existing test setup, trusted OIDC role, diff baseline, thresholds, and explicit untested/error handling; begin with a dry run.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Post-deployment assessment result and separately recorded promotion decision.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every gate outcome and cancellation path. A passing pipeline must not be represented as a complete application assessment.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not a pre-merge static check. Scoped-out changes can pass without dynamic testing; cancellation of the runner can leave a server-side job running.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S28, S29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3"/>
              </a:rPr>
              <a:t>S03  On-demand penetration testing generally available</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4"/>
              </a:rPr>
              <a:t>S04  What is AWS Security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5"/>
              </a:rPr>
              <a:t>S05  Pricing and billing</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6"/>
              </a:rPr>
              <a:t>S08  Create a penetration test</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7"/>
              </a:rPr>
              <a:t>S09  Provide testing credentials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8"/>
              </a:rPr>
              <a:t>S10  Security best practices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Security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