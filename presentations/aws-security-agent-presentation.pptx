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00:00–00:45; allocated 00:45.</a:t>
            </a:r>
          </a:p>
          <a:p/>
          <a:p>
            <a:r>
              <a:t>This deck remains scoped to the application-security capabilities in the original report. On-demand penetration testing is generally available; design review, code review, threat modeling and CI/CD integration have their own preview status. The demonstration uses an authorized staging application and a prepared evidence package, not an unapproved real-world target.</a:t>
            </a:r>
          </a:p>
          <a:p/>
          <a:p>
            <a:r>
              <a:t>Official evidence:</a:t>
            </a:r>
          </a:p>
          <a:p>
            <a:r>
              <a:t>S04 — What is AWS Security Agent?: https://docs.aws.amazon.com/securityagent/latest/userguide/what-is.html</a:t>
            </a:r>
          </a:p>
          <a:p>
            <a:r>
              <a:t>S03 — On-demand penetration testing generally available: https://aws.amazon.com/about-aws/whats-new/2026/03/aws-security-agent-ondemand-penetration/</a:t>
            </a:r>
          </a:p>
          <a:p>
            <a:r>
              <a:t>S05 — Pricing and billing: https://docs.aws.amazon.com/securityagent/latest/userguide/pricing.html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00:45–02:00; allocated 01:15.</a:t>
            </a:r>
          </a:p>
          <a:p/>
          <a:p>
            <a:r>
              <a:t>The lifecycle view explains why a single “security agent” label is insufficient. A design review examines documents, a threat model proposes attack scenarios, source review examines code, and penetration testing exercises a running target. They produce different evidence and have different potential side effects. Availability is also feature-specific, so an organization can adopt the GA testing path without making the same approval decision for every preview capability.</a:t>
            </a:r>
          </a:p>
          <a:p/>
          <a:p>
            <a:r>
              <a:t>Official evidence:</a:t>
            </a:r>
          </a:p>
          <a:p>
            <a:r>
              <a:t>S03 — On-demand penetration testing generally available: https://aws.amazon.com/about-aws/whats-new/2026/03/aws-security-agent-ondemand-penetration/</a:t>
            </a:r>
          </a:p>
          <a:p>
            <a:r>
              <a:t>S05 — Pricing and billing: https://docs.aws.amazon.com/securityagent/latest/userguide/pricing.html</a:t>
            </a:r>
          </a:p>
          <a:p>
            <a:r>
              <a:t>S28 — Run penetration tests from CI/CD: https://docs.aws.amazon.com/securityagent/latest/userguide/cicd-pentest.html</a:t>
            </a:r>
          </a:p>
          <a:p>
            <a:r>
              <a:t>S29 — GitHub Actions scoped-pentest tutorial: https://docs.aws.amazon.com/securityagent/latest/userguide/sample-cicd-github.html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02:00–03:15; allocated 01:15.</a:t>
            </a:r>
          </a:p>
          <a:p/>
          <a:p>
            <a:r>
              <a:t>The illustrative application has tenant-specific administration endpoints. The team wants to know whether an ordinary test identity can affect another tenant. No actual vulnerability is asserted here. Define dedicated tenants and identities, use synthetic data and keep all actions within the authorized staging scope. A useful result contains evidence and a clear affected path; closure requires a deployed fix and a focused reassessment.</a:t>
            </a:r>
          </a:p>
          <a:p/>
          <a:p>
            <a:r>
              <a:t>Official evidence:</a:t>
            </a:r>
          </a:p>
          <a:p>
            <a:r>
              <a:t>S08 — Create a penetration test: https://docs.aws.amazon.com/securityagent/latest/userguide/perform-penetration-test.html</a:t>
            </a:r>
          </a:p>
          <a:p>
            <a:r>
              <a:t>S12 — Review penetration-test findings: https://docs.aws.amazon.com/securityagent/latest/userguide/review-penetration-findings.html</a:t>
            </a:r>
          </a:p>
          <a:p>
            <a:r>
              <a:t>S14 — Revalidate findings: https://docs.aws.amazon.com/securityagent/latest/userguide/revalidate-findings.html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03:15–04:45; allocated 01:30.</a:t>
            </a:r>
          </a:p>
          <a:p/>
          <a:p>
            <a:r>
              <a:t>Domain verification is a product prerequisite, not a substitute for organizational authorization. Scope must cover the target, identities and any third-party or downstream services that might be exercised. A sandboxed worker can still mutate the application it reaches. Isolate the target data and disable payment, notification and other irreversible side effects. Assign a human stop owner with independent visibility of target health.</a:t>
            </a:r>
          </a:p>
          <a:p/>
          <a:p>
            <a:r>
              <a:t>Official evidence:</a:t>
            </a:r>
          </a:p>
          <a:p>
            <a:r>
              <a:t>S08 — Create a penetration test: https://docs.aws.amazon.com/securityagent/latest/userguide/perform-penetration-test.html</a:t>
            </a:r>
          </a:p>
          <a:p>
            <a:r>
              <a:t>S09 — Provide testing credentials: https://docs.aws.amazon.com/securityagent/latest/userguide/provide-testing-credentials.html</a:t>
            </a:r>
          </a:p>
          <a:p>
            <a:r>
              <a:t>S10 — Security best practices: https://docs.aws.amazon.com/securityagent/latest/userguide/security-best-practices.html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04:45–06:00; allocated 01:15.</a:t>
            </a:r>
          </a:p>
          <a:p/>
          <a:p>
            <a:r>
              <a:t>Choose the risk model deliberately: the default Web application scope covers web and API risks; Gen AI application focuses on LLM-backed surfaces. Gen AI scope uses a fixed set of risk types rather than the web scope’s risk exclusions. Match source and API context to the deployed revision. Test dedicated credentials before the assessment and review discovered domains. Target domains may be tested, accessible domains support navigation without attack, and out-of-scope domains must not be accessed. Private deployments require the configured VPC path.</a:t>
            </a:r>
          </a:p>
          <a:p/>
          <a:p>
            <a:r>
              <a:t>Official evidence:</a:t>
            </a:r>
          </a:p>
          <a:p>
            <a:r>
              <a:t>S08 — Create a penetration test: https://docs.aws.amazon.com/securityagent/latest/userguide/perform-penetration-test.html</a:t>
            </a:r>
          </a:p>
          <a:p>
            <a:r>
              <a:t>S09 — Provide testing credentials: https://docs.aws.amazon.com/securityagent/latest/userguide/provide-testing-credentials.html</a:t>
            </a:r>
          </a:p>
          <a:p>
            <a:r>
              <a:t>S10 — Security best practices: https://docs.aws.amazon.com/securityagent/latest/userguide/security-best-practices.html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06:00–07:15; allocated 01:15.</a:t>
            </a:r>
          </a:p>
          <a:p/>
          <a:p>
            <a:r>
              <a:t>Task hours measure cumulative agent work, including parallel activity; they are not wall-clock minutes. A configured maximum task-hours limit stops work and preserves findings, whereas a service quota is not the same spending control. Reaching the run limit can still yield a Completed status, so inspect coverage rather than treating that label as a complete assessment. Monitor target health and define a stop owner before starting. The presentation reviews a prepared run rather than waiting for a full test.</a:t>
            </a:r>
          </a:p>
          <a:p/>
          <a:p>
            <a:r>
              <a:t>Official evidence:</a:t>
            </a:r>
          </a:p>
          <a:p>
            <a:r>
              <a:t>S08 — Create a penetration test: https://docs.aws.amazon.com/securityagent/latest/userguide/perform-penetration-test.html</a:t>
            </a:r>
          </a:p>
          <a:p>
            <a:r>
              <a:t>S12 — Review penetration-test findings: https://docs.aws.amazon.com/securityagent/latest/userguide/review-penetration-findings.html</a:t>
            </a:r>
          </a:p>
          <a:p>
            <a:r>
              <a:t>S05 — Pricing and billing: https://docs.aws.amazon.com/securityagent/latest/userguide/pricing.html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07:15–15:15; allocated 08:00.</a:t>
            </a:r>
          </a:p>
          <a:p/>
          <a:p>
            <a:r>
              <a:t>The eight-minute slot cannot be treated as a guarantee of a complete penetration test. Walk through setup and a completed result rather than waiting for a new scan. A prompt asking the agent to stop at a health threshold is not an independent circuit breaker; the operator and environment controls enforce the safety plan. Do not execute reproduction material against any target outside the authorized scope.</a:t>
            </a:r>
          </a:p>
          <a:p/>
          <a:p>
            <a:r>
              <a:t>Official evidence:</a:t>
            </a:r>
          </a:p>
          <a:p>
            <a:r>
              <a:t>S08 — Create a penetration test: https://docs.aws.amazon.com/securityagent/latest/userguide/perform-penetration-test.html</a:t>
            </a:r>
          </a:p>
          <a:p>
            <a:r>
              <a:t>S09 — Provide testing credentials: https://docs.aws.amazon.com/securityagent/latest/userguide/provide-testing-credentials.html</a:t>
            </a:r>
          </a:p>
          <a:p>
            <a:r>
              <a:t>S10 — Security best practices: https://docs.aws.amazon.com/securityagent/latest/userguide/security-best-practices.html</a:t>
            </a:r>
          </a:p>
          <a:p>
            <a:r>
              <a:t>S12 — Review penetration-test findings: https://docs.aws.amazon.com/securityagent/latest/userguide/review-penetration-findings.html</a:t>
            </a:r>
          </a:p>
          <a:p/>
          <a:p>
            <a:r>
              <a:t>Preflight: Prepare a disposable staging app, independent health monitoring, a completed test and a named stop owner.</a:t>
            </a:r>
          </a:p>
          <a:p/>
          <a:p>
            <a:r>
              <a:t>Prompt: Prepare the approved staging assessment with dedicated test accounts, explicit target and network scope, and the agreed work budget. Exclude payment and notification side effects through environment controls. The operator will monitor health and stop the job if the agreed threshold is crossed.</a:t>
            </a:r>
          </a:p>
          <a:p/>
          <a:p>
            <a:r>
              <a:t>Runbook:</a:t>
            </a:r>
          </a:p>
          <a:p>
            <a:r>
              <a:t>01:00 — Verify authorization: Show target ownership, test window and dedicated identities.</a:t>
            </a:r>
          </a:p>
          <a:p>
            <a:r>
              <a:t>01:30 — Inspect context: Match source/deployment version, credentials and private reachability.</a:t>
            </a:r>
          </a:p>
          <a:p>
            <a:r>
              <a:t>01:30 — Inspect limits: Show work budget, exclusions and the stop procedure.</a:t>
            </a:r>
          </a:p>
          <a:p>
            <a:r>
              <a:t>02:00 — Observe a run: Use the prepared run view; correlate logs with target health.</a:t>
            </a:r>
          </a:p>
          <a:p>
            <a:r>
              <a:t>02:00 — Review one finding: Read impact, reproduction evidence, coverage and the next engineering action.</a:t>
            </a:r>
          </a:p>
          <a:p/>
          <a:p>
            <a:r>
              <a:t>Success: An authorized, bounded run and one inspectable evidence package; no claim of complete coverage.</a:t>
            </a:r>
          </a:p>
          <a:p/>
          <a:p>
            <a:r>
              <a:t>Fallback: Use a sanitized completed run if setup or job latency prevents a live view. Label illustrative findings clearly.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15:15–16:45; allocated 01:30.</a:t>
            </a:r>
          </a:p>
          <a:p/>
          <a:p>
            <a:r>
              <a:t>A finding should let a reviewer understand the affected behavior, the identity used, the observed result and the conditions needed to reproduce it. Inspect the action trace and the reported impact. Coverage matters: a clean result on an authenticated path does not establish that all other paths were tested. Accept or reject the finding on its evidence and business context, not on the severity label alone.</a:t>
            </a:r>
          </a:p>
          <a:p/>
          <a:p>
            <a:r>
              <a:t>Official evidence:</a:t>
            </a:r>
          </a:p>
          <a:p>
            <a:r>
              <a:t>S12 — Review penetration-test findings: https://docs.aws.amazon.com/securityagent/latest/userguide/review-penetration-findings.html</a:t>
            </a:r>
          </a:p>
          <a:p>
            <a:r>
              <a:t>S10 — Security best practices: https://docs.aws.amazon.com/securityagent/latest/userguide/security-best-practices.html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16:45–18:15; allocated 01:30.</a:t>
            </a:r>
          </a:p>
          <a:p/>
          <a:p>
            <a:r>
              <a:t>Automatic or requested remediation creates code for review. Delivery depends on the source and provider: a connected private repository can receive a pull or merge request, while an S3 source can receive a diff. Public repository handling has disclosure restrictions, so do not promise a universal remediation PR. Test the change, preserve unrelated behavior and use normal deployment controls. A generated patch does not establish that the vulnerability is resolved.</a:t>
            </a:r>
          </a:p>
          <a:p/>
          <a:p>
            <a:r>
              <a:t>Official evidence:</a:t>
            </a:r>
          </a:p>
          <a:p>
            <a:r>
              <a:t>S13 — Enable finding remediation: https://docs.aws.amazon.com/securityagent/latest/userguide/enable-remediate-findings.html</a:t>
            </a:r>
          </a:p>
          <a:p>
            <a:r>
              <a:t>S25 — Remediate code-review findings: https://docs.aws.amazon.com/securityagent/latest/userguide/remediate-code-scan-findings.html</a:t>
            </a:r>
          </a:p>
          <a:p>
            <a:r>
              <a:t>S32 — Remediate a penetration-test finding: https://docs.aws.amazon.com/securityagent/latest/userguide/remediate-finding.html</a:t>
            </a:r>
          </a:p>
          <a:p>
            <a:r>
              <a:t>S10 — Security best practices: https://docs.aws.amazon.com/securityagent/latest/userguide/security-best-practices.html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18:15–19:30; allocated 01:15.</a:t>
            </a:r>
          </a:p>
          <a:p/>
          <a:p>
            <a:r>
              <a:t>Revalidation is a focused reassessment, not a new broad discovery scan. The fix must already be deployed to the original target for the result to be meaningful. The result does not overwrite the historical finding. Preserve the original evidence and the linked revalidation attempt. Broad architectural or application changes may justify a full new penetration test instead of relying only on selected findings.</a:t>
            </a:r>
          </a:p>
          <a:p/>
          <a:p>
            <a:r>
              <a:t>Official evidence:</a:t>
            </a:r>
          </a:p>
          <a:p>
            <a:r>
              <a:t>S14 — Revalidate findings: https://docs.aws.amazon.com/securityagent/latest/userguide/revalidate-findings.html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19:30–20:30; allocated 01:00.</a:t>
            </a:r>
          </a:p>
          <a:p/>
          <a:p>
            <a:r>
              <a:t>Generate the report from the selected penetration-test run and choose the severity, confidence, status and finding-type filters. Optional compliance-oriented sections and annotations preserve useful context, but do not establish certification. A completed run and an interim export have different evidence boundaries. Jira handoff requires a configured supported project. Keep finding identity, remediation links and reassessment status attached to the work item; ticket creation is not closure. Protect vulnerability details according to the intended audience.</a:t>
            </a:r>
          </a:p>
          <a:p/>
          <a:p>
            <a:r>
              <a:t>Official evidence:</a:t>
            </a:r>
          </a:p>
          <a:p>
            <a:r>
              <a:t>S15 — Export a penetration-test report: https://docs.aws.amazon.com/securityagent/latest/userguide/export-penetration-report.html</a:t>
            </a:r>
          </a:p>
          <a:p>
            <a:r>
              <a:t>S16 — Create Jira issues for findings: https://docs.aws.amazon.com/securityagent/latest/userguide/export-findings-to-issue-tracker.html</a:t>
            </a:r>
          </a:p>
          <a:p>
            <a:r>
              <a:t>S14 — Revalidate findings: https://docs.aws.amazon.com/securityagent/latest/userguide/revalidate-findings.html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20:30–21:45; allocated 01:15.</a:t>
            </a:r>
          </a:p>
          <a:p/>
          <a:p>
            <a:r>
              <a:t>Security requirements make the review specific to the organization, such as approved authentication patterns or data-access expectations. Treat them as review criteria rather than an infrastructure enforcement policy. A design assessment is only as complete as its inputs; missing interfaces and trust boundaries should become explicit questions. This capability remains a separately evaluated preview workflow.</a:t>
            </a:r>
          </a:p>
          <a:p/>
          <a:p>
            <a:r>
              <a:t>Official evidence:</a:t>
            </a:r>
          </a:p>
          <a:p>
            <a:r>
              <a:t>S17 — Perform a design review: https://docs.aws.amazon.com/securityagent/latest/userguide/perform-design-review.html</a:t>
            </a:r>
          </a:p>
          <a:p>
            <a:r>
              <a:t>S18 — Security requirements: https://docs.aws.amazon.com/securityagent/latest/userguide/security-requirements.html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21:45–22:45; allocated 01:00.</a:t>
            </a:r>
          </a:p>
          <a:p/>
          <a:p>
            <a:r>
              <a:t>A threat model is useful when the team recognizes its assets, data flows and trust boundaries. Provide both design scope and current source when that helps focus the assessment. The reviewer should correct the system overview before treating the resulting threats as exhaustive. Keep threat-model recommendations distinct from observed exploitable findings in a running penetration test.</a:t>
            </a:r>
          </a:p>
          <a:p/>
          <a:p>
            <a:r>
              <a:t>Official evidence:</a:t>
            </a:r>
          </a:p>
          <a:p>
            <a:r>
              <a:t>S31 — Threat modeling quickstart: https://docs.aws.amazon.com/securityagent/latest/userguide/quickstart-threat-model.html</a:t>
            </a:r>
          </a:p>
          <a:p>
            <a:r>
              <a:t>S05 — Pricing and billing: https://docs.aws.amazon.com/securityagent/latest/userguide/pricing.html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22:45–24:15; allocated 01:30.</a:t>
            </a:r>
          </a:p>
          <a:p/>
          <a:p>
            <a:r>
              <a:t>Repository review, change-triggered review and remediation answer different questions. PR/MR trigger filters can use target branches, events and provider-supported labels; filter groups replace the default trigger. Review comments and remediation are separate capabilities. The documented manual review comment is @AWS-Continuum-Pentesting review. Do not copy another agent’s review command or assume provider parity. Inspect findings, supported source paths and normal CI evidence before accepting a proposed repair. The code-review workflow remains preview.</a:t>
            </a:r>
          </a:p>
          <a:p/>
          <a:p>
            <a:r>
              <a:t>Official evidence:</a:t>
            </a:r>
          </a:p>
          <a:p>
            <a:r>
              <a:t>S21 — Perform a full code review: https://docs.aws.amazon.com/securityagent/latest/userguide/perform-code-review-scan.html</a:t>
            </a:r>
          </a:p>
          <a:p>
            <a:r>
              <a:t>S24 — Configure code-review triggers: https://docs.aws.amazon.com/securityagent/latest/userguide/configure-code-review-triggers.html</a:t>
            </a:r>
          </a:p>
          <a:p>
            <a:r>
              <a:t>S25 — Remediate code-review findings: https://docs.aws.amazon.com/securityagent/latest/userguide/remediate-code-scan-findings.html</a:t>
            </a:r>
          </a:p>
          <a:p>
            <a:r>
              <a:t>S05 — Pricing and billing: https://docs.aws.amazon.com/securityagent/latest/userguide/pricing.html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24:15–25:30; allocated 01:15.</a:t>
            </a:r>
          </a:p>
          <a:p/>
          <a:p>
            <a:r>
              <a:t>The IDE integration is an entry point into the service workflow. Review source upload, credentials, permissions and the destination Region before enabling it. A differential scan submitted from a build workflow uses the codebase as context and focuses findings on the supplied changes. Preserve the base and head revisions so the result can be tied to the intended diff. Neither path is a guarantee that every build is automatically gated.</a:t>
            </a:r>
          </a:p>
          <a:p/>
          <a:p>
            <a:r>
              <a:t>Official evidence:</a:t>
            </a:r>
          </a:p>
          <a:p>
            <a:r>
              <a:t>S26 — Code review from an IDE: https://docs.aws.amazon.com/securityagent/latest/userguide/code-review-ide-integration.html</a:t>
            </a:r>
          </a:p>
          <a:p>
            <a:r>
              <a:t>S27 — Run a differential code scan with S3: https://docs.aws.amazon.com/securityagent/latest/userguide/run-diff-scan-s3.html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25:30–27:00; allocated 01:30.</a:t>
            </a:r>
          </a:p>
          <a:p/>
          <a:p>
            <a:r>
              <a:t>The pipeline integration is a post-deployment test, not a pre-merge code scan. It assesses the configured deployed change. A scoped-out result can pass without exercising a new attack surface, and infrastructure errors can be configured fail-open. The documented defaults therefore need explicit review. A passing run can also advance the baseline, so tightening the policy later does not necessarily revisit earlier accepted commits. This is a reason to verify the exact gate contract before using it for production sign-off.</a:t>
            </a:r>
          </a:p>
          <a:p/>
          <a:p>
            <a:r>
              <a:t>Official evidence:</a:t>
            </a:r>
          </a:p>
          <a:p>
            <a:r>
              <a:t>S28 — Run penetration tests from CI/CD: https://docs.aws.amazon.com/securityagent/latest/userguide/cicd-pentest.html</a:t>
            </a:r>
          </a:p>
          <a:p>
            <a:r>
              <a:t>S29 — GitHub Actions scoped-pentest tutorial: https://docs.aws.amazon.com/securityagent/latest/userguide/sample-cicd-github.html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27:00–28:30; allocated 01:30.</a:t>
            </a:r>
          </a:p>
          <a:p/>
          <a:p>
            <a:r>
              <a:t>Use one owned application to establish the entire operating loop. Check Region and inference behavior separately from feature availability. Measure confirmed findings, rejected or unsupported claims, reviewer effort, task consumption and successful fix closure. Track which critical paths were exercised and what remains unknown. Do not report a finding count as a security improvement unless the team has assessed and acted on it.</a:t>
            </a:r>
          </a:p>
          <a:p/>
          <a:p>
            <a:r>
              <a:t>Official evidence:</a:t>
            </a:r>
          </a:p>
          <a:p>
            <a:r>
              <a:t>S10 — Security best practices: https://docs.aws.amazon.com/securityagent/latest/userguide/security-best-practices.html</a:t>
            </a:r>
          </a:p>
          <a:p>
            <a:r>
              <a:t>S12 — Review penetration-test findings: https://docs.aws.amazon.com/securityagent/latest/userguide/review-penetration-findings.html</a:t>
            </a:r>
          </a:p>
          <a:p>
            <a:r>
              <a:t>S14 — Revalidate findings: https://docs.aws.amazon.com/securityagent/latest/userguide/revalidate-findings.html</a:t>
            </a:r>
          </a:p>
          <a:p>
            <a:r>
              <a:t>S30 — Resilience and regional availability: https://docs.aws.amazon.com/securityagent/latest/userguide/resilience.html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28:30–30:00; allocated 01:30.</a:t>
            </a:r>
          </a:p>
          <a:p/>
          <a:p>
            <a:r>
              <a:t>Close by distinguishing four things: a design concern, a source-code finding, an observed penetration-test finding and a verified repair. Each has a different evidence requirement. The team should adopt the first workflow it can operate safely and measure end to end, not every available preview at once. Questions come after the timed close. The feature crosswalk retains all 18 capability entries and their original qualifications for deeper reference.</a:t>
            </a:r>
          </a:p>
          <a:p/>
          <a:p>
            <a:r>
              <a:t>Official evidence:</a:t>
            </a:r>
          </a:p>
          <a:p>
            <a:r>
              <a:t>S10 — Security best practices: https://docs.aws.amazon.com/securityagent/latest/userguide/security-best-practices.html</a:t>
            </a:r>
          </a:p>
          <a:p>
            <a:r>
              <a:t>S14 — Revalidate findings: https://docs.aws.amazon.com/securityagent/latest/userguide/revalidate-findings.html</a:t>
            </a:r>
          </a:p>
          <a:p>
            <a:r>
              <a:t>S05 — Pricing and billing: https://docs.aws.amazon.com/securityagent/latest/userguide/pricing.html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30:00–30:00; allocated 00:00.</a:t>
            </a:r>
          </a:p>
          <a:p/>
          <a:p>
            <a:r>
              <a:t>This appendix is outside the timed session. All source URLs are listed below and in the relevant slide notes. No live workflow or measured benefit is claimed.</a:t>
            </a:r>
          </a:p>
          <a:p/>
          <a:p>
            <a:r>
              <a:t>Official evidence:</a:t>
            </a:r>
          </a:p>
          <a:p>
            <a:r>
              <a:t>S03 — On-demand penetration testing generally available: https://aws.amazon.com/about-aws/whats-new/2026/03/aws-security-agent-ondemand-penetration/</a:t>
            </a:r>
          </a:p>
          <a:p>
            <a:r>
              <a:t>S04 — What is AWS Security Agent?: https://docs.aws.amazon.com/securityagent/latest/userguide/what-is.html</a:t>
            </a:r>
          </a:p>
          <a:p>
            <a:r>
              <a:t>S05 — Pricing and billing: https://docs.aws.amazon.com/securityagent/latest/userguide/pricing.html</a:t>
            </a:r>
          </a:p>
          <a:p>
            <a:r>
              <a:t>S08 — Create a penetration test: https://docs.aws.amazon.com/securityagent/latest/userguide/perform-penetration-test.html</a:t>
            </a:r>
          </a:p>
          <a:p>
            <a:r>
              <a:t>S09 — Provide testing credentials: https://docs.aws.amazon.com/securityagent/latest/userguide/provide-testing-credentials.html</a:t>
            </a:r>
          </a:p>
          <a:p>
            <a:r>
              <a:t>S10 — Security best practices: https://docs.aws.amazon.com/securityagent/latest/userguide/security-best-practices.html</a:t>
            </a:r>
          </a:p>
          <a:p>
            <a:r>
              <a:t>S12 — Review penetration-test findings: https://docs.aws.amazon.com/securityagent/latest/userguide/review-penetration-findings.html</a:t>
            </a:r>
          </a:p>
          <a:p>
            <a:r>
              <a:t>S13 — Enable finding remediation: https://docs.aws.amazon.com/securityagent/latest/userguide/enable-remediate-findings.html</a:t>
            </a:r>
          </a:p>
          <a:p>
            <a:r>
              <a:t>S14 — Revalidate findings: https://docs.aws.amazon.com/securityagent/latest/userguide/revalidate-findings.html</a:t>
            </a:r>
          </a:p>
          <a:p>
            <a:r>
              <a:t>S16 — Create Jira issues for findings: https://docs.aws.amazon.com/securityagent/latest/userguide/export-findings-to-issue-tracker.html</a:t>
            </a:r>
          </a:p>
          <a:p>
            <a:r>
              <a:t>S17 — Perform a design review: https://docs.aws.amazon.com/securityagent/latest/userguide/perform-design-review.html</a:t>
            </a:r>
          </a:p>
          <a:p>
            <a:r>
              <a:t>S18 — Security requirements: https://docs.aws.amazon.com/securityagent/latest/userguide/security-requirements.html</a:t>
            </a:r>
          </a:p>
          <a:p>
            <a:r>
              <a:t>S21 — Perform a full code review: https://docs.aws.amazon.com/securityagent/latest/userguide/perform-code-review-scan.html</a:t>
            </a:r>
          </a:p>
          <a:p>
            <a:r>
              <a:t>S24 — Configure code-review triggers: https://docs.aws.amazon.com/securityagent/latest/userguide/configure-code-review-triggers.html</a:t>
            </a:r>
          </a:p>
          <a:p>
            <a:r>
              <a:t>S25 — Remediate code-review findings: https://docs.aws.amazon.com/securityagent/latest/userguide/remediate-code-scan-findings.html</a:t>
            </a:r>
          </a:p>
          <a:p>
            <a:r>
              <a:t>S26 — Code review from an IDE: https://docs.aws.amazon.com/securityagent/latest/userguide/code-review-ide-integration.html</a:t>
            </a:r>
          </a:p>
          <a:p>
            <a:r>
              <a:t>S27 — Run a differential code scan with S3: https://docs.aws.amazon.com/securityagent/latest/userguide/run-diff-scan-s3.html</a:t>
            </a:r>
          </a:p>
          <a:p>
            <a:r>
              <a:t>S28 — Run penetration tests from CI/CD: https://docs.aws.amazon.com/securityagent/latest/userguide/cicd-pentest.html</a:t>
            </a:r>
          </a:p>
          <a:p>
            <a:r>
              <a:t>S29 — GitHub Actions scoped-pentest tutorial: https://docs.aws.amazon.com/securityagent/latest/userguide/sample-cicd-github.html</a:t>
            </a:r>
          </a:p>
          <a:p>
            <a:r>
              <a:t>S30 — Resilience and regional availability: https://docs.aws.amazon.com/securityagent/latest/userguide/resilience.html</a:t>
            </a:r>
          </a:p>
          <a:p>
            <a:r>
              <a:t>S31 — Threat modeling quickstart: https://docs.aws.amazon.com/securityagent/latest/userguide/quickstart-threat-model.html</a:t>
            </a:r>
          </a:p>
          <a:p>
            <a:r>
              <a:t>S32 — Remediate a penetration-test finding: https://docs.aws.amazon.com/securityagent/latest/userguide/remediate-finding.html</a:t>
            </a:r>
          </a:p>
          <a:p>
            <a:r>
              <a:t>S15 — Export a penetration-test report: https://docs.aws.amazon.com/securityagent/latest/userguide/export-penetration-report.html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hyperlink" Target="https://aws.amazon.com/about-aws/whats-new/2026/03/aws-security-agent-ondemand-penetration/" TargetMode="External"/><Relationship Id="rId4" Type="http://schemas.openxmlformats.org/officeDocument/2006/relationships/hyperlink" Target="https://docs.aws.amazon.com/securityagent/latest/userguide/what-is.html" TargetMode="External"/><Relationship Id="rId5" Type="http://schemas.openxmlformats.org/officeDocument/2006/relationships/hyperlink" Target="https://docs.aws.amazon.com/securityagent/latest/userguide/pricing.html" TargetMode="External"/><Relationship Id="rId6" Type="http://schemas.openxmlformats.org/officeDocument/2006/relationships/hyperlink" Target="https://docs.aws.amazon.com/securityagent/latest/userguide/perform-penetration-test.html" TargetMode="External"/><Relationship Id="rId7" Type="http://schemas.openxmlformats.org/officeDocument/2006/relationships/hyperlink" Target="https://docs.aws.amazon.com/securityagent/latest/userguide/provide-testing-credentials.html" TargetMode="External"/><Relationship Id="rId8" Type="http://schemas.openxmlformats.org/officeDocument/2006/relationships/hyperlink" Target="https://docs.aws.amazon.com/securityagent/latest/userguide/security-best-practices.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AWS SECURITY AGENT  /  POSITION</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AWS Security Agent</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Application-security evidence from design review to deployed-fix revalidation.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 / 18    AWS Security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00:45 allocated  |  00:00–00:45</a:t>
            </a:r>
          </a:p>
        </p:txBody>
      </p:sp>
      <p:sp>
        <p:nvSpPr>
          <p:cNvPr id="9" name="Rounded Rectangle 8"/>
          <p:cNvSpPr/>
          <p:nvPr/>
        </p:nvSpPr>
        <p:spPr>
          <a:xfrm>
            <a:off x="502920" y="2331720"/>
            <a:ext cx="11183112" cy="960120"/>
          </a:xfrm>
          <a:prstGeom prst="roundRect">
            <a:avLst>
              <a:gd name="adj" fmla="val 8000"/>
            </a:avLst>
          </a:prstGeom>
          <a:solidFill>
            <a:srgbClr val="10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2596896"/>
            <a:ext cx="10698480" cy="411480"/>
          </a:xfrm>
          <a:prstGeom prst="rect">
            <a:avLst/>
          </a:prstGeom>
          <a:noFill/>
        </p:spPr>
        <p:txBody>
          <a:bodyPr wrap="square" lIns="0" rIns="0" tIns="0" bIns="0" anchor="t">
            <a:spAutoFit/>
          </a:bodyPr>
          <a:lstStyle/>
          <a:p>
            <a:pPr>
              <a:lnSpc>
                <a:spcPct val="112000"/>
              </a:lnSpc>
              <a:spcAft>
                <a:spcPts val="300"/>
              </a:spcAft>
              <a:defRPr sz="2500" b="1">
                <a:solidFill>
                  <a:srgbClr val="FFFFFF"/>
                </a:solidFill>
                <a:latin typeface="Arial"/>
              </a:defRPr>
            </a:pPr>
            <a:r>
              <a:t>Authorize → assess → triage → repair → revalidate</a:t>
            </a:r>
          </a:p>
        </p:txBody>
      </p:sp>
      <p:sp>
        <p:nvSpPr>
          <p:cNvPr id="11" name="Rounded Rectangle 10"/>
          <p:cNvSpPr/>
          <p:nvPr/>
        </p:nvSpPr>
        <p:spPr>
          <a:xfrm>
            <a:off x="502920" y="3703320"/>
            <a:ext cx="3611880" cy="1417320"/>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4088" y="3913632"/>
            <a:ext cx="3200400" cy="530352"/>
          </a:xfrm>
          <a:prstGeom prst="rect">
            <a:avLst/>
          </a:prstGeom>
          <a:noFill/>
        </p:spPr>
        <p:txBody>
          <a:bodyPr wrap="square" lIns="0" rIns="0" tIns="0" bIns="0" anchor="t">
            <a:spAutoFit/>
          </a:bodyPr>
          <a:lstStyle/>
          <a:p>
            <a:pPr>
              <a:lnSpc>
                <a:spcPct val="112000"/>
              </a:lnSpc>
              <a:spcAft>
                <a:spcPts val="300"/>
              </a:spcAft>
              <a:defRPr sz="3450" b="1">
                <a:solidFill>
                  <a:srgbClr val="167259"/>
                </a:solidFill>
                <a:latin typeface="Arial"/>
              </a:defRPr>
            </a:pPr>
            <a:r>
              <a:t>30 min</a:t>
            </a:r>
          </a:p>
        </p:txBody>
      </p:sp>
      <p:sp>
        <p:nvSpPr>
          <p:cNvPr id="13" name="TextBox 12"/>
          <p:cNvSpPr txBox="1"/>
          <p:nvPr/>
        </p:nvSpPr>
        <p:spPr>
          <a:xfrm>
            <a:off x="704088" y="4553712"/>
            <a:ext cx="3200400" cy="338328"/>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session, including demo</a:t>
            </a:r>
          </a:p>
        </p:txBody>
      </p:sp>
      <p:sp>
        <p:nvSpPr>
          <p:cNvPr id="14" name="Rounded Rectangle 13"/>
          <p:cNvSpPr/>
          <p:nvPr/>
        </p:nvSpPr>
        <p:spPr>
          <a:xfrm>
            <a:off x="4288536" y="3703320"/>
            <a:ext cx="3611880" cy="1417320"/>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9703" y="3913632"/>
            <a:ext cx="3200400" cy="530352"/>
          </a:xfrm>
          <a:prstGeom prst="rect">
            <a:avLst/>
          </a:prstGeom>
          <a:noFill/>
        </p:spPr>
        <p:txBody>
          <a:bodyPr wrap="square" lIns="0" rIns="0" tIns="0" bIns="0" anchor="t">
            <a:spAutoFit/>
          </a:bodyPr>
          <a:lstStyle/>
          <a:p>
            <a:pPr>
              <a:lnSpc>
                <a:spcPct val="112000"/>
              </a:lnSpc>
              <a:spcAft>
                <a:spcPts val="300"/>
              </a:spcAft>
              <a:defRPr sz="3450" b="1">
                <a:solidFill>
                  <a:srgbClr val="167259"/>
                </a:solidFill>
                <a:latin typeface="Arial"/>
              </a:defRPr>
            </a:pPr>
            <a:r>
              <a:t>8 min</a:t>
            </a:r>
          </a:p>
        </p:txBody>
      </p:sp>
      <p:sp>
        <p:nvSpPr>
          <p:cNvPr id="16" name="TextBox 15"/>
          <p:cNvSpPr txBox="1"/>
          <p:nvPr/>
        </p:nvSpPr>
        <p:spPr>
          <a:xfrm>
            <a:off x="4489703" y="4553712"/>
            <a:ext cx="3200400" cy="338328"/>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controlled demo walkthrough</a:t>
            </a:r>
          </a:p>
        </p:txBody>
      </p:sp>
      <p:sp>
        <p:nvSpPr>
          <p:cNvPr id="17" name="Rounded Rectangle 16"/>
          <p:cNvSpPr/>
          <p:nvPr/>
        </p:nvSpPr>
        <p:spPr>
          <a:xfrm>
            <a:off x="8074152" y="3703320"/>
            <a:ext cx="3611880" cy="1417320"/>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75320" y="3913632"/>
            <a:ext cx="3200400" cy="530352"/>
          </a:xfrm>
          <a:prstGeom prst="rect">
            <a:avLst/>
          </a:prstGeom>
          <a:noFill/>
        </p:spPr>
        <p:txBody>
          <a:bodyPr wrap="square" lIns="0" rIns="0" tIns="0" bIns="0" anchor="t">
            <a:spAutoFit/>
          </a:bodyPr>
          <a:lstStyle/>
          <a:p>
            <a:pPr>
              <a:lnSpc>
                <a:spcPct val="112000"/>
              </a:lnSpc>
              <a:spcAft>
                <a:spcPts val="300"/>
              </a:spcAft>
              <a:defRPr sz="3450" b="1">
                <a:solidFill>
                  <a:srgbClr val="167259"/>
                </a:solidFill>
                <a:latin typeface="Arial"/>
              </a:defRPr>
            </a:pPr>
            <a:r>
              <a:t>1 app</a:t>
            </a:r>
          </a:p>
        </p:txBody>
      </p:sp>
      <p:sp>
        <p:nvSpPr>
          <p:cNvPr id="19" name="TextBox 18"/>
          <p:cNvSpPr txBox="1"/>
          <p:nvPr/>
        </p:nvSpPr>
        <p:spPr>
          <a:xfrm>
            <a:off x="8275320" y="4553712"/>
            <a:ext cx="3200400" cy="338328"/>
          </a:xfrm>
          <a:prstGeom prst="rect">
            <a:avLst/>
          </a:prstGeom>
          <a:noFill/>
        </p:spPr>
        <p:txBody>
          <a:bodyPr wrap="square" lIns="0" rIns="0" tIns="0" bIns="0" anchor="t">
            <a:spAutoFit/>
          </a:bodyPr>
          <a:lstStyle/>
          <a:p>
            <a:pPr>
              <a:lnSpc>
                <a:spcPct val="112000"/>
              </a:lnSpc>
              <a:spcAft>
                <a:spcPts val="300"/>
              </a:spcAft>
              <a:defRPr sz="1700" b="0">
                <a:solidFill>
                  <a:srgbClr val="182B43"/>
                </a:solidFill>
                <a:latin typeface="Arial"/>
              </a:defRPr>
            </a:pPr>
            <a:r>
              <a:t>recommended first scope</a:t>
            </a:r>
          </a:p>
        </p:txBody>
      </p:sp>
      <p:sp>
        <p:nvSpPr>
          <p:cNvPr id="20" name="TextBox 19"/>
          <p:cNvSpPr txBox="1"/>
          <p:nvPr/>
        </p:nvSpPr>
        <p:spPr>
          <a:xfrm>
            <a:off x="521207" y="5504688"/>
            <a:ext cx="11064240" cy="530352"/>
          </a:xfrm>
          <a:prstGeom prst="rect">
            <a:avLst/>
          </a:prstGeom>
          <a:noFill/>
        </p:spPr>
        <p:txBody>
          <a:bodyPr wrap="square" lIns="0" rIns="0" tIns="0" bIns="0" anchor="t">
            <a:spAutoFit/>
          </a:bodyPr>
          <a:lstStyle/>
          <a:p>
            <a:pPr>
              <a:lnSpc>
                <a:spcPct val="112000"/>
              </a:lnSpc>
              <a:spcAft>
                <a:spcPts val="300"/>
              </a:spcAft>
              <a:defRPr sz="1700" b="0">
                <a:solidFill>
                  <a:srgbClr val="55657A"/>
                </a:solidFill>
                <a:latin typeface="Arial"/>
              </a:defRPr>
            </a:pPr>
            <a:r>
              <a:t>On-demand penetration testing: GA. Design review, threat modeling, code review and CI/CD integration are separate preview capabilities.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AWS SECURITY AGENT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Lifecycle coverage is not uniform availability</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Use the feature’s own maturity and execution boundary.</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02 / 18    AWS Security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01:15 allocated  |  00:45–02:00</a:t>
            </a:r>
          </a:p>
        </p:txBody>
      </p:sp>
      <p:sp>
        <p:nvSpPr>
          <p:cNvPr id="9" name="Rounded Rectangle 8"/>
          <p:cNvSpPr/>
          <p:nvPr/>
        </p:nvSpPr>
        <p:spPr>
          <a:xfrm>
            <a:off x="502920" y="2313432"/>
            <a:ext cx="359359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59736"/>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PREVIEW</a:t>
            </a:r>
          </a:p>
        </p:txBody>
      </p:sp>
      <p:sp>
        <p:nvSpPr>
          <p:cNvPr id="11" name="TextBox 10"/>
          <p:cNvSpPr txBox="1"/>
          <p:nvPr/>
        </p:nvSpPr>
        <p:spPr>
          <a:xfrm>
            <a:off x="667512" y="2788920"/>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Design review</a:t>
            </a:r>
          </a:p>
        </p:txBody>
      </p:sp>
      <p:sp>
        <p:nvSpPr>
          <p:cNvPr id="12" name="TextBox 11"/>
          <p:cNvSpPr txBox="1"/>
          <p:nvPr/>
        </p:nvSpPr>
        <p:spPr>
          <a:xfrm>
            <a:off x="667512" y="3392424"/>
            <a:ext cx="326440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Assess architecture documents against security requirements.</a:t>
            </a:r>
          </a:p>
        </p:txBody>
      </p:sp>
      <p:sp>
        <p:nvSpPr>
          <p:cNvPr id="13" name="Rounded Rectangle 12"/>
          <p:cNvSpPr/>
          <p:nvPr/>
        </p:nvSpPr>
        <p:spPr>
          <a:xfrm>
            <a:off x="4297680" y="2313432"/>
            <a:ext cx="359359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62272" y="2459736"/>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PREVIEW</a:t>
            </a:r>
          </a:p>
        </p:txBody>
      </p:sp>
      <p:sp>
        <p:nvSpPr>
          <p:cNvPr id="15" name="TextBox 14"/>
          <p:cNvSpPr txBox="1"/>
          <p:nvPr/>
        </p:nvSpPr>
        <p:spPr>
          <a:xfrm>
            <a:off x="4462272" y="2788920"/>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Threat model</a:t>
            </a:r>
          </a:p>
        </p:txBody>
      </p:sp>
      <p:sp>
        <p:nvSpPr>
          <p:cNvPr id="16" name="TextBox 15"/>
          <p:cNvSpPr txBox="1"/>
          <p:nvPr/>
        </p:nvSpPr>
        <p:spPr>
          <a:xfrm>
            <a:off x="4462272" y="3392424"/>
            <a:ext cx="326440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Map system context, threats and mitigation recommendations.</a:t>
            </a:r>
          </a:p>
        </p:txBody>
      </p:sp>
      <p:sp>
        <p:nvSpPr>
          <p:cNvPr id="17" name="Rounded Rectangle 16"/>
          <p:cNvSpPr/>
          <p:nvPr/>
        </p:nvSpPr>
        <p:spPr>
          <a:xfrm>
            <a:off x="8092440" y="2313432"/>
            <a:ext cx="359359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7032" y="2459736"/>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PREVIEW</a:t>
            </a:r>
          </a:p>
        </p:txBody>
      </p:sp>
      <p:sp>
        <p:nvSpPr>
          <p:cNvPr id="19" name="TextBox 18"/>
          <p:cNvSpPr txBox="1"/>
          <p:nvPr/>
        </p:nvSpPr>
        <p:spPr>
          <a:xfrm>
            <a:off x="8257032" y="2788920"/>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Code review</a:t>
            </a:r>
          </a:p>
        </p:txBody>
      </p:sp>
      <p:sp>
        <p:nvSpPr>
          <p:cNvPr id="20" name="TextBox 19"/>
          <p:cNvSpPr txBox="1"/>
          <p:nvPr/>
        </p:nvSpPr>
        <p:spPr>
          <a:xfrm>
            <a:off x="8257032" y="3392424"/>
            <a:ext cx="326440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Review repositories, changes and proposed code fixes.</a:t>
            </a:r>
          </a:p>
        </p:txBody>
      </p:sp>
      <p:sp>
        <p:nvSpPr>
          <p:cNvPr id="21" name="Rounded Rectangle 20"/>
          <p:cNvSpPr/>
          <p:nvPr/>
        </p:nvSpPr>
        <p:spPr>
          <a:xfrm>
            <a:off x="502920" y="4352544"/>
            <a:ext cx="359359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4498848"/>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GA</a:t>
            </a:r>
          </a:p>
        </p:txBody>
      </p:sp>
      <p:sp>
        <p:nvSpPr>
          <p:cNvPr id="23" name="TextBox 22"/>
          <p:cNvSpPr txBox="1"/>
          <p:nvPr/>
        </p:nvSpPr>
        <p:spPr>
          <a:xfrm>
            <a:off x="667512" y="4828031"/>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Penetration test</a:t>
            </a:r>
          </a:p>
        </p:txBody>
      </p:sp>
      <p:sp>
        <p:nvSpPr>
          <p:cNvPr id="24" name="TextBox 23"/>
          <p:cNvSpPr txBox="1"/>
          <p:nvPr/>
        </p:nvSpPr>
        <p:spPr>
          <a:xfrm>
            <a:off x="667512" y="5431536"/>
            <a:ext cx="326440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Exercise a configured, authorized running application.</a:t>
            </a:r>
          </a:p>
        </p:txBody>
      </p:sp>
      <p:sp>
        <p:nvSpPr>
          <p:cNvPr id="25" name="Rounded Rectangle 24"/>
          <p:cNvSpPr/>
          <p:nvPr/>
        </p:nvSpPr>
        <p:spPr>
          <a:xfrm>
            <a:off x="4297680" y="4352544"/>
            <a:ext cx="359359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62272" y="4498848"/>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PREVIEW</a:t>
            </a:r>
          </a:p>
        </p:txBody>
      </p:sp>
      <p:sp>
        <p:nvSpPr>
          <p:cNvPr id="27" name="TextBox 26"/>
          <p:cNvSpPr txBox="1"/>
          <p:nvPr/>
        </p:nvSpPr>
        <p:spPr>
          <a:xfrm>
            <a:off x="4462272" y="4828031"/>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Delivery integration</a:t>
            </a:r>
          </a:p>
        </p:txBody>
      </p:sp>
      <p:sp>
        <p:nvSpPr>
          <p:cNvPr id="28" name="TextBox 27"/>
          <p:cNvSpPr txBox="1"/>
          <p:nvPr/>
        </p:nvSpPr>
        <p:spPr>
          <a:xfrm>
            <a:off x="4462272" y="5431536"/>
            <a:ext cx="326440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Run a scoped post-deployment test as a pipeline gate.</a:t>
            </a:r>
          </a:p>
        </p:txBody>
      </p:sp>
      <p:sp>
        <p:nvSpPr>
          <p:cNvPr id="29" name="Rounded Rectangle 28"/>
          <p:cNvSpPr/>
          <p:nvPr/>
        </p:nvSpPr>
        <p:spPr>
          <a:xfrm>
            <a:off x="8092440" y="4352544"/>
            <a:ext cx="359359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57032" y="4498848"/>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PENTEST WORKFLOW</a:t>
            </a:r>
          </a:p>
        </p:txBody>
      </p:sp>
      <p:sp>
        <p:nvSpPr>
          <p:cNvPr id="31" name="TextBox 30"/>
          <p:cNvSpPr txBox="1"/>
          <p:nvPr/>
        </p:nvSpPr>
        <p:spPr>
          <a:xfrm>
            <a:off x="8257032" y="4828031"/>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Fix verification</a:t>
            </a:r>
          </a:p>
        </p:txBody>
      </p:sp>
      <p:sp>
        <p:nvSpPr>
          <p:cNvPr id="32" name="TextBox 31"/>
          <p:cNvSpPr txBox="1"/>
          <p:nvPr/>
        </p:nvSpPr>
        <p:spPr>
          <a:xfrm>
            <a:off x="8257032" y="5431536"/>
            <a:ext cx="326440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Reassess a known finding after a deployed repair.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AWS SECURITY AGENT  /  USE CASE</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Use case · prove a tenant boundary holds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The unit of success is an accepted finding and verified repair—not a severity count.</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03 / 18    AWS Security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01:15 allocated  |  02:00–03:15</a:t>
            </a:r>
          </a:p>
        </p:txBody>
      </p:sp>
      <p:sp>
        <p:nvSpPr>
          <p:cNvPr id="9" name="Rounded Rectangle 8"/>
          <p:cNvSpPr/>
          <p:nvPr/>
        </p:nvSpPr>
        <p:spPr>
          <a:xfrm>
            <a:off x="502920" y="2313432"/>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59736"/>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SCOPE</a:t>
            </a:r>
          </a:p>
        </p:txBody>
      </p:sp>
      <p:sp>
        <p:nvSpPr>
          <p:cNvPr id="11" name="TextBox 10"/>
          <p:cNvSpPr txBox="1"/>
          <p:nvPr/>
        </p:nvSpPr>
        <p:spPr>
          <a:xfrm>
            <a:off x="667512" y="2788920"/>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Authorize</a:t>
            </a:r>
          </a:p>
        </p:txBody>
      </p:sp>
      <p:sp>
        <p:nvSpPr>
          <p:cNvPr id="12" name="TextBox 11"/>
          <p:cNvSpPr txBox="1"/>
          <p:nvPr/>
        </p:nvSpPr>
        <p:spPr>
          <a:xfrm>
            <a:off x="667512" y="3392424"/>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One owned staging application and test window.</a:t>
            </a:r>
          </a:p>
        </p:txBody>
      </p:sp>
      <p:sp>
        <p:nvSpPr>
          <p:cNvPr id="13" name="Rounded Rectangle 12"/>
          <p:cNvSpPr/>
          <p:nvPr/>
        </p:nvSpPr>
        <p:spPr>
          <a:xfrm>
            <a:off x="6195059" y="2313432"/>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9651" y="2459736"/>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NATIVE</a:t>
            </a:r>
          </a:p>
        </p:txBody>
      </p:sp>
      <p:sp>
        <p:nvSpPr>
          <p:cNvPr id="15" name="TextBox 14"/>
          <p:cNvSpPr txBox="1"/>
          <p:nvPr/>
        </p:nvSpPr>
        <p:spPr>
          <a:xfrm>
            <a:off x="6359651" y="2788920"/>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Assess</a:t>
            </a:r>
          </a:p>
        </p:txBody>
      </p:sp>
      <p:sp>
        <p:nvSpPr>
          <p:cNvPr id="16" name="TextBox 15"/>
          <p:cNvSpPr txBox="1"/>
          <p:nvPr/>
        </p:nvSpPr>
        <p:spPr>
          <a:xfrm>
            <a:off x="6359651" y="3392424"/>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Exercise the approved authenticated paths.</a:t>
            </a:r>
          </a:p>
        </p:txBody>
      </p:sp>
      <p:sp>
        <p:nvSpPr>
          <p:cNvPr id="17" name="Rounded Rectangle 16"/>
          <p:cNvSpPr/>
          <p:nvPr/>
        </p:nvSpPr>
        <p:spPr>
          <a:xfrm>
            <a:off x="502920" y="4352544"/>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4498848"/>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APPSEC</a:t>
            </a:r>
          </a:p>
        </p:txBody>
      </p:sp>
      <p:sp>
        <p:nvSpPr>
          <p:cNvPr id="19" name="TextBox 18"/>
          <p:cNvSpPr txBox="1"/>
          <p:nvPr/>
        </p:nvSpPr>
        <p:spPr>
          <a:xfrm>
            <a:off x="667512" y="4828031"/>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Triage</a:t>
            </a:r>
          </a:p>
        </p:txBody>
      </p:sp>
      <p:sp>
        <p:nvSpPr>
          <p:cNvPr id="20" name="TextBox 19"/>
          <p:cNvSpPr txBox="1"/>
          <p:nvPr/>
        </p:nvSpPr>
        <p:spPr>
          <a:xfrm>
            <a:off x="667512" y="5431536"/>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Inspect impact, confidence and reproduction evidence.</a:t>
            </a:r>
          </a:p>
        </p:txBody>
      </p:sp>
      <p:sp>
        <p:nvSpPr>
          <p:cNvPr id="21" name="Rounded Rectangle 20"/>
          <p:cNvSpPr/>
          <p:nvPr/>
        </p:nvSpPr>
        <p:spPr>
          <a:xfrm>
            <a:off x="6195059" y="4352544"/>
            <a:ext cx="549097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9651" y="4498848"/>
            <a:ext cx="5161788"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ENGINEERING</a:t>
            </a:r>
          </a:p>
        </p:txBody>
      </p:sp>
      <p:sp>
        <p:nvSpPr>
          <p:cNvPr id="23" name="TextBox 22"/>
          <p:cNvSpPr txBox="1"/>
          <p:nvPr/>
        </p:nvSpPr>
        <p:spPr>
          <a:xfrm>
            <a:off x="6359651" y="4828031"/>
            <a:ext cx="516178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Close</a:t>
            </a:r>
          </a:p>
        </p:txBody>
      </p:sp>
      <p:sp>
        <p:nvSpPr>
          <p:cNvPr id="24" name="TextBox 23"/>
          <p:cNvSpPr txBox="1"/>
          <p:nvPr/>
        </p:nvSpPr>
        <p:spPr>
          <a:xfrm>
            <a:off x="6359651" y="5431536"/>
            <a:ext cx="516178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Review the fix, deploy safely, and revalidate.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AWS SECURITY AGENT  /  CONTROLS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Authorization and target safety come first</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Domain verification does not authorize every reachable dependency.</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04 / 18    AWS Security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03:15–04:45</a:t>
            </a:r>
          </a:p>
        </p:txBody>
      </p:sp>
      <p:graphicFrame>
        <p:nvGraphicFramePr>
          <p:cNvPr id="9" name="Table 8"/>
          <p:cNvGraphicFramePr>
            <a:graphicFrameLocks noGrp="1"/>
          </p:cNvGraphicFramePr>
          <p:nvPr/>
        </p:nvGraphicFramePr>
        <p:xfrm>
          <a:off x="502920" y="2313432"/>
          <a:ext cx="11183112" cy="3858768"/>
        </p:xfrm>
        <a:graphic>
          <a:graphicData uri="http://schemas.openxmlformats.org/drawingml/2006/table">
            <a:tbl>
              <a:tblPr firstRow="1" bandRow="1">
                <a:tableStyleId>{5C22544A-7EE6-4342-B048-85BDC9FD1C3A}</a:tableStyleId>
              </a:tblPr>
              <a:tblGrid>
                <a:gridCol w="3727704"/>
                <a:gridCol w="3727704"/>
                <a:gridCol w="3727704"/>
              </a:tblGrid>
              <a:tr h="771753">
                <a:tc>
                  <a:txBody>
                    <a:bodyPr/>
                    <a:lstStyle/>
                    <a:p>
                      <a:pPr>
                        <a:spcAft>
                          <a:spcPts val="0"/>
                        </a:spcAft>
                        <a:defRPr sz="1600" b="1">
                          <a:solidFill>
                            <a:srgbClr val="FFFFFF"/>
                          </a:solidFill>
                          <a:latin typeface="Arial"/>
                        </a:defRPr>
                      </a:pPr>
                      <a:r>
                        <a:t>Boundary</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Required preparation</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Owner check</a:t>
                      </a:r>
                    </a:p>
                  </a:txBody>
                  <a:tcPr marL="128016" marR="128016" marT="82296" marB="54864">
                    <a:solidFill>
                      <a:srgbClr val="10243B"/>
                    </a:solidFill>
                  </a:tcPr>
                </a:tc>
              </a:tr>
              <a:tr h="771753">
                <a:tc>
                  <a:txBody>
                    <a:bodyPr/>
                    <a:lstStyle/>
                    <a:p>
                      <a:pPr>
                        <a:spcAft>
                          <a:spcPts val="0"/>
                        </a:spcAft>
                        <a:defRPr sz="1600" b="0">
                          <a:solidFill>
                            <a:srgbClr val="182B43"/>
                          </a:solidFill>
                          <a:latin typeface="Arial"/>
                        </a:defRPr>
                      </a:pPr>
                      <a:r>
                        <a:t>Target</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Owned non-production domain and permitted paths</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Written scope and dependency exclusions</a:t>
                      </a:r>
                    </a:p>
                  </a:txBody>
                  <a:tcPr marL="128016" marR="128016" marT="82296" marB="54864">
                    <a:solidFill>
                      <a:srgbClr val="F1F5F8"/>
                    </a:solidFill>
                  </a:tcPr>
                </a:tc>
              </a:tr>
              <a:tr h="771753">
                <a:tc>
                  <a:txBody>
                    <a:bodyPr/>
                    <a:lstStyle/>
                    <a:p>
                      <a:pPr>
                        <a:spcAft>
                          <a:spcPts val="0"/>
                        </a:spcAft>
                        <a:defRPr sz="1600" b="0">
                          <a:solidFill>
                            <a:srgbClr val="182B43"/>
                          </a:solidFill>
                          <a:latin typeface="Arial"/>
                        </a:defRPr>
                      </a:pPr>
                      <a:r>
                        <a:t>Identity</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Dedicated low-privilege test accounts</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No real customer or production credentials</a:t>
                      </a:r>
                    </a:p>
                  </a:txBody>
                  <a:tcPr marL="128016" marR="128016" marT="82296" marB="54864">
                    <a:solidFill>
                      <a:srgbClr val="FFFFFF"/>
                    </a:solidFill>
                  </a:tcPr>
                </a:tc>
              </a:tr>
              <a:tr h="771753">
                <a:tc>
                  <a:txBody>
                    <a:bodyPr/>
                    <a:lstStyle/>
                    <a:p>
                      <a:pPr>
                        <a:spcAft>
                          <a:spcPts val="0"/>
                        </a:spcAft>
                        <a:defRPr sz="1600" b="0">
                          <a:solidFill>
                            <a:srgbClr val="182B43"/>
                          </a:solidFill>
                          <a:latin typeface="Arial"/>
                        </a:defRPr>
                      </a:pPr>
                      <a:r>
                        <a:t>State</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Disposable data and disabled business side effects</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Recovery plan and health monitoring</a:t>
                      </a:r>
                    </a:p>
                  </a:txBody>
                  <a:tcPr marL="128016" marR="128016" marT="82296" marB="54864">
                    <a:solidFill>
                      <a:srgbClr val="F1F5F8"/>
                    </a:solidFill>
                  </a:tcPr>
                </a:tc>
              </a:tr>
              <a:tr h="771756">
                <a:tc>
                  <a:txBody>
                    <a:bodyPr/>
                    <a:lstStyle/>
                    <a:p>
                      <a:pPr>
                        <a:spcAft>
                          <a:spcPts val="0"/>
                        </a:spcAft>
                        <a:defRPr sz="1600" b="0">
                          <a:solidFill>
                            <a:srgbClr val="182B43"/>
                          </a:solidFill>
                          <a:latin typeface="Arial"/>
                        </a:defRPr>
                      </a:pPr>
                      <a:r>
                        <a:t>Execution</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Task budget, test window and stop owner</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Operator can observe and stop the run</a:t>
                      </a:r>
                    </a:p>
                  </a:txBody>
                  <a:tcPr marL="128016" marR="128016" marT="82296" marB="54864">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AWS SECURITY AGENT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Choose test scope and supply current context</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Acceptance: context and credentials match the deployed version under test.</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05 / 18    AWS Security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01:15 allocated  |  04:45–06:00</a:t>
            </a:r>
          </a:p>
        </p:txBody>
      </p:sp>
      <p:sp>
        <p:nvSpPr>
          <p:cNvPr id="9" name="Rounded Rectangle 8"/>
          <p:cNvSpPr/>
          <p:nvPr/>
        </p:nvSpPr>
        <p:spPr>
          <a:xfrm>
            <a:off x="502920"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01</a:t>
            </a:r>
          </a:p>
        </p:txBody>
      </p:sp>
      <p:sp>
        <p:nvSpPr>
          <p:cNvPr id="11" name="TextBox 10"/>
          <p:cNvSpPr txBox="1"/>
          <p:nvPr/>
        </p:nvSpPr>
        <p:spPr>
          <a:xfrm>
            <a:off x="667512"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Inputs</a:t>
            </a:r>
          </a:p>
        </p:txBody>
      </p:sp>
      <p:sp>
        <p:nvSpPr>
          <p:cNvPr id="12" name="TextBox 11"/>
          <p:cNvSpPr txBox="1"/>
          <p:nvPr/>
        </p:nvSpPr>
        <p:spPr>
          <a:xfrm>
            <a:off x="667512"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Authorized target, dedicated test credentials and network scope</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Current source/API context; optional private VPC reachability</a:t>
            </a:r>
          </a:p>
        </p:txBody>
      </p:sp>
      <p:sp>
        <p:nvSpPr>
          <p:cNvPr id="13" name="Rounded Rectangle 12"/>
          <p:cNvSpPr/>
          <p:nvPr/>
        </p:nvSpPr>
        <p:spPr>
          <a:xfrm>
            <a:off x="4288536"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3127"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02</a:t>
            </a:r>
          </a:p>
        </p:txBody>
      </p:sp>
      <p:sp>
        <p:nvSpPr>
          <p:cNvPr id="15" name="TextBox 14"/>
          <p:cNvSpPr txBox="1"/>
          <p:nvPr/>
        </p:nvSpPr>
        <p:spPr>
          <a:xfrm>
            <a:off x="4453127"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Agent work</a:t>
            </a:r>
          </a:p>
        </p:txBody>
      </p:sp>
      <p:sp>
        <p:nvSpPr>
          <p:cNvPr id="16" name="TextBox 15"/>
          <p:cNvSpPr txBox="1"/>
          <p:nvPr/>
        </p:nvSpPr>
        <p:spPr>
          <a:xfrm>
            <a:off x="4453127"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Select Web application or focused Gen AI application scope</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Confirm sign-in and classify target, accessible and excluded domains</a:t>
            </a:r>
          </a:p>
        </p:txBody>
      </p:sp>
      <p:sp>
        <p:nvSpPr>
          <p:cNvPr id="17" name="Rounded Rectangle 16"/>
          <p:cNvSpPr/>
          <p:nvPr/>
        </p:nvSpPr>
        <p:spPr>
          <a:xfrm>
            <a:off x="8074152"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8744"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03</a:t>
            </a:r>
          </a:p>
        </p:txBody>
      </p:sp>
      <p:sp>
        <p:nvSpPr>
          <p:cNvPr id="19" name="TextBox 18"/>
          <p:cNvSpPr txBox="1"/>
          <p:nvPr/>
        </p:nvSpPr>
        <p:spPr>
          <a:xfrm>
            <a:off x="8238744"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Outputs</a:t>
            </a:r>
          </a:p>
        </p:txBody>
      </p:sp>
      <p:sp>
        <p:nvSpPr>
          <p:cNvPr id="20" name="TextBox 19"/>
          <p:cNvSpPr txBox="1"/>
          <p:nvPr/>
        </p:nvSpPr>
        <p:spPr>
          <a:xfrm>
            <a:off x="8238744"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A scoped assessment matched to the deployed version</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Explicit coverage assumptions and reachable paths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AWS SECURITY AGENT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Bound the run and observe its effects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Acceptance: task hours are not wall-clock minutes; the operator owns the stop decision.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06 / 18    AWS Security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01:15 allocated  |  06:00–07:15</a:t>
            </a:r>
          </a:p>
        </p:txBody>
      </p:sp>
      <p:sp>
        <p:nvSpPr>
          <p:cNvPr id="9" name="Rounded Rectangle 8"/>
          <p:cNvSpPr/>
          <p:nvPr/>
        </p:nvSpPr>
        <p:spPr>
          <a:xfrm>
            <a:off x="502920"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01</a:t>
            </a:r>
          </a:p>
        </p:txBody>
      </p:sp>
      <p:sp>
        <p:nvSpPr>
          <p:cNvPr id="11" name="TextBox 10"/>
          <p:cNvSpPr txBox="1"/>
          <p:nvPr/>
        </p:nvSpPr>
        <p:spPr>
          <a:xfrm>
            <a:off x="667512"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Inputs</a:t>
            </a:r>
          </a:p>
        </p:txBody>
      </p:sp>
      <p:sp>
        <p:nvSpPr>
          <p:cNvPr id="12" name="TextBox 11"/>
          <p:cNvSpPr txBox="1"/>
          <p:nvPr/>
        </p:nvSpPr>
        <p:spPr>
          <a:xfrm>
            <a:off x="667512"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Configured penetration test and authorized scope</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A work budget and a monitored staging deployment</a:t>
            </a:r>
          </a:p>
        </p:txBody>
      </p:sp>
      <p:sp>
        <p:nvSpPr>
          <p:cNvPr id="13" name="Rounded Rectangle 12"/>
          <p:cNvSpPr/>
          <p:nvPr/>
        </p:nvSpPr>
        <p:spPr>
          <a:xfrm>
            <a:off x="4288536"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3127"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02</a:t>
            </a:r>
          </a:p>
        </p:txBody>
      </p:sp>
      <p:sp>
        <p:nvSpPr>
          <p:cNvPr id="15" name="TextBox 14"/>
          <p:cNvSpPr txBox="1"/>
          <p:nvPr/>
        </p:nvSpPr>
        <p:spPr>
          <a:xfrm>
            <a:off x="4453127"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Agent work</a:t>
            </a:r>
          </a:p>
        </p:txBody>
      </p:sp>
      <p:sp>
        <p:nvSpPr>
          <p:cNvPr id="16" name="TextBox 15"/>
          <p:cNvSpPr txBox="1"/>
          <p:nvPr/>
        </p:nvSpPr>
        <p:spPr>
          <a:xfrm>
            <a:off x="4453127"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Set a maximum task-hours limit and monitor the run</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Inspect progress, execution logs and emerging findings</a:t>
            </a:r>
          </a:p>
        </p:txBody>
      </p:sp>
      <p:sp>
        <p:nvSpPr>
          <p:cNvPr id="17" name="Rounded Rectangle 16"/>
          <p:cNvSpPr/>
          <p:nvPr/>
        </p:nvSpPr>
        <p:spPr>
          <a:xfrm>
            <a:off x="8074152"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8744"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03</a:t>
            </a:r>
          </a:p>
        </p:txBody>
      </p:sp>
      <p:sp>
        <p:nvSpPr>
          <p:cNvPr id="19" name="TextBox 18"/>
          <p:cNvSpPr txBox="1"/>
          <p:nvPr/>
        </p:nvSpPr>
        <p:spPr>
          <a:xfrm>
            <a:off x="8238744"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Outputs</a:t>
            </a:r>
          </a:p>
        </p:txBody>
      </p:sp>
      <p:sp>
        <p:nvSpPr>
          <p:cNvPr id="20" name="TextBox 19"/>
          <p:cNvSpPr txBox="1"/>
          <p:nvPr/>
        </p:nvSpPr>
        <p:spPr>
          <a:xfrm>
            <a:off x="8238744"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Findings retained when the configured work limit is reached</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Run state and consumed task hours—not a coverage guarantee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AWS SECURITY AGENT  /  DEMONSTRATION</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Demo · authorized staging assessment</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Inspect a safe configuration, an active run view and one evidence-backed finding.</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07 / 18    AWS Security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08:00 allocated  |  07:15–15:15</a:t>
            </a:r>
          </a:p>
        </p:txBody>
      </p:sp>
      <p:sp>
        <p:nvSpPr>
          <p:cNvPr id="9" name="Rounded Rectangle 8"/>
          <p:cNvSpPr/>
          <p:nvPr/>
        </p:nvSpPr>
        <p:spPr>
          <a:xfrm>
            <a:off x="502920" y="2295144"/>
            <a:ext cx="11183112" cy="795528"/>
          </a:xfrm>
          <a:prstGeom prst="roundRect">
            <a:avLst>
              <a:gd name="adj" fmla="val 8000"/>
            </a:avLst>
          </a:prstGeom>
          <a:solidFill>
            <a:srgbClr val="10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 y="2450592"/>
            <a:ext cx="10789920" cy="475488"/>
          </a:xfrm>
          <a:prstGeom prst="rect">
            <a:avLst/>
          </a:prstGeom>
          <a:noFill/>
        </p:spPr>
        <p:txBody>
          <a:bodyPr wrap="square" lIns="0" rIns="0" tIns="0" bIns="0" anchor="t">
            <a:spAutoFit/>
          </a:bodyPr>
          <a:lstStyle/>
          <a:p>
            <a:pPr>
              <a:lnSpc>
                <a:spcPct val="112000"/>
              </a:lnSpc>
              <a:spcAft>
                <a:spcPts val="300"/>
              </a:spcAft>
              <a:defRPr sz="1400" b="0">
                <a:solidFill>
                  <a:srgbClr val="FFFFFF"/>
                </a:solidFill>
                <a:latin typeface="Arial"/>
              </a:defRPr>
            </a:pPr>
            <a:r>
              <a:t>Prepare the approved staging assessment with dedicated test accounts, explicit target and network scope, and the agreed work budget. Exclude payment and notification side effects through environment controls. The operator will monitor health and stop the job if the agreed threshold is crossed.</a:t>
            </a:r>
          </a:p>
        </p:txBody>
      </p:sp>
      <p:sp>
        <p:nvSpPr>
          <p:cNvPr id="11" name="TextBox 10"/>
          <p:cNvSpPr txBox="1"/>
          <p:nvPr/>
        </p:nvSpPr>
        <p:spPr>
          <a:xfrm>
            <a:off x="502920" y="3264408"/>
            <a:ext cx="3200400"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PREFLIGHT</a:t>
            </a:r>
          </a:p>
        </p:txBody>
      </p:sp>
      <p:sp>
        <p:nvSpPr>
          <p:cNvPr id="12" name="TextBox 11"/>
          <p:cNvSpPr txBox="1"/>
          <p:nvPr/>
        </p:nvSpPr>
        <p:spPr>
          <a:xfrm>
            <a:off x="502920" y="3520439"/>
            <a:ext cx="3337560" cy="612648"/>
          </a:xfrm>
          <a:prstGeom prst="rect">
            <a:avLst/>
          </a:prstGeom>
          <a:noFill/>
        </p:spPr>
        <p:txBody>
          <a:bodyPr wrap="square" lIns="0" rIns="0" tIns="0" bIns="0" anchor="t">
            <a:spAutoFit/>
          </a:bodyPr>
          <a:lstStyle/>
          <a:p>
            <a:pPr>
              <a:lnSpc>
                <a:spcPct val="112000"/>
              </a:lnSpc>
              <a:spcAft>
                <a:spcPts val="300"/>
              </a:spcAft>
              <a:defRPr sz="1300" b="0">
                <a:solidFill>
                  <a:srgbClr val="182B43"/>
                </a:solidFill>
                <a:latin typeface="Arial"/>
              </a:defRPr>
            </a:pPr>
            <a:r>
              <a:t>Prepare a disposable staging app, independent health monitoring, a completed test and a named stop owner.</a:t>
            </a:r>
          </a:p>
        </p:txBody>
      </p:sp>
      <p:sp>
        <p:nvSpPr>
          <p:cNvPr id="13" name="TextBox 12"/>
          <p:cNvSpPr txBox="1"/>
          <p:nvPr/>
        </p:nvSpPr>
        <p:spPr>
          <a:xfrm>
            <a:off x="502920" y="4224528"/>
            <a:ext cx="3200400"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SUCCESS</a:t>
            </a:r>
          </a:p>
        </p:txBody>
      </p:sp>
      <p:sp>
        <p:nvSpPr>
          <p:cNvPr id="14" name="TextBox 13"/>
          <p:cNvSpPr txBox="1"/>
          <p:nvPr/>
        </p:nvSpPr>
        <p:spPr>
          <a:xfrm>
            <a:off x="502920" y="4480560"/>
            <a:ext cx="3337560" cy="612648"/>
          </a:xfrm>
          <a:prstGeom prst="rect">
            <a:avLst/>
          </a:prstGeom>
          <a:noFill/>
        </p:spPr>
        <p:txBody>
          <a:bodyPr wrap="square" lIns="0" rIns="0" tIns="0" bIns="0" anchor="t">
            <a:spAutoFit/>
          </a:bodyPr>
          <a:lstStyle/>
          <a:p>
            <a:pPr>
              <a:lnSpc>
                <a:spcPct val="112000"/>
              </a:lnSpc>
              <a:spcAft>
                <a:spcPts val="300"/>
              </a:spcAft>
              <a:defRPr sz="1300" b="0">
                <a:solidFill>
                  <a:srgbClr val="182B43"/>
                </a:solidFill>
                <a:latin typeface="Arial"/>
              </a:defRPr>
            </a:pPr>
            <a:r>
              <a:t>An authorized, bounded run and one inspectable evidence package; no claim of complete coverage.</a:t>
            </a:r>
          </a:p>
        </p:txBody>
      </p:sp>
      <p:sp>
        <p:nvSpPr>
          <p:cNvPr id="15" name="TextBox 14"/>
          <p:cNvSpPr txBox="1"/>
          <p:nvPr/>
        </p:nvSpPr>
        <p:spPr>
          <a:xfrm>
            <a:off x="502920" y="5184648"/>
            <a:ext cx="3200400"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FALLBACK</a:t>
            </a:r>
          </a:p>
        </p:txBody>
      </p:sp>
      <p:sp>
        <p:nvSpPr>
          <p:cNvPr id="16" name="TextBox 15"/>
          <p:cNvSpPr txBox="1"/>
          <p:nvPr/>
        </p:nvSpPr>
        <p:spPr>
          <a:xfrm>
            <a:off x="502920" y="5440680"/>
            <a:ext cx="3337560" cy="612648"/>
          </a:xfrm>
          <a:prstGeom prst="rect">
            <a:avLst/>
          </a:prstGeom>
          <a:noFill/>
        </p:spPr>
        <p:txBody>
          <a:bodyPr wrap="square" lIns="0" rIns="0" tIns="0" bIns="0" anchor="t">
            <a:spAutoFit/>
          </a:bodyPr>
          <a:lstStyle/>
          <a:p>
            <a:pPr>
              <a:lnSpc>
                <a:spcPct val="112000"/>
              </a:lnSpc>
              <a:spcAft>
                <a:spcPts val="300"/>
              </a:spcAft>
              <a:defRPr sz="1300" b="0">
                <a:solidFill>
                  <a:srgbClr val="182B43"/>
                </a:solidFill>
                <a:latin typeface="Arial"/>
              </a:defRPr>
            </a:pPr>
            <a:r>
              <a:t>Use a sanitized completed run if setup or job latency prevents a live view. Label illustrative findings clearly.</a:t>
            </a:r>
          </a:p>
        </p:txBody>
      </p:sp>
      <p:sp>
        <p:nvSpPr>
          <p:cNvPr id="17" name="Rounded Rectangle 16"/>
          <p:cNvSpPr/>
          <p:nvPr/>
        </p:nvSpPr>
        <p:spPr>
          <a:xfrm>
            <a:off x="4096512" y="3246120"/>
            <a:ext cx="7589520" cy="534009"/>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233672" y="3355848"/>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167259"/>
                </a:solidFill>
                <a:latin typeface="Arial"/>
              </a:defRPr>
            </a:pPr>
            <a:r>
              <a:t>01:00</a:t>
            </a:r>
          </a:p>
        </p:txBody>
      </p:sp>
      <p:sp>
        <p:nvSpPr>
          <p:cNvPr id="19" name="TextBox 18"/>
          <p:cNvSpPr txBox="1"/>
          <p:nvPr/>
        </p:nvSpPr>
        <p:spPr>
          <a:xfrm>
            <a:off x="4937760" y="3319272"/>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Verify authorization</a:t>
            </a:r>
          </a:p>
        </p:txBody>
      </p:sp>
      <p:sp>
        <p:nvSpPr>
          <p:cNvPr id="20" name="TextBox 19"/>
          <p:cNvSpPr txBox="1"/>
          <p:nvPr/>
        </p:nvSpPr>
        <p:spPr>
          <a:xfrm>
            <a:off x="4937760" y="3557015"/>
            <a:ext cx="6537960" cy="232257"/>
          </a:xfrm>
          <a:prstGeom prst="rect">
            <a:avLst/>
          </a:prstGeom>
          <a:noFill/>
        </p:spPr>
        <p:txBody>
          <a:bodyPr wrap="square" lIns="0" rIns="0" tIns="0" bIns="0" anchor="t">
            <a:spAutoFit/>
          </a:bodyPr>
          <a:lstStyle/>
          <a:p>
            <a:pPr>
              <a:lnSpc>
                <a:spcPct val="112000"/>
              </a:lnSpc>
              <a:spcAft>
                <a:spcPts val="300"/>
              </a:spcAft>
              <a:defRPr sz="1400" b="0">
                <a:solidFill>
                  <a:srgbClr val="182B43"/>
                </a:solidFill>
                <a:latin typeface="Arial"/>
              </a:defRPr>
            </a:pPr>
            <a:r>
              <a:t>Show target ownership, test window and dedicated identities.</a:t>
            </a:r>
          </a:p>
        </p:txBody>
      </p:sp>
      <p:sp>
        <p:nvSpPr>
          <p:cNvPr id="21" name="Rounded Rectangle 20"/>
          <p:cNvSpPr/>
          <p:nvPr/>
        </p:nvSpPr>
        <p:spPr>
          <a:xfrm>
            <a:off x="4096512" y="3834993"/>
            <a:ext cx="7589520" cy="534009"/>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233672" y="3944721"/>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167259"/>
                </a:solidFill>
                <a:latin typeface="Arial"/>
              </a:defRPr>
            </a:pPr>
            <a:r>
              <a:t>01:30</a:t>
            </a:r>
          </a:p>
        </p:txBody>
      </p:sp>
      <p:sp>
        <p:nvSpPr>
          <p:cNvPr id="23" name="TextBox 22"/>
          <p:cNvSpPr txBox="1"/>
          <p:nvPr/>
        </p:nvSpPr>
        <p:spPr>
          <a:xfrm>
            <a:off x="4937760" y="3908145"/>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Inspect context</a:t>
            </a:r>
          </a:p>
        </p:txBody>
      </p:sp>
      <p:sp>
        <p:nvSpPr>
          <p:cNvPr id="24" name="TextBox 23"/>
          <p:cNvSpPr txBox="1"/>
          <p:nvPr/>
        </p:nvSpPr>
        <p:spPr>
          <a:xfrm>
            <a:off x="4937760" y="4145889"/>
            <a:ext cx="6537960" cy="232257"/>
          </a:xfrm>
          <a:prstGeom prst="rect">
            <a:avLst/>
          </a:prstGeom>
          <a:noFill/>
        </p:spPr>
        <p:txBody>
          <a:bodyPr wrap="square" lIns="0" rIns="0" tIns="0" bIns="0" anchor="t">
            <a:spAutoFit/>
          </a:bodyPr>
          <a:lstStyle/>
          <a:p>
            <a:pPr>
              <a:lnSpc>
                <a:spcPct val="112000"/>
              </a:lnSpc>
              <a:spcAft>
                <a:spcPts val="300"/>
              </a:spcAft>
              <a:defRPr sz="1400" b="0">
                <a:solidFill>
                  <a:srgbClr val="182B43"/>
                </a:solidFill>
                <a:latin typeface="Arial"/>
              </a:defRPr>
            </a:pPr>
            <a:r>
              <a:t>Match source/deployment version, credentials and private reachability.</a:t>
            </a:r>
          </a:p>
        </p:txBody>
      </p:sp>
      <p:sp>
        <p:nvSpPr>
          <p:cNvPr id="25" name="Rounded Rectangle 24"/>
          <p:cNvSpPr/>
          <p:nvPr/>
        </p:nvSpPr>
        <p:spPr>
          <a:xfrm>
            <a:off x="4096512" y="4423867"/>
            <a:ext cx="7589520" cy="534009"/>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33672" y="4533595"/>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167259"/>
                </a:solidFill>
                <a:latin typeface="Arial"/>
              </a:defRPr>
            </a:pPr>
            <a:r>
              <a:t>01:30</a:t>
            </a:r>
          </a:p>
        </p:txBody>
      </p:sp>
      <p:sp>
        <p:nvSpPr>
          <p:cNvPr id="27" name="TextBox 26"/>
          <p:cNvSpPr txBox="1"/>
          <p:nvPr/>
        </p:nvSpPr>
        <p:spPr>
          <a:xfrm>
            <a:off x="4937760" y="4497019"/>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Inspect limits</a:t>
            </a:r>
          </a:p>
        </p:txBody>
      </p:sp>
      <p:sp>
        <p:nvSpPr>
          <p:cNvPr id="28" name="TextBox 27"/>
          <p:cNvSpPr txBox="1"/>
          <p:nvPr/>
        </p:nvSpPr>
        <p:spPr>
          <a:xfrm>
            <a:off x="4937760" y="4734763"/>
            <a:ext cx="6537960" cy="232257"/>
          </a:xfrm>
          <a:prstGeom prst="rect">
            <a:avLst/>
          </a:prstGeom>
          <a:noFill/>
        </p:spPr>
        <p:txBody>
          <a:bodyPr wrap="square" lIns="0" rIns="0" tIns="0" bIns="0" anchor="t">
            <a:spAutoFit/>
          </a:bodyPr>
          <a:lstStyle/>
          <a:p>
            <a:pPr>
              <a:lnSpc>
                <a:spcPct val="112000"/>
              </a:lnSpc>
              <a:spcAft>
                <a:spcPts val="300"/>
              </a:spcAft>
              <a:defRPr sz="1400" b="0">
                <a:solidFill>
                  <a:srgbClr val="182B43"/>
                </a:solidFill>
                <a:latin typeface="Arial"/>
              </a:defRPr>
            </a:pPr>
            <a:r>
              <a:t>Show work budget, exclusions and the stop procedure.</a:t>
            </a:r>
          </a:p>
        </p:txBody>
      </p:sp>
      <p:sp>
        <p:nvSpPr>
          <p:cNvPr id="29" name="Rounded Rectangle 28"/>
          <p:cNvSpPr/>
          <p:nvPr/>
        </p:nvSpPr>
        <p:spPr>
          <a:xfrm>
            <a:off x="4096512" y="5012740"/>
            <a:ext cx="7589520" cy="534009"/>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33672" y="5122468"/>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167259"/>
                </a:solidFill>
                <a:latin typeface="Arial"/>
              </a:defRPr>
            </a:pPr>
            <a:r>
              <a:t>02:00</a:t>
            </a:r>
          </a:p>
        </p:txBody>
      </p:sp>
      <p:sp>
        <p:nvSpPr>
          <p:cNvPr id="31" name="TextBox 30"/>
          <p:cNvSpPr txBox="1"/>
          <p:nvPr/>
        </p:nvSpPr>
        <p:spPr>
          <a:xfrm>
            <a:off x="4937760" y="5085892"/>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Observe a run</a:t>
            </a:r>
          </a:p>
        </p:txBody>
      </p:sp>
      <p:sp>
        <p:nvSpPr>
          <p:cNvPr id="32" name="TextBox 31"/>
          <p:cNvSpPr txBox="1"/>
          <p:nvPr/>
        </p:nvSpPr>
        <p:spPr>
          <a:xfrm>
            <a:off x="4937760" y="5323636"/>
            <a:ext cx="6537960" cy="232257"/>
          </a:xfrm>
          <a:prstGeom prst="rect">
            <a:avLst/>
          </a:prstGeom>
          <a:noFill/>
        </p:spPr>
        <p:txBody>
          <a:bodyPr wrap="square" lIns="0" rIns="0" tIns="0" bIns="0" anchor="t">
            <a:spAutoFit/>
          </a:bodyPr>
          <a:lstStyle/>
          <a:p>
            <a:pPr>
              <a:lnSpc>
                <a:spcPct val="112000"/>
              </a:lnSpc>
              <a:spcAft>
                <a:spcPts val="300"/>
              </a:spcAft>
              <a:defRPr sz="1400" b="0">
                <a:solidFill>
                  <a:srgbClr val="182B43"/>
                </a:solidFill>
                <a:latin typeface="Arial"/>
              </a:defRPr>
            </a:pPr>
            <a:r>
              <a:t>Use the prepared run view; correlate logs with target health.</a:t>
            </a:r>
          </a:p>
        </p:txBody>
      </p:sp>
      <p:sp>
        <p:nvSpPr>
          <p:cNvPr id="33" name="Rounded Rectangle 32"/>
          <p:cNvSpPr/>
          <p:nvPr/>
        </p:nvSpPr>
        <p:spPr>
          <a:xfrm>
            <a:off x="4096512" y="5601614"/>
            <a:ext cx="7589520" cy="534009"/>
          </a:xfrm>
          <a:prstGeom prst="roundRect">
            <a:avLst>
              <a:gd name="adj" fmla="val 8000"/>
            </a:avLst>
          </a:prstGeom>
          <a:solidFill>
            <a:srgbClr val="F1F5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33672" y="5711342"/>
            <a:ext cx="594360" cy="256032"/>
          </a:xfrm>
          <a:prstGeom prst="rect">
            <a:avLst/>
          </a:prstGeom>
          <a:noFill/>
        </p:spPr>
        <p:txBody>
          <a:bodyPr wrap="square" lIns="0" rIns="0" tIns="0" bIns="0" anchor="t">
            <a:spAutoFit/>
          </a:bodyPr>
          <a:lstStyle/>
          <a:p>
            <a:pPr>
              <a:lnSpc>
                <a:spcPct val="112000"/>
              </a:lnSpc>
              <a:spcAft>
                <a:spcPts val="300"/>
              </a:spcAft>
              <a:defRPr sz="1300" b="1">
                <a:solidFill>
                  <a:srgbClr val="167259"/>
                </a:solidFill>
                <a:latin typeface="Arial"/>
              </a:defRPr>
            </a:pPr>
            <a:r>
              <a:t>02:00</a:t>
            </a:r>
          </a:p>
        </p:txBody>
      </p:sp>
      <p:sp>
        <p:nvSpPr>
          <p:cNvPr id="35" name="TextBox 34"/>
          <p:cNvSpPr txBox="1"/>
          <p:nvPr/>
        </p:nvSpPr>
        <p:spPr>
          <a:xfrm>
            <a:off x="4937760" y="5674766"/>
            <a:ext cx="6537960" cy="219456"/>
          </a:xfrm>
          <a:prstGeom prst="rect">
            <a:avLst/>
          </a:prstGeom>
          <a:noFill/>
        </p:spPr>
        <p:txBody>
          <a:bodyPr wrap="square" lIns="0" rIns="0" tIns="0" bIns="0" anchor="t">
            <a:spAutoFit/>
          </a:bodyPr>
          <a:lstStyle/>
          <a:p>
            <a:pPr>
              <a:lnSpc>
                <a:spcPct val="112000"/>
              </a:lnSpc>
              <a:spcAft>
                <a:spcPts val="300"/>
              </a:spcAft>
              <a:defRPr sz="1350" b="1">
                <a:solidFill>
                  <a:srgbClr val="182B43"/>
                </a:solidFill>
                <a:latin typeface="Arial"/>
              </a:defRPr>
            </a:pPr>
            <a:r>
              <a:t>Review one finding</a:t>
            </a:r>
          </a:p>
        </p:txBody>
      </p:sp>
      <p:sp>
        <p:nvSpPr>
          <p:cNvPr id="36" name="TextBox 35"/>
          <p:cNvSpPr txBox="1"/>
          <p:nvPr/>
        </p:nvSpPr>
        <p:spPr>
          <a:xfrm>
            <a:off x="4937760" y="5912510"/>
            <a:ext cx="6537960" cy="232257"/>
          </a:xfrm>
          <a:prstGeom prst="rect">
            <a:avLst/>
          </a:prstGeom>
          <a:noFill/>
        </p:spPr>
        <p:txBody>
          <a:bodyPr wrap="square" lIns="0" rIns="0" tIns="0" bIns="0" anchor="t">
            <a:spAutoFit/>
          </a:bodyPr>
          <a:lstStyle/>
          <a:p>
            <a:pPr>
              <a:lnSpc>
                <a:spcPct val="112000"/>
              </a:lnSpc>
              <a:spcAft>
                <a:spcPts val="300"/>
              </a:spcAft>
              <a:defRPr sz="1300" b="0">
                <a:solidFill>
                  <a:srgbClr val="182B43"/>
                </a:solidFill>
                <a:latin typeface="Arial"/>
              </a:defRPr>
            </a:pPr>
            <a:r>
              <a:t>Read impact, reproduction evidence, coverage and the next engineering action.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AWS SECURITY AGENT  /  OUTPUTS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Read a finding as an evidence package</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Severity without impact, confidence and coverage is not enough for a decision.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08 / 18    AWS Security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15:15–16:45</a:t>
            </a:r>
          </a:p>
        </p:txBody>
      </p:sp>
      <p:sp>
        <p:nvSpPr>
          <p:cNvPr id="9" name="Rounded Rectangle 8"/>
          <p:cNvSpPr/>
          <p:nvPr/>
        </p:nvSpPr>
        <p:spPr>
          <a:xfrm>
            <a:off x="502920" y="2313432"/>
            <a:ext cx="359359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59736"/>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IDENTITY</a:t>
            </a:r>
          </a:p>
        </p:txBody>
      </p:sp>
      <p:sp>
        <p:nvSpPr>
          <p:cNvPr id="11" name="TextBox 10"/>
          <p:cNvSpPr txBox="1"/>
          <p:nvPr/>
        </p:nvSpPr>
        <p:spPr>
          <a:xfrm>
            <a:off x="667512" y="2788920"/>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Affected path</a:t>
            </a:r>
          </a:p>
        </p:txBody>
      </p:sp>
      <p:sp>
        <p:nvSpPr>
          <p:cNvPr id="12" name="TextBox 11"/>
          <p:cNvSpPr txBox="1"/>
          <p:nvPr/>
        </p:nvSpPr>
        <p:spPr>
          <a:xfrm>
            <a:off x="667512" y="3392424"/>
            <a:ext cx="326440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Which endpoint, role, tenant and deployed version?</a:t>
            </a:r>
          </a:p>
        </p:txBody>
      </p:sp>
      <p:sp>
        <p:nvSpPr>
          <p:cNvPr id="13" name="Rounded Rectangle 12"/>
          <p:cNvSpPr/>
          <p:nvPr/>
        </p:nvSpPr>
        <p:spPr>
          <a:xfrm>
            <a:off x="4297680" y="2313432"/>
            <a:ext cx="359359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62272" y="2459736"/>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EVIDENCE</a:t>
            </a:r>
          </a:p>
        </p:txBody>
      </p:sp>
      <p:sp>
        <p:nvSpPr>
          <p:cNvPr id="15" name="TextBox 14"/>
          <p:cNvSpPr txBox="1"/>
          <p:nvPr/>
        </p:nvSpPr>
        <p:spPr>
          <a:xfrm>
            <a:off x="4462272" y="2788920"/>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Observed impact</a:t>
            </a:r>
          </a:p>
        </p:txBody>
      </p:sp>
      <p:sp>
        <p:nvSpPr>
          <p:cNvPr id="16" name="TextBox 15"/>
          <p:cNvSpPr txBox="1"/>
          <p:nvPr/>
        </p:nvSpPr>
        <p:spPr>
          <a:xfrm>
            <a:off x="4462272" y="3392424"/>
            <a:ext cx="326440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What did the test actually demonstrate?</a:t>
            </a:r>
          </a:p>
        </p:txBody>
      </p:sp>
      <p:sp>
        <p:nvSpPr>
          <p:cNvPr id="17" name="Rounded Rectangle 16"/>
          <p:cNvSpPr/>
          <p:nvPr/>
        </p:nvSpPr>
        <p:spPr>
          <a:xfrm>
            <a:off x="8092440" y="2313432"/>
            <a:ext cx="359359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57032" y="2459736"/>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REPEATABILITY</a:t>
            </a:r>
          </a:p>
        </p:txBody>
      </p:sp>
      <p:sp>
        <p:nvSpPr>
          <p:cNvPr id="19" name="TextBox 18"/>
          <p:cNvSpPr txBox="1"/>
          <p:nvPr/>
        </p:nvSpPr>
        <p:spPr>
          <a:xfrm>
            <a:off x="8257032" y="2788920"/>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Reproduction</a:t>
            </a:r>
          </a:p>
        </p:txBody>
      </p:sp>
      <p:sp>
        <p:nvSpPr>
          <p:cNvPr id="20" name="TextBox 19"/>
          <p:cNvSpPr txBox="1"/>
          <p:nvPr/>
        </p:nvSpPr>
        <p:spPr>
          <a:xfrm>
            <a:off x="8257032" y="3392424"/>
            <a:ext cx="326440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Preconditions and a reviewable action trace.</a:t>
            </a:r>
          </a:p>
        </p:txBody>
      </p:sp>
      <p:sp>
        <p:nvSpPr>
          <p:cNvPr id="21" name="Rounded Rectangle 20"/>
          <p:cNvSpPr/>
          <p:nvPr/>
        </p:nvSpPr>
        <p:spPr>
          <a:xfrm>
            <a:off x="502920" y="4352544"/>
            <a:ext cx="359359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4498848"/>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QUALITY</a:t>
            </a:r>
          </a:p>
        </p:txBody>
      </p:sp>
      <p:sp>
        <p:nvSpPr>
          <p:cNvPr id="23" name="TextBox 22"/>
          <p:cNvSpPr txBox="1"/>
          <p:nvPr/>
        </p:nvSpPr>
        <p:spPr>
          <a:xfrm>
            <a:off x="667512" y="4828031"/>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Confidence</a:t>
            </a:r>
          </a:p>
        </p:txBody>
      </p:sp>
      <p:sp>
        <p:nvSpPr>
          <p:cNvPr id="24" name="TextBox 23"/>
          <p:cNvSpPr txBox="1"/>
          <p:nvPr/>
        </p:nvSpPr>
        <p:spPr>
          <a:xfrm>
            <a:off x="667512" y="5431536"/>
            <a:ext cx="326440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What is confirmed, inferred or still uncertain?</a:t>
            </a:r>
          </a:p>
        </p:txBody>
      </p:sp>
      <p:sp>
        <p:nvSpPr>
          <p:cNvPr id="25" name="Rounded Rectangle 24"/>
          <p:cNvSpPr/>
          <p:nvPr/>
        </p:nvSpPr>
        <p:spPr>
          <a:xfrm>
            <a:off x="4297680" y="4352544"/>
            <a:ext cx="359359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62272" y="4498848"/>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SCOPE</a:t>
            </a:r>
          </a:p>
        </p:txBody>
      </p:sp>
      <p:sp>
        <p:nvSpPr>
          <p:cNvPr id="27" name="TextBox 26"/>
          <p:cNvSpPr txBox="1"/>
          <p:nvPr/>
        </p:nvSpPr>
        <p:spPr>
          <a:xfrm>
            <a:off x="4462272" y="4828031"/>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Coverage</a:t>
            </a:r>
          </a:p>
        </p:txBody>
      </p:sp>
      <p:sp>
        <p:nvSpPr>
          <p:cNvPr id="28" name="TextBox 27"/>
          <p:cNvSpPr txBox="1"/>
          <p:nvPr/>
        </p:nvSpPr>
        <p:spPr>
          <a:xfrm>
            <a:off x="4462272" y="5431536"/>
            <a:ext cx="326440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Which relevant routes were or were not exercised?</a:t>
            </a:r>
          </a:p>
        </p:txBody>
      </p:sp>
      <p:sp>
        <p:nvSpPr>
          <p:cNvPr id="29" name="Rounded Rectangle 28"/>
          <p:cNvSpPr/>
          <p:nvPr/>
        </p:nvSpPr>
        <p:spPr>
          <a:xfrm>
            <a:off x="8092440" y="4352544"/>
            <a:ext cx="3593592" cy="1837944"/>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57032" y="4498848"/>
            <a:ext cx="3264408"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HANDOFF</a:t>
            </a:r>
          </a:p>
        </p:txBody>
      </p:sp>
      <p:sp>
        <p:nvSpPr>
          <p:cNvPr id="31" name="TextBox 30"/>
          <p:cNvSpPr txBox="1"/>
          <p:nvPr/>
        </p:nvSpPr>
        <p:spPr>
          <a:xfrm>
            <a:off x="8257032" y="4828031"/>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Next action</a:t>
            </a:r>
          </a:p>
        </p:txBody>
      </p:sp>
      <p:sp>
        <p:nvSpPr>
          <p:cNvPr id="32" name="TextBox 31"/>
          <p:cNvSpPr txBox="1"/>
          <p:nvPr/>
        </p:nvSpPr>
        <p:spPr>
          <a:xfrm>
            <a:off x="8257032" y="5431536"/>
            <a:ext cx="3264408" cy="612648"/>
          </a:xfrm>
          <a:prstGeom prst="rect">
            <a:avLst/>
          </a:prstGeom>
          <a:noFill/>
        </p:spPr>
        <p:txBody>
          <a:bodyPr wrap="square" lIns="0" rIns="0" tIns="0" bIns="0" anchor="t">
            <a:spAutoFit/>
          </a:bodyPr>
          <a:lstStyle/>
          <a:p>
            <a:pPr>
              <a:lnSpc>
                <a:spcPct val="112000"/>
              </a:lnSpc>
              <a:spcAft>
                <a:spcPts val="300"/>
              </a:spcAft>
              <a:defRPr sz="1600" b="0">
                <a:solidFill>
                  <a:srgbClr val="182B43"/>
                </a:solidFill>
                <a:latin typeface="Arial"/>
              </a:defRPr>
            </a:pPr>
            <a:r>
              <a:t>Owner, proposed fix and a closure check.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AWS SECURITY AGENT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Remediation produces a proposal—not closure</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600" b="0">
                <a:solidFill>
                  <a:srgbClr val="55657A"/>
                </a:solidFill>
                <a:latin typeface="Arial"/>
              </a:defRPr>
            </a:pPr>
            <a:r>
              <a:t>Acceptance: provider, repository visibility and source type determine delivery; the team reviews every fix.</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09 / 18    AWS Security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16:45–18:15</a:t>
            </a:r>
          </a:p>
        </p:txBody>
      </p:sp>
      <p:sp>
        <p:nvSpPr>
          <p:cNvPr id="9" name="Rounded Rectangle 8"/>
          <p:cNvSpPr/>
          <p:nvPr/>
        </p:nvSpPr>
        <p:spPr>
          <a:xfrm>
            <a:off x="502920"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01</a:t>
            </a:r>
          </a:p>
        </p:txBody>
      </p:sp>
      <p:sp>
        <p:nvSpPr>
          <p:cNvPr id="11" name="TextBox 10"/>
          <p:cNvSpPr txBox="1"/>
          <p:nvPr/>
        </p:nvSpPr>
        <p:spPr>
          <a:xfrm>
            <a:off x="667512"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Inputs</a:t>
            </a:r>
          </a:p>
        </p:txBody>
      </p:sp>
      <p:sp>
        <p:nvSpPr>
          <p:cNvPr id="12" name="TextBox 11"/>
          <p:cNvSpPr txBox="1"/>
          <p:nvPr/>
        </p:nvSpPr>
        <p:spPr>
          <a:xfrm>
            <a:off x="667512"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An accepted finding and connected source</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Explicit remediation enablement and repository access</a:t>
            </a:r>
          </a:p>
        </p:txBody>
      </p:sp>
      <p:sp>
        <p:nvSpPr>
          <p:cNvPr id="13" name="Rounded Rectangle 12"/>
          <p:cNvSpPr/>
          <p:nvPr/>
        </p:nvSpPr>
        <p:spPr>
          <a:xfrm>
            <a:off x="4288536"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3127"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02</a:t>
            </a:r>
          </a:p>
        </p:txBody>
      </p:sp>
      <p:sp>
        <p:nvSpPr>
          <p:cNvPr id="15" name="TextBox 14"/>
          <p:cNvSpPr txBox="1"/>
          <p:nvPr/>
        </p:nvSpPr>
        <p:spPr>
          <a:xfrm>
            <a:off x="4453127"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Agent work</a:t>
            </a:r>
          </a:p>
        </p:txBody>
      </p:sp>
      <p:sp>
        <p:nvSpPr>
          <p:cNvPr id="16" name="TextBox 15"/>
          <p:cNvSpPr txBox="1"/>
          <p:nvPr/>
        </p:nvSpPr>
        <p:spPr>
          <a:xfrm>
            <a:off x="4453127"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Generate a proposed code repair</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Deliver a PR/MR or downloadable diff as supported by the source</a:t>
            </a:r>
          </a:p>
        </p:txBody>
      </p:sp>
      <p:sp>
        <p:nvSpPr>
          <p:cNvPr id="17" name="Rounded Rectangle 16"/>
          <p:cNvSpPr/>
          <p:nvPr/>
        </p:nvSpPr>
        <p:spPr>
          <a:xfrm>
            <a:off x="8074152"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8744"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03</a:t>
            </a:r>
          </a:p>
        </p:txBody>
      </p:sp>
      <p:sp>
        <p:nvSpPr>
          <p:cNvPr id="19" name="TextBox 18"/>
          <p:cNvSpPr txBox="1"/>
          <p:nvPr/>
        </p:nvSpPr>
        <p:spPr>
          <a:xfrm>
            <a:off x="8238744"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Outputs</a:t>
            </a:r>
          </a:p>
        </p:txBody>
      </p:sp>
      <p:sp>
        <p:nvSpPr>
          <p:cNvPr id="20" name="TextBox 19"/>
          <p:cNvSpPr txBox="1"/>
          <p:nvPr/>
        </p:nvSpPr>
        <p:spPr>
          <a:xfrm>
            <a:off x="8238744"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Reviewable changes with finding context</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A link between the security issue and proposed repair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AWS SECURITY AGENT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Revalidate after the fix is deployed</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650" b="0">
                <a:solidFill>
                  <a:srgbClr val="55657A"/>
                </a:solidFill>
                <a:latin typeface="Arial"/>
              </a:defRPr>
            </a:pPr>
            <a:r>
              <a:t>Acceptance: “not reproduced” concerns this finding and this run—not a complete security certification.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10 / 18    AWS Security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01:15 allocated  |  18:15–19:30</a:t>
            </a:r>
          </a:p>
        </p:txBody>
      </p:sp>
      <p:sp>
        <p:nvSpPr>
          <p:cNvPr id="9" name="Rounded Rectangle 8"/>
          <p:cNvSpPr/>
          <p:nvPr/>
        </p:nvSpPr>
        <p:spPr>
          <a:xfrm>
            <a:off x="502920"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01</a:t>
            </a:r>
          </a:p>
        </p:txBody>
      </p:sp>
      <p:sp>
        <p:nvSpPr>
          <p:cNvPr id="11" name="TextBox 10"/>
          <p:cNvSpPr txBox="1"/>
          <p:nvPr/>
        </p:nvSpPr>
        <p:spPr>
          <a:xfrm>
            <a:off x="667512"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Inputs</a:t>
            </a:r>
          </a:p>
        </p:txBody>
      </p:sp>
      <p:sp>
        <p:nvSpPr>
          <p:cNvPr id="12" name="TextBox 11"/>
          <p:cNvSpPr txBox="1"/>
          <p:nvPr/>
        </p:nvSpPr>
        <p:spPr>
          <a:xfrm>
            <a:off x="667512"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An existing finding and a deployed repair</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The original reachable target and current test authentication</a:t>
            </a:r>
          </a:p>
        </p:txBody>
      </p:sp>
      <p:sp>
        <p:nvSpPr>
          <p:cNvPr id="13" name="Rounded Rectangle 12"/>
          <p:cNvSpPr/>
          <p:nvPr/>
        </p:nvSpPr>
        <p:spPr>
          <a:xfrm>
            <a:off x="4288536"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3127"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02</a:t>
            </a:r>
          </a:p>
        </p:txBody>
      </p:sp>
      <p:sp>
        <p:nvSpPr>
          <p:cNvPr id="15" name="TextBox 14"/>
          <p:cNvSpPr txBox="1"/>
          <p:nvPr/>
        </p:nvSpPr>
        <p:spPr>
          <a:xfrm>
            <a:off x="4453127"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Agent work</a:t>
            </a:r>
          </a:p>
        </p:txBody>
      </p:sp>
      <p:sp>
        <p:nvSpPr>
          <p:cNvPr id="16" name="TextBox 15"/>
          <p:cNvSpPr txBox="1"/>
          <p:nvPr/>
        </p:nvSpPr>
        <p:spPr>
          <a:xfrm>
            <a:off x="4453127"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Repeat the selected finding’s validation path</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Record whether the vulnerability can be reproduced</a:t>
            </a:r>
          </a:p>
        </p:txBody>
      </p:sp>
      <p:sp>
        <p:nvSpPr>
          <p:cNvPr id="17" name="Rounded Rectangle 16"/>
          <p:cNvSpPr/>
          <p:nvPr/>
        </p:nvSpPr>
        <p:spPr>
          <a:xfrm>
            <a:off x="8074152"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8744"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03</a:t>
            </a:r>
          </a:p>
        </p:txBody>
      </p:sp>
      <p:sp>
        <p:nvSpPr>
          <p:cNvPr id="19" name="TextBox 18"/>
          <p:cNvSpPr txBox="1"/>
          <p:nvPr/>
        </p:nvSpPr>
        <p:spPr>
          <a:xfrm>
            <a:off x="8238744"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Outputs</a:t>
            </a:r>
          </a:p>
        </p:txBody>
      </p:sp>
      <p:sp>
        <p:nvSpPr>
          <p:cNvPr id="20" name="TextBox 19"/>
          <p:cNvSpPr txBox="1"/>
          <p:nvPr/>
        </p:nvSpPr>
        <p:spPr>
          <a:xfrm>
            <a:off x="8238744"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A linked revalidation job and result</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An auditable history of reassessment attempts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AWS SECURITY AGENT  /  OUTPUTS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Export evidence and hand work to the right owner</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Sharing a report or ticket must preserve scope, revision and finding identity.</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11 / 18    AWS Security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01:00 allocated  |  19:30–20:30</a:t>
            </a:r>
          </a:p>
        </p:txBody>
      </p:sp>
      <p:sp>
        <p:nvSpPr>
          <p:cNvPr id="9" name="Rounded Rectangle 8"/>
          <p:cNvSpPr/>
          <p:nvPr/>
        </p:nvSpPr>
        <p:spPr>
          <a:xfrm>
            <a:off x="502920" y="2313432"/>
            <a:ext cx="5486400" cy="2971800"/>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59736"/>
            <a:ext cx="5157216"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POINT IN TIME</a:t>
            </a:r>
          </a:p>
        </p:txBody>
      </p:sp>
      <p:sp>
        <p:nvSpPr>
          <p:cNvPr id="11" name="TextBox 10"/>
          <p:cNvSpPr txBox="1"/>
          <p:nvPr/>
        </p:nvSpPr>
        <p:spPr>
          <a:xfrm>
            <a:off x="667512" y="2788920"/>
            <a:ext cx="515721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Evidence package</a:t>
            </a:r>
          </a:p>
        </p:txBody>
      </p:sp>
      <p:sp>
        <p:nvSpPr>
          <p:cNvPr id="12" name="TextBox 11"/>
          <p:cNvSpPr txBox="1"/>
          <p:nvPr/>
        </p:nvSpPr>
        <p:spPr>
          <a:xfrm>
            <a:off x="667512" y="3392424"/>
            <a:ext cx="5157216" cy="1746504"/>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Generate a filtered PDF with scope, test evidence and optional reviewer annotations. Record whether the run is complete or interim.</a:t>
            </a:r>
          </a:p>
        </p:txBody>
      </p:sp>
      <p:sp>
        <p:nvSpPr>
          <p:cNvPr id="13" name="Rounded Rectangle 12"/>
          <p:cNvSpPr/>
          <p:nvPr/>
        </p:nvSpPr>
        <p:spPr>
          <a:xfrm>
            <a:off x="6199632" y="2313432"/>
            <a:ext cx="5486400" cy="2971800"/>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4224" y="2459736"/>
            <a:ext cx="5157216"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CONFIGURED INTEGRATION</a:t>
            </a:r>
          </a:p>
        </p:txBody>
      </p:sp>
      <p:sp>
        <p:nvSpPr>
          <p:cNvPr id="15" name="TextBox 14"/>
          <p:cNvSpPr txBox="1"/>
          <p:nvPr/>
        </p:nvSpPr>
        <p:spPr>
          <a:xfrm>
            <a:off x="6364224" y="2788920"/>
            <a:ext cx="515721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Jira handoff</a:t>
            </a:r>
          </a:p>
        </p:txBody>
      </p:sp>
      <p:sp>
        <p:nvSpPr>
          <p:cNvPr id="16" name="TextBox 15"/>
          <p:cNvSpPr txBox="1"/>
          <p:nvPr/>
        </p:nvSpPr>
        <p:spPr>
          <a:xfrm>
            <a:off x="6364224" y="3392424"/>
            <a:ext cx="5157216" cy="1746504"/>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Create tracked work from selected findings; retain links to remediation and reassessment.</a:t>
            </a:r>
          </a:p>
        </p:txBody>
      </p:sp>
      <p:sp>
        <p:nvSpPr>
          <p:cNvPr id="17" name="Rounded Rectangle 16"/>
          <p:cNvSpPr/>
          <p:nvPr/>
        </p:nvSpPr>
        <p:spPr>
          <a:xfrm>
            <a:off x="502920" y="5477256"/>
            <a:ext cx="11183112" cy="713232"/>
          </a:xfrm>
          <a:prstGeom prst="roundRect">
            <a:avLst>
              <a:gd name="adj" fmla="val 8000"/>
            </a:avLst>
          </a:prstGeom>
          <a:solidFill>
            <a:srgbClr val="10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5632704"/>
            <a:ext cx="10771632" cy="402336"/>
          </a:xfrm>
          <a:prstGeom prst="rect">
            <a:avLst/>
          </a:prstGeom>
          <a:noFill/>
        </p:spPr>
        <p:txBody>
          <a:bodyPr wrap="square" lIns="0" rIns="0" tIns="0" bIns="0" anchor="t">
            <a:spAutoFit/>
          </a:bodyPr>
          <a:lstStyle/>
          <a:p>
            <a:pPr>
              <a:lnSpc>
                <a:spcPct val="112000"/>
              </a:lnSpc>
              <a:spcAft>
                <a:spcPts val="300"/>
              </a:spcAft>
              <a:defRPr sz="1700" b="1">
                <a:solidFill>
                  <a:srgbClr val="FFFFFF"/>
                </a:solidFill>
                <a:latin typeface="Arial"/>
              </a:defRPr>
            </a:pPr>
            <a:r>
              <a:t>Team rule: the ticket owner is accountable for closure; an exported report is not certification.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AWS SECURITY AGENT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Design review applies reusable requirements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Acceptance: review requirements and input assumptions before interpreting a finding.</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12 / 18    AWS Security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01:15 allocated  |  20:30–21:45</a:t>
            </a:r>
          </a:p>
        </p:txBody>
      </p:sp>
      <p:sp>
        <p:nvSpPr>
          <p:cNvPr id="9" name="Rounded Rectangle 8"/>
          <p:cNvSpPr/>
          <p:nvPr/>
        </p:nvSpPr>
        <p:spPr>
          <a:xfrm>
            <a:off x="502920"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01</a:t>
            </a:r>
          </a:p>
        </p:txBody>
      </p:sp>
      <p:sp>
        <p:nvSpPr>
          <p:cNvPr id="11" name="TextBox 10"/>
          <p:cNvSpPr txBox="1"/>
          <p:nvPr/>
        </p:nvSpPr>
        <p:spPr>
          <a:xfrm>
            <a:off x="667512"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Inputs</a:t>
            </a:r>
          </a:p>
        </p:txBody>
      </p:sp>
      <p:sp>
        <p:nvSpPr>
          <p:cNvPr id="12" name="TextBox 11"/>
          <p:cNvSpPr txBox="1"/>
          <p:nvPr/>
        </p:nvSpPr>
        <p:spPr>
          <a:xfrm>
            <a:off x="667512"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Architecture/design documents</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Enabled organizational security requirements</a:t>
            </a:r>
          </a:p>
        </p:txBody>
      </p:sp>
      <p:sp>
        <p:nvSpPr>
          <p:cNvPr id="13" name="Rounded Rectangle 12"/>
          <p:cNvSpPr/>
          <p:nvPr/>
        </p:nvSpPr>
        <p:spPr>
          <a:xfrm>
            <a:off x="4288536"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3127"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02</a:t>
            </a:r>
          </a:p>
        </p:txBody>
      </p:sp>
      <p:sp>
        <p:nvSpPr>
          <p:cNvPr id="15" name="TextBox 14"/>
          <p:cNvSpPr txBox="1"/>
          <p:nvPr/>
        </p:nvSpPr>
        <p:spPr>
          <a:xfrm>
            <a:off x="4453127"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Agent work</a:t>
            </a:r>
          </a:p>
        </p:txBody>
      </p:sp>
      <p:sp>
        <p:nvSpPr>
          <p:cNvPr id="16" name="TextBox 15"/>
          <p:cNvSpPr txBox="1"/>
          <p:nvPr/>
        </p:nvSpPr>
        <p:spPr>
          <a:xfrm>
            <a:off x="4453127"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Assess the design against configured criteria</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Return requirement-linked findings and recommendations</a:t>
            </a:r>
          </a:p>
        </p:txBody>
      </p:sp>
      <p:sp>
        <p:nvSpPr>
          <p:cNvPr id="17" name="Rounded Rectangle 16"/>
          <p:cNvSpPr/>
          <p:nvPr/>
        </p:nvSpPr>
        <p:spPr>
          <a:xfrm>
            <a:off x="8074152"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8744"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03</a:t>
            </a:r>
          </a:p>
        </p:txBody>
      </p:sp>
      <p:sp>
        <p:nvSpPr>
          <p:cNvPr id="19" name="TextBox 18"/>
          <p:cNvSpPr txBox="1"/>
          <p:nvPr/>
        </p:nvSpPr>
        <p:spPr>
          <a:xfrm>
            <a:off x="8238744"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Outputs</a:t>
            </a:r>
          </a:p>
        </p:txBody>
      </p:sp>
      <p:sp>
        <p:nvSpPr>
          <p:cNvPr id="20" name="TextBox 19"/>
          <p:cNvSpPr txBox="1"/>
          <p:nvPr/>
        </p:nvSpPr>
        <p:spPr>
          <a:xfrm>
            <a:off x="8238744"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A reviewable design assessment</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Explicit issues to resolve before implementation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AWS SECURITY AGENT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Threat modeling connects design and code context</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Acceptance: validate the agent’s system model before accepting its threat analysis.</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13 / 18    AWS Security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01:00 allocated  |  21:45–22:45</a:t>
            </a:r>
          </a:p>
        </p:txBody>
      </p:sp>
      <p:sp>
        <p:nvSpPr>
          <p:cNvPr id="9" name="Rounded Rectangle 8"/>
          <p:cNvSpPr/>
          <p:nvPr/>
        </p:nvSpPr>
        <p:spPr>
          <a:xfrm>
            <a:off x="502920"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01</a:t>
            </a:r>
          </a:p>
        </p:txBody>
      </p:sp>
      <p:sp>
        <p:nvSpPr>
          <p:cNvPr id="11" name="TextBox 10"/>
          <p:cNvSpPr txBox="1"/>
          <p:nvPr/>
        </p:nvSpPr>
        <p:spPr>
          <a:xfrm>
            <a:off x="667512"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Inputs</a:t>
            </a:r>
          </a:p>
        </p:txBody>
      </p:sp>
      <p:sp>
        <p:nvSpPr>
          <p:cNvPr id="12" name="TextBox 11"/>
          <p:cNvSpPr txBox="1"/>
          <p:nvPr/>
        </p:nvSpPr>
        <p:spPr>
          <a:xfrm>
            <a:off x="667512"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Design scope documents, source code or both</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The application context and security objective</a:t>
            </a:r>
          </a:p>
        </p:txBody>
      </p:sp>
      <p:sp>
        <p:nvSpPr>
          <p:cNvPr id="13" name="Rounded Rectangle 12"/>
          <p:cNvSpPr/>
          <p:nvPr/>
        </p:nvSpPr>
        <p:spPr>
          <a:xfrm>
            <a:off x="4288536"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53127"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02</a:t>
            </a:r>
          </a:p>
        </p:txBody>
      </p:sp>
      <p:sp>
        <p:nvSpPr>
          <p:cNvPr id="15" name="TextBox 14"/>
          <p:cNvSpPr txBox="1"/>
          <p:nvPr/>
        </p:nvSpPr>
        <p:spPr>
          <a:xfrm>
            <a:off x="4453127"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Agent work</a:t>
            </a:r>
          </a:p>
        </p:txBody>
      </p:sp>
      <p:sp>
        <p:nvSpPr>
          <p:cNvPr id="16" name="TextBox 15"/>
          <p:cNvSpPr txBox="1"/>
          <p:nvPr/>
        </p:nvSpPr>
        <p:spPr>
          <a:xfrm>
            <a:off x="4453127"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Build an overview of the system</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Identify threats with severity, STRIDE classification and recommendations</a:t>
            </a:r>
          </a:p>
        </p:txBody>
      </p:sp>
      <p:sp>
        <p:nvSpPr>
          <p:cNvPr id="17" name="Rounded Rectangle 16"/>
          <p:cNvSpPr/>
          <p:nvPr/>
        </p:nvSpPr>
        <p:spPr>
          <a:xfrm>
            <a:off x="8074152" y="2313432"/>
            <a:ext cx="3611880"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38744" y="2459736"/>
            <a:ext cx="3282696"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03</a:t>
            </a:r>
          </a:p>
        </p:txBody>
      </p:sp>
      <p:sp>
        <p:nvSpPr>
          <p:cNvPr id="19" name="TextBox 18"/>
          <p:cNvSpPr txBox="1"/>
          <p:nvPr/>
        </p:nvSpPr>
        <p:spPr>
          <a:xfrm>
            <a:off x="8238744" y="2788920"/>
            <a:ext cx="328269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Outputs</a:t>
            </a:r>
          </a:p>
        </p:txBody>
      </p:sp>
      <p:sp>
        <p:nvSpPr>
          <p:cNvPr id="20" name="TextBox 19"/>
          <p:cNvSpPr txBox="1"/>
          <p:nvPr/>
        </p:nvSpPr>
        <p:spPr>
          <a:xfrm>
            <a:off x="8238744" y="3392424"/>
            <a:ext cx="3282696" cy="2651760"/>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A structured threat model</a:t>
            </a:r>
          </a:p>
          <a:p>
            <a:pPr>
              <a:lnSpc>
                <a:spcPct val="112000"/>
              </a:lnSpc>
              <a:spcAft>
                <a:spcPts val="300"/>
              </a:spcAft>
              <a:defRPr sz="1800" b="0">
                <a:solidFill>
                  <a:srgbClr val="182B43"/>
                </a:solidFill>
                <a:latin typeface="Arial"/>
              </a:defRPr>
            </a:pPr>
          </a:p>
          <a:p>
            <a:pPr>
              <a:lnSpc>
                <a:spcPct val="112000"/>
              </a:lnSpc>
              <a:spcAft>
                <a:spcPts val="300"/>
              </a:spcAft>
              <a:defRPr sz="1800" b="0">
                <a:solidFill>
                  <a:srgbClr val="182B43"/>
                </a:solidFill>
                <a:latin typeface="Arial"/>
              </a:defRPr>
            </a:pPr>
            <a:r>
              <a:t>Evidence and mitigation work for architectural review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AWS SECURITY AGENT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Code review has several entry points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Full-repository, change review and remediation share context—not identical triggers.</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14 / 18    AWS Security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22:45–24:15</a:t>
            </a:r>
          </a:p>
        </p:txBody>
      </p:sp>
      <p:graphicFrame>
        <p:nvGraphicFramePr>
          <p:cNvPr id="9" name="Table 8"/>
          <p:cNvGraphicFramePr>
            <a:graphicFrameLocks noGrp="1"/>
          </p:cNvGraphicFramePr>
          <p:nvPr/>
        </p:nvGraphicFramePr>
        <p:xfrm>
          <a:off x="502920" y="2313432"/>
          <a:ext cx="11183112" cy="3858768"/>
        </p:xfrm>
        <a:graphic>
          <a:graphicData uri="http://schemas.openxmlformats.org/drawingml/2006/table">
            <a:tbl>
              <a:tblPr firstRow="1" bandRow="1">
                <a:tableStyleId>{5C22544A-7EE6-4342-B048-85BDC9FD1C3A}</a:tableStyleId>
              </a:tblPr>
              <a:tblGrid>
                <a:gridCol w="3727704"/>
                <a:gridCol w="3727704"/>
                <a:gridCol w="3727704"/>
              </a:tblGrid>
              <a:tr h="964692">
                <a:tc>
                  <a:txBody>
                    <a:bodyPr/>
                    <a:lstStyle/>
                    <a:p>
                      <a:pPr>
                        <a:spcAft>
                          <a:spcPts val="0"/>
                        </a:spcAft>
                        <a:defRPr sz="1600" b="1">
                          <a:solidFill>
                            <a:srgbClr val="FFFFFF"/>
                          </a:solidFill>
                          <a:latin typeface="Arial"/>
                        </a:defRPr>
                      </a:pPr>
                      <a:r>
                        <a:t>Workflow</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Primary input</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Reviewable result</a:t>
                      </a:r>
                    </a:p>
                  </a:txBody>
                  <a:tcPr marL="128016" marR="128016" marT="82296" marB="54864">
                    <a:solidFill>
                      <a:srgbClr val="10243B"/>
                    </a:solidFill>
                  </a:tcPr>
                </a:tc>
              </a:tr>
              <a:tr h="964692">
                <a:tc>
                  <a:txBody>
                    <a:bodyPr/>
                    <a:lstStyle/>
                    <a:p>
                      <a:pPr>
                        <a:spcAft>
                          <a:spcPts val="0"/>
                        </a:spcAft>
                        <a:defRPr sz="1600" b="0">
                          <a:solidFill>
                            <a:srgbClr val="182B43"/>
                          </a:solidFill>
                          <a:latin typeface="Arial"/>
                        </a:defRPr>
                      </a:pPr>
                      <a:r>
                        <a:t>Repository review</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Connected repository or S3 source</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Code findings and affected locations</a:t>
                      </a:r>
                    </a:p>
                  </a:txBody>
                  <a:tcPr marL="128016" marR="128016" marT="82296" marB="54864">
                    <a:solidFill>
                      <a:srgbClr val="F1F5F8"/>
                    </a:solidFill>
                  </a:tcPr>
                </a:tc>
              </a:tr>
              <a:tr h="964692">
                <a:tc>
                  <a:txBody>
                    <a:bodyPr/>
                    <a:lstStyle/>
                    <a:p>
                      <a:pPr>
                        <a:spcAft>
                          <a:spcPts val="0"/>
                        </a:spcAft>
                        <a:defRPr sz="1600" b="0">
                          <a:solidFill>
                            <a:srgbClr val="182B43"/>
                          </a:solidFill>
                          <a:latin typeface="Arial"/>
                        </a:defRPr>
                      </a:pPr>
                      <a:r>
                        <a:t>PR / MR review</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Ready-for-review event; configured branch, label or draft filters</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Change-specific review feedback</a:t>
                      </a:r>
                    </a:p>
                  </a:txBody>
                  <a:tcPr marL="128016" marR="128016" marT="82296" marB="54864">
                    <a:solidFill>
                      <a:srgbClr val="FFFFFF"/>
                    </a:solidFill>
                  </a:tcPr>
                </a:tc>
              </a:tr>
              <a:tr h="964692">
                <a:tc>
                  <a:txBody>
                    <a:bodyPr/>
                    <a:lstStyle/>
                    <a:p>
                      <a:pPr>
                        <a:spcAft>
                          <a:spcPts val="0"/>
                        </a:spcAft>
                        <a:defRPr sz="1600" b="0">
                          <a:solidFill>
                            <a:srgbClr val="182B43"/>
                          </a:solidFill>
                          <a:latin typeface="Arial"/>
                        </a:defRPr>
                      </a:pPr>
                      <a:r>
                        <a:t>Remediation</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Accepted finding and enabled source path</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Provider-supported PR/MR or downloadable diff</a:t>
                      </a:r>
                    </a:p>
                  </a:txBody>
                  <a:tcPr marL="128016" marR="128016" marT="82296" marB="54864">
                    <a:solidFill>
                      <a:srgbClr val="F1F5F8"/>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AWS SECURITY AGENT  /  CAPABILITIES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IDE and build workflows still call a service</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 local entry point does not make the assessment a local-only operation.</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15 / 18    AWS Security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01:15 allocated  |  24:15–25:30</a:t>
            </a:r>
          </a:p>
        </p:txBody>
      </p:sp>
      <p:sp>
        <p:nvSpPr>
          <p:cNvPr id="9" name="Rounded Rectangle 8"/>
          <p:cNvSpPr/>
          <p:nvPr/>
        </p:nvSpPr>
        <p:spPr>
          <a:xfrm>
            <a:off x="502920" y="2313432"/>
            <a:ext cx="5486400" cy="2971800"/>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59736"/>
            <a:ext cx="5157216"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PREVIEW</a:t>
            </a:r>
          </a:p>
        </p:txBody>
      </p:sp>
      <p:sp>
        <p:nvSpPr>
          <p:cNvPr id="11" name="TextBox 10"/>
          <p:cNvSpPr txBox="1"/>
          <p:nvPr/>
        </p:nvSpPr>
        <p:spPr>
          <a:xfrm>
            <a:off x="667512" y="2788920"/>
            <a:ext cx="515721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IDE access</a:t>
            </a:r>
          </a:p>
        </p:txBody>
      </p:sp>
      <p:sp>
        <p:nvSpPr>
          <p:cNvPr id="12" name="TextBox 11"/>
          <p:cNvSpPr txBox="1"/>
          <p:nvPr/>
        </p:nvSpPr>
        <p:spPr>
          <a:xfrm>
            <a:off x="667512" y="3392424"/>
            <a:ext cx="5157216" cy="1746504"/>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Use the documented MCP or Kiro integration to submit work with the required service setup and source context.</a:t>
            </a:r>
          </a:p>
        </p:txBody>
      </p:sp>
      <p:sp>
        <p:nvSpPr>
          <p:cNvPr id="13" name="Rounded Rectangle 12"/>
          <p:cNvSpPr/>
          <p:nvPr/>
        </p:nvSpPr>
        <p:spPr>
          <a:xfrm>
            <a:off x="6199632" y="2313432"/>
            <a:ext cx="5486400" cy="2971800"/>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64224" y="2459736"/>
            <a:ext cx="5157216" cy="201168"/>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PREVIEW</a:t>
            </a:r>
          </a:p>
        </p:txBody>
      </p:sp>
      <p:sp>
        <p:nvSpPr>
          <p:cNvPr id="15" name="TextBox 14"/>
          <p:cNvSpPr txBox="1"/>
          <p:nvPr/>
        </p:nvSpPr>
        <p:spPr>
          <a:xfrm>
            <a:off x="6364224" y="2788920"/>
            <a:ext cx="5157216"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Differential build scan</a:t>
            </a:r>
          </a:p>
        </p:txBody>
      </p:sp>
      <p:sp>
        <p:nvSpPr>
          <p:cNvPr id="16" name="TextBox 15"/>
          <p:cNvSpPr txBox="1"/>
          <p:nvPr/>
        </p:nvSpPr>
        <p:spPr>
          <a:xfrm>
            <a:off x="6364224" y="3392424"/>
            <a:ext cx="5157216" cy="1746504"/>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Upload the supported source/diff artifacts and submit the documented API/SDK workflow.</a:t>
            </a:r>
          </a:p>
        </p:txBody>
      </p:sp>
      <p:sp>
        <p:nvSpPr>
          <p:cNvPr id="17" name="Rounded Rectangle 16"/>
          <p:cNvSpPr/>
          <p:nvPr/>
        </p:nvSpPr>
        <p:spPr>
          <a:xfrm>
            <a:off x="502920" y="5477256"/>
            <a:ext cx="11183112" cy="713232"/>
          </a:xfrm>
          <a:prstGeom prst="roundRect">
            <a:avLst>
              <a:gd name="adj" fmla="val 8000"/>
            </a:avLst>
          </a:prstGeom>
          <a:solidFill>
            <a:srgbClr val="1024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4088" y="5632704"/>
            <a:ext cx="10771632" cy="402336"/>
          </a:xfrm>
          <a:prstGeom prst="rect">
            <a:avLst/>
          </a:prstGeom>
          <a:noFill/>
        </p:spPr>
        <p:txBody>
          <a:bodyPr wrap="square" lIns="0" rIns="0" tIns="0" bIns="0" anchor="t">
            <a:spAutoFit/>
          </a:bodyPr>
          <a:lstStyle/>
          <a:p>
            <a:pPr>
              <a:lnSpc>
                <a:spcPct val="112000"/>
              </a:lnSpc>
              <a:spcAft>
                <a:spcPts val="300"/>
              </a:spcAft>
              <a:defRPr sz="1450" b="1">
                <a:solidFill>
                  <a:srgbClr val="FFFFFF"/>
                </a:solidFill>
                <a:latin typeface="Arial"/>
              </a:defRPr>
            </a:pPr>
            <a:r>
              <a:t>Acceptance: confirm what left the workstation or runner, which revision was scanned, and what checks actually ran.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AWS SECURITY AGENT  /  CONTROLS</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A green delivery gate can mean different things</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Read scope, errors and baseline behavior—not just the pipeline color.</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16 / 18    AWS Security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25:30–27:00</a:t>
            </a:r>
          </a:p>
        </p:txBody>
      </p:sp>
      <p:graphicFrame>
        <p:nvGraphicFramePr>
          <p:cNvPr id="9" name="Table 8"/>
          <p:cNvGraphicFramePr>
            <a:graphicFrameLocks noGrp="1"/>
          </p:cNvGraphicFramePr>
          <p:nvPr/>
        </p:nvGraphicFramePr>
        <p:xfrm>
          <a:off x="502920" y="2313432"/>
          <a:ext cx="11183112" cy="3858768"/>
        </p:xfrm>
        <a:graphic>
          <a:graphicData uri="http://schemas.openxmlformats.org/drawingml/2006/table">
            <a:tbl>
              <a:tblPr firstRow="1" bandRow="1">
                <a:tableStyleId>{5C22544A-7EE6-4342-B048-85BDC9FD1C3A}</a:tableStyleId>
              </a:tblPr>
              <a:tblGrid>
                <a:gridCol w="3727704"/>
                <a:gridCol w="3727704"/>
                <a:gridCol w="3727704"/>
              </a:tblGrid>
              <a:tr h="771753">
                <a:tc>
                  <a:txBody>
                    <a:bodyPr/>
                    <a:lstStyle/>
                    <a:p>
                      <a:pPr>
                        <a:spcAft>
                          <a:spcPts val="0"/>
                        </a:spcAft>
                        <a:defRPr sz="1600" b="1">
                          <a:solidFill>
                            <a:srgbClr val="FFFFFF"/>
                          </a:solidFill>
                          <a:latin typeface="Arial"/>
                        </a:defRPr>
                      </a:pPr>
                      <a:r>
                        <a:t>Outcome</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Interpretation</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Recommended team treatment</a:t>
                      </a:r>
                    </a:p>
                  </a:txBody>
                  <a:tcPr marL="128016" marR="128016" marT="82296" marB="54864">
                    <a:solidFill>
                      <a:srgbClr val="10243B"/>
                    </a:solidFill>
                  </a:tcPr>
                </a:tc>
              </a:tr>
              <a:tr h="771753">
                <a:tc>
                  <a:txBody>
                    <a:bodyPr/>
                    <a:lstStyle/>
                    <a:p>
                      <a:pPr>
                        <a:spcAft>
                          <a:spcPts val="0"/>
                        </a:spcAft>
                        <a:defRPr sz="1600" b="0">
                          <a:solidFill>
                            <a:srgbClr val="182B43"/>
                          </a:solidFill>
                          <a:latin typeface="Arial"/>
                        </a:defRPr>
                      </a:pPr>
                      <a:r>
                        <a:t>Findings exceed threshold</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Test returned blocking evidence</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Block and triage</a:t>
                      </a:r>
                    </a:p>
                  </a:txBody>
                  <a:tcPr marL="128016" marR="128016" marT="82296" marB="54864">
                    <a:solidFill>
                      <a:srgbClr val="F1F5F8"/>
                    </a:solidFill>
                  </a:tcPr>
                </a:tc>
              </a:tr>
              <a:tr h="771753">
                <a:tc>
                  <a:txBody>
                    <a:bodyPr/>
                    <a:lstStyle/>
                    <a:p>
                      <a:pPr>
                        <a:spcAft>
                          <a:spcPts val="0"/>
                        </a:spcAft>
                        <a:defRPr sz="1600" b="0">
                          <a:solidFill>
                            <a:srgbClr val="182B43"/>
                          </a:solidFill>
                          <a:latin typeface="Arial"/>
                        </a:defRPr>
                      </a:pPr>
                      <a:r>
                        <a:t>Scoped out</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No relevant changed attack surface was tested</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Record scope decision; do not call it a clean full test</a:t>
                      </a:r>
                    </a:p>
                  </a:txBody>
                  <a:tcPr marL="128016" marR="128016" marT="82296" marB="54864">
                    <a:solidFill>
                      <a:srgbClr val="FFFFFF"/>
                    </a:solidFill>
                  </a:tcPr>
                </a:tc>
              </a:tr>
              <a:tr h="771753">
                <a:tc>
                  <a:txBody>
                    <a:bodyPr/>
                    <a:lstStyle/>
                    <a:p>
                      <a:pPr>
                        <a:spcAft>
                          <a:spcPts val="0"/>
                        </a:spcAft>
                        <a:defRPr sz="1600" b="0">
                          <a:solidFill>
                            <a:srgbClr val="182B43"/>
                          </a:solidFill>
                          <a:latin typeface="Arial"/>
                        </a:defRPr>
                      </a:pPr>
                      <a:r>
                        <a:t>Error / scope conflict</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Coverage may be absent or outside scope</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Use fail-closed for required sign-off</a:t>
                      </a:r>
                    </a:p>
                  </a:txBody>
                  <a:tcPr marL="128016" marR="128016" marT="82296" marB="54864">
                    <a:solidFill>
                      <a:srgbClr val="F1F5F8"/>
                    </a:solidFill>
                  </a:tcPr>
                </a:tc>
              </a:tr>
              <a:tr h="771756">
                <a:tc>
                  <a:txBody>
                    <a:bodyPr/>
                    <a:lstStyle/>
                    <a:p>
                      <a:pPr>
                        <a:spcAft>
                          <a:spcPts val="0"/>
                        </a:spcAft>
                        <a:defRPr sz="1600" b="0">
                          <a:solidFill>
                            <a:srgbClr val="182B43"/>
                          </a:solidFill>
                          <a:latin typeface="Arial"/>
                        </a:defRPr>
                      </a:pPr>
                      <a:r>
                        <a:t>Runner stopped</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Server-side job may still need cleanup</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Verify terminal job state and consumption</a:t>
                      </a:r>
                    </a:p>
                  </a:txBody>
                  <a:tcPr marL="128016" marR="128016" marT="82296" marB="54864">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AWS SECURITY AGENT  /  ADOPTION</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Pilot one complete evidence-to-closure loop</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700" b="0">
                <a:solidFill>
                  <a:srgbClr val="55657A"/>
                </a:solidFill>
                <a:latin typeface="Arial"/>
              </a:defRPr>
            </a:pPr>
            <a:r>
              <a:t>A safe test, an accepted finding and a verified fix are more useful than broad unreviewed coverage.</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17 / 18    AWS Security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27:00–28:30</a:t>
            </a:r>
          </a:p>
        </p:txBody>
      </p:sp>
      <p:graphicFrame>
        <p:nvGraphicFramePr>
          <p:cNvPr id="9" name="Table 8"/>
          <p:cNvGraphicFramePr>
            <a:graphicFrameLocks noGrp="1"/>
          </p:cNvGraphicFramePr>
          <p:nvPr/>
        </p:nvGraphicFramePr>
        <p:xfrm>
          <a:off x="502920" y="2313432"/>
          <a:ext cx="11183112" cy="3858768"/>
        </p:xfrm>
        <a:graphic>
          <a:graphicData uri="http://schemas.openxmlformats.org/drawingml/2006/table">
            <a:tbl>
              <a:tblPr firstRow="1" bandRow="1">
                <a:tableStyleId>{5C22544A-7EE6-4342-B048-85BDC9FD1C3A}</a:tableStyleId>
              </a:tblPr>
              <a:tblGrid>
                <a:gridCol w="3727704"/>
                <a:gridCol w="3727704"/>
                <a:gridCol w="3727704"/>
              </a:tblGrid>
              <a:tr h="771753">
                <a:tc>
                  <a:txBody>
                    <a:bodyPr/>
                    <a:lstStyle/>
                    <a:p>
                      <a:pPr>
                        <a:spcAft>
                          <a:spcPts val="0"/>
                        </a:spcAft>
                        <a:defRPr sz="1600" b="1">
                          <a:solidFill>
                            <a:srgbClr val="FFFFFF"/>
                          </a:solidFill>
                          <a:latin typeface="Arial"/>
                        </a:defRPr>
                      </a:pPr>
                      <a:r>
                        <a:t>Phase</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Team work</a:t>
                      </a:r>
                    </a:p>
                  </a:txBody>
                  <a:tcPr marL="128016" marR="128016" marT="82296" marB="54864">
                    <a:solidFill>
                      <a:srgbClr val="10243B"/>
                    </a:solidFill>
                  </a:tcPr>
                </a:tc>
                <a:tc>
                  <a:txBody>
                    <a:bodyPr/>
                    <a:lstStyle/>
                    <a:p>
                      <a:pPr>
                        <a:spcAft>
                          <a:spcPts val="0"/>
                        </a:spcAft>
                        <a:defRPr sz="1600" b="1">
                          <a:solidFill>
                            <a:srgbClr val="FFFFFF"/>
                          </a:solidFill>
                          <a:latin typeface="Arial"/>
                        </a:defRPr>
                      </a:pPr>
                      <a:r>
                        <a:t>Evidence to keep</a:t>
                      </a:r>
                    </a:p>
                  </a:txBody>
                  <a:tcPr marL="128016" marR="128016" marT="82296" marB="54864">
                    <a:solidFill>
                      <a:srgbClr val="10243B"/>
                    </a:solidFill>
                  </a:tcPr>
                </a:tc>
              </a:tr>
              <a:tr h="771753">
                <a:tc>
                  <a:txBody>
                    <a:bodyPr/>
                    <a:lstStyle/>
                    <a:p>
                      <a:pPr>
                        <a:spcAft>
                          <a:spcPts val="0"/>
                        </a:spcAft>
                        <a:defRPr sz="1600" b="0">
                          <a:solidFill>
                            <a:srgbClr val="182B43"/>
                          </a:solidFill>
                          <a:latin typeface="Arial"/>
                        </a:defRPr>
                      </a:pPr>
                      <a:r>
                        <a:t>Authorize</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Isolate target and identities; approve data boundary</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Scope, owner, recovery and stop record</a:t>
                      </a:r>
                    </a:p>
                  </a:txBody>
                  <a:tcPr marL="128016" marR="128016" marT="82296" marB="54864">
                    <a:solidFill>
                      <a:srgbClr val="F1F5F8"/>
                    </a:solidFill>
                  </a:tcPr>
                </a:tc>
              </a:tr>
              <a:tr h="771753">
                <a:tc>
                  <a:txBody>
                    <a:bodyPr/>
                    <a:lstStyle/>
                    <a:p>
                      <a:pPr>
                        <a:spcAft>
                          <a:spcPts val="0"/>
                        </a:spcAft>
                        <a:defRPr sz="1600" b="0">
                          <a:solidFill>
                            <a:srgbClr val="182B43"/>
                          </a:solidFill>
                          <a:latin typeface="Arial"/>
                        </a:defRPr>
                      </a:pPr>
                      <a:r>
                        <a:t>Assess</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Run one bounded test and inspect evidence</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Run ID, coverage and accepted findings</a:t>
                      </a:r>
                    </a:p>
                  </a:txBody>
                  <a:tcPr marL="128016" marR="128016" marT="82296" marB="54864">
                    <a:solidFill>
                      <a:srgbClr val="FFFFFF"/>
                    </a:solidFill>
                  </a:tcPr>
                </a:tc>
              </a:tr>
              <a:tr h="771753">
                <a:tc>
                  <a:txBody>
                    <a:bodyPr/>
                    <a:lstStyle/>
                    <a:p>
                      <a:pPr>
                        <a:spcAft>
                          <a:spcPts val="0"/>
                        </a:spcAft>
                        <a:defRPr sz="1600" b="0">
                          <a:solidFill>
                            <a:srgbClr val="182B43"/>
                          </a:solidFill>
                          <a:latin typeface="Arial"/>
                        </a:defRPr>
                      </a:pPr>
                      <a:r>
                        <a:t>Repair</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Review and deploy one justified fix</a:t>
                      </a:r>
                    </a:p>
                  </a:txBody>
                  <a:tcPr marL="128016" marR="128016" marT="82296" marB="54864">
                    <a:solidFill>
                      <a:srgbClr val="F1F5F8"/>
                    </a:solidFill>
                  </a:tcPr>
                </a:tc>
                <a:tc>
                  <a:txBody>
                    <a:bodyPr/>
                    <a:lstStyle/>
                    <a:p>
                      <a:pPr>
                        <a:spcAft>
                          <a:spcPts val="0"/>
                        </a:spcAft>
                        <a:defRPr sz="1600" b="0">
                          <a:solidFill>
                            <a:srgbClr val="182B43"/>
                          </a:solidFill>
                          <a:latin typeface="Arial"/>
                        </a:defRPr>
                      </a:pPr>
                      <a:r>
                        <a:t>Change revision, tests and deployment</a:t>
                      </a:r>
                    </a:p>
                  </a:txBody>
                  <a:tcPr marL="128016" marR="128016" marT="82296" marB="54864">
                    <a:solidFill>
                      <a:srgbClr val="F1F5F8"/>
                    </a:solidFill>
                  </a:tcPr>
                </a:tc>
              </a:tr>
              <a:tr h="771756">
                <a:tc>
                  <a:txBody>
                    <a:bodyPr/>
                    <a:lstStyle/>
                    <a:p>
                      <a:pPr>
                        <a:spcAft>
                          <a:spcPts val="0"/>
                        </a:spcAft>
                        <a:defRPr sz="1600" b="0">
                          <a:solidFill>
                            <a:srgbClr val="182B43"/>
                          </a:solidFill>
                          <a:latin typeface="Arial"/>
                        </a:defRPr>
                      </a:pPr>
                      <a:r>
                        <a:t>Revalidate</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Retest and decide whether to expand</a:t>
                      </a:r>
                    </a:p>
                  </a:txBody>
                  <a:tcPr marL="128016" marR="128016" marT="82296" marB="54864">
                    <a:solidFill>
                      <a:srgbClr val="FFFFFF"/>
                    </a:solidFill>
                  </a:tcPr>
                </a:tc>
                <a:tc>
                  <a:txBody>
                    <a:bodyPr/>
                    <a:lstStyle/>
                    <a:p>
                      <a:pPr>
                        <a:spcAft>
                          <a:spcPts val="0"/>
                        </a:spcAft>
                        <a:defRPr sz="1600" b="0">
                          <a:solidFill>
                            <a:srgbClr val="182B43"/>
                          </a:solidFill>
                          <a:latin typeface="Arial"/>
                        </a:defRPr>
                      </a:pPr>
                      <a:r>
                        <a:t>Linked result, effort and cost</a:t>
                      </a:r>
                    </a:p>
                  </a:txBody>
                  <a:tcPr marL="128016" marR="128016" marT="82296" marB="54864">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AWS SECURITY AGENT  /  CLOSE</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Make security work an accountable closure loop</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Authorize the target. Inspect the evidence. Revalidate the deployed repair.</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18 / 18    AWS Security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01:30 allocated  |  28:30–30:00</a:t>
            </a:r>
          </a:p>
        </p:txBody>
      </p:sp>
      <p:sp>
        <p:nvSpPr>
          <p:cNvPr id="9" name="Rounded Rectangle 8"/>
          <p:cNvSpPr/>
          <p:nvPr/>
        </p:nvSpPr>
        <p:spPr>
          <a:xfrm>
            <a:off x="502920" y="2313432"/>
            <a:ext cx="3593592"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2496312"/>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Authorize</a:t>
            </a:r>
          </a:p>
        </p:txBody>
      </p:sp>
      <p:sp>
        <p:nvSpPr>
          <p:cNvPr id="11" name="TextBox 10"/>
          <p:cNvSpPr txBox="1"/>
          <p:nvPr/>
        </p:nvSpPr>
        <p:spPr>
          <a:xfrm>
            <a:off x="667512" y="3099816"/>
            <a:ext cx="3264408" cy="2944368"/>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Scope includes reachable systems and real application effects.</a:t>
            </a:r>
          </a:p>
        </p:txBody>
      </p:sp>
      <p:sp>
        <p:nvSpPr>
          <p:cNvPr id="12" name="Rounded Rectangle 11"/>
          <p:cNvSpPr/>
          <p:nvPr/>
        </p:nvSpPr>
        <p:spPr>
          <a:xfrm>
            <a:off x="4297680" y="2313432"/>
            <a:ext cx="3593592"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62272" y="2496312"/>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Inspect</a:t>
            </a:r>
          </a:p>
        </p:txBody>
      </p:sp>
      <p:sp>
        <p:nvSpPr>
          <p:cNvPr id="14" name="TextBox 13"/>
          <p:cNvSpPr txBox="1"/>
          <p:nvPr/>
        </p:nvSpPr>
        <p:spPr>
          <a:xfrm>
            <a:off x="4462272" y="3099816"/>
            <a:ext cx="3264408" cy="2944368"/>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Severity is accompanied by evidence, impact and coverage.</a:t>
            </a:r>
          </a:p>
        </p:txBody>
      </p:sp>
      <p:sp>
        <p:nvSpPr>
          <p:cNvPr id="15" name="Rounded Rectangle 14"/>
          <p:cNvSpPr/>
          <p:nvPr/>
        </p:nvSpPr>
        <p:spPr>
          <a:xfrm>
            <a:off x="8092440" y="2313432"/>
            <a:ext cx="3593592" cy="3877056"/>
          </a:xfrm>
          <a:prstGeom prst="roundRect">
            <a:avLst>
              <a:gd name="adj" fmla="val 8000"/>
            </a:avLst>
          </a:prstGeom>
          <a:solidFill>
            <a:srgbClr val="F1F5F8"/>
          </a:solidFill>
          <a:ln w="10160">
            <a:solidFill>
              <a:srgbClr val="DBE2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57032" y="2496312"/>
            <a:ext cx="3264408" cy="502920"/>
          </a:xfrm>
          <a:prstGeom prst="rect">
            <a:avLst/>
          </a:prstGeom>
          <a:noFill/>
        </p:spPr>
        <p:txBody>
          <a:bodyPr wrap="square" lIns="0" rIns="0" tIns="0" bIns="0" anchor="t">
            <a:spAutoFit/>
          </a:bodyPr>
          <a:lstStyle/>
          <a:p>
            <a:pPr>
              <a:lnSpc>
                <a:spcPct val="112000"/>
              </a:lnSpc>
              <a:spcAft>
                <a:spcPts val="300"/>
              </a:spcAft>
              <a:defRPr sz="2000" b="1">
                <a:solidFill>
                  <a:srgbClr val="182B43"/>
                </a:solidFill>
                <a:latin typeface="Arial"/>
              </a:defRPr>
            </a:pPr>
            <a:r>
              <a:t>Close</a:t>
            </a:r>
          </a:p>
        </p:txBody>
      </p:sp>
      <p:sp>
        <p:nvSpPr>
          <p:cNvPr id="17" name="TextBox 16"/>
          <p:cNvSpPr txBox="1"/>
          <p:nvPr/>
        </p:nvSpPr>
        <p:spPr>
          <a:xfrm>
            <a:off x="8257032" y="3099816"/>
            <a:ext cx="3264408" cy="2944368"/>
          </a:xfrm>
          <a:prstGeom prst="rect">
            <a:avLst/>
          </a:prstGeom>
          <a:noFill/>
        </p:spPr>
        <p:txBody>
          <a:bodyPr wrap="square" lIns="0" rIns="0" tIns="0" bIns="0" anchor="t">
            <a:spAutoFit/>
          </a:bodyPr>
          <a:lstStyle/>
          <a:p>
            <a:pPr>
              <a:lnSpc>
                <a:spcPct val="112000"/>
              </a:lnSpc>
              <a:spcAft>
                <a:spcPts val="300"/>
              </a:spcAft>
              <a:defRPr sz="1800" b="0">
                <a:solidFill>
                  <a:srgbClr val="182B43"/>
                </a:solidFill>
                <a:latin typeface="Arial"/>
              </a:defRPr>
            </a:pPr>
            <a:r>
              <a:t>A deployed fix is reassessed; original evidence remains traceable.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72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10896"/>
            <a:ext cx="10881360" cy="228600"/>
          </a:xfrm>
          <a:prstGeom prst="rect">
            <a:avLst/>
          </a:prstGeom>
          <a:noFill/>
        </p:spPr>
        <p:txBody>
          <a:bodyPr wrap="square" lIns="0" rIns="0" tIns="0" bIns="0" anchor="t">
            <a:spAutoFit/>
          </a:bodyPr>
          <a:lstStyle/>
          <a:p>
            <a:pPr>
              <a:lnSpc>
                <a:spcPct val="112000"/>
              </a:lnSpc>
              <a:spcAft>
                <a:spcPts val="300"/>
              </a:spcAft>
              <a:defRPr sz="1050" b="1">
                <a:solidFill>
                  <a:srgbClr val="167259"/>
                </a:solidFill>
                <a:latin typeface="Arial"/>
              </a:defRPr>
            </a:pPr>
            <a:r>
              <a:t>AWS SECURITY AGENT  /  UNTIMED APPENDIX</a:t>
            </a:r>
          </a:p>
        </p:txBody>
      </p:sp>
      <p:sp>
        <p:nvSpPr>
          <p:cNvPr id="4" name="TextBox 3"/>
          <p:cNvSpPr txBox="1"/>
          <p:nvPr/>
        </p:nvSpPr>
        <p:spPr>
          <a:xfrm>
            <a:off x="502920" y="777240"/>
            <a:ext cx="11018520" cy="804672"/>
          </a:xfrm>
          <a:prstGeom prst="rect">
            <a:avLst/>
          </a:prstGeom>
          <a:noFill/>
        </p:spPr>
        <p:txBody>
          <a:bodyPr wrap="square" lIns="0" rIns="0" tIns="0" bIns="0" anchor="t">
            <a:spAutoFit/>
          </a:bodyPr>
          <a:lstStyle/>
          <a:p>
            <a:pPr>
              <a:lnSpc>
                <a:spcPct val="112000"/>
              </a:lnSpc>
              <a:spcAft>
                <a:spcPts val="300"/>
              </a:spcAft>
              <a:defRPr sz="3100" b="1">
                <a:solidFill>
                  <a:srgbClr val="182B43"/>
                </a:solidFill>
                <a:latin typeface="Arial"/>
              </a:defRPr>
            </a:pPr>
            <a:r>
              <a:t>Official evidence and delivery boundary</a:t>
            </a:r>
          </a:p>
        </p:txBody>
      </p:sp>
      <p:sp>
        <p:nvSpPr>
          <p:cNvPr id="5" name="TextBox 4"/>
          <p:cNvSpPr txBox="1"/>
          <p:nvPr/>
        </p:nvSpPr>
        <p:spPr>
          <a:xfrm>
            <a:off x="502920" y="1627632"/>
            <a:ext cx="11018520" cy="502920"/>
          </a:xfrm>
          <a:prstGeom prst="rect">
            <a:avLst/>
          </a:prstGeom>
          <a:noFill/>
        </p:spPr>
        <p:txBody>
          <a:bodyPr wrap="square" lIns="0" rIns="0" tIns="0" bIns="0" anchor="t">
            <a:spAutoFit/>
          </a:bodyPr>
          <a:lstStyle/>
          <a:p>
            <a:pPr>
              <a:lnSpc>
                <a:spcPct val="112000"/>
              </a:lnSpc>
              <a:spcAft>
                <a:spcPts val="300"/>
              </a:spcAft>
              <a:defRPr sz="1800" b="0">
                <a:solidFill>
                  <a:srgbClr val="55657A"/>
                </a:solidFill>
                <a:latin typeface="Arial"/>
              </a:defRPr>
            </a:pPr>
            <a:r>
              <a:t>Use the linked product documentation and the complete report source register.</a:t>
            </a:r>
          </a:p>
        </p:txBody>
      </p:sp>
      <p:sp>
        <p:nvSpPr>
          <p:cNvPr id="6" name="Rectangle 5"/>
          <p:cNvSpPr/>
          <p:nvPr/>
        </p:nvSpPr>
        <p:spPr>
          <a:xfrm>
            <a:off x="502920" y="6391656"/>
            <a:ext cx="11183112" cy="9144"/>
          </a:xfrm>
          <a:prstGeom prst="rect">
            <a:avLst/>
          </a:prstGeom>
          <a:solidFill>
            <a:srgbClr val="DBE2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510528"/>
            <a:ext cx="576072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UNTIMED APPENDIX    AWS Security Agent</a:t>
            </a:r>
          </a:p>
        </p:txBody>
      </p:sp>
      <p:sp>
        <p:nvSpPr>
          <p:cNvPr id="8" name="TextBox 7"/>
          <p:cNvSpPr txBox="1"/>
          <p:nvPr/>
        </p:nvSpPr>
        <p:spPr>
          <a:xfrm>
            <a:off x="7589520" y="6510528"/>
            <a:ext cx="4114800" cy="201168"/>
          </a:xfrm>
          <a:prstGeom prst="rect">
            <a:avLst/>
          </a:prstGeom>
          <a:noFill/>
        </p:spPr>
        <p:txBody>
          <a:bodyPr wrap="square" lIns="0" rIns="0" tIns="0" bIns="0" anchor="t">
            <a:spAutoFit/>
          </a:bodyPr>
          <a:lstStyle/>
          <a:p>
            <a:pPr>
              <a:lnSpc>
                <a:spcPct val="112000"/>
              </a:lnSpc>
              <a:spcAft>
                <a:spcPts val="300"/>
              </a:spcAft>
              <a:defRPr sz="1050" b="0">
                <a:solidFill>
                  <a:srgbClr val="55657A"/>
                </a:solidFill>
                <a:latin typeface="Arial"/>
              </a:defRPr>
            </a:pPr>
            <a:r>
              <a:t>Outside the timed session</a:t>
            </a:r>
          </a:p>
        </p:txBody>
      </p:sp>
      <p:sp>
        <p:nvSpPr>
          <p:cNvPr id="9" name="TextBox 8"/>
          <p:cNvSpPr txBox="1"/>
          <p:nvPr/>
        </p:nvSpPr>
        <p:spPr>
          <a:xfrm>
            <a:off x="594360" y="2331720"/>
            <a:ext cx="10927080" cy="320040"/>
          </a:xfrm>
          <a:prstGeom prst="rect">
            <a:avLst/>
          </a:prstGeom>
          <a:noFill/>
        </p:spPr>
        <p:txBody>
          <a:bodyPr wrap="square" lIns="0" rIns="0" tIns="0" bIns="0" anchor="t">
            <a:spAutoFit/>
          </a:bodyPr>
          <a:lstStyle/>
          <a:p>
            <a:pPr>
              <a:lnSpc>
                <a:spcPct val="112000"/>
              </a:lnSpc>
              <a:spcAft>
                <a:spcPts val="300"/>
              </a:spcAft>
              <a:defRPr sz="1800" b="1">
                <a:solidFill>
                  <a:srgbClr val="167259"/>
                </a:solidFill>
                <a:latin typeface="Arial"/>
              </a:defRPr>
            </a:pPr>
            <a:r>
              <a:rPr>
                <a:hlinkClick r:id="rId3"/>
              </a:rPr>
              <a:t>S03  On-demand penetration testing generally available</a:t>
            </a:r>
          </a:p>
        </p:txBody>
      </p:sp>
      <p:sp>
        <p:nvSpPr>
          <p:cNvPr id="10" name="TextBox 9"/>
          <p:cNvSpPr txBox="1"/>
          <p:nvPr/>
        </p:nvSpPr>
        <p:spPr>
          <a:xfrm>
            <a:off x="594360" y="2862072"/>
            <a:ext cx="10927080" cy="320040"/>
          </a:xfrm>
          <a:prstGeom prst="rect">
            <a:avLst/>
          </a:prstGeom>
          <a:noFill/>
        </p:spPr>
        <p:txBody>
          <a:bodyPr wrap="square" lIns="0" rIns="0" tIns="0" bIns="0" anchor="t">
            <a:spAutoFit/>
          </a:bodyPr>
          <a:lstStyle/>
          <a:p>
            <a:pPr>
              <a:lnSpc>
                <a:spcPct val="112000"/>
              </a:lnSpc>
              <a:spcAft>
                <a:spcPts val="300"/>
              </a:spcAft>
              <a:defRPr sz="1800" b="1">
                <a:solidFill>
                  <a:srgbClr val="167259"/>
                </a:solidFill>
                <a:latin typeface="Arial"/>
              </a:defRPr>
            </a:pPr>
            <a:r>
              <a:rPr>
                <a:hlinkClick r:id="rId4"/>
              </a:rPr>
              <a:t>S04  What is AWS Security Agent?</a:t>
            </a:r>
          </a:p>
        </p:txBody>
      </p:sp>
      <p:sp>
        <p:nvSpPr>
          <p:cNvPr id="11" name="TextBox 10"/>
          <p:cNvSpPr txBox="1"/>
          <p:nvPr/>
        </p:nvSpPr>
        <p:spPr>
          <a:xfrm>
            <a:off x="594360" y="3392424"/>
            <a:ext cx="10927080" cy="320040"/>
          </a:xfrm>
          <a:prstGeom prst="rect">
            <a:avLst/>
          </a:prstGeom>
          <a:noFill/>
        </p:spPr>
        <p:txBody>
          <a:bodyPr wrap="square" lIns="0" rIns="0" tIns="0" bIns="0" anchor="t">
            <a:spAutoFit/>
          </a:bodyPr>
          <a:lstStyle/>
          <a:p>
            <a:pPr>
              <a:lnSpc>
                <a:spcPct val="112000"/>
              </a:lnSpc>
              <a:spcAft>
                <a:spcPts val="300"/>
              </a:spcAft>
              <a:defRPr sz="1800" b="1">
                <a:solidFill>
                  <a:srgbClr val="167259"/>
                </a:solidFill>
                <a:latin typeface="Arial"/>
              </a:defRPr>
            </a:pPr>
            <a:r>
              <a:rPr>
                <a:hlinkClick r:id="rId5"/>
              </a:rPr>
              <a:t>S05  Pricing and billing</a:t>
            </a:r>
          </a:p>
        </p:txBody>
      </p:sp>
      <p:sp>
        <p:nvSpPr>
          <p:cNvPr id="12" name="TextBox 11"/>
          <p:cNvSpPr txBox="1"/>
          <p:nvPr/>
        </p:nvSpPr>
        <p:spPr>
          <a:xfrm>
            <a:off x="594360" y="3922775"/>
            <a:ext cx="10927080" cy="320040"/>
          </a:xfrm>
          <a:prstGeom prst="rect">
            <a:avLst/>
          </a:prstGeom>
          <a:noFill/>
        </p:spPr>
        <p:txBody>
          <a:bodyPr wrap="square" lIns="0" rIns="0" tIns="0" bIns="0" anchor="t">
            <a:spAutoFit/>
          </a:bodyPr>
          <a:lstStyle/>
          <a:p>
            <a:pPr>
              <a:lnSpc>
                <a:spcPct val="112000"/>
              </a:lnSpc>
              <a:spcAft>
                <a:spcPts val="300"/>
              </a:spcAft>
              <a:defRPr sz="1800" b="1">
                <a:solidFill>
                  <a:srgbClr val="167259"/>
                </a:solidFill>
                <a:latin typeface="Arial"/>
              </a:defRPr>
            </a:pPr>
            <a:r>
              <a:rPr>
                <a:hlinkClick r:id="rId6"/>
              </a:rPr>
              <a:t>S08  Create a penetration test</a:t>
            </a:r>
          </a:p>
        </p:txBody>
      </p:sp>
      <p:sp>
        <p:nvSpPr>
          <p:cNvPr id="13" name="TextBox 12"/>
          <p:cNvSpPr txBox="1"/>
          <p:nvPr/>
        </p:nvSpPr>
        <p:spPr>
          <a:xfrm>
            <a:off x="594360" y="4453127"/>
            <a:ext cx="10927080" cy="320040"/>
          </a:xfrm>
          <a:prstGeom prst="rect">
            <a:avLst/>
          </a:prstGeom>
          <a:noFill/>
        </p:spPr>
        <p:txBody>
          <a:bodyPr wrap="square" lIns="0" rIns="0" tIns="0" bIns="0" anchor="t">
            <a:spAutoFit/>
          </a:bodyPr>
          <a:lstStyle/>
          <a:p>
            <a:pPr>
              <a:lnSpc>
                <a:spcPct val="112000"/>
              </a:lnSpc>
              <a:spcAft>
                <a:spcPts val="300"/>
              </a:spcAft>
              <a:defRPr sz="1800" b="1">
                <a:solidFill>
                  <a:srgbClr val="167259"/>
                </a:solidFill>
                <a:latin typeface="Arial"/>
              </a:defRPr>
            </a:pPr>
            <a:r>
              <a:rPr>
                <a:hlinkClick r:id="rId7"/>
              </a:rPr>
              <a:t>S09  Provide testing credentials</a:t>
            </a:r>
          </a:p>
        </p:txBody>
      </p:sp>
      <p:sp>
        <p:nvSpPr>
          <p:cNvPr id="14" name="TextBox 13"/>
          <p:cNvSpPr txBox="1"/>
          <p:nvPr/>
        </p:nvSpPr>
        <p:spPr>
          <a:xfrm>
            <a:off x="594360" y="4983479"/>
            <a:ext cx="10927080" cy="320040"/>
          </a:xfrm>
          <a:prstGeom prst="rect">
            <a:avLst/>
          </a:prstGeom>
          <a:noFill/>
        </p:spPr>
        <p:txBody>
          <a:bodyPr wrap="square" lIns="0" rIns="0" tIns="0" bIns="0" anchor="t">
            <a:spAutoFit/>
          </a:bodyPr>
          <a:lstStyle/>
          <a:p>
            <a:pPr>
              <a:lnSpc>
                <a:spcPct val="112000"/>
              </a:lnSpc>
              <a:spcAft>
                <a:spcPts val="300"/>
              </a:spcAft>
              <a:defRPr sz="1800" b="1">
                <a:solidFill>
                  <a:srgbClr val="167259"/>
                </a:solidFill>
                <a:latin typeface="Arial"/>
              </a:defRPr>
            </a:pPr>
            <a:r>
              <a:rPr>
                <a:hlinkClick r:id="rId8"/>
              </a:rPr>
              <a:t>S10  Security best practices</a:t>
            </a:r>
          </a:p>
        </p:txBody>
      </p:sp>
      <p:sp>
        <p:nvSpPr>
          <p:cNvPr id="15" name="TextBox 14"/>
          <p:cNvSpPr txBox="1"/>
          <p:nvPr/>
        </p:nvSpPr>
        <p:spPr>
          <a:xfrm>
            <a:off x="594360" y="5660136"/>
            <a:ext cx="10927080" cy="475488"/>
          </a:xfrm>
          <a:prstGeom prst="rect">
            <a:avLst/>
          </a:prstGeom>
          <a:noFill/>
        </p:spPr>
        <p:txBody>
          <a:bodyPr wrap="square" lIns="0" rIns="0" tIns="0" bIns="0" anchor="t">
            <a:spAutoFit/>
          </a:bodyPr>
          <a:lstStyle/>
          <a:p>
            <a:pPr>
              <a:lnSpc>
                <a:spcPct val="112000"/>
              </a:lnSpc>
              <a:spcAft>
                <a:spcPts val="300"/>
              </a:spcAft>
              <a:defRPr sz="1500" b="0">
                <a:solidFill>
                  <a:srgbClr val="55657A"/>
                </a:solidFill>
                <a:latin typeface="Arial"/>
              </a:defRPr>
            </a:pPr>
            <a:r>
              <a:t>Complete source URLs are embedded in speaker notes. Demo slots include fallback walkthroughs; questions and breaks are additional.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AWS Security Agent — engineering field guide</dc:title>
  <dc:subject>Source-aligned publication edition; timed demonstrations and official documentation.</dc:subject>
  <dc:creator>Frontier agents documentation</dc:creator>
  <cp:keywords/>
  <dc:description>Independent synthesis. No live AWS execution or measured benefit is claimed.</dc:description>
  <cp:lastModifiedBy>Steve Canny</cp:lastModifiedBy>
  <cp:revision>1</cp:revision>
  <dcterms:created xsi:type="dcterms:W3CDTF">2013-01-27T09:14:16Z</dcterms:created>
  <dcterms:modified xsi:type="dcterms:W3CDTF">2013-01-27T09:15:58Z</dcterms:modified>
  <cp:category/>
</cp:coreProperties>
</file>