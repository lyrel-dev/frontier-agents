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00:00–00:45; allocated 00:45.</a:t>
            </a:r>
          </a:p>
          <a:p/>
          <a:p>
            <a:r>
              <a:t>This deck remains scoped to the application-security capabilities in the original report. On-demand penetration testing is generally available; design review, code review, threat modeling and CI/CD integration have their own preview status. The demonstration uses an authorized staging application and a prepared evidence package, not an unapproved real-world target.</a:t>
            </a:r>
          </a:p>
          <a:p/>
          <a:p>
            <a:r>
              <a:t>Official evidence:</a:t>
            </a:r>
          </a:p>
          <a:p>
            <a:r>
              <a:t>S04 — What is AWS Security Agent?: https://docs.aws.amazon.com/securityagent/latest/userguide/what-is.html</a:t>
            </a:r>
          </a:p>
          <a:p>
            <a:r>
              <a:t>S03 — On-demand penetration testing generally available: https://aws.amazon.com/about-aws/whats-new/2026/03/aws-security-agent-ondemand-penetration/</a:t>
            </a:r>
          </a:p>
          <a:p>
            <a:r>
              <a:t>S05 — Pricing and billing: https://docs.aws.amazon.com/securityagent/latest/userguide/pricing.html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00:45–02:00; allocated 01:15.</a:t>
            </a:r>
          </a:p>
          <a:p/>
          <a:p>
            <a:r>
              <a:t>The lifecycle view explains why a single “security agent” label is insufficient. A design review examines documents, a threat model proposes attack scenarios, source review examines code, and penetration testing exercises a running target. They produce different evidence and have different potential side effects. Availability is also feature-specific, so an organization can adopt the GA testing path without making the same approval decision for every preview capability.</a:t>
            </a:r>
          </a:p>
          <a:p/>
          <a:p>
            <a:r>
              <a:t>Official evidence:</a:t>
            </a:r>
          </a:p>
          <a:p>
            <a:r>
              <a:t>S03 — On-demand penetration testing generally available: https://aws.amazon.com/about-aws/whats-new/2026/03/aws-security-agent-ondemand-penetration/</a:t>
            </a:r>
          </a:p>
          <a:p>
            <a:r>
              <a:t>S05 — Pricing and billing: https://docs.aws.amazon.com/securityagent/latest/userguide/pricing.html</a:t>
            </a:r>
          </a:p>
          <a:p>
            <a:r>
              <a:t>S28 — Run penetration tests from CI/CD: https://docs.aws.amazon.com/securityagent/latest/userguide/cicd-pentest.html</a:t>
            </a:r>
          </a:p>
          <a:p>
            <a:r>
              <a:t>S29 — GitHub Actions scoped-pentest tutorial: https://docs.aws.amazon.com/securityagent/latest/userguide/sample-cicd-github.html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02:00–03:15; allocated 01:15.</a:t>
            </a:r>
          </a:p>
          <a:p/>
          <a:p>
            <a:r>
              <a:t>The illustrative application has tenant-specific administration endpoints. The team wants to know whether an ordinary test identity can affect another tenant. No actual vulnerability is asserted here. Define dedicated tenants and identities, use synthetic data and keep all actions within the authorized staging scope. A useful result contains evidence and a clear affected path; closure requires a deployed fix and a focused reassessment.</a:t>
            </a:r>
          </a:p>
          <a:p/>
          <a:p>
            <a:r>
              <a:t>Official evidence:</a:t>
            </a:r>
          </a:p>
          <a:p>
            <a:r>
              <a:t>S08 — Create a penetration test: https://docs.aws.amazon.com/securityagent/latest/userguide/perform-penetration-test.html</a:t>
            </a:r>
          </a:p>
          <a:p>
            <a:r>
              <a:t>S12 — Review penetration-test findings: https://docs.aws.amazon.com/securityagent/latest/userguide/review-penetration-findings.html</a:t>
            </a:r>
          </a:p>
          <a:p>
            <a:r>
              <a:t>S14 — Revalidate findings: https://docs.aws.amazon.com/securityagent/latest/userguide/revalidate-findings.html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03:15–04:45; allocated 01:30.</a:t>
            </a:r>
          </a:p>
          <a:p/>
          <a:p>
            <a:r>
              <a:t>Domain verification is a product prerequisite, not a substitute for organizational authorization. Scope must cover the target, identities and any third-party or downstream services that might be exercised. A sandboxed worker can still mutate the application it reaches. Isolate the target data and disable payment, notification and other irreversible side effects. Assign a human stop owner with independent visibility of target health.</a:t>
            </a:r>
          </a:p>
          <a:p/>
          <a:p>
            <a:r>
              <a:t>Official evidence:</a:t>
            </a:r>
          </a:p>
          <a:p>
            <a:r>
              <a:t>S08 — Create a penetration test: https://docs.aws.amazon.com/securityagent/latest/userguide/perform-penetration-test.html</a:t>
            </a:r>
          </a:p>
          <a:p>
            <a:r>
              <a:t>S09 — Provide testing credentials: https://docs.aws.amazon.com/securityagent/latest/userguide/provide-testing-credentials.html</a:t>
            </a:r>
          </a:p>
          <a:p>
            <a:r>
              <a:t>S10 — Security best practices: https://docs.aws.amazon.com/securityagent/latest/userguide/security-best-practices.html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04:45–06:00; allocated 01:15.</a:t>
            </a:r>
          </a:p>
          <a:p/>
          <a:p>
            <a:r>
              <a:t>Choose the risk model deliberately: the default Web application scope covers web and API risks; Gen AI application focuses on LLM-backed surfaces. Gen AI scope uses a fixed set of risk types rather than the web scope’s risk exclusions. Match source and API context to the deployed revision. Test dedicated credentials before the assessment and review discovered domains. Target domains may be tested, accessible domains support navigation without attack, and out-of-scope domains must not be accessed. Private deployments require the configured VPC path.</a:t>
            </a:r>
          </a:p>
          <a:p/>
          <a:p>
            <a:r>
              <a:t>Official evidence:</a:t>
            </a:r>
          </a:p>
          <a:p>
            <a:r>
              <a:t>S08 — Create a penetration test: https://docs.aws.amazon.com/securityagent/latest/userguide/perform-penetration-test.html</a:t>
            </a:r>
          </a:p>
          <a:p>
            <a:r>
              <a:t>S09 — Provide testing credentials: https://docs.aws.amazon.com/securityagent/latest/userguide/provide-testing-credentials.html</a:t>
            </a:r>
          </a:p>
          <a:p>
            <a:r>
              <a:t>S10 — Security best practices: https://docs.aws.amazon.com/securityagent/latest/userguide/security-best-practices.html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06:00–07:15; allocated 01:15.</a:t>
            </a:r>
          </a:p>
          <a:p/>
          <a:p>
            <a:r>
              <a:t>Task hours measure cumulative agent work, including parallel activity; they are not wall-clock minutes. A configured maximum task-hours limit stops work and preserves findings, whereas a service quota is not the same spending control. Reaching the run limit can still yield a Completed status, so inspect coverage rather than treating that label as a complete assessment. Monitor target health and define a stop owner before starting. The presentation reviews a prepared run rather than waiting for a full test.</a:t>
            </a:r>
          </a:p>
          <a:p/>
          <a:p>
            <a:r>
              <a:t>Official evidence:</a:t>
            </a:r>
          </a:p>
          <a:p>
            <a:r>
              <a:t>S08 — Create a penetration test: https://docs.aws.amazon.com/securityagent/latest/userguide/perform-penetration-test.html</a:t>
            </a:r>
          </a:p>
          <a:p>
            <a:r>
              <a:t>S12 — Review penetration-test findings: https://docs.aws.amazon.com/securityagent/latest/userguide/review-penetration-findings.html</a:t>
            </a:r>
          </a:p>
          <a:p>
            <a:r>
              <a:t>S05 — Pricing and billing: https://docs.aws.amazon.com/securityagent/latest/userguide/pricing.html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07:15–15:15; allocated 08:00.</a:t>
            </a:r>
          </a:p>
          <a:p/>
          <a:p>
            <a:r>
              <a:t>The eight-minute slot cannot be treated as a guarantee of a complete penetration test. Walk through setup and a completed result rather than waiting for a new scan. A prompt asking the agent to stop at a health threshold is not an independent circuit breaker; the operator and environment controls enforce the safety plan. Do not execute reproduction material against any target outside the authorized scope.</a:t>
            </a:r>
          </a:p>
          <a:p/>
          <a:p>
            <a:r>
              <a:t>Official evidence:</a:t>
            </a:r>
          </a:p>
          <a:p>
            <a:r>
              <a:t>S08 — Create a penetration test: https://docs.aws.amazon.com/securityagent/latest/userguide/perform-penetration-test.html</a:t>
            </a:r>
          </a:p>
          <a:p>
            <a:r>
              <a:t>S09 — Provide testing credentials: https://docs.aws.amazon.com/securityagent/latest/userguide/provide-testing-credentials.html</a:t>
            </a:r>
          </a:p>
          <a:p>
            <a:r>
              <a:t>S10 — Security best practices: https://docs.aws.amazon.com/securityagent/latest/userguide/security-best-practices.html</a:t>
            </a:r>
          </a:p>
          <a:p>
            <a:r>
              <a:t>S12 — Review penetration-test findings: https://docs.aws.amazon.com/securityagent/latest/userguide/review-penetration-findings.html</a:t>
            </a:r>
          </a:p>
          <a:p/>
          <a:p>
            <a:r>
              <a:t>Preflight: Prepare a disposable staging app, independent health monitoring, a completed test and a named stop owner.</a:t>
            </a:r>
          </a:p>
          <a:p/>
          <a:p>
            <a:r>
              <a:t>Prompt: Prepare the approved staging assessment with dedicated test accounts, explicit target and network scope, and the agreed work budget. Exclude payment and notification side effects through environment controls. The operator will monitor health and stop the job if the agreed threshold is crossed.</a:t>
            </a:r>
          </a:p>
          <a:p/>
          <a:p>
            <a:r>
              <a:t>Runbook:</a:t>
            </a:r>
          </a:p>
          <a:p>
            <a:r>
              <a:t>01:00 — Verify authorization: Show target ownership, test window and dedicated identities.</a:t>
            </a:r>
          </a:p>
          <a:p>
            <a:r>
              <a:t>01:30 — Inspect context: Match source/deployment version, credentials and private reachability.</a:t>
            </a:r>
          </a:p>
          <a:p>
            <a:r>
              <a:t>01:30 — Inspect limits: Show work budget, exclusions and the stop procedure.</a:t>
            </a:r>
          </a:p>
          <a:p>
            <a:r>
              <a:t>02:00 — Observe a run: Use the prepared run view; correlate logs with target health.</a:t>
            </a:r>
          </a:p>
          <a:p>
            <a:r>
              <a:t>02:00 — Review one finding: Read impact, reproduction evidence, coverage and the next engineering action.</a:t>
            </a:r>
          </a:p>
          <a:p/>
          <a:p>
            <a:r>
              <a:t>Success: An authorized, bounded run and one inspectable evidence package; no claim of complete coverage.</a:t>
            </a:r>
          </a:p>
          <a:p/>
          <a:p>
            <a:r>
              <a:t>Fallback: Use a sanitized completed run if setup or job latency prevents a live view. Label illustrative findings clearly.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15:15–16:45; allocated 01:30.</a:t>
            </a:r>
          </a:p>
          <a:p/>
          <a:p>
            <a:r>
              <a:t>A finding should let a reviewer understand the affected behavior, the identity used, the observed result and the conditions needed to reproduce it. Inspect the action trace and the reported impact. Coverage matters: a clean result on an authenticated path does not establish that all other paths were tested. Accept or reject the finding on its evidence and business context, not on the severity label alone.</a:t>
            </a:r>
          </a:p>
          <a:p/>
          <a:p>
            <a:r>
              <a:t>Official evidence:</a:t>
            </a:r>
          </a:p>
          <a:p>
            <a:r>
              <a:t>S12 — Review penetration-test findings: https://docs.aws.amazon.com/securityagent/latest/userguide/review-penetration-findings.html</a:t>
            </a:r>
          </a:p>
          <a:p>
            <a:r>
              <a:t>S10 — Security best practices: https://docs.aws.amazon.com/securityagent/latest/userguide/security-best-practices.html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16:45–18:15; allocated 01:30.</a:t>
            </a:r>
          </a:p>
          <a:p/>
          <a:p>
            <a:r>
              <a:t>Automatic or requested remediation creates code for review. Delivery depends on the source and provider: a connected private repository can receive a pull or merge request, while an S3 source can receive a diff. Public repository handling has disclosure restrictions, so do not promise a universal remediation PR. Test the change, preserve unrelated behavior and use normal deployment controls. A generated patch does not establish that the vulnerability is resolved.</a:t>
            </a:r>
          </a:p>
          <a:p/>
          <a:p>
            <a:r>
              <a:t>Official evidence:</a:t>
            </a:r>
          </a:p>
          <a:p>
            <a:r>
              <a:t>S13 — Enable finding remediation: https://docs.aws.amazon.com/securityagent/latest/userguide/enable-remediate-findings.html</a:t>
            </a:r>
          </a:p>
          <a:p>
            <a:r>
              <a:t>S25 — Remediate code-review findings: https://docs.aws.amazon.com/securityagent/latest/userguide/remediate-code-scan-findings.html</a:t>
            </a:r>
          </a:p>
          <a:p>
            <a:r>
              <a:t>S32 — Remediate a penetration-test finding: https://docs.aws.amazon.com/securityagent/latest/userguide/remediate-finding.html</a:t>
            </a:r>
          </a:p>
          <a:p>
            <a:r>
              <a:t>S10 — Security best practices: https://docs.aws.amazon.com/securityagent/latest/userguide/security-best-practices.html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18:15–19:30; allocated 01:15.</a:t>
            </a:r>
          </a:p>
          <a:p/>
          <a:p>
            <a:r>
              <a:t>Revalidation is a focused reassessment, not a new broad discovery scan. The fix must already be deployed to the original target for the result to be meaningful. The result does not overwrite the historical finding. Preserve the original evidence and the linked revalidation attempt. Broad architectural or application changes may justify a full new penetration test instead of relying only on selected findings.</a:t>
            </a:r>
          </a:p>
          <a:p/>
          <a:p>
            <a:r>
              <a:t>Official evidence:</a:t>
            </a:r>
          </a:p>
          <a:p>
            <a:r>
              <a:t>S14 — Revalidate findings: https://docs.aws.amazon.com/securityagent/latest/userguide/revalidate-findings.html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19:30–20:30; allocated 01:00.</a:t>
            </a:r>
          </a:p>
          <a:p/>
          <a:p>
            <a:r>
              <a:t>Generate the report from the selected penetration-test run and choose the severity, confidence, status and finding-type filters. Optional compliance-oriented sections and annotations preserve useful context, but do not establish certification. A completed run and an interim export have different evidence boundaries. Jira handoff requires a configured supported project. Keep finding identity, remediation links and reassessment status attached to the work item; ticket creation is not closure. Protect vulnerability details according to the intended audience.</a:t>
            </a:r>
          </a:p>
          <a:p/>
          <a:p>
            <a:r>
              <a:t>Official evidence:</a:t>
            </a:r>
          </a:p>
          <a:p>
            <a:r>
              <a:t>S15 — Export a penetration-test report: https://docs.aws.amazon.com/securityagent/latest/userguide/export-penetration-report.html</a:t>
            </a:r>
          </a:p>
          <a:p>
            <a:r>
              <a:t>S16 — Create Jira issues for findings: https://docs.aws.amazon.com/securityagent/latest/userguide/export-findings-to-issue-tracker.html</a:t>
            </a:r>
          </a:p>
          <a:p>
            <a:r>
              <a:t>S14 — Revalidate findings: https://docs.aws.amazon.com/securityagent/latest/userguide/revalidate-findings.html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20:30–21:45; allocated 01:15.</a:t>
            </a:r>
          </a:p>
          <a:p/>
          <a:p>
            <a:r>
              <a:t>Security requirements make the review specific to the organization, such as approved authentication patterns or data-access expectations. Treat them as review criteria rather than an infrastructure enforcement policy. A design assessment is only as complete as its inputs; missing interfaces and trust boundaries should become explicit questions. This capability remains a separately evaluated preview workflow.</a:t>
            </a:r>
          </a:p>
          <a:p/>
          <a:p>
            <a:r>
              <a:t>Official evidence:</a:t>
            </a:r>
          </a:p>
          <a:p>
            <a:r>
              <a:t>S17 — Perform a design review: https://docs.aws.amazon.com/securityagent/latest/userguide/perform-design-review.html</a:t>
            </a:r>
          </a:p>
          <a:p>
            <a:r>
              <a:t>S18 — Security requirements: https://docs.aws.amazon.com/securityagent/latest/userguide/security-requirements.html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21:45–22:45; allocated 01:00.</a:t>
            </a:r>
          </a:p>
          <a:p/>
          <a:p>
            <a:r>
              <a:t>A threat model is useful when the team recognizes its assets, data flows and trust boundaries. Provide both design scope and current source when that helps focus the assessment. The reviewer should correct the system overview before treating the resulting threats as exhaustive. Keep threat-model recommendations distinct from observed exploitable findings in a running penetration test.</a:t>
            </a:r>
          </a:p>
          <a:p/>
          <a:p>
            <a:r>
              <a:t>Official evidence:</a:t>
            </a:r>
          </a:p>
          <a:p>
            <a:r>
              <a:t>S31 — Threat modeling quickstart: https://docs.aws.amazon.com/securityagent/latest/userguide/quickstart-threat-model.html</a:t>
            </a:r>
          </a:p>
          <a:p>
            <a:r>
              <a:t>S05 — Pricing and billing: https://docs.aws.amazon.com/securityagent/latest/userguide/pricing.html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22:45–24:15; allocated 01:30.</a:t>
            </a:r>
          </a:p>
          <a:p/>
          <a:p>
            <a:r>
              <a:t>Repository review, change-triggered review and remediation answer different questions. PR/MR trigger filters can use target branches, events and provider-supported labels; filter groups replace the default trigger. Review comments and remediation are separate capabilities. The documented manual review comment is @AWS-Continuum-Pentesting review. Do not copy another agent’s review command or assume provider parity. Inspect findings, supported source paths and normal CI evidence before accepting a proposed repair. The code-review workflow remains preview.</a:t>
            </a:r>
          </a:p>
          <a:p/>
          <a:p>
            <a:r>
              <a:t>Official evidence:</a:t>
            </a:r>
          </a:p>
          <a:p>
            <a:r>
              <a:t>S21 — Perform a full code review: https://docs.aws.amazon.com/securityagent/latest/userguide/perform-code-review-scan.html</a:t>
            </a:r>
          </a:p>
          <a:p>
            <a:r>
              <a:t>S24 — Configure code-review triggers: https://docs.aws.amazon.com/securityagent/latest/userguide/configure-code-review-triggers.html</a:t>
            </a:r>
          </a:p>
          <a:p>
            <a:r>
              <a:t>S25 — Remediate code-review findings: https://docs.aws.amazon.com/securityagent/latest/userguide/remediate-code-scan-findings.html</a:t>
            </a:r>
          </a:p>
          <a:p>
            <a:r>
              <a:t>S05 — Pricing and billing: https://docs.aws.amazon.com/securityagent/latest/userguide/pricing.html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24:15–25:30; allocated 01:15.</a:t>
            </a:r>
          </a:p>
          <a:p/>
          <a:p>
            <a:r>
              <a:t>The documented S3 differential-review workflow uses uploaded source and diff context. Record the base and head revisions, approved bucket and role, scan identifier and returned findings. Review the source payload for secrets and unnecessary content before submission. A scan result is not itself authorization to merge or deploy; the promotion rule is a separately proposed team control.</a:t>
            </a:r>
          </a:p>
          <a:p/>
          <a:p>
            <a:r>
              <a:t>Official evidence:</a:t>
            </a:r>
          </a:p>
          <a:p>
            <a:r>
              <a:t>S27 — Run a differential code scan with S3: https://docs.aws.amazon.com/securityagent/latest/userguide/run-diff-scan-s3.html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25:30–27:00; allocated 01:30.</a:t>
            </a:r>
          </a:p>
          <a:p/>
          <a:p>
            <a:r>
              <a:t>The pipeline integration is a post-deployment test, not a pre-merge code scan. It assesses the configured deployed change. A scoped-out result can pass without exercising a new attack surface, and infrastructure errors can be configured fail-open. The documented defaults therefore need explicit review. A passing run can also advance the baseline, so tightening the policy later does not necessarily revisit earlier accepted commits. This is a reason to verify the exact gate contract before using it for production sign-off.</a:t>
            </a:r>
          </a:p>
          <a:p/>
          <a:p>
            <a:r>
              <a:t>Official evidence:</a:t>
            </a:r>
          </a:p>
          <a:p>
            <a:r>
              <a:t>S28 — Run penetration tests from CI/CD: https://docs.aws.amazon.com/securityagent/latest/userguide/cicd-pentest.html</a:t>
            </a:r>
          </a:p>
          <a:p>
            <a:r>
              <a:t>S29 — GitHub Actions scoped-pentest tutorial: https://docs.aws.amazon.com/securityagent/latest/userguide/sample-cicd-github.html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27:00–28:30; allocated 01:30.</a:t>
            </a:r>
          </a:p>
          <a:p/>
          <a:p>
            <a:r>
              <a:t>Use one owned application to establish the entire operating loop. Check Region and inference behavior separately from feature availability. Measure confirmed findings, rejected or unsupported claims, reviewer effort, task consumption and successful fix closure. Track which critical paths were exercised and what remains unknown. Do not report a finding count as a security improvement unless the team has assessed and acted on it.</a:t>
            </a:r>
          </a:p>
          <a:p/>
          <a:p>
            <a:r>
              <a:t>Official evidence:</a:t>
            </a:r>
          </a:p>
          <a:p>
            <a:r>
              <a:t>S10 — Security best practices: https://docs.aws.amazon.com/securityagent/latest/userguide/security-best-practices.html</a:t>
            </a:r>
          </a:p>
          <a:p>
            <a:r>
              <a:t>S12 — Review penetration-test findings: https://docs.aws.amazon.com/securityagent/latest/userguide/review-penetration-findings.html</a:t>
            </a:r>
          </a:p>
          <a:p>
            <a:r>
              <a:t>S14 — Revalidate findings: https://docs.aws.amazon.com/securityagent/latest/userguide/revalidate-findings.html</a:t>
            </a:r>
          </a:p>
          <a:p>
            <a:r>
              <a:t>S30 — Resilience and regional availability: https://docs.aws.amazon.com/securityagent/latest/userguide/resilience.html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28:30–30:00; allocated 01:30.</a:t>
            </a:r>
          </a:p>
          <a:p/>
          <a:p>
            <a:r>
              <a:t>Close by distinguishing four things: a design concern, a source-code finding, an observed penetration-test finding and a verified repair. Each has a different evidence requirement. The team should adopt the first workflow it can operate safely and measure end to end, not every available preview at once. Questions come after the timed close. The feature crosswalk retains all 18 capability entries and their original qualifications for deeper reference.</a:t>
            </a:r>
          </a:p>
          <a:p/>
          <a:p>
            <a:r>
              <a:t>Official evidence:</a:t>
            </a:r>
          </a:p>
          <a:p>
            <a:r>
              <a:t>S10 — Security best practices: https://docs.aws.amazon.com/securityagent/latest/userguide/security-best-practices.html</a:t>
            </a:r>
          </a:p>
          <a:p>
            <a:r>
              <a:t>S14 — Revalidate findings: https://docs.aws.amazon.com/securityagent/latest/userguide/revalidate-findings.html</a:t>
            </a:r>
          </a:p>
          <a:p>
            <a:r>
              <a:t>S05 — Pricing and billing: https://docs.aws.amazon.com/securityagent/latest/userguide/pricing.html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S03 — On-demand penetration testing generally available: https://aws.amazon.com/about-aws/whats-new/2026/03/aws-security-agent-ondemand-penetration/</a:t>
            </a:r>
          </a:p>
          <a:p>
            <a:r>
              <a:t>S06 — Set up AWS Security Agent: https://docs.aws.amazon.com/securityagent/latest/userguide/setup-security-agent.html</a:t>
            </a:r>
          </a:p>
          <a:p>
            <a:r>
              <a:t>S07 — Enable a target domain: https://docs.aws.amazon.com/securityagent/latest/userguide/enable-test-domain.html</a:t>
            </a:r>
          </a:p>
          <a:p>
            <a:r>
              <a:t>S10 — Security best practices: https://docs.aws.amazon.com/securityagent/latest/userguide/security-best-practices.html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S09 — Provide testing credentials: https://docs.aws.amazon.com/securityagent/latest/userguide/provide-testing-credentials.html</a:t>
            </a:r>
          </a:p>
          <a:p>
            <a:r>
              <a:t>S08 — Create a penetration test: https://docs.aws.amazon.com/securityagent/latest/userguide/perform-penetration-test.html</a:t>
            </a:r>
          </a:p>
          <a:p>
            <a:r>
              <a:t>S10 — Security best practices: https://docs.aws.amazon.com/securityagent/latest/userguide/security-best-practices.html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S08 — Create a penetration test: https://docs.aws.amazon.com/securityagent/latest/userguide/perform-penetration-test.html</a:t>
            </a:r>
          </a:p>
          <a:p>
            <a:r>
              <a:t>S11 — Security considerations and FAQs: https://docs.aws.amazon.com/securityagent/latest/userguide/security-guidance.html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S08 — Create a penetration test: https://docs.aws.amazon.com/securityagent/latest/userguide/perform-penetration-test.html</a:t>
            </a:r>
          </a:p>
          <a:p>
            <a:r>
              <a:t>S05 — Pricing and billing: https://docs.aws.amazon.com/securityagent/latest/userguide/pricing.html</a:t>
            </a:r>
          </a:p>
          <a:p>
            <a:r>
              <a:t>S11 — Security considerations and FAQs: https://docs.aws.amazon.com/securityagent/latest/userguide/security-guidance.html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S12 — Review penetration-test findings: https://docs.aws.amazon.com/securityagent/latest/userguide/review-penetration-findings.html</a:t>
            </a:r>
          </a:p>
          <a:p>
            <a:r>
              <a:t>S10 — Security best practices: https://docs.aws.amazon.com/securityagent/latest/userguide/security-best-practices.html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S13 — Enable finding remediation: https://docs.aws.amazon.com/securityagent/latest/userguide/enable-remediate-findings.html</a:t>
            </a:r>
          </a:p>
          <a:p>
            <a:r>
              <a:t>S10 — Security best practices: https://docs.aws.amazon.com/securityagent/latest/userguide/security-best-practices.html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S14 — Revalidate findings: https://docs.aws.amazon.com/securityagent/latest/userguide/revalidate-findings.html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S15 — Export a penetration-test report: https://docs.aws.amazon.com/securityagent/latest/userguide/export-penetration-report.html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S16 — Create Jira issues for findings: https://docs.aws.amazon.com/securityagent/latest/userguide/export-findings-to-issue-tracker.html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S17 — Perform a design review: https://docs.aws.amazon.com/securityagent/latest/userguide/perform-design-review.html</a:t>
            </a:r>
          </a:p>
          <a:p>
            <a:r>
              <a:t>S05 — Pricing and billing: https://docs.aws.amazon.com/securityagent/latest/userguide/pricing.html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S18 — Security requirements: https://docs.aws.amazon.com/securityagent/latest/userguide/security-requirements.html</a:t>
            </a:r>
          </a:p>
          <a:p>
            <a:r>
              <a:t>S19 — Import security requirements: https://docs.aws.amazon.com/securityagent/latest/userguide/import-security-requirements.html</a:t>
            </a:r>
          </a:p>
          <a:p>
            <a:r>
              <a:t>S05 — Pricing and billing: https://docs.aws.amazon.com/securityagent/latest/userguide/pricing.html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S20 — Perform threat modeling: https://docs.aws.amazon.com/securityagent/latest/userguide/perform-threat-model.html</a:t>
            </a:r>
          </a:p>
          <a:p>
            <a:r>
              <a:t>S05 — Pricing and billing: https://docs.aws.amazon.com/securityagent/latest/userguide/pricing.html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S21 — Perform a full code review: https://docs.aws.amazon.com/securityagent/latest/userguide/perform-code-review-scan.html</a:t>
            </a:r>
          </a:p>
          <a:p>
            <a:r>
              <a:t>S22 — Review code-scan findings: https://docs.aws.amazon.com/securityagent/latest/userguide/review-code-scan-findings.html</a:t>
            </a:r>
          </a:p>
          <a:p>
            <a:r>
              <a:t>S04 — What is AWS Security Agent?: https://docs.aws.amazon.com/securityagent/latest/userguide/what-is.html</a:t>
            </a:r>
          </a:p>
          <a:p>
            <a:r>
              <a:t>S05 — Pricing and billing: https://docs.aws.amazon.com/securityagent/latest/userguide/pricing.html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S23 — Review findings in pull requests: https://docs.aws.amazon.com/securityagent/latest/userguide/review-code-findings-github.html</a:t>
            </a:r>
          </a:p>
          <a:p>
            <a:r>
              <a:t>S24 — Configure code-review triggers: https://docs.aws.amazon.com/securityagent/latest/userguide/configure-code-review-triggers.html</a:t>
            </a:r>
          </a:p>
          <a:p>
            <a:r>
              <a:t>S05 — Pricing and billing: https://docs.aws.amazon.com/securityagent/latest/userguide/pricing.html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S25 — Remediate code-review findings: https://docs.aws.amazon.com/securityagent/latest/userguide/remediate-code-scan-findings.html</a:t>
            </a:r>
          </a:p>
          <a:p>
            <a:r>
              <a:t>S05 — Pricing and billing: https://docs.aws.amazon.com/securityagent/latest/userguide/pricing.html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S27 — Run a differential code scan with S3: https://docs.aws.amazon.com/securityagent/latest/userguide/run-diff-scan-s3.html</a:t>
            </a:r>
          </a:p>
          <a:p>
            <a:r>
              <a:t>S05 — Pricing and billing: https://docs.aws.amazon.com/securityagent/latest/userguide/pricing.html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S28 — Run penetration tests from CI/CD: https://docs.aws.amazon.com/securityagent/latest/userguide/cicd-pentest.html</a:t>
            </a:r>
          </a:p>
          <a:p>
            <a:r>
              <a:t>S29 — GitHub Actions scoped-pentest tutorial: https://docs.aws.amazon.com/securityagent/latest/userguide/sample-cicd-github.html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This appendix is outside the timed session. All source URLs are listed below and in the relevant slide notes. No live workflow or measured benefit is claimed.</a:t>
            </a:r>
          </a:p>
          <a:p/>
          <a:p>
            <a:r>
              <a:t>Official evidence:</a:t>
            </a:r>
          </a:p>
          <a:p>
            <a:r>
              <a:t>S03 — On-demand penetration testing generally available: https://aws.amazon.com/about-aws/whats-new/2026/03/aws-security-agent-ondemand-penetration/</a:t>
            </a:r>
          </a:p>
          <a:p>
            <a:r>
              <a:t>S04 — What is AWS Security Agent?: https://docs.aws.amazon.com/securityagent/latest/userguide/what-is.html</a:t>
            </a:r>
          </a:p>
          <a:p>
            <a:r>
              <a:t>S05 — Pricing and billing: https://docs.aws.amazon.com/securityagent/latest/userguide/pricing.html</a:t>
            </a:r>
          </a:p>
          <a:p>
            <a:r>
              <a:t>S08 — Create a penetration test: https://docs.aws.amazon.com/securityagent/latest/userguide/perform-penetration-test.html</a:t>
            </a:r>
          </a:p>
          <a:p>
            <a:r>
              <a:t>S09 — Provide testing credentials: https://docs.aws.amazon.com/securityagent/latest/userguide/provide-testing-credentials.html</a:t>
            </a:r>
          </a:p>
          <a:p>
            <a:r>
              <a:t>S10 — Security best practices: https://docs.aws.amazon.com/securityagent/latest/userguide/security-best-practices.html</a:t>
            </a:r>
          </a:p>
          <a:p>
            <a:r>
              <a:t>S12 — Review penetration-test findings: https://docs.aws.amazon.com/securityagent/latest/userguide/review-penetration-findings.html</a:t>
            </a:r>
          </a:p>
          <a:p>
            <a:r>
              <a:t>S13 — Enable finding remediation: https://docs.aws.amazon.com/securityagent/latest/userguide/enable-remediate-findings.html</a:t>
            </a:r>
          </a:p>
          <a:p>
            <a:r>
              <a:t>S14 — Revalidate findings: https://docs.aws.amazon.com/securityagent/latest/userguide/revalidate-findings.html</a:t>
            </a:r>
          </a:p>
          <a:p>
            <a:r>
              <a:t>S16 — Create Jira issues for findings: https://docs.aws.amazon.com/securityagent/latest/userguide/export-findings-to-issue-tracker.html</a:t>
            </a:r>
          </a:p>
          <a:p>
            <a:r>
              <a:t>S17 — Perform a design review: https://docs.aws.amazon.com/securityagent/latest/userguide/perform-design-review.html</a:t>
            </a:r>
          </a:p>
          <a:p>
            <a:r>
              <a:t>S18 — Security requirements: https://docs.aws.amazon.com/securityagent/latest/userguide/security-requirements.html</a:t>
            </a:r>
          </a:p>
          <a:p>
            <a:r>
              <a:t>S21 — Perform a full code review: https://docs.aws.amazon.com/securityagent/latest/userguide/perform-code-review-scan.html</a:t>
            </a:r>
          </a:p>
          <a:p>
            <a:r>
              <a:t>S24 — Configure code-review triggers: https://docs.aws.amazon.com/securityagent/latest/userguide/configure-code-review-triggers.html</a:t>
            </a:r>
          </a:p>
          <a:p>
            <a:r>
              <a:t>S25 — Remediate code-review findings: https://docs.aws.amazon.com/securityagent/latest/userguide/remediate-code-scan-findings.html</a:t>
            </a:r>
          </a:p>
          <a:p>
            <a:r>
              <a:t>S27 — Run a differential code scan with S3: https://docs.aws.amazon.com/securityagent/latest/userguide/run-diff-scan-s3.html</a:t>
            </a:r>
          </a:p>
          <a:p>
            <a:r>
              <a:t>S28 — Run penetration tests from CI/CD: https://docs.aws.amazon.com/securityagent/latest/userguide/cicd-pentest.html</a:t>
            </a:r>
          </a:p>
          <a:p>
            <a:r>
              <a:t>S29 — GitHub Actions scoped-pentest tutorial: https://docs.aws.amazon.com/securityagent/latest/userguide/sample-cicd-github.html</a:t>
            </a:r>
          </a:p>
          <a:p>
            <a:r>
              <a:t>S30 — Resilience and regional availability: https://docs.aws.amazon.com/securityagent/latest/userguide/resilience.html</a:t>
            </a:r>
          </a:p>
          <a:p>
            <a:r>
              <a:t>S31 — Threat modeling quickstart: https://docs.aws.amazon.com/securityagent/latest/userguide/quickstart-threat-model.html</a:t>
            </a:r>
          </a:p>
          <a:p>
            <a:r>
              <a:t>S32 — Remediate a penetration-test finding: https://docs.aws.amazon.com/securityagent/latest/userguide/remediate-finding.html</a:t>
            </a:r>
          </a:p>
          <a:p>
            <a:r>
              <a:t>S15 — Export a penetration-test report: https://docs.aws.amazon.com/securityagent/latest/userguide/export-penetration-report.html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hyperlink" Target="https://aws.amazon.com/about-aws/whats-new/2026/03/aws-security-agent-ondemand-penetration/" TargetMode="External"/><Relationship Id="rId4" Type="http://schemas.openxmlformats.org/officeDocument/2006/relationships/hyperlink" Target="https://docs.aws.amazon.com/securityagent/latest/userguide/what-is.html" TargetMode="External"/><Relationship Id="rId5" Type="http://schemas.openxmlformats.org/officeDocument/2006/relationships/hyperlink" Target="https://docs.aws.amazon.com/securityagent/latest/userguide/pricing.html" TargetMode="External"/><Relationship Id="rId6" Type="http://schemas.openxmlformats.org/officeDocument/2006/relationships/hyperlink" Target="https://docs.aws.amazon.com/securityagent/latest/userguide/perform-penetration-test.html" TargetMode="External"/><Relationship Id="rId7" Type="http://schemas.openxmlformats.org/officeDocument/2006/relationships/hyperlink" Target="https://docs.aws.amazon.com/securityagent/latest/userguide/provide-testing-credentials.html" TargetMode="External"/><Relationship Id="rId8" Type="http://schemas.openxmlformats.org/officeDocument/2006/relationships/hyperlink" Target="https://docs.aws.amazon.com/securityagent/latest/userguide/security-best-practices.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POSITION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AWS Security Agent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Application-security evidence from design review to deployed-fix revalidation.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00:45 allocated  |  00:00–00:45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S04, S03, S05</a:t>
            </a:r>
          </a:p>
        </p:txBody>
      </p:sp>
      <p:sp>
        <p:nvSpPr>
          <p:cNvPr id="10" name="Rounded Rectangle 9"/>
          <p:cNvSpPr/>
          <p:nvPr/>
        </p:nvSpPr>
        <p:spPr>
          <a:xfrm>
            <a:off x="502920" y="2331720"/>
            <a:ext cx="11183112" cy="960120"/>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596896"/>
            <a:ext cx="10698480" cy="411480"/>
          </a:xfrm>
          <a:prstGeom prst="rect">
            <a:avLst/>
          </a:prstGeom>
          <a:noFill/>
        </p:spPr>
        <p:txBody>
          <a:bodyPr wrap="square" lIns="0" rIns="0" tIns="0" bIns="0" anchor="t">
            <a:spAutoFit/>
          </a:bodyPr>
          <a:lstStyle/>
          <a:p>
            <a:pPr>
              <a:lnSpc>
                <a:spcPct val="112000"/>
              </a:lnSpc>
              <a:spcAft>
                <a:spcPts val="300"/>
              </a:spcAft>
              <a:defRPr sz="2500" b="1">
                <a:solidFill>
                  <a:srgbClr val="FFFFFF"/>
                </a:solidFill>
                <a:latin typeface="Arial"/>
              </a:defRPr>
            </a:pPr>
            <a:r>
              <a:t>Authorize → assess → triage → repair → revalidate</a:t>
            </a:r>
          </a:p>
        </p:txBody>
      </p:sp>
      <p:sp>
        <p:nvSpPr>
          <p:cNvPr id="12" name="Rounded Rectangle 11"/>
          <p:cNvSpPr/>
          <p:nvPr/>
        </p:nvSpPr>
        <p:spPr>
          <a:xfrm>
            <a:off x="502920"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167259"/>
                </a:solidFill>
                <a:latin typeface="Arial"/>
              </a:defRPr>
            </a:pPr>
            <a:r>
              <a:t>30 min</a:t>
            </a:r>
          </a:p>
        </p:txBody>
      </p:sp>
      <p:sp>
        <p:nvSpPr>
          <p:cNvPr id="14" name="TextBox 13"/>
          <p:cNvSpPr txBox="1"/>
          <p:nvPr/>
        </p:nvSpPr>
        <p:spPr>
          <a:xfrm>
            <a:off x="704088"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session, including demo</a:t>
            </a:r>
          </a:p>
        </p:txBody>
      </p:sp>
      <p:sp>
        <p:nvSpPr>
          <p:cNvPr id="15" name="Rounded Rectangle 14"/>
          <p:cNvSpPr/>
          <p:nvPr/>
        </p:nvSpPr>
        <p:spPr>
          <a:xfrm>
            <a:off x="4288536"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9703"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167259"/>
                </a:solidFill>
                <a:latin typeface="Arial"/>
              </a:defRPr>
            </a:pPr>
            <a:r>
              <a:t>8 min</a:t>
            </a:r>
          </a:p>
        </p:txBody>
      </p:sp>
      <p:sp>
        <p:nvSpPr>
          <p:cNvPr id="17" name="TextBox 16"/>
          <p:cNvSpPr txBox="1"/>
          <p:nvPr/>
        </p:nvSpPr>
        <p:spPr>
          <a:xfrm>
            <a:off x="4489703"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controlled demo walkthrough</a:t>
            </a:r>
          </a:p>
        </p:txBody>
      </p:sp>
      <p:sp>
        <p:nvSpPr>
          <p:cNvPr id="18" name="Rounded Rectangle 17"/>
          <p:cNvSpPr/>
          <p:nvPr/>
        </p:nvSpPr>
        <p:spPr>
          <a:xfrm>
            <a:off x="8074152"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75320"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167259"/>
                </a:solidFill>
                <a:latin typeface="Arial"/>
              </a:defRPr>
            </a:pPr>
            <a:r>
              <a:t>1 app</a:t>
            </a:r>
          </a:p>
        </p:txBody>
      </p:sp>
      <p:sp>
        <p:nvSpPr>
          <p:cNvPr id="20" name="TextBox 19"/>
          <p:cNvSpPr txBox="1"/>
          <p:nvPr/>
        </p:nvSpPr>
        <p:spPr>
          <a:xfrm>
            <a:off x="8275320"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recommended first scope</a:t>
            </a:r>
          </a:p>
        </p:txBody>
      </p:sp>
      <p:sp>
        <p:nvSpPr>
          <p:cNvPr id="21" name="TextBox 20"/>
          <p:cNvSpPr txBox="1"/>
          <p:nvPr/>
        </p:nvSpPr>
        <p:spPr>
          <a:xfrm>
            <a:off x="521207" y="5504688"/>
            <a:ext cx="11064240" cy="530352"/>
          </a:xfrm>
          <a:prstGeom prst="rect">
            <a:avLst/>
          </a:prstGeom>
          <a:noFill/>
        </p:spPr>
        <p:txBody>
          <a:bodyPr wrap="square" lIns="0" rIns="0" tIns="0" bIns="0" anchor="t">
            <a:spAutoFit/>
          </a:bodyPr>
          <a:lstStyle/>
          <a:p>
            <a:pPr>
              <a:lnSpc>
                <a:spcPct val="112000"/>
              </a:lnSpc>
              <a:spcAft>
                <a:spcPts val="300"/>
              </a:spcAft>
              <a:defRPr sz="1700" b="0">
                <a:solidFill>
                  <a:srgbClr val="55657A"/>
                </a:solidFill>
                <a:latin typeface="Arial"/>
              </a:defRPr>
            </a:pPr>
            <a:r>
              <a:t>On-demand penetration testing: GA. Design review, threat modeling, code review and CI/CD integration are separate preview capabilities.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Feature availability differs by security workflow</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Use the feature’s own maturity and execution boundary.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00:45–02:00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S03, S05, S28, S29</a:t>
            </a:r>
          </a:p>
        </p:txBody>
      </p:sp>
      <p:sp>
        <p:nvSpPr>
          <p:cNvPr id="10" name="Rounded Rectangle 9"/>
          <p:cNvSpPr/>
          <p:nvPr/>
        </p:nvSpPr>
        <p:spPr>
          <a:xfrm>
            <a:off x="50292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PREVIEW</a:t>
            </a:r>
          </a:p>
        </p:txBody>
      </p:sp>
      <p:sp>
        <p:nvSpPr>
          <p:cNvPr id="12" name="TextBox 11"/>
          <p:cNvSpPr txBox="1"/>
          <p:nvPr/>
        </p:nvSpPr>
        <p:spPr>
          <a:xfrm>
            <a:off x="66751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Design review</a:t>
            </a:r>
          </a:p>
        </p:txBody>
      </p:sp>
      <p:sp>
        <p:nvSpPr>
          <p:cNvPr id="13" name="TextBox 12"/>
          <p:cNvSpPr txBox="1"/>
          <p:nvPr/>
        </p:nvSpPr>
        <p:spPr>
          <a:xfrm>
            <a:off x="66751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Assess architecture documents against security requirements.</a:t>
            </a:r>
          </a:p>
        </p:txBody>
      </p:sp>
      <p:sp>
        <p:nvSpPr>
          <p:cNvPr id="14" name="Rounded Rectangle 13"/>
          <p:cNvSpPr/>
          <p:nvPr/>
        </p:nvSpPr>
        <p:spPr>
          <a:xfrm>
            <a:off x="429768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6227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PREVIEW</a:t>
            </a:r>
          </a:p>
        </p:txBody>
      </p:sp>
      <p:sp>
        <p:nvSpPr>
          <p:cNvPr id="16" name="TextBox 15"/>
          <p:cNvSpPr txBox="1"/>
          <p:nvPr/>
        </p:nvSpPr>
        <p:spPr>
          <a:xfrm>
            <a:off x="446227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Threat model</a:t>
            </a:r>
          </a:p>
        </p:txBody>
      </p:sp>
      <p:sp>
        <p:nvSpPr>
          <p:cNvPr id="17" name="TextBox 16"/>
          <p:cNvSpPr txBox="1"/>
          <p:nvPr/>
        </p:nvSpPr>
        <p:spPr>
          <a:xfrm>
            <a:off x="446227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Map system context, threats and mitigation recommendations.</a:t>
            </a:r>
          </a:p>
        </p:txBody>
      </p:sp>
      <p:sp>
        <p:nvSpPr>
          <p:cNvPr id="18" name="Rounded Rectangle 17"/>
          <p:cNvSpPr/>
          <p:nvPr/>
        </p:nvSpPr>
        <p:spPr>
          <a:xfrm>
            <a:off x="809244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PREVIEW</a:t>
            </a:r>
          </a:p>
        </p:txBody>
      </p:sp>
      <p:sp>
        <p:nvSpPr>
          <p:cNvPr id="20" name="TextBox 19"/>
          <p:cNvSpPr txBox="1"/>
          <p:nvPr/>
        </p:nvSpPr>
        <p:spPr>
          <a:xfrm>
            <a:off x="825703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Code review</a:t>
            </a:r>
          </a:p>
        </p:txBody>
      </p:sp>
      <p:sp>
        <p:nvSpPr>
          <p:cNvPr id="21" name="TextBox 20"/>
          <p:cNvSpPr txBox="1"/>
          <p:nvPr/>
        </p:nvSpPr>
        <p:spPr>
          <a:xfrm>
            <a:off x="825703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Review repositories, changes and proposed code fixes.</a:t>
            </a:r>
          </a:p>
        </p:txBody>
      </p:sp>
      <p:sp>
        <p:nvSpPr>
          <p:cNvPr id="22" name="Rounded Rectangle 21"/>
          <p:cNvSpPr/>
          <p:nvPr/>
        </p:nvSpPr>
        <p:spPr>
          <a:xfrm>
            <a:off x="50292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GA</a:t>
            </a:r>
          </a:p>
        </p:txBody>
      </p:sp>
      <p:sp>
        <p:nvSpPr>
          <p:cNvPr id="24" name="TextBox 23"/>
          <p:cNvSpPr txBox="1"/>
          <p:nvPr/>
        </p:nvSpPr>
        <p:spPr>
          <a:xfrm>
            <a:off x="66751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Penetration test</a:t>
            </a:r>
          </a:p>
        </p:txBody>
      </p:sp>
      <p:sp>
        <p:nvSpPr>
          <p:cNvPr id="25" name="TextBox 24"/>
          <p:cNvSpPr txBox="1"/>
          <p:nvPr/>
        </p:nvSpPr>
        <p:spPr>
          <a:xfrm>
            <a:off x="66751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Exercise a configured, authorized running application.</a:t>
            </a:r>
          </a:p>
        </p:txBody>
      </p:sp>
      <p:sp>
        <p:nvSpPr>
          <p:cNvPr id="26" name="Rounded Rectangle 25"/>
          <p:cNvSpPr/>
          <p:nvPr/>
        </p:nvSpPr>
        <p:spPr>
          <a:xfrm>
            <a:off x="429768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6227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PREVIEW</a:t>
            </a:r>
          </a:p>
        </p:txBody>
      </p:sp>
      <p:sp>
        <p:nvSpPr>
          <p:cNvPr id="28" name="TextBox 27"/>
          <p:cNvSpPr txBox="1"/>
          <p:nvPr/>
        </p:nvSpPr>
        <p:spPr>
          <a:xfrm>
            <a:off x="446227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Delivery integration</a:t>
            </a:r>
          </a:p>
        </p:txBody>
      </p:sp>
      <p:sp>
        <p:nvSpPr>
          <p:cNvPr id="29" name="TextBox 28"/>
          <p:cNvSpPr txBox="1"/>
          <p:nvPr/>
        </p:nvSpPr>
        <p:spPr>
          <a:xfrm>
            <a:off x="446227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Run a scoped post-deployment test as a pipeline gate.</a:t>
            </a:r>
          </a:p>
        </p:txBody>
      </p:sp>
      <p:sp>
        <p:nvSpPr>
          <p:cNvPr id="30" name="Rounded Rectangle 29"/>
          <p:cNvSpPr/>
          <p:nvPr/>
        </p:nvSpPr>
        <p:spPr>
          <a:xfrm>
            <a:off x="809244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5703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PENTEST WORKFLOW</a:t>
            </a:r>
          </a:p>
        </p:txBody>
      </p:sp>
      <p:sp>
        <p:nvSpPr>
          <p:cNvPr id="32" name="TextBox 31"/>
          <p:cNvSpPr txBox="1"/>
          <p:nvPr/>
        </p:nvSpPr>
        <p:spPr>
          <a:xfrm>
            <a:off x="825703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Fix verification</a:t>
            </a:r>
          </a:p>
        </p:txBody>
      </p:sp>
      <p:sp>
        <p:nvSpPr>
          <p:cNvPr id="33" name="TextBox 32"/>
          <p:cNvSpPr txBox="1"/>
          <p:nvPr/>
        </p:nvSpPr>
        <p:spPr>
          <a:xfrm>
            <a:off x="825703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Reassess a known finding after a deployed repair.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USE CASE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Use case · assess a tenant-isolation control</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The unit of success is an accepted finding and verified repair—not a severity count.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03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02:00–03:15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S08, S12, S14</a:t>
            </a:r>
          </a:p>
        </p:txBody>
      </p:sp>
      <p:sp>
        <p:nvSpPr>
          <p:cNvPr id="10" name="Rounded Rectangle 9"/>
          <p:cNvSpPr/>
          <p:nvPr/>
        </p:nvSpPr>
        <p:spPr>
          <a:xfrm>
            <a:off x="502920"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SCOPE</a:t>
            </a:r>
          </a:p>
        </p:txBody>
      </p:sp>
      <p:sp>
        <p:nvSpPr>
          <p:cNvPr id="12" name="TextBox 11"/>
          <p:cNvSpPr txBox="1"/>
          <p:nvPr/>
        </p:nvSpPr>
        <p:spPr>
          <a:xfrm>
            <a:off x="667512"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Authorize</a:t>
            </a:r>
          </a:p>
        </p:txBody>
      </p:sp>
      <p:sp>
        <p:nvSpPr>
          <p:cNvPr id="13" name="TextBox 12"/>
          <p:cNvSpPr txBox="1"/>
          <p:nvPr/>
        </p:nvSpPr>
        <p:spPr>
          <a:xfrm>
            <a:off x="667512"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One owned staging application and test window.</a:t>
            </a:r>
          </a:p>
        </p:txBody>
      </p:sp>
      <p:sp>
        <p:nvSpPr>
          <p:cNvPr id="14" name="Rounded Rectangle 13"/>
          <p:cNvSpPr/>
          <p:nvPr/>
        </p:nvSpPr>
        <p:spPr>
          <a:xfrm>
            <a:off x="6195059"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1"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NATIVE</a:t>
            </a:r>
          </a:p>
        </p:txBody>
      </p:sp>
      <p:sp>
        <p:nvSpPr>
          <p:cNvPr id="16" name="TextBox 15"/>
          <p:cNvSpPr txBox="1"/>
          <p:nvPr/>
        </p:nvSpPr>
        <p:spPr>
          <a:xfrm>
            <a:off x="6359651"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Assess</a:t>
            </a:r>
          </a:p>
        </p:txBody>
      </p:sp>
      <p:sp>
        <p:nvSpPr>
          <p:cNvPr id="17" name="TextBox 16"/>
          <p:cNvSpPr txBox="1"/>
          <p:nvPr/>
        </p:nvSpPr>
        <p:spPr>
          <a:xfrm>
            <a:off x="6359651"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Exercise the approved authenticated paths.</a:t>
            </a:r>
          </a:p>
        </p:txBody>
      </p:sp>
      <p:sp>
        <p:nvSpPr>
          <p:cNvPr id="18" name="Rounded Rectangle 17"/>
          <p:cNvSpPr/>
          <p:nvPr/>
        </p:nvSpPr>
        <p:spPr>
          <a:xfrm>
            <a:off x="502920"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APPSEC</a:t>
            </a:r>
          </a:p>
        </p:txBody>
      </p:sp>
      <p:sp>
        <p:nvSpPr>
          <p:cNvPr id="20" name="TextBox 19"/>
          <p:cNvSpPr txBox="1"/>
          <p:nvPr/>
        </p:nvSpPr>
        <p:spPr>
          <a:xfrm>
            <a:off x="667512"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Triage</a:t>
            </a:r>
          </a:p>
        </p:txBody>
      </p:sp>
      <p:sp>
        <p:nvSpPr>
          <p:cNvPr id="21" name="TextBox 20"/>
          <p:cNvSpPr txBox="1"/>
          <p:nvPr/>
        </p:nvSpPr>
        <p:spPr>
          <a:xfrm>
            <a:off x="667512"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Inspect impact, confidence and reproduction evidence.</a:t>
            </a:r>
          </a:p>
        </p:txBody>
      </p:sp>
      <p:sp>
        <p:nvSpPr>
          <p:cNvPr id="22" name="Rounded Rectangle 21"/>
          <p:cNvSpPr/>
          <p:nvPr/>
        </p:nvSpPr>
        <p:spPr>
          <a:xfrm>
            <a:off x="6195059"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9651"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ENGINEERING</a:t>
            </a:r>
          </a:p>
        </p:txBody>
      </p:sp>
      <p:sp>
        <p:nvSpPr>
          <p:cNvPr id="24" name="TextBox 23"/>
          <p:cNvSpPr txBox="1"/>
          <p:nvPr/>
        </p:nvSpPr>
        <p:spPr>
          <a:xfrm>
            <a:off x="6359651"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Close</a:t>
            </a:r>
          </a:p>
        </p:txBody>
      </p:sp>
      <p:sp>
        <p:nvSpPr>
          <p:cNvPr id="25" name="TextBox 24"/>
          <p:cNvSpPr txBox="1"/>
          <p:nvPr/>
        </p:nvSpPr>
        <p:spPr>
          <a:xfrm>
            <a:off x="6359651"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Review the fix, deploy safely, and revalidate.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050" b="1">
                <a:solidFill>
                  <a:srgbClr val="182B43"/>
                </a:solidFill>
                <a:latin typeface="Arial"/>
              </a:defRPr>
            </a:pPr>
            <a:r>
              <a:t>Specify authorization and target effects before testing</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Domain verification does not authorize every reachable dependency.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04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03:15–04:45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S08, S09, S10</a:t>
            </a:r>
          </a:p>
        </p:txBody>
      </p:sp>
      <p:graphicFrame>
        <p:nvGraphicFramePr>
          <p:cNvPr id="10" name="Table 9"/>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Boundary</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Required preparation</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Owner check</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Target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Owned non-production domain and permitted paths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Written scope and dependency exclusions</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Identity</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Dedicated low-privilege test accounts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No real customer or production credentials</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State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Disposable data and disabled business side effects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Recovery plan and health monitoring</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Execution</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Task budget, test window and stop owner</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Operator can observe and stop the run</a:t>
                      </a:r>
                    </a:p>
                  </a:txBody>
                  <a:tcPr marL="128016" marR="128016" marT="82296" marB="54864">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Choose test scope and supply current context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context and credentials match the deployed version under test.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05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04:45–06:00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S08, S09, S10</a:t>
            </a:r>
          </a:p>
        </p:txBody>
      </p:sp>
      <p:sp>
        <p:nvSpPr>
          <p:cNvPr id="10" name="Rounded Rectangle 9"/>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01</a:t>
            </a:r>
          </a:p>
        </p:txBody>
      </p:sp>
      <p:sp>
        <p:nvSpPr>
          <p:cNvPr id="12" name="TextBox 11"/>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3" name="TextBox 12"/>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Authorized target, dedicated test credentials and network scope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Current source/API context; optional private VPC reachability</a:t>
            </a:r>
          </a:p>
        </p:txBody>
      </p:sp>
      <p:sp>
        <p:nvSpPr>
          <p:cNvPr id="14" name="Rounded Rectangle 13"/>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02</a:t>
            </a:r>
          </a:p>
        </p:txBody>
      </p:sp>
      <p:sp>
        <p:nvSpPr>
          <p:cNvPr id="16" name="TextBox 15"/>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7" name="TextBox 16"/>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Select Web application or focused Gen AI application scope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Confirm sign-in and classify target, accessible and excluded domains</a:t>
            </a:r>
          </a:p>
        </p:txBody>
      </p:sp>
      <p:sp>
        <p:nvSpPr>
          <p:cNvPr id="18" name="Rounded Rectangle 17"/>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03</a:t>
            </a:r>
          </a:p>
        </p:txBody>
      </p:sp>
      <p:sp>
        <p:nvSpPr>
          <p:cNvPr id="20" name="TextBox 19"/>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1" name="TextBox 20"/>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scoped assessment matched to the deployed version</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Explicit coverage assumptions and reachable paths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Configure run limits and inspect test effects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task hours are not wall-clock minutes; the operator owns the stop decision.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06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06:00–07:15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S08, S12, S05</a:t>
            </a:r>
          </a:p>
        </p:txBody>
      </p:sp>
      <p:sp>
        <p:nvSpPr>
          <p:cNvPr id="10" name="Rounded Rectangle 9"/>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01</a:t>
            </a:r>
          </a:p>
        </p:txBody>
      </p:sp>
      <p:sp>
        <p:nvSpPr>
          <p:cNvPr id="12" name="TextBox 11"/>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3" name="TextBox 12"/>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Configured penetration test and authorized scope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work budget and a monitored staging deployment</a:t>
            </a:r>
          </a:p>
        </p:txBody>
      </p:sp>
      <p:sp>
        <p:nvSpPr>
          <p:cNvPr id="14" name="Rounded Rectangle 13"/>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02</a:t>
            </a:r>
          </a:p>
        </p:txBody>
      </p:sp>
      <p:sp>
        <p:nvSpPr>
          <p:cNvPr id="16" name="TextBox 15"/>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7" name="TextBox 16"/>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Set a maximum task-hours limit and monitor the run</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Inspect progress, execution logs and emerging findings</a:t>
            </a:r>
          </a:p>
        </p:txBody>
      </p:sp>
      <p:sp>
        <p:nvSpPr>
          <p:cNvPr id="18" name="Rounded Rectangle 17"/>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03</a:t>
            </a:r>
          </a:p>
        </p:txBody>
      </p:sp>
      <p:sp>
        <p:nvSpPr>
          <p:cNvPr id="20" name="TextBox 19"/>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1" name="TextBox 20"/>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Findings retained when the configured work limit is reached</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Run state and consumed task hours—not a coverage guarantee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DEMONSTRATION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Demo · authorized staging assessment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Inspect a safe configuration, an active run view and one evidence-backed finding.</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07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08:00 allocated  |  07:15–15:15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S08, S09, S10, S12</a:t>
            </a:r>
          </a:p>
        </p:txBody>
      </p:sp>
      <p:sp>
        <p:nvSpPr>
          <p:cNvPr id="10" name="Rounded Rectangle 9"/>
          <p:cNvSpPr/>
          <p:nvPr/>
        </p:nvSpPr>
        <p:spPr>
          <a:xfrm>
            <a:off x="502920" y="2295144"/>
            <a:ext cx="11183112" cy="969264"/>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2432304"/>
            <a:ext cx="10789920" cy="713232"/>
          </a:xfrm>
          <a:prstGeom prst="rect">
            <a:avLst/>
          </a:prstGeom>
          <a:noFill/>
        </p:spPr>
        <p:txBody>
          <a:bodyPr wrap="square" lIns="0" rIns="0" tIns="0" bIns="0" anchor="t">
            <a:spAutoFit/>
          </a:bodyPr>
          <a:lstStyle/>
          <a:p>
            <a:pPr>
              <a:lnSpc>
                <a:spcPct val="112000"/>
              </a:lnSpc>
              <a:spcAft>
                <a:spcPts val="300"/>
              </a:spcAft>
              <a:defRPr sz="1500" b="0">
                <a:solidFill>
                  <a:srgbClr val="FFFFFF"/>
                </a:solidFill>
                <a:latin typeface="Arial"/>
              </a:defRPr>
            </a:pPr>
            <a:r>
              <a:t>Prepare the approved staging assessment with dedicated test accounts, explicit target and network scope, and the agreed work budget. Exclude payment and notification side effects through environment controls. The operator will monitor health and stop the job if the agreed threshold is crossed.</a:t>
            </a:r>
          </a:p>
        </p:txBody>
      </p:sp>
      <p:sp>
        <p:nvSpPr>
          <p:cNvPr id="12" name="TextBox 11"/>
          <p:cNvSpPr txBox="1"/>
          <p:nvPr/>
        </p:nvSpPr>
        <p:spPr>
          <a:xfrm>
            <a:off x="502920" y="342900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PREFLIGHT</a:t>
            </a:r>
          </a:p>
        </p:txBody>
      </p:sp>
      <p:sp>
        <p:nvSpPr>
          <p:cNvPr id="13" name="TextBox 12"/>
          <p:cNvSpPr txBox="1"/>
          <p:nvPr/>
        </p:nvSpPr>
        <p:spPr>
          <a:xfrm>
            <a:off x="502920" y="368503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Prepare a disposable staging app, independent health monitoring, a completed test and a named stop owner.</a:t>
            </a:r>
          </a:p>
        </p:txBody>
      </p:sp>
      <p:sp>
        <p:nvSpPr>
          <p:cNvPr id="14" name="TextBox 13"/>
          <p:cNvSpPr txBox="1"/>
          <p:nvPr/>
        </p:nvSpPr>
        <p:spPr>
          <a:xfrm>
            <a:off x="502920" y="438912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SUCCESS</a:t>
            </a:r>
          </a:p>
        </p:txBody>
      </p:sp>
      <p:sp>
        <p:nvSpPr>
          <p:cNvPr id="15" name="TextBox 14"/>
          <p:cNvSpPr txBox="1"/>
          <p:nvPr/>
        </p:nvSpPr>
        <p:spPr>
          <a:xfrm>
            <a:off x="502920" y="464515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An authorized, bounded run and one inspectable evidence package; no claim of complete coverage.</a:t>
            </a:r>
          </a:p>
        </p:txBody>
      </p:sp>
      <p:sp>
        <p:nvSpPr>
          <p:cNvPr id="16" name="TextBox 15"/>
          <p:cNvSpPr txBox="1"/>
          <p:nvPr/>
        </p:nvSpPr>
        <p:spPr>
          <a:xfrm>
            <a:off x="502920" y="534924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FALLBACK</a:t>
            </a:r>
          </a:p>
        </p:txBody>
      </p:sp>
      <p:sp>
        <p:nvSpPr>
          <p:cNvPr id="17" name="TextBox 16"/>
          <p:cNvSpPr txBox="1"/>
          <p:nvPr/>
        </p:nvSpPr>
        <p:spPr>
          <a:xfrm>
            <a:off x="502920" y="560527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Use a sanitized completed run if setup or job latency prevents a live view. Label illustrative findings clearly.</a:t>
            </a:r>
          </a:p>
        </p:txBody>
      </p:sp>
      <p:sp>
        <p:nvSpPr>
          <p:cNvPr id="18" name="Rounded Rectangle 17"/>
          <p:cNvSpPr/>
          <p:nvPr/>
        </p:nvSpPr>
        <p:spPr>
          <a:xfrm>
            <a:off x="4096512" y="341071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33672" y="352044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167259"/>
                </a:solidFill>
                <a:latin typeface="Arial"/>
              </a:defRPr>
            </a:pPr>
            <a:r>
              <a:t>01:00</a:t>
            </a:r>
          </a:p>
        </p:txBody>
      </p:sp>
      <p:sp>
        <p:nvSpPr>
          <p:cNvPr id="20" name="TextBox 19"/>
          <p:cNvSpPr txBox="1"/>
          <p:nvPr/>
        </p:nvSpPr>
        <p:spPr>
          <a:xfrm>
            <a:off x="4937760" y="348386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Verify authorization</a:t>
            </a:r>
          </a:p>
        </p:txBody>
      </p:sp>
      <p:sp>
        <p:nvSpPr>
          <p:cNvPr id="21" name="TextBox 20"/>
          <p:cNvSpPr txBox="1"/>
          <p:nvPr/>
        </p:nvSpPr>
        <p:spPr>
          <a:xfrm>
            <a:off x="4937760" y="368503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Show target ownership, test window and dedicated identities.</a:t>
            </a:r>
          </a:p>
        </p:txBody>
      </p:sp>
      <p:sp>
        <p:nvSpPr>
          <p:cNvPr id="22" name="Rounded Rectangle 21"/>
          <p:cNvSpPr/>
          <p:nvPr/>
        </p:nvSpPr>
        <p:spPr>
          <a:xfrm>
            <a:off x="4096512" y="3966667"/>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33672" y="407639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167259"/>
                </a:solidFill>
                <a:latin typeface="Arial"/>
              </a:defRPr>
            </a:pPr>
            <a:r>
              <a:t>01:30</a:t>
            </a:r>
          </a:p>
        </p:txBody>
      </p:sp>
      <p:sp>
        <p:nvSpPr>
          <p:cNvPr id="24" name="TextBox 23"/>
          <p:cNvSpPr txBox="1"/>
          <p:nvPr/>
        </p:nvSpPr>
        <p:spPr>
          <a:xfrm>
            <a:off x="4937760" y="403981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Inspect context</a:t>
            </a:r>
          </a:p>
        </p:txBody>
      </p:sp>
      <p:sp>
        <p:nvSpPr>
          <p:cNvPr id="25" name="TextBox 24"/>
          <p:cNvSpPr txBox="1"/>
          <p:nvPr/>
        </p:nvSpPr>
        <p:spPr>
          <a:xfrm>
            <a:off x="4937760" y="4240987"/>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Match source/deployment version, credentials and private reachability.</a:t>
            </a:r>
          </a:p>
        </p:txBody>
      </p:sp>
      <p:sp>
        <p:nvSpPr>
          <p:cNvPr id="26" name="Rounded Rectangle 25"/>
          <p:cNvSpPr/>
          <p:nvPr/>
        </p:nvSpPr>
        <p:spPr>
          <a:xfrm>
            <a:off x="4096512" y="452262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33672" y="463235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167259"/>
                </a:solidFill>
                <a:latin typeface="Arial"/>
              </a:defRPr>
            </a:pPr>
            <a:r>
              <a:t>01:30</a:t>
            </a:r>
          </a:p>
        </p:txBody>
      </p:sp>
      <p:sp>
        <p:nvSpPr>
          <p:cNvPr id="28" name="TextBox 27"/>
          <p:cNvSpPr txBox="1"/>
          <p:nvPr/>
        </p:nvSpPr>
        <p:spPr>
          <a:xfrm>
            <a:off x="4937760" y="459577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Inspect limits</a:t>
            </a:r>
          </a:p>
        </p:txBody>
      </p:sp>
      <p:sp>
        <p:nvSpPr>
          <p:cNvPr id="29" name="TextBox 28"/>
          <p:cNvSpPr txBox="1"/>
          <p:nvPr/>
        </p:nvSpPr>
        <p:spPr>
          <a:xfrm>
            <a:off x="4937760" y="479694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Show work budget, exclusions and the stop procedure.</a:t>
            </a:r>
          </a:p>
        </p:txBody>
      </p:sp>
      <p:sp>
        <p:nvSpPr>
          <p:cNvPr id="30" name="Rounded Rectangle 29"/>
          <p:cNvSpPr/>
          <p:nvPr/>
        </p:nvSpPr>
        <p:spPr>
          <a:xfrm>
            <a:off x="4096512" y="5078577"/>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33672" y="518830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167259"/>
                </a:solidFill>
                <a:latin typeface="Arial"/>
              </a:defRPr>
            </a:pPr>
            <a:r>
              <a:t>02:00</a:t>
            </a:r>
          </a:p>
        </p:txBody>
      </p:sp>
      <p:sp>
        <p:nvSpPr>
          <p:cNvPr id="32" name="TextBox 31"/>
          <p:cNvSpPr txBox="1"/>
          <p:nvPr/>
        </p:nvSpPr>
        <p:spPr>
          <a:xfrm>
            <a:off x="4937760" y="515172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Observe a run</a:t>
            </a:r>
          </a:p>
        </p:txBody>
      </p:sp>
      <p:sp>
        <p:nvSpPr>
          <p:cNvPr id="33" name="TextBox 32"/>
          <p:cNvSpPr txBox="1"/>
          <p:nvPr/>
        </p:nvSpPr>
        <p:spPr>
          <a:xfrm>
            <a:off x="4937760" y="5352897"/>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Use the prepared run view; correlate logs with target health.</a:t>
            </a:r>
          </a:p>
        </p:txBody>
      </p:sp>
      <p:sp>
        <p:nvSpPr>
          <p:cNvPr id="34" name="Rounded Rectangle 33"/>
          <p:cNvSpPr/>
          <p:nvPr/>
        </p:nvSpPr>
        <p:spPr>
          <a:xfrm>
            <a:off x="4096512" y="563453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33672" y="574426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167259"/>
                </a:solidFill>
                <a:latin typeface="Arial"/>
              </a:defRPr>
            </a:pPr>
            <a:r>
              <a:t>02:00</a:t>
            </a:r>
          </a:p>
        </p:txBody>
      </p:sp>
      <p:sp>
        <p:nvSpPr>
          <p:cNvPr id="36" name="TextBox 35"/>
          <p:cNvSpPr txBox="1"/>
          <p:nvPr/>
        </p:nvSpPr>
        <p:spPr>
          <a:xfrm>
            <a:off x="4937760" y="570768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Review one finding</a:t>
            </a:r>
          </a:p>
        </p:txBody>
      </p:sp>
      <p:sp>
        <p:nvSpPr>
          <p:cNvPr id="37" name="TextBox 36"/>
          <p:cNvSpPr txBox="1"/>
          <p:nvPr/>
        </p:nvSpPr>
        <p:spPr>
          <a:xfrm>
            <a:off x="4937760" y="5908852"/>
            <a:ext cx="6537960" cy="263347"/>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Read impact, reproduction evidence, coverage and the next engineering action.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OUTPUTS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Examine finding evidence, impact and confidence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Severity without impact, confidence and coverage is not enough for a decision.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08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15:15–16:45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S12, S10</a:t>
            </a:r>
          </a:p>
        </p:txBody>
      </p:sp>
      <p:sp>
        <p:nvSpPr>
          <p:cNvPr id="10" name="Rounded Rectangle 9"/>
          <p:cNvSpPr/>
          <p:nvPr/>
        </p:nvSpPr>
        <p:spPr>
          <a:xfrm>
            <a:off x="50292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IDENTITY</a:t>
            </a:r>
          </a:p>
        </p:txBody>
      </p:sp>
      <p:sp>
        <p:nvSpPr>
          <p:cNvPr id="12" name="TextBox 11"/>
          <p:cNvSpPr txBox="1"/>
          <p:nvPr/>
        </p:nvSpPr>
        <p:spPr>
          <a:xfrm>
            <a:off x="66751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Affected path</a:t>
            </a:r>
          </a:p>
        </p:txBody>
      </p:sp>
      <p:sp>
        <p:nvSpPr>
          <p:cNvPr id="13" name="TextBox 12"/>
          <p:cNvSpPr txBox="1"/>
          <p:nvPr/>
        </p:nvSpPr>
        <p:spPr>
          <a:xfrm>
            <a:off x="66751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Which endpoint, role, tenant and deployed version?</a:t>
            </a:r>
          </a:p>
        </p:txBody>
      </p:sp>
      <p:sp>
        <p:nvSpPr>
          <p:cNvPr id="14" name="Rounded Rectangle 13"/>
          <p:cNvSpPr/>
          <p:nvPr/>
        </p:nvSpPr>
        <p:spPr>
          <a:xfrm>
            <a:off x="429768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6227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EVIDENCE</a:t>
            </a:r>
          </a:p>
        </p:txBody>
      </p:sp>
      <p:sp>
        <p:nvSpPr>
          <p:cNvPr id="16" name="TextBox 15"/>
          <p:cNvSpPr txBox="1"/>
          <p:nvPr/>
        </p:nvSpPr>
        <p:spPr>
          <a:xfrm>
            <a:off x="446227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Observed impact</a:t>
            </a:r>
          </a:p>
        </p:txBody>
      </p:sp>
      <p:sp>
        <p:nvSpPr>
          <p:cNvPr id="17" name="TextBox 16"/>
          <p:cNvSpPr txBox="1"/>
          <p:nvPr/>
        </p:nvSpPr>
        <p:spPr>
          <a:xfrm>
            <a:off x="446227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What did the test actually demonstrate?</a:t>
            </a:r>
          </a:p>
        </p:txBody>
      </p:sp>
      <p:sp>
        <p:nvSpPr>
          <p:cNvPr id="18" name="Rounded Rectangle 17"/>
          <p:cNvSpPr/>
          <p:nvPr/>
        </p:nvSpPr>
        <p:spPr>
          <a:xfrm>
            <a:off x="809244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REPEATABILITY</a:t>
            </a:r>
          </a:p>
        </p:txBody>
      </p:sp>
      <p:sp>
        <p:nvSpPr>
          <p:cNvPr id="20" name="TextBox 19"/>
          <p:cNvSpPr txBox="1"/>
          <p:nvPr/>
        </p:nvSpPr>
        <p:spPr>
          <a:xfrm>
            <a:off x="825703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Reproduction</a:t>
            </a:r>
          </a:p>
        </p:txBody>
      </p:sp>
      <p:sp>
        <p:nvSpPr>
          <p:cNvPr id="21" name="TextBox 20"/>
          <p:cNvSpPr txBox="1"/>
          <p:nvPr/>
        </p:nvSpPr>
        <p:spPr>
          <a:xfrm>
            <a:off x="825703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Preconditions and a reviewable action trace.</a:t>
            </a:r>
          </a:p>
        </p:txBody>
      </p:sp>
      <p:sp>
        <p:nvSpPr>
          <p:cNvPr id="22" name="Rounded Rectangle 21"/>
          <p:cNvSpPr/>
          <p:nvPr/>
        </p:nvSpPr>
        <p:spPr>
          <a:xfrm>
            <a:off x="50292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QUALITY</a:t>
            </a:r>
          </a:p>
        </p:txBody>
      </p:sp>
      <p:sp>
        <p:nvSpPr>
          <p:cNvPr id="24" name="TextBox 23"/>
          <p:cNvSpPr txBox="1"/>
          <p:nvPr/>
        </p:nvSpPr>
        <p:spPr>
          <a:xfrm>
            <a:off x="66751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Confidence</a:t>
            </a:r>
          </a:p>
        </p:txBody>
      </p:sp>
      <p:sp>
        <p:nvSpPr>
          <p:cNvPr id="25" name="TextBox 24"/>
          <p:cNvSpPr txBox="1"/>
          <p:nvPr/>
        </p:nvSpPr>
        <p:spPr>
          <a:xfrm>
            <a:off x="66751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What is confirmed, inferred or still uncertain?</a:t>
            </a:r>
          </a:p>
        </p:txBody>
      </p:sp>
      <p:sp>
        <p:nvSpPr>
          <p:cNvPr id="26" name="Rounded Rectangle 25"/>
          <p:cNvSpPr/>
          <p:nvPr/>
        </p:nvSpPr>
        <p:spPr>
          <a:xfrm>
            <a:off x="429768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6227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SCOPE</a:t>
            </a:r>
          </a:p>
        </p:txBody>
      </p:sp>
      <p:sp>
        <p:nvSpPr>
          <p:cNvPr id="28" name="TextBox 27"/>
          <p:cNvSpPr txBox="1"/>
          <p:nvPr/>
        </p:nvSpPr>
        <p:spPr>
          <a:xfrm>
            <a:off x="446227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Coverage</a:t>
            </a:r>
          </a:p>
        </p:txBody>
      </p:sp>
      <p:sp>
        <p:nvSpPr>
          <p:cNvPr id="29" name="TextBox 28"/>
          <p:cNvSpPr txBox="1"/>
          <p:nvPr/>
        </p:nvSpPr>
        <p:spPr>
          <a:xfrm>
            <a:off x="446227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Which relevant routes were or were not exercised?</a:t>
            </a:r>
          </a:p>
        </p:txBody>
      </p:sp>
      <p:sp>
        <p:nvSpPr>
          <p:cNvPr id="30" name="Rounded Rectangle 29"/>
          <p:cNvSpPr/>
          <p:nvPr/>
        </p:nvSpPr>
        <p:spPr>
          <a:xfrm>
            <a:off x="809244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5703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HANDOFF</a:t>
            </a:r>
          </a:p>
        </p:txBody>
      </p:sp>
      <p:sp>
        <p:nvSpPr>
          <p:cNvPr id="32" name="TextBox 31"/>
          <p:cNvSpPr txBox="1"/>
          <p:nvPr/>
        </p:nvSpPr>
        <p:spPr>
          <a:xfrm>
            <a:off x="825703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Next action</a:t>
            </a:r>
          </a:p>
        </p:txBody>
      </p:sp>
      <p:sp>
        <p:nvSpPr>
          <p:cNvPr id="33" name="TextBox 32"/>
          <p:cNvSpPr txBox="1"/>
          <p:nvPr/>
        </p:nvSpPr>
        <p:spPr>
          <a:xfrm>
            <a:off x="825703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Owner, proposed fix and a closure check.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A remediation proposal requires review and retesting</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600" b="0">
                <a:solidFill>
                  <a:srgbClr val="55657A"/>
                </a:solidFill>
                <a:latin typeface="Arial"/>
              </a:defRPr>
            </a:pPr>
            <a:r>
              <a:t>Acceptance: provider, repository visibility and source type determine delivery; the team reviews every fix.</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09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16:45–18:15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S13, S25, S32, S10</a:t>
            </a:r>
          </a:p>
        </p:txBody>
      </p:sp>
      <p:sp>
        <p:nvSpPr>
          <p:cNvPr id="10" name="Rounded Rectangle 9"/>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01</a:t>
            </a:r>
          </a:p>
        </p:txBody>
      </p:sp>
      <p:sp>
        <p:nvSpPr>
          <p:cNvPr id="12" name="TextBox 11"/>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3" name="TextBox 12"/>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An accepted finding and connected source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Explicit remediation enablement and repository access</a:t>
            </a:r>
          </a:p>
        </p:txBody>
      </p:sp>
      <p:sp>
        <p:nvSpPr>
          <p:cNvPr id="14" name="Rounded Rectangle 13"/>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02</a:t>
            </a:r>
          </a:p>
        </p:txBody>
      </p:sp>
      <p:sp>
        <p:nvSpPr>
          <p:cNvPr id="16" name="TextBox 15"/>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7" name="TextBox 16"/>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Generate a proposed code repair</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Deliver a PR/MR or downloadable diff as supported by the source</a:t>
            </a:r>
          </a:p>
        </p:txBody>
      </p:sp>
      <p:sp>
        <p:nvSpPr>
          <p:cNvPr id="18" name="Rounded Rectangle 17"/>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03</a:t>
            </a:r>
          </a:p>
        </p:txBody>
      </p:sp>
      <p:sp>
        <p:nvSpPr>
          <p:cNvPr id="20" name="TextBox 19"/>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1" name="TextBox 20"/>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Reviewable changes with finding context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link between the security issue and proposed repair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Revalidate after the fix is deployed</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650" b="0">
                <a:solidFill>
                  <a:srgbClr val="55657A"/>
                </a:solidFill>
                <a:latin typeface="Arial"/>
              </a:defRPr>
            </a:pPr>
            <a:r>
              <a:t>Acceptance: “not reproduced” concerns this finding and this run—not a complete security certification.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10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18:15–19:30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S14</a:t>
            </a:r>
          </a:p>
        </p:txBody>
      </p:sp>
      <p:sp>
        <p:nvSpPr>
          <p:cNvPr id="10" name="Rounded Rectangle 9"/>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01</a:t>
            </a:r>
          </a:p>
        </p:txBody>
      </p:sp>
      <p:sp>
        <p:nvSpPr>
          <p:cNvPr id="12" name="TextBox 11"/>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3" name="TextBox 12"/>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An existing finding and a deployed repair</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The original reachable target and current test authentication</a:t>
            </a:r>
          </a:p>
        </p:txBody>
      </p:sp>
      <p:sp>
        <p:nvSpPr>
          <p:cNvPr id="14" name="Rounded Rectangle 13"/>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02</a:t>
            </a:r>
          </a:p>
        </p:txBody>
      </p:sp>
      <p:sp>
        <p:nvSpPr>
          <p:cNvPr id="16" name="TextBox 15"/>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7" name="TextBox 16"/>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Repeat the selected finding’s validation path</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Record whether the vulnerability can be reproduced</a:t>
            </a:r>
          </a:p>
        </p:txBody>
      </p:sp>
      <p:sp>
        <p:nvSpPr>
          <p:cNvPr id="18" name="Rounded Rectangle 17"/>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03</a:t>
            </a:r>
          </a:p>
        </p:txBody>
      </p:sp>
      <p:sp>
        <p:nvSpPr>
          <p:cNvPr id="20" name="TextBox 19"/>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1" name="TextBox 20"/>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linked revalidation job and result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An auditable history of reassessment attempts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OUTPUTS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Export evidence and hand work to the right owner</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Sharing a report or ticket must preserve scope, revision and finding identity.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11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19:30–20:30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S15, S16, S14</a:t>
            </a:r>
          </a:p>
        </p:txBody>
      </p:sp>
      <p:sp>
        <p:nvSpPr>
          <p:cNvPr id="10" name="Rounded Rectangle 9"/>
          <p:cNvSpPr/>
          <p:nvPr/>
        </p:nvSpPr>
        <p:spPr>
          <a:xfrm>
            <a:off x="502920"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POINT IN TIME</a:t>
            </a:r>
          </a:p>
        </p:txBody>
      </p:sp>
      <p:sp>
        <p:nvSpPr>
          <p:cNvPr id="12" name="TextBox 11"/>
          <p:cNvSpPr txBox="1"/>
          <p:nvPr/>
        </p:nvSpPr>
        <p:spPr>
          <a:xfrm>
            <a:off x="667512"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Evidence package</a:t>
            </a:r>
          </a:p>
        </p:txBody>
      </p:sp>
      <p:sp>
        <p:nvSpPr>
          <p:cNvPr id="13" name="TextBox 12"/>
          <p:cNvSpPr txBox="1"/>
          <p:nvPr/>
        </p:nvSpPr>
        <p:spPr>
          <a:xfrm>
            <a:off x="667512"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Generate a filtered PDF with scope, test evidence and optional reviewer annotations. Record whether the run is complete or interim.</a:t>
            </a:r>
          </a:p>
        </p:txBody>
      </p:sp>
      <p:sp>
        <p:nvSpPr>
          <p:cNvPr id="14" name="Rounded Rectangle 13"/>
          <p:cNvSpPr/>
          <p:nvPr/>
        </p:nvSpPr>
        <p:spPr>
          <a:xfrm>
            <a:off x="6199632"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4"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CONFIGURED INTEGRATION</a:t>
            </a:r>
          </a:p>
        </p:txBody>
      </p:sp>
      <p:sp>
        <p:nvSpPr>
          <p:cNvPr id="16" name="TextBox 15"/>
          <p:cNvSpPr txBox="1"/>
          <p:nvPr/>
        </p:nvSpPr>
        <p:spPr>
          <a:xfrm>
            <a:off x="6364224"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Jira handoff</a:t>
            </a:r>
          </a:p>
        </p:txBody>
      </p:sp>
      <p:sp>
        <p:nvSpPr>
          <p:cNvPr id="17" name="TextBox 16"/>
          <p:cNvSpPr txBox="1"/>
          <p:nvPr/>
        </p:nvSpPr>
        <p:spPr>
          <a:xfrm>
            <a:off x="6364224"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Create tracked work from selected findings; retain links to remediation and reassessment.</a:t>
            </a:r>
          </a:p>
        </p:txBody>
      </p:sp>
      <p:sp>
        <p:nvSpPr>
          <p:cNvPr id="18" name="Rounded Rectangle 17"/>
          <p:cNvSpPr/>
          <p:nvPr/>
        </p:nvSpPr>
        <p:spPr>
          <a:xfrm>
            <a:off x="502920" y="5477256"/>
            <a:ext cx="11183112" cy="713232"/>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632704"/>
            <a:ext cx="10771632" cy="402336"/>
          </a:xfrm>
          <a:prstGeom prst="rect">
            <a:avLst/>
          </a:prstGeom>
          <a:noFill/>
        </p:spPr>
        <p:txBody>
          <a:bodyPr wrap="square" lIns="0" rIns="0" tIns="0" bIns="0" anchor="t">
            <a:spAutoFit/>
          </a:bodyPr>
          <a:lstStyle/>
          <a:p>
            <a:pPr>
              <a:lnSpc>
                <a:spcPct val="112000"/>
              </a:lnSpc>
              <a:spcAft>
                <a:spcPts val="300"/>
              </a:spcAft>
              <a:defRPr sz="1700" b="1">
                <a:solidFill>
                  <a:srgbClr val="FFFFFF"/>
                </a:solidFill>
                <a:latin typeface="Arial"/>
              </a:defRPr>
            </a:pPr>
            <a:r>
              <a:t>Team rule: the ticket owner is accountable for closure; an exported report is not certification.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Design review applies reusable requirements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review requirements and input assumptions before interpreting a finding.</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12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20:30–21:45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S17, S18</a:t>
            </a:r>
          </a:p>
        </p:txBody>
      </p:sp>
      <p:sp>
        <p:nvSpPr>
          <p:cNvPr id="10" name="Rounded Rectangle 9"/>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01</a:t>
            </a:r>
          </a:p>
        </p:txBody>
      </p:sp>
      <p:sp>
        <p:nvSpPr>
          <p:cNvPr id="12" name="TextBox 11"/>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3" name="TextBox 12"/>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Architecture/design documents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Enabled organizational security requirements</a:t>
            </a:r>
          </a:p>
        </p:txBody>
      </p:sp>
      <p:sp>
        <p:nvSpPr>
          <p:cNvPr id="14" name="Rounded Rectangle 13"/>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02</a:t>
            </a:r>
          </a:p>
        </p:txBody>
      </p:sp>
      <p:sp>
        <p:nvSpPr>
          <p:cNvPr id="16" name="TextBox 15"/>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7" name="TextBox 16"/>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Assess the design against configured criteria</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Return requirement-linked findings and recommendations</a:t>
            </a:r>
          </a:p>
        </p:txBody>
      </p:sp>
      <p:sp>
        <p:nvSpPr>
          <p:cNvPr id="18" name="Rounded Rectangle 17"/>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03</a:t>
            </a:r>
          </a:p>
        </p:txBody>
      </p:sp>
      <p:sp>
        <p:nvSpPr>
          <p:cNvPr id="20" name="TextBox 19"/>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1" name="TextBox 20"/>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reviewable design assessment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Explicit issues to resolve before implementation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Threat modeling connects design and code context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validate the agent’s system model before accepting its threat analysis.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13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21:45–22:45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S31, S05</a:t>
            </a:r>
          </a:p>
        </p:txBody>
      </p:sp>
      <p:sp>
        <p:nvSpPr>
          <p:cNvPr id="10" name="Rounded Rectangle 9"/>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01</a:t>
            </a:r>
          </a:p>
        </p:txBody>
      </p:sp>
      <p:sp>
        <p:nvSpPr>
          <p:cNvPr id="12" name="TextBox 11"/>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3" name="TextBox 12"/>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Design scope documents, source code or both</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The application context and security objective</a:t>
            </a:r>
          </a:p>
        </p:txBody>
      </p:sp>
      <p:sp>
        <p:nvSpPr>
          <p:cNvPr id="14" name="Rounded Rectangle 13"/>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02</a:t>
            </a:r>
          </a:p>
        </p:txBody>
      </p:sp>
      <p:sp>
        <p:nvSpPr>
          <p:cNvPr id="16" name="TextBox 15"/>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7" name="TextBox 16"/>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Build an overview of the system</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Identify threats with severity, STRIDE classification and recommendations</a:t>
            </a:r>
          </a:p>
        </p:txBody>
      </p:sp>
      <p:sp>
        <p:nvSpPr>
          <p:cNvPr id="18" name="Rounded Rectangle 17"/>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03</a:t>
            </a:r>
          </a:p>
        </p:txBody>
      </p:sp>
      <p:sp>
        <p:nvSpPr>
          <p:cNvPr id="20" name="TextBox 19"/>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1" name="TextBox 20"/>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structured threat model</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Evidence and mitigation work for architectural review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Code review has several entry points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Full-repository, change review and remediation share context—not identical triggers.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14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22:45–24:15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S21, S24, S25, S05</a:t>
            </a:r>
          </a:p>
        </p:txBody>
      </p:sp>
      <p:graphicFrame>
        <p:nvGraphicFramePr>
          <p:cNvPr id="10" name="Table 9"/>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964692">
                <a:tc>
                  <a:txBody>
                    <a:bodyPr/>
                    <a:lstStyle/>
                    <a:p>
                      <a:pPr>
                        <a:spcAft>
                          <a:spcPts val="0"/>
                        </a:spcAft>
                        <a:defRPr sz="1600" b="1">
                          <a:solidFill>
                            <a:srgbClr val="FFFFFF"/>
                          </a:solidFill>
                          <a:latin typeface="Arial"/>
                        </a:defRPr>
                      </a:pPr>
                      <a:r>
                        <a:t>Workflow</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Primary input</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Reviewable result</a:t>
                      </a:r>
                    </a:p>
                  </a:txBody>
                  <a:tcPr marL="128016" marR="128016" marT="82296" marB="54864">
                    <a:solidFill>
                      <a:srgbClr val="10243B"/>
                    </a:solidFill>
                  </a:tcPr>
                </a:tc>
              </a:tr>
              <a:tr h="964692">
                <a:tc>
                  <a:txBody>
                    <a:bodyPr/>
                    <a:lstStyle/>
                    <a:p>
                      <a:pPr>
                        <a:spcAft>
                          <a:spcPts val="0"/>
                        </a:spcAft>
                        <a:defRPr sz="1600" b="0">
                          <a:solidFill>
                            <a:srgbClr val="182B43"/>
                          </a:solidFill>
                          <a:latin typeface="Arial"/>
                        </a:defRPr>
                      </a:pPr>
                      <a:r>
                        <a:t>Repository review</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Connected repository or S3 source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Code findings and affected locations</a:t>
                      </a:r>
                    </a:p>
                  </a:txBody>
                  <a:tcPr marL="128016" marR="128016" marT="82296" marB="54864">
                    <a:solidFill>
                      <a:srgbClr val="F1F5F8"/>
                    </a:solidFill>
                  </a:tcPr>
                </a:tc>
              </a:tr>
              <a:tr h="964692">
                <a:tc>
                  <a:txBody>
                    <a:bodyPr/>
                    <a:lstStyle/>
                    <a:p>
                      <a:pPr>
                        <a:spcAft>
                          <a:spcPts val="0"/>
                        </a:spcAft>
                        <a:defRPr sz="1600" b="0">
                          <a:solidFill>
                            <a:srgbClr val="182B43"/>
                          </a:solidFill>
                          <a:latin typeface="Arial"/>
                        </a:defRPr>
                      </a:pPr>
                      <a:r>
                        <a:t>PR / MR review</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Ready-for-review event; configured branch, label or draft filters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Change-specific review feedback</a:t>
                      </a:r>
                    </a:p>
                  </a:txBody>
                  <a:tcPr marL="128016" marR="128016" marT="82296" marB="54864">
                    <a:solidFill>
                      <a:srgbClr val="FFFFFF"/>
                    </a:solidFill>
                  </a:tcPr>
                </a:tc>
              </a:tr>
              <a:tr h="964692">
                <a:tc>
                  <a:txBody>
                    <a:bodyPr/>
                    <a:lstStyle/>
                    <a:p>
                      <a:pPr>
                        <a:spcAft>
                          <a:spcPts val="0"/>
                        </a:spcAft>
                        <a:defRPr sz="1600" b="0">
                          <a:solidFill>
                            <a:srgbClr val="182B43"/>
                          </a:solidFill>
                          <a:latin typeface="Arial"/>
                        </a:defRPr>
                      </a:pPr>
                      <a:r>
                        <a:t>Remediation</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Accepted finding and enabled source path</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Provider-supported PR/MR or downloadable diff</a:t>
                      </a:r>
                    </a:p>
                  </a:txBody>
                  <a:tcPr marL="128016" marR="128016" marT="82296" marB="54864">
                    <a:solidFill>
                      <a:srgbClr val="F1F5F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Submit and verify a differential source review</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 build submission calls a service; retain the source revision and scan evidence.</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15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24:15–25:30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S27</a:t>
            </a:r>
          </a:p>
        </p:txBody>
      </p:sp>
      <p:sp>
        <p:nvSpPr>
          <p:cNvPr id="10" name="Rounded Rectangle 9"/>
          <p:cNvSpPr/>
          <p:nvPr/>
        </p:nvSpPr>
        <p:spPr>
          <a:xfrm>
            <a:off x="502920"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PREVIEW</a:t>
            </a:r>
          </a:p>
        </p:txBody>
      </p:sp>
      <p:sp>
        <p:nvSpPr>
          <p:cNvPr id="12" name="TextBox 11"/>
          <p:cNvSpPr txBox="1"/>
          <p:nvPr/>
        </p:nvSpPr>
        <p:spPr>
          <a:xfrm>
            <a:off x="667512"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Prepare source context</a:t>
            </a:r>
          </a:p>
        </p:txBody>
      </p:sp>
      <p:sp>
        <p:nvSpPr>
          <p:cNvPr id="13" name="TextBox 12"/>
          <p:cNvSpPr txBox="1"/>
          <p:nvPr/>
        </p:nvSpPr>
        <p:spPr>
          <a:xfrm>
            <a:off x="667512"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Prepare the supported source and diff artifacts; retain base and head revisions and check the payload before upload.</a:t>
            </a:r>
          </a:p>
        </p:txBody>
      </p:sp>
      <p:sp>
        <p:nvSpPr>
          <p:cNvPr id="14" name="Rounded Rectangle 13"/>
          <p:cNvSpPr/>
          <p:nvPr/>
        </p:nvSpPr>
        <p:spPr>
          <a:xfrm>
            <a:off x="6199632"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4"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PREVIEW</a:t>
            </a:r>
          </a:p>
        </p:txBody>
      </p:sp>
      <p:sp>
        <p:nvSpPr>
          <p:cNvPr id="16" name="TextBox 15"/>
          <p:cNvSpPr txBox="1"/>
          <p:nvPr/>
        </p:nvSpPr>
        <p:spPr>
          <a:xfrm>
            <a:off x="6364224"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Submit and inspect findings</a:t>
            </a:r>
          </a:p>
        </p:txBody>
      </p:sp>
      <p:sp>
        <p:nvSpPr>
          <p:cNvPr id="17" name="TextBox 16"/>
          <p:cNvSpPr txBox="1"/>
          <p:nvPr/>
        </p:nvSpPr>
        <p:spPr>
          <a:xfrm>
            <a:off x="6364224"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Use the documented S3/API workflow. Retain the scan result and determine which findings apply to the proposed change.</a:t>
            </a:r>
          </a:p>
        </p:txBody>
      </p:sp>
      <p:sp>
        <p:nvSpPr>
          <p:cNvPr id="18" name="Rounded Rectangle 17"/>
          <p:cNvSpPr/>
          <p:nvPr/>
        </p:nvSpPr>
        <p:spPr>
          <a:xfrm>
            <a:off x="502920" y="5477256"/>
            <a:ext cx="11183112" cy="713232"/>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632704"/>
            <a:ext cx="10771632" cy="402336"/>
          </a:xfrm>
          <a:prstGeom prst="rect">
            <a:avLst/>
          </a:prstGeom>
          <a:noFill/>
        </p:spPr>
        <p:txBody>
          <a:bodyPr wrap="square" lIns="0" rIns="0" tIns="0" bIns="0" anchor="t">
            <a:spAutoFit/>
          </a:bodyPr>
          <a:lstStyle/>
          <a:p>
            <a:pPr>
              <a:lnSpc>
                <a:spcPct val="112000"/>
              </a:lnSpc>
              <a:spcAft>
                <a:spcPts val="300"/>
              </a:spcAft>
              <a:defRPr sz="1400" b="1">
                <a:solidFill>
                  <a:srgbClr val="FFFFFF"/>
                </a:solidFill>
                <a:latin typeface="Arial"/>
              </a:defRPr>
            </a:pPr>
            <a:r>
              <a:t>Acceptance: confirm the uploaded scope, analyzed revisions and finding disposition before applying a team-owned release rule.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A passing delivery gate has limited assessment scope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Read scope, errors and baseline behavior—not just the pipeline color.</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16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25:30–27:00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S28, S29</a:t>
            </a:r>
          </a:p>
        </p:txBody>
      </p:sp>
      <p:graphicFrame>
        <p:nvGraphicFramePr>
          <p:cNvPr id="10" name="Table 9"/>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Outcome</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Interpretation</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Recommended team treatment</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Findings exceed threshold</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Test returned blocking evidence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Block and triage</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Scoped out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No relevant changed attack surface was tested</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Record scope decision; do not call it a clean full test</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Error / scope conflict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Coverage may be absent or outside scope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Use fail-closed for required sign-off</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Runner stopped</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Server-side job may still need cleanup</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Verify terminal job state and consumption</a:t>
                      </a:r>
                    </a:p>
                  </a:txBody>
                  <a:tcPr marL="128016" marR="128016" marT="82296" marB="54864">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ADOPTION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Pilot one authorized finding-to-revalidation cycle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Assess one authorized target, review a finding and revalidate the repaired application.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17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27:00–28:30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S10, S12, S14, S30</a:t>
            </a:r>
          </a:p>
        </p:txBody>
      </p:sp>
      <p:graphicFrame>
        <p:nvGraphicFramePr>
          <p:cNvPr id="10" name="Table 9"/>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Phase</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Team work</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Evidence to keep</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Authorize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Isolate target and identities; approve data boundary</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Scope, owner, recovery and stop record</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Assess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Run one bounded test and inspect evidence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Run ID, coverage and accepted findings</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Repair</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Review and deploy one justified fix</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Change revision, tests and deployment</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Revalidate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Retest and decide whether to expand</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Linked result, effort and cost</a:t>
                      </a:r>
                    </a:p>
                  </a:txBody>
                  <a:tcPr marL="128016" marR="128016" marT="82296" marB="54864">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CLOSE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Record authorization, findings and revalidation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Authorize the target. Inspect the evidence. Revalidate the deployed repair.</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18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28:30–30:00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S10, S14, S05</a:t>
            </a:r>
          </a:p>
        </p:txBody>
      </p:sp>
      <p:sp>
        <p:nvSpPr>
          <p:cNvPr id="10" name="Rounded Rectangle 9"/>
          <p:cNvSpPr/>
          <p:nvPr/>
        </p:nvSpPr>
        <p:spPr>
          <a:xfrm>
            <a:off x="50292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Authorize</a:t>
            </a:r>
          </a:p>
        </p:txBody>
      </p:sp>
      <p:sp>
        <p:nvSpPr>
          <p:cNvPr id="12" name="TextBox 11"/>
          <p:cNvSpPr txBox="1"/>
          <p:nvPr/>
        </p:nvSpPr>
        <p:spPr>
          <a:xfrm>
            <a:off x="66751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Scope includes reachable systems and real application effects.</a:t>
            </a:r>
          </a:p>
        </p:txBody>
      </p:sp>
      <p:sp>
        <p:nvSpPr>
          <p:cNvPr id="13" name="Rounded Rectangle 12"/>
          <p:cNvSpPr/>
          <p:nvPr/>
        </p:nvSpPr>
        <p:spPr>
          <a:xfrm>
            <a:off x="429768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6227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Inspect</a:t>
            </a:r>
          </a:p>
        </p:txBody>
      </p:sp>
      <p:sp>
        <p:nvSpPr>
          <p:cNvPr id="15" name="TextBox 14"/>
          <p:cNvSpPr txBox="1"/>
          <p:nvPr/>
        </p:nvSpPr>
        <p:spPr>
          <a:xfrm>
            <a:off x="446227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Severity is accompanied by evidence, impact and coverage.</a:t>
            </a:r>
          </a:p>
        </p:txBody>
      </p:sp>
      <p:sp>
        <p:nvSpPr>
          <p:cNvPr id="16" name="Rounded Rectangle 15"/>
          <p:cNvSpPr/>
          <p:nvPr/>
        </p:nvSpPr>
        <p:spPr>
          <a:xfrm>
            <a:off x="809244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5703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Close</a:t>
            </a:r>
          </a:p>
        </p:txBody>
      </p:sp>
      <p:sp>
        <p:nvSpPr>
          <p:cNvPr id="18" name="TextBox 17"/>
          <p:cNvSpPr txBox="1"/>
          <p:nvPr/>
        </p:nvSpPr>
        <p:spPr>
          <a:xfrm>
            <a:off x="825703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deployed fix is reassessed; original evidence remains traceable.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C01 · Run an authorized application penetration test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GA · on-demand penetration testing · Native; Agent Space and verified target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Launch an application-focused penetration test against configured targets and inspect discovered security findings.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Create an Agent Space, choose access and service roles, verify the target, and use a disposable non-production environment.</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Assessment scope, run identifier, target version, request evidence, and prioritized findings.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Confirm ownership, authorization, test-data isolation, stop responsibility, and environment recovery before launching.</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Testing can change data or application state. Domain verification is a technical prerequisite, not a substitute for authorization covering every affected system.</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S03, S06, S07, S10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C02 · Test authenticated and private application paths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GA pentest workflow · optional configuration · Native credential and VPC configuration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Authenticated testing and VPC connectivity let the agent exercise protected application routes when correctly configured.</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Use test-only identities, validate login, configure the service role/network, and classify discovered domains before the test.</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Authenticated test scope, identity configuration, private connectivity, and affected endpoint record.</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Verify the identity has no production access and that every reachable dependency has the intended scope classification.</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Credentials may expose additional application paths and supporting domains. A private network does not make testing harmless or remove scope obligations.</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S09, S08, S10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2950" b="1">
                <a:solidFill>
                  <a:srgbClr val="182B43"/>
                </a:solidFill>
                <a:latin typeface="Arial"/>
              </a:defRPr>
            </a:pPr>
            <a:r>
              <a:t>C03 · Give a test current source and architecture context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Documented pentest configuration · Native; connected repositories or uploaded resources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Attach code, API documentation, and design material to guide application understanding. Connected resources can supply updated source for later runs.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Connect relevant resources or upload sanitized documentation; verify repository reachability from a private test network.</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Input document/source-version inventory and findings tied to that context.</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Compare the deployed commit and API inventory with attached context; record untested critical paths for separate review.</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Context does not guarantee complete endpoint coverage. Match the selected branch and documentation to the deployed target.</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S08, S11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C04 · Control task expenditure and monitor execution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Documented pentest run controls · Native task-hour cap, logs, and stop controls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Configure a maximum task-hours limit and monitor the run’s logs; stop work that takes an undesirable direction.</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Agree on a per-run work budget, excluded risk areas, an operator, and criteria for stopping the test.</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Task execution record with limits, elapsed use, relevant logs, and stop decision.</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Reconcile task hours with billing data and assess coverage separately from the run’s Completed status.</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Task hours accumulate across parallel work and differ from wall-clock duration. Service quotas are not spending limits. A capped run can finish with partial coverage.</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S08, S05, S11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C05 · Triage evidence rather than severity alone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Documented pentest findings workflow · Native finding and log views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Inspect risk, confidence, affected endpoints, execution evidence, and reproduction details. Verification scripts are available when successfully generated and validated.</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Give a reviewer access to the run, logs, deployed build, and permitted reproduction environment.</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Finding record with affected endpoint, reproduction evidence, confidence, and owner.</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Validate impact and reproducibility in the authorized test environment before assigning urgency or closing a finding.</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Not every finding has a script. Default filters can hide lower-confidence or unverified items; the visible count is not the complete security picture.</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S12, S10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050" b="1">
                <a:solidFill>
                  <a:srgbClr val="182B43"/>
                </a:solidFill>
                <a:latin typeface="Arial"/>
              </a:defRPr>
            </a:pPr>
            <a:r>
              <a:t>C06 · Request a proposed code fix for a pentest finding</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Documented pentest remediation · repository setup required · Native GitHub PR proposal</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With remediation enabled for a connected repository, users can request a finding-specific fix delivered as a GitHub pull request.</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Authorize the GitHub app, enable remediation per repository in the Agent Space, and assign a human reviewer.</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Remediation code proposal linked to one finding and pending review/test evidence.</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Review the diff and test it normally, then deploy only through the existing change process.</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Enabling remediation is not approval to merge or deploy. Generated changes can be incomplete, wrong, or visible to repository readers.</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S13, S10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C07 · Revalidate a previously reported finding</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Documented pentest revalidation · Native focused verification run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Revalidation checks selected existing findings against the application’s current reachable state.</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650" b="0">
                <a:solidFill>
                  <a:srgbClr val="182B43"/>
                </a:solidFill>
                <a:latin typeface="Arial"/>
              </a:defRPr>
            </a:pPr>
            <a:r>
              <a:t>Deploy the intended fix to the tested environment, retain working authentication, and select the completed run’s relevant findings.</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Finding revalidation run and observed current behavior on the patched target.</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Inspect the separate revalidation job and evidence; use a broader test for substantial application changes.</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It does not search for new vulnerabilities. Resolved means the issue was not reproduced in this run, not that the application is globally secure.</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C08 · Export a point-in-time evidence report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Documented pentest reporting · Native PDF export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Export a filtered penetration-test report with finding evidence and optional annotations for engineering or assurance review.</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Choose the run, finding filters, annotations, and intended audience; handle the resulting vulnerability details as sensitive.</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Point-in-time exported report with applied filters, revision, and recorded annotations.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Confirm report filters, run status, target version, and unresolved findings before sharing.</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 compliance-oriented report layout is not a certification or a replacement for a required professional assessment. An interim report remains incomplete.</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C09 · Create tracked Jira work from findings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600" b="0">
                <a:solidFill>
                  <a:srgbClr val="55657A"/>
                </a:solidFill>
                <a:latin typeface="Arial"/>
              </a:defRPr>
            </a:pPr>
            <a:r>
              <a:t>Documented integration · pentest path; code path inherits preview · Native issue export; connected Jira project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Create one Jira issue for each selected finding, carrying finding details and suggested remediation into a connected project.</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Connect a Jira project to the Agent Space and agree on the project’s ownership and prioritization process.</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Jira finding issue with assignment, reproduction evidence, and disposition.</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Check issue content, duplicate creation, project visibility, and the link back to the original finding.</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The project must support Task issues. Unlinking removes the association, not the Jira issue; the workflow is not documented here as full bidirectional synchronization.</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2950" b="1">
                <a:solidFill>
                  <a:srgbClr val="182B43"/>
                </a:solidFill>
                <a:latin typeface="Arial"/>
              </a:defRPr>
            </a:pPr>
            <a:r>
              <a:t>C10 · Review a design against organizational requirements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Preview · design review · Native document review</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Analyze design documents against enabled security requirements and return findings with remediation guidance.</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Enable the relevant requirements and provide a sanitized, current design with clear trust boundaries.</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Design-review findings mapped to versioned security requirements and source documents.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Have an architect check assumptions and requirement applicability before treating a finding as a design decision.</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The result depends on document quality and the active requirement set; it is not an exhaustive architecture approval.</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S17, S05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000" b="1">
                <a:solidFill>
                  <a:srgbClr val="182B43"/>
                </a:solidFill>
                <a:latin typeface="Arial"/>
              </a:defRPr>
            </a:pPr>
            <a:r>
              <a:t>C11 · Maintain reusable organizational security criteria</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Supports preview design and code reviews · Native requirement packs and document import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Security requirement packs provide reusable evaluation criteria; document import can help draft requirements for review.</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Choose managed or custom requirements, review any generated items, and enable the intended packs for subsequent reviews.</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Versioned requirement pack, change rationale, and review evidence.</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Test the criteria on known acceptable and unacceptable examples before relying on the findings.</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An enabled pack is review configuration, not a guarantee of compliance. Imported statements need human checking for ambiguity and applicability.</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S18, S19, S05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C12 · Generate a reusable STRIDE threat model</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Preview · threat modeling · Native model generation and reruns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Use design scope documents, source context, or both to produce a system overview and STRIDE-classified threats with recommendations.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Provide current architecture, trust boundaries, and relevant repositories or documents; define what is in scope.</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STRIDE model with trust boundaries, assumptions, threats, and unresolved mitigations.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Review assets, identities, data flows, boundaries, and omitted dependencies with an engineer familiar with the system.</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The model’s scope depends on the inputs: proposed-design documents and existing code serve different roles. It is not proof that every threat has been identified.</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S20, S05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C13 · Scan a full codebase for security findings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Preview · code review · Native repository or S3-source review</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Run a full-code review against a connected supported repository or S3-hosted source and inspect file-level findings.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Connect the chosen source, select the branch or source package, configure access, and choose the intended review criteria.</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Code-review findings associated with exact repository/source revision.</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Confirm the scanned revision, inspect finding context, and retain independent testing and code review.</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Provider setup and source support vary. A successful job is not assurance that all vulnerabilities or policy violations were found.</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S21, S22, S04, S05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2650" b="1">
                <a:solidFill>
                  <a:srgbClr val="182B43"/>
                </a:solidFill>
                <a:latin typeface="Arial"/>
              </a:defRPr>
            </a:pPr>
            <a:r>
              <a:t>C14 · Review pull requests or merge requests on configured triggers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Preview · provider-specific PR/MR integration · Native code-change feedback</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Configured repository reviews post security findings on qualifying pull requests or merge requests, using the documented provider flow.</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Enable code-review comments, select supported repositories, and test trigger/filter behavior on a controlled change.</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PR or MR finding comments with trigger event, build revision, and reviewer disposition.</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Inspect review execution and the exact commit; never use comment absence as a pass signal.</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Branch, label, draft, and filter settings affect invocation. No comment can mean no trigger matched—not that a security scan passed.</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S23, S24, S05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C15 · Receive a code-review fix as a PR, MR, or diff</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Preview · remediation depends on source provider · Native fix proposal; delivery varies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Supported connected private repositories can receive a PR or MR; S3 source and public GitHub paths use downloadable diffs.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Enable the appropriate remediation capability and preserve the exact source revision used by the scan.</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Proposed PR/MR or patch/diff and independent implementation tests.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Apply and review through the normal repository process; verify the original finding and new regressions independently.</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Automated remediation is not supported for public GitLab or Bitbucket repositories in the documented matrix. Some findings require manual work.</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S25, S05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2650" b="1">
                <a:solidFill>
                  <a:srgbClr val="182B43"/>
                </a:solidFill>
                <a:latin typeface="Arial"/>
              </a:defRPr>
            </a:pPr>
            <a:r>
              <a:t>C17 · Submit a differential source review from a build workflow</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Preview · S3/API code-review path · Native API; pipeline wiring is team-owned</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The documented API path accepts full source context in S3 together with a unified diff to focus a review on changed code.</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Prepare approved S3 inputs and invoke the documented code-review job API from a suitably scoped build identity.</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Build-submitted differential review record with full source baseline and unified diff.</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Validate source/diff consistency and handle failed or skipped jobs distinctly from a clean review.</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It is not automatic discovery of your CI provider. The team must supply the correct source snapshot, diff base, permissions, and job handling.</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S27, S05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2850" b="1">
                <a:solidFill>
                  <a:srgbClr val="182B43"/>
                </a:solidFill>
                <a:latin typeface="Arial"/>
              </a:defRPr>
            </a:pPr>
            <a:r>
              <a:t>C18 · Gate promotion using a scoped post-deployment pentest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700" b="0">
                <a:solidFill>
                  <a:srgbClr val="55657A"/>
                </a:solidFill>
                <a:latin typeface="Arial"/>
              </a:defRPr>
            </a:pPr>
            <a:r>
              <a:t>Public preview · CI/CD pipeline integration · Native service job; configured pipeline integration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The documented integration tests a deployed change and can gate subsequent promotion using scoped findings and thresholds.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500" b="0">
                <a:solidFill>
                  <a:srgbClr val="182B43"/>
                </a:solidFill>
                <a:latin typeface="Arial"/>
              </a:defRPr>
            </a:pPr>
            <a:r>
              <a:t>Configure a staging target, existing test setup, trusted OIDC role, diff baseline, thresholds, and explicit untested/error handling; begin with a dry run.</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Post-deployment assessment result and separately recorded promotion decision.</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Validate every gate outcome and cancellation path. A passing pipeline must not be represented as a complete application assessment.</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It is not a pre-merge static check. Scoped-out changes can pass without dynamic testing; cancellation of the runner can leave a server-side job running.</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S28, S29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Official evidence and delivery boundary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Use the linked product documentation and the complete report source register.</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TextBox 8"/>
          <p:cNvSpPr txBox="1"/>
          <p:nvPr/>
        </p:nvSpPr>
        <p:spPr>
          <a:xfrm>
            <a:off x="594360" y="2331720"/>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167259"/>
                </a:solidFill>
                <a:latin typeface="Arial"/>
              </a:defRPr>
            </a:pPr>
            <a:r>
              <a:rPr>
                <a:hlinkClick r:id="rId3"/>
              </a:rPr>
              <a:t>S03  On-demand penetration testing generally available</a:t>
            </a:r>
          </a:p>
        </p:txBody>
      </p:sp>
      <p:sp>
        <p:nvSpPr>
          <p:cNvPr id="10" name="TextBox 9"/>
          <p:cNvSpPr txBox="1"/>
          <p:nvPr/>
        </p:nvSpPr>
        <p:spPr>
          <a:xfrm>
            <a:off x="594360" y="2862072"/>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167259"/>
                </a:solidFill>
                <a:latin typeface="Arial"/>
              </a:defRPr>
            </a:pPr>
            <a:r>
              <a:rPr>
                <a:hlinkClick r:id="rId4"/>
              </a:rPr>
              <a:t>S04  What is AWS Security Agent?</a:t>
            </a:r>
          </a:p>
        </p:txBody>
      </p:sp>
      <p:sp>
        <p:nvSpPr>
          <p:cNvPr id="11" name="TextBox 10"/>
          <p:cNvSpPr txBox="1"/>
          <p:nvPr/>
        </p:nvSpPr>
        <p:spPr>
          <a:xfrm>
            <a:off x="594360" y="3392424"/>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167259"/>
                </a:solidFill>
                <a:latin typeface="Arial"/>
              </a:defRPr>
            </a:pPr>
            <a:r>
              <a:rPr>
                <a:hlinkClick r:id="rId5"/>
              </a:rPr>
              <a:t>S05  Pricing and billing</a:t>
            </a:r>
          </a:p>
        </p:txBody>
      </p:sp>
      <p:sp>
        <p:nvSpPr>
          <p:cNvPr id="12" name="TextBox 11"/>
          <p:cNvSpPr txBox="1"/>
          <p:nvPr/>
        </p:nvSpPr>
        <p:spPr>
          <a:xfrm>
            <a:off x="594360" y="3922775"/>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167259"/>
                </a:solidFill>
                <a:latin typeface="Arial"/>
              </a:defRPr>
            </a:pPr>
            <a:r>
              <a:rPr>
                <a:hlinkClick r:id="rId6"/>
              </a:rPr>
              <a:t>S08  Create a penetration test</a:t>
            </a:r>
          </a:p>
        </p:txBody>
      </p:sp>
      <p:sp>
        <p:nvSpPr>
          <p:cNvPr id="13" name="TextBox 12"/>
          <p:cNvSpPr txBox="1"/>
          <p:nvPr/>
        </p:nvSpPr>
        <p:spPr>
          <a:xfrm>
            <a:off x="594360" y="4453127"/>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167259"/>
                </a:solidFill>
                <a:latin typeface="Arial"/>
              </a:defRPr>
            </a:pPr>
            <a:r>
              <a:rPr>
                <a:hlinkClick r:id="rId7"/>
              </a:rPr>
              <a:t>S09  Provide testing credentials</a:t>
            </a:r>
          </a:p>
        </p:txBody>
      </p:sp>
      <p:sp>
        <p:nvSpPr>
          <p:cNvPr id="14" name="TextBox 13"/>
          <p:cNvSpPr txBox="1"/>
          <p:nvPr/>
        </p:nvSpPr>
        <p:spPr>
          <a:xfrm>
            <a:off x="594360" y="4983479"/>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167259"/>
                </a:solidFill>
                <a:latin typeface="Arial"/>
              </a:defRPr>
            </a:pPr>
            <a:r>
              <a:rPr>
                <a:hlinkClick r:id="rId8"/>
              </a:rPr>
              <a:t>S10  Security best practices</a:t>
            </a:r>
          </a:p>
        </p:txBody>
      </p:sp>
      <p:sp>
        <p:nvSpPr>
          <p:cNvPr id="15" name="TextBox 14"/>
          <p:cNvSpPr txBox="1"/>
          <p:nvPr/>
        </p:nvSpPr>
        <p:spPr>
          <a:xfrm>
            <a:off x="594360" y="5660136"/>
            <a:ext cx="10927080" cy="475488"/>
          </a:xfrm>
          <a:prstGeom prst="rect">
            <a:avLst/>
          </a:prstGeom>
          <a:noFill/>
        </p:spPr>
        <p:txBody>
          <a:bodyPr wrap="square" lIns="0" rIns="0" tIns="0" bIns="0" anchor="t">
            <a:spAutoFit/>
          </a:bodyPr>
          <a:lstStyle/>
          <a:p>
            <a:pPr>
              <a:lnSpc>
                <a:spcPct val="112000"/>
              </a:lnSpc>
              <a:spcAft>
                <a:spcPts val="300"/>
              </a:spcAft>
              <a:defRPr sz="1500" b="0">
                <a:solidFill>
                  <a:srgbClr val="55657A"/>
                </a:solidFill>
                <a:latin typeface="Arial"/>
              </a:defRPr>
            </a:pPr>
            <a:r>
              <a:t>Complete source URLs are embedded in speaker notes. Demo slots include fallback walkthroughs; questions and breaks are additional.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AWS Security Agent — engineering field guide</dc:title>
  <dc:subject>Source-aligned publication edition; timed demonstrations and official documentation.</dc:subject>
  <dc:creator>Frontier agents documentation</dc:creator>
  <cp:keywords/>
  <dc:description>Independent synthesis. No live AWS execution or measured benefit is claimed.</dc:description>
  <cp:lastModifiedBy>Steve Canny</cp:lastModifiedBy>
  <cp:revision>1</cp:revision>
  <dcterms:created xsi:type="dcterms:W3CDTF">2013-01-27T09:14:16Z</dcterms:created>
  <dcterms:modified xsi:type="dcterms:W3CDTF">2013-01-27T09:15:58Z</dcterms:modified>
  <cp:category/>
</cp:coreProperties>
</file>