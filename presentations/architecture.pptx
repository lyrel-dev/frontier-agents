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The three services expose different resource models</a:t>
            </a:r>
          </a:p>
          <a:p/>
          <a:p>
            <a:r>
              <a:t>Budget 2 minutes; cumulative 00:00–02:00.</a:t>
            </a:r>
          </a:p>
          <a:p/>
          <a:p>
            <a:r>
              <a:t>Use platform-specific identifiers rather than a universal ambiguous agent ID.</a:t>
            </a:r>
          </a:p>
          <a:p/>
          <a:p>
            <a:r>
              <a:t>Use the display as the speaking outline. The following canonical guide text is reference, not a mandatory verbatim script.</a:t>
            </a:r>
          </a:p>
          <a:p/>
          <a:p>
            <a:r>
              <a:t>A-01 — Compare resources before comparing workflows</a:t>
            </a:r>
          </a:p>
          <a:p/>
          <a:p>
            <a:r>
              <a:t>A-01 — Compare resources before comparing workflows Layer DevOps Agent Security Agent FinOps Agent Scope Agent Space with account/provider associations Application Agent Space plus shared account resources Agent instance with its own data and connections Reusable configuration Managed/custom agents, selected tools, knowledge, triggers Assessment configurations, requirements, sources, credentials Context files, memories, integrations and automations Execution Investigation, chat, evaluation, custom invocation Assessment run or one-off design review; revalidation job Conversation, queued task, report generation Reviewable state Tool results, investigation evidence, knowledge versions Findings, test context, model/review results, lineage Source queries, task results, report artifacts The terms differ because the objects differ. A common UI label does not make all Agent Spaces identical. In Security Agent, requirements can be shared across applications; in DevOps Agent, a topology graph is not the complete access boundary; in FinOps Agent, an instance's context can be visible to everyone with access to that instance. AS01 AS02 AS03 Engineering design: record the platform, account/Region, configuration ID and execution ID separately. Do not put one ambiguous agent_id in every downstream ticket and expect it to identify all four concepts.</a:t>
            </a:r>
          </a:p>
          <a:p/>
          <a:p>
            <a:r>
              <a:t>AS01 https://docs.aws.amazon.com/devopsagent/latest/userguide/about-aws-devops-agent-what-is-a-devops-agent-topology.html</a:t>
            </a:r>
          </a:p>
          <a:p/>
          <a:p>
            <a:r>
              <a:t>AS02 https://docs.aws.amazon.com/securityagent/latest/userguide/understand-lifecycle.html</a:t>
            </a:r>
          </a:p>
          <a:p/>
          <a:p>
            <a:r>
              <a:t>AS03 https://docs.aws.amazon.com/finops-agent/latest/userguide/creating-an-agent.html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Retained context has different producers and lifecycles</a:t>
            </a:r>
          </a:p>
          <a:p/>
          <a:p>
            <a:r>
              <a:t>Budget 2 minutes; cumulative 02:00–04:00.</a:t>
            </a:r>
          </a:p>
          <a:p/>
          <a:p>
            <a:r>
              <a:t>Do not reduce these to one “learning enabled” setting.</a:t>
            </a:r>
          </a:p>
          <a:p/>
          <a:p>
            <a:r>
              <a:t>Use the display as the speaking outline. The following canonical guide text is reference, not a mandatory verbatim script.</a:t>
            </a:r>
          </a:p>
          <a:p/>
          <a:p>
            <a:r>
              <a:t>A-02 — Separate knowledge producers from consumers</a:t>
            </a:r>
          </a:p>
          <a:p/>
          <a:p>
            <a:r>
              <a:t>A-02 — Separate knowledge producers from consumers Retained material Producer Consumer and lifecycle Do not infer DevOps monitor history Managed learning over investigations Selective memory retrieval; bounded refresh/retention A permanent incident archive or trained model weights DevOps correction Operator feedback; reflection knowledge Later relevant investigation context That feedback instantly changed every derived record Security login skill Successful authentication navigation Reuse on later logins; toggle controls reuse General-purpose vulnerability or incident memory FinOps reference file Operator upload Readable contextual source; soft-delete/restore Conversational edits rewriting the file FinOps memory Conversation/task-derived context Instance-persistent preferences/corrections Verbatim retention of all old conversation messages These mechanisms are documented separately in the canonical guides: D-M01, D-M02, D-M07, S-M02, F-M02 and F-M03. Their lifecycle cannot be replaced by a single generic “learning enabled” checkbox. AS04 AS05 AS06 AS07 Engineering verification: separate five questions: was relevant input available, was retained content produced, was it accessible to this execution, was its use observable, and was the resulting conclusion correct? The final answer alone cannot resolve all five.</a:t>
            </a:r>
          </a:p>
          <a:p/>
          <a:p>
            <a:r>
              <a:t>AS04 https://docs.aws.amazon.com/devopsagent/latest/userguide/about-aws-devops-agent-devops-agent-memories.html</a:t>
            </a:r>
          </a:p>
          <a:p/>
          <a:p>
            <a:r>
              <a:t>AS05 https://docs.aws.amazon.com/devopsagent/latest/userguide/whats-new.html</a:t>
            </a:r>
          </a:p>
          <a:p/>
          <a:p>
            <a:r>
              <a:t>AS06 https://docs.aws.amazon.com/securityagent/latest/userguide/provide-testing-credentials.html</a:t>
            </a:r>
          </a:p>
          <a:p/>
          <a:p>
            <a:r>
              <a:t>AS07 https://docs.aws.amazon.com/finops-agent/latest/userguide/data-protection.html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Connectivity is not authorization</a:t>
            </a:r>
          </a:p>
          <a:p/>
          <a:p>
            <a:r>
              <a:t>Budget 2 minutes; cumulative 04:00–06:00.</a:t>
            </a:r>
          </a:p>
          <a:p/>
          <a:p>
            <a:r>
              <a:t>Test each layer with observed results and an expected denial.</a:t>
            </a:r>
          </a:p>
          <a:p/>
          <a:p>
            <a:r>
              <a:t>Use the display as the speaking outline. The following canonical guide text is reference, not a mandatory verbatim script.</a:t>
            </a:r>
          </a:p>
          <a:p/>
          <a:p>
            <a:r>
              <a:t>A-03 — Connectivity, authentication and authorization are different layers</a:t>
            </a:r>
          </a:p>
          <a:p/>
          <a:p>
            <a:r>
              <a:t>A-03 — Connectivity, authentication and authorization are different layers A private connection supplies a route. Authentication establishes an identity. Authorization determines allowed operations. Prompt instructions describe desired behavior. A successful connection test demonstrates only the layers it actually exercised. For DevOps MCP, provider registration and Agent Space tool selection are distinct from private routing and tool-effect classification. Security testing separately resolves credentials and applies them to the application; retrieval may succeed while login fails. FinOps registers an account integration and then binds a destination to an agent. AS08 AS06 AS09 Engineering test matrix: Test Evidence needed Failure interpretation Intended read Correct identity, resource, time window and result Inspect source access before evaluating the answer Unselected operation Operation unavailable or rejected Do not accept a verbal promise as enforcement evidence Authentication Actual application role reached A fetched secret is insufficient External publication Correct destination and action record Connected integration is insufficient Configuration update Saved identifiers and current values A success message may omit replacement/default consequences Use a non-production target and non-sensitive fixture. These are proposed tests, not recorded service outcomes.</a:t>
            </a:r>
          </a:p>
          <a:p/>
          <a:p>
            <a:r>
              <a:t>AS06 https://docs.aws.amazon.com/securityagent/latest/userguide/provide-testing-credentials.html</a:t>
            </a:r>
          </a:p>
          <a:p/>
          <a:p>
            <a:r>
              <a:t>AS08 https://docs.aws.amazon.com/devopsagent/latest/userguide/configuring-integrations-and-knowledge-connecting-mcp-servers.html</a:t>
            </a:r>
          </a:p>
          <a:p/>
          <a:p>
            <a:r>
              <a:t>AS09 https://docs.aws.amazon.com/finops-agent/latest/userguide/jira-integration.html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The effect determines the relevant approval boundary</a:t>
            </a:r>
          </a:p>
          <a:p/>
          <a:p>
            <a:r>
              <a:t>Budget 2 minutes; cumulative 06:00–08:00.</a:t>
            </a:r>
          </a:p>
          <a:p/>
          <a:p>
            <a:r>
              <a:t>No universal “read-only” or “human-approved” label is sufficient.</a:t>
            </a:r>
          </a:p>
          <a:p/>
          <a:p>
            <a:r>
              <a:t>Use the display as the speaking outline. The following canonical guide text is reference, not a mandatory verbatim script.</a:t>
            </a:r>
          </a:p>
          <a:p/>
          <a:p>
            <a:r>
              <a:t>A-04 — Authorization must follow the effect</a:t>
            </a:r>
          </a:p>
          <a:p/>
          <a:p>
            <a:r>
              <a:t>A-04 — Authorization must follow the effect Effect Product control to inspect Important exception AWS-resource mutation through DevOps Directed-action opt-in, target role and operation-specific approval Programmatically unclassified external tools can default to read-only classification Active application testing Target/network/credential configuration and assessment authorization Application writes can occur without infrastructure-write access Source remediation Repository connection and supported proposed-change path Proposed patch does not mean deployed repair Jira publishing through FinOps Invocation-specific approval Automations pre-authorize actions that would prompt interactively Slack publishing through FinOps Destination configuration Posting has no per-message approval prompt in reviewed guidance The common rule is to examine the actual effect, not to label every agent “read-only” or “human-approved.” AWS documents different controls for different paths. AS10 AS11 AS12 Engineering design: carry a requested effect and intended target in a work item, but never carry credentials or substitute a ticket approval for the receiving service's native authorization.</a:t>
            </a:r>
          </a:p>
          <a:p/>
          <a:p>
            <a:r>
              <a:t>AS10 https://docs.aws.amazon.com/devopsagent/latest/userguide/working-with-devops-agent-working-with-directed-actions.html</a:t>
            </a:r>
          </a:p>
          <a:p/>
          <a:p>
            <a:r>
              <a:t>AS11 https://docs.aws.amazon.com/securityagent/latest/userguide/perform-penetration-test.html</a:t>
            </a:r>
          </a:p>
          <a:p/>
          <a:p>
            <a:r>
              <a:t>AS12 https://docs.aws.amazon.com/finops-agent/latest/userguide/agent-guardrail-control.html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Configuration, runs and artifacts have separate lifecycles</a:t>
            </a:r>
          </a:p>
          <a:p/>
          <a:p>
            <a:r>
              <a:t>Budget 2 minutes; cumulative 08:00–10:00.</a:t>
            </a:r>
          </a:p>
          <a:p/>
          <a:p>
            <a:r>
              <a:t>Stopping future starts does not reverse completed effects.</a:t>
            </a:r>
          </a:p>
          <a:p/>
          <a:p>
            <a:r>
              <a:t>Use the display as the speaking outline. The following canonical guide text is reference, not a mandatory verbatim script.</a:t>
            </a:r>
          </a:p>
          <a:p/>
          <a:p>
            <a:r>
              <a:t>A-05 — Configuration, execution and derived artifacts need separate lifecycles</a:t>
            </a:r>
          </a:p>
          <a:p/>
          <a:p>
            <a:r>
              <a:t>A-05 — Configuration, execution and derived artifacts need separate lifecycles Pause an automation to stop future starts; cancel a current run using its supported operation; remove or deactivate context using its own controls; delete an artifact only when the artifact itself is the intended target. These are different transitions. In-flight calls or retained execution history may remain after a stop action. AS13 AS07 Security revalidation deliberately creates a new job linked to the original finding rather than silently rewriting the original assessment. DevOps memories keep immutable versions. FinOps task records and uploaded files have different retention/deletion semantics. AS14 AS04 AS07 Engineering design: retain version identifiers and source revisions in accepted work records. Keep maintained configuration source in Git. Do not create dated snapshot directories or compressed manual distributions as a substitute for version control. The product's own runtime retention is independent of this repository's history policy.</a:t>
            </a:r>
          </a:p>
          <a:p/>
          <a:p>
            <a:r>
              <a:t>AS04 https://docs.aws.amazon.com/devopsagent/latest/userguide/about-aws-devops-agent-devops-agent-memories.html</a:t>
            </a:r>
          </a:p>
          <a:p/>
          <a:p>
            <a:r>
              <a:t>AS07 https://docs.aws.amazon.com/finops-agent/latest/userguide/data-protection.html</a:t>
            </a:r>
          </a:p>
          <a:p/>
          <a:p>
            <a:r>
              <a:t>AS13 https://docs.aws.amazon.com/devopsagent/latest/userguide/custom-agents-executing-custom-agents.html</a:t>
            </a:r>
          </a:p>
          <a:p/>
          <a:p>
            <a:r>
              <a:t>AS14 https://docs.aws.amazon.com/securityagent/latest/userguide/revalidate-findings.html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A handoff transfers evidence—not credentials or authority</a:t>
            </a:r>
          </a:p>
          <a:p/>
          <a:p>
            <a:r>
              <a:t>Budget 2 minutes; cumulative 10:00–12:00.</a:t>
            </a:r>
          </a:p>
          <a:p/>
          <a:p>
            <a:r>
              <a:t>The receiving team obtains its own access and makes its own authorization decision.</a:t>
            </a:r>
          </a:p>
          <a:p/>
          <a:p>
            <a:r>
              <a:t>Use the display as the speaking outline. The following canonical guide text is reference, not a mandatory verbatim script.</a:t>
            </a:r>
          </a:p>
          <a:p/>
          <a:p>
            <a:r>
              <a:t>A-06 — A handoff is an artifact, not transferred execution authority</a:t>
            </a:r>
          </a:p>
          <a:p/>
          <a:p>
            <a:r>
              <a:t>A-06 — A handoff is an artifact, not transferred execution authority The following is an original team interface, not an AWS schema: schema: engineering-handoff-v1</a:t>
            </a:r>
          </a:p>
          <a:p>
            <a:r>
              <a:t>origin:</a:t>
            </a:r>
          </a:p>
          <a:p>
            <a:r>
              <a:t>  platform: aws-devops-agent</a:t>
            </a:r>
          </a:p>
          <a:p>
            <a:r>
              <a:t>  configuration_id: example-space</a:t>
            </a:r>
          </a:p>
          <a:p>
            <a:r>
              <a:t>  execution_id: example-investigation</a:t>
            </a:r>
          </a:p>
          <a:p>
            <a:r>
              <a:t>  observed_window_utc: "2026-10-22T10:00Z/2026-10-22T10:15Z"</a:t>
            </a:r>
          </a:p>
          <a:p>
            <a:r>
              <a:t>subject:</a:t>
            </a:r>
          </a:p>
          <a:p>
            <a:r>
              <a:t>  service: checkout-staging</a:t>
            </a:r>
          </a:p>
          <a:p>
            <a:r>
              <a:t>  revision: demo-r2</a:t>
            </a:r>
          </a:p>
          <a:p>
            <a:r>
              <a:t>request:</a:t>
            </a:r>
          </a:p>
          <a:p>
            <a:r>
              <a:t>  owner: service-team</a:t>
            </a:r>
          </a:p>
          <a:p>
            <a:r>
              <a:t>  question: Verify the inventory dependency latency explanation</a:t>
            </a:r>
          </a:p>
          <a:p>
            <a:r>
              <a:t>  allowed_effect: review-only</a:t>
            </a:r>
          </a:p>
          <a:p>
            <a:r>
              <a:t>  excluded_effects: [production-deployment, external-publication]</a:t>
            </a:r>
          </a:p>
          <a:p>
            <a:r>
              <a:t>evidence:</a:t>
            </a:r>
          </a:p>
          <a:p>
            <a:r>
              <a:t>  - reference: authorized-internal-record</a:t>
            </a:r>
          </a:p>
          <a:p>
            <a:r>
              <a:t>    observation: inventory p95 increased while database latency remained low</a:t>
            </a:r>
          </a:p>
          <a:p>
            <a:r>
              <a:t>    classification: synthetic-training-fixture</a:t>
            </a:r>
          </a:p>
          <a:p>
            <a:r>
              <a:t>completion:</a:t>
            </a:r>
          </a:p>
          <a:p>
            <a:r>
              <a:t>  required: current evidence supports or rejects the proposed explanation</a:t>
            </a:r>
          </a:p>
          <a:p>
            <a:r>
              <a:t>  unresolved: [upstream-log-access] The receiving engineer resolves the internal evidence link, validates the resource/revision, obtains their own access and decides which product operation is appropriate. There is no implied cross-agent shared session, credential forwarding or automatic trust in the originating conclusion. Failure branch: a task naming “the latest deployment” without an immutable revision cannot establish which change was assessed. Return the work item for clarification rather than letting each product silently choose a different latest revision.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Keep implementation unknowns visible</a:t>
            </a:r>
          </a:p>
          <a:p/>
          <a:p>
            <a:r>
              <a:t>Budget 2 minutes; cumulative 12:00–14:00.</a:t>
            </a:r>
          </a:p>
          <a:p/>
          <a:p>
            <a:r>
              <a:t>An attractive diagram is not evidence of undocumented internals.</a:t>
            </a:r>
          </a:p>
          <a:p/>
          <a:p>
            <a:r>
              <a:t>Use the display as the speaking outline. The following canonical guide text is reference, not a mandatory verbatim script.</a:t>
            </a:r>
          </a:p>
          <a:p/>
          <a:p>
            <a:r>
              <a:t>A-07 — Coverage, evidence and unresolved implementation details</a:t>
            </a:r>
          </a:p>
          <a:p/>
          <a:p>
            <a:r>
              <a:t>A-07 — Coverage, evidence and unresolved implementation details This comparison covers resource scoping, retained context, access layers, effects, lifecycle and handoffs. It does not propose a universal agent framework or reproduce complete IAM policies. The three platform guides carry the detailed procedures and explicit per-product coverage tables. The public sources do not justify specifying a shared vector database, embedding strategy, memory-ranking algorithm, foundation-model training pipeline or cross-product identity fabric. Where an implementation detail is not documented, the guide says so rather than completing an attractive architecture diagram with invented components. Official sources and reviewed scope AS01 DevOps topology versus investigation access scope. AS02 Security account and application resource hierarchy. AS03 FinOps creation and instance connections. AS04 DevOps stored knowledge, retrieval and versioning; newer indexed memory guidance. AS05 Dated DevOps correction-memory change. AS06 Security credential resolution and learned login; newer indexed guidance. AS07 FinOps persistent/runtime state and deletion semantics. AS08 DevOps MCP registration, selection and authentication. AS09 FinOps integration registration and binding. AS10 DevOps directed-action controls and classification. AS11 Security active-target configuration and run boundaries; newer indexed guidance. AS12 FinOps action-specific approval. AS13 Custom-agent trigger versus invocation cancellation. AS14 Security revalidation lineage.</a:t>
            </a:r>
          </a:p>
          <a:p/>
          <a:p>
            <a:r>
              <a:t>AS01 https://docs.aws.amazon.com/devopsagent/latest/userguide/about-aws-devops-agent-what-is-a-devops-agent-topology.html</a:t>
            </a:r>
          </a:p>
          <a:p/>
          <a:p>
            <a:r>
              <a:t>AS02 https://docs.aws.amazon.com/securityagent/latest/userguide/understand-lifecycle.html</a:t>
            </a:r>
          </a:p>
          <a:p/>
          <a:p>
            <a:r>
              <a:t>AS03 https://docs.aws.amazon.com/finops-agent/latest/userguide/creating-an-agent.html</a:t>
            </a:r>
          </a:p>
          <a:p/>
          <a:p>
            <a:r>
              <a:t>AS04 https://docs.aws.amazon.com/devopsagent/latest/userguide/about-aws-devops-agent-devops-agent-memories.html</a:t>
            </a:r>
          </a:p>
          <a:p/>
          <a:p>
            <a:r>
              <a:t>AS05 https://docs.aws.amazon.com/devopsagent/latest/userguide/whats-new.html</a:t>
            </a:r>
          </a:p>
          <a:p/>
          <a:p>
            <a:r>
              <a:t>AS06 https://docs.aws.amazon.com/securityagent/latest/userguide/provide-testing-credentials.html</a:t>
            </a:r>
          </a:p>
          <a:p/>
          <a:p>
            <a:r>
              <a:t>AS07 https://docs.aws.amazon.com/finops-agent/latest/userguide/data-protection.html</a:t>
            </a:r>
          </a:p>
          <a:p/>
          <a:p>
            <a:r>
              <a:t>AS08 https://docs.aws.amazon.com/devopsagent/latest/userguide/configuring-integrations-and-knowledge-connecting-mcp-servers.html</a:t>
            </a:r>
          </a:p>
          <a:p/>
          <a:p>
            <a:r>
              <a:t>AS09 https://docs.aws.amazon.com/finops-agent/latest/userguide/jira-integration.html</a:t>
            </a:r>
          </a:p>
          <a:p/>
          <a:p>
            <a:r>
              <a:t>AS10 https://docs.aws.amazon.com/devopsagent/latest/userguide/working-with-devops-agent-working-with-directed-actions.html</a:t>
            </a:r>
          </a:p>
          <a:p/>
          <a:p>
            <a:r>
              <a:t>AS11 https://docs.aws.amazon.com/securityagent/latest/userguide/perform-penetration-test.html</a:t>
            </a:r>
          </a:p>
          <a:p/>
          <a:p>
            <a:r>
              <a:t>AS12 https://docs.aws.amazon.com/finops-agent/latest/userguide/agent-guardrail-control.html</a:t>
            </a:r>
          </a:p>
          <a:p/>
          <a:p>
            <a:r>
              <a:t>AS13 https://docs.aws.amazon.com/devopsagent/latest/userguide/custom-agents-executing-custom-agents.html</a:t>
            </a:r>
          </a:p>
          <a:p/>
          <a:p>
            <a:r>
              <a:t>AS14 https://docs.aws.amazon.com/securityagent/latest/userguide/revalidate-findings.html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Tabletop: three observations, three evidence obligations</a:t>
            </a:r>
          </a:p>
          <a:p/>
          <a:p>
            <a:r>
              <a:t>Budget 4 minutes; cumulative 14:00–18:00.</a:t>
            </a:r>
          </a:p>
          <a:p/>
          <a:p>
            <a:r>
              <a:t>Synthetic comparison; no shared runtime or live execution assumed.</a:t>
            </a:r>
          </a:p>
          <a:p/>
          <a:p>
            <a:r>
              <a:t>Prepared-result exercise; no live result claimed.</a:t>
            </a:r>
          </a:p>
          <a:p/>
          <a:p>
            <a:r>
              <a:t>A-U01 — Worked comparison: one symptom, three different jobs</a:t>
            </a:r>
          </a:p>
          <a:p/>
          <a:p>
            <a:r>
              <a:t>A-U01 — Worked comparison: one symptom, three different jobs Synthetic tabletop. A staging release produces elevated request retries, an authorization finding and increased transfer volume. Those observations are distinct; one is not proof of the others. Specialist question Product evidence Acceptance boundary Where did the latency increase originate? DevOps current telemetry, historical context and investigation output Explain the supported dependency direction; identify missing upstream evidence Does the repaired account boundary hold? Security finding, deployed revision, actual role and revalidation job Verify the selected authorization path, not overall application security Which cost components increased? FinOps matched queries, quantity/rate decomposition, change evidence Reconcile the delta; distinguish numerical contribution from causal attribution Four-minute exercise: spend one minute identifying each product's required input, two minutes checking revision/window/identity consistency across the prepared records, and one minute assigning unresolved questions to owners. A purported single root cause is rejected unless evidence actually connects the observations. No live agents or shared runtime are assumed.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Accept documents on operating usefulness</a:t>
            </a:r>
          </a:p>
          <a:p/>
          <a:p>
            <a:r>
              <a:t>Budget 2 minutes; cumulative 18:00–20:00.</a:t>
            </a:r>
          </a:p>
          <a:p/>
          <a:p>
            <a:r>
              <a:t>Link and layout checks are necessary but do not prove technical completeness.</a:t>
            </a:r>
          </a:p>
          <a:p/>
          <a:p>
            <a:r>
              <a:t>Use the display as the speaking outline. The following canonical guide text is reference, not a mandatory verbatim script.</a:t>
            </a:r>
          </a:p>
          <a:p/>
          <a:p>
            <a:r>
              <a:t>A-07 — Coverage, evidence and unresolved implementation details</a:t>
            </a:r>
          </a:p>
          <a:p/>
          <a:p>
            <a:r>
              <a:t>A-07 — Coverage, evidence and unresolved implementation details This comparison covers resource scoping, retained context, access layers, effects, lifecycle and handoffs. It does not propose a universal agent framework or reproduce complete IAM policies. The three platform guides carry the detailed procedures and explicit per-product coverage tables. The public sources do not justify specifying a shared vector database, embedding strategy, memory-ranking algorithm, foundation-model training pipeline or cross-product identity fabric. Where an implementation detail is not documented, the guide says so rather than completing an attractive architecture diagram with invented components. Official sources and reviewed scope AS01 DevOps topology versus investigation access scope. AS02 Security account and application resource hierarchy. AS03 FinOps creation and instance connections. AS04 DevOps stored knowledge, retrieval and versioning; newer indexed memory guidance. AS05 Dated DevOps correction-memory change. AS06 Security credential resolution and learned login; newer indexed guidance. AS07 FinOps persistent/runtime state and deletion semantics. AS08 DevOps MCP registration, selection and authentication. AS09 FinOps integration registration and binding. AS10 DevOps directed-action controls and classification. AS11 Security active-target configuration and run boundaries; newer indexed guidance. AS12 FinOps action-specific approval. AS13 Custom-agent trigger versus invocation cancellation. AS14 Security revalidation lineage.</a:t>
            </a:r>
          </a:p>
          <a:p/>
          <a:p>
            <a:r>
              <a:t>AS01 https://docs.aws.amazon.com/devopsagent/latest/userguide/about-aws-devops-agent-what-is-a-devops-agent-topology.html</a:t>
            </a:r>
          </a:p>
          <a:p/>
          <a:p>
            <a:r>
              <a:t>AS02 https://docs.aws.amazon.com/securityagent/latest/userguide/understand-lifecycle.html</a:t>
            </a:r>
          </a:p>
          <a:p/>
          <a:p>
            <a:r>
              <a:t>AS03 https://docs.aws.amazon.com/finops-agent/latest/userguide/creating-an-agent.html</a:t>
            </a:r>
          </a:p>
          <a:p/>
          <a:p>
            <a:r>
              <a:t>AS04 https://docs.aws.amazon.com/devopsagent/latest/userguide/about-aws-devops-agent-devops-agent-memories.html</a:t>
            </a:r>
          </a:p>
          <a:p/>
          <a:p>
            <a:r>
              <a:t>AS05 https://docs.aws.amazon.com/devopsagent/latest/userguide/whats-new.html</a:t>
            </a:r>
          </a:p>
          <a:p/>
          <a:p>
            <a:r>
              <a:t>AS06 https://docs.aws.amazon.com/securityagent/latest/userguide/provide-testing-credentials.html</a:t>
            </a:r>
          </a:p>
          <a:p/>
          <a:p>
            <a:r>
              <a:t>AS07 https://docs.aws.amazon.com/finops-agent/latest/userguide/data-protection.html</a:t>
            </a:r>
          </a:p>
          <a:p/>
          <a:p>
            <a:r>
              <a:t>AS08 https://docs.aws.amazon.com/devopsagent/latest/userguide/configuring-integrations-and-knowledge-connecting-mcp-servers.html</a:t>
            </a:r>
          </a:p>
          <a:p/>
          <a:p>
            <a:r>
              <a:t>AS09 https://docs.aws.amazon.com/finops-agent/latest/userguide/jira-integration.html</a:t>
            </a:r>
          </a:p>
          <a:p/>
          <a:p>
            <a:r>
              <a:t>AS10 https://docs.aws.amazon.com/devopsagent/latest/userguide/working-with-devops-agent-working-with-directed-actions.html</a:t>
            </a:r>
          </a:p>
          <a:p/>
          <a:p>
            <a:r>
              <a:t>AS11 https://docs.aws.amazon.com/securityagent/latest/userguide/perform-penetration-test.html</a:t>
            </a:r>
          </a:p>
          <a:p/>
          <a:p>
            <a:r>
              <a:t>AS12 https://docs.aws.amazon.com/finops-agent/latest/userguide/agent-guardrail-control.html</a:t>
            </a:r>
          </a:p>
          <a:p/>
          <a:p>
            <a:r>
              <a:t>AS13 https://docs.aws.amazon.com/devopsagent/latest/userguide/custom-agents-executing-custom-agents.html</a:t>
            </a:r>
          </a:p>
          <a:p/>
          <a:p>
            <a:r>
              <a:t>AS14 https://docs.aws.amazon.com/securityagent/latest/userguide/revalidate-findings.html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appendix, outside the timed programme.</a:t>
            </a:r>
          </a:p>
          <a:p/>
          <a:p>
            <a:r>
              <a:t>AS01 https://docs.aws.amazon.com/devopsagent/latest/userguide/about-aws-devops-agent-what-is-a-devops-agent-topology.html</a:t>
            </a:r>
          </a:p>
          <a:p>
            <a:r>
              <a:t>AS02 https://docs.aws.amazon.com/securityagent/latest/userguide/understand-lifecycle.html</a:t>
            </a:r>
          </a:p>
          <a:p>
            <a:r>
              <a:t>AS03 https://docs.aws.amazon.com/finops-agent/latest/userguide/creating-an-agent.html</a:t>
            </a:r>
          </a:p>
          <a:p>
            <a:r>
              <a:t>AS04 https://docs.aws.amazon.com/devopsagent/latest/userguide/about-aws-devops-agent-devops-agent-memories.html</a:t>
            </a:r>
          </a:p>
          <a:p>
            <a:r>
              <a:t>AS05 https://docs.aws.amazon.com/devopsagent/latest/userguide/whats-new.html</a:t>
            </a:r>
          </a:p>
          <a:p>
            <a:r>
              <a:t>AS06 https://docs.aws.amazon.com/securityagent/latest/userguide/provide-testing-credentials.html</a:t>
            </a:r>
          </a:p>
          <a:p>
            <a:r>
              <a:t>AS07 https://docs.aws.amazon.com/finops-agent/latest/userguide/data-protection.html</a:t>
            </a:r>
          </a:p>
          <a:p>
            <a:r>
              <a:t>AS08 https://docs.aws.amazon.com/devopsagent/latest/userguide/configuring-integrations-and-knowledge-connecting-mcp-servers.html</a:t>
            </a:r>
          </a:p>
          <a:p>
            <a:r>
              <a:t>AS09 https://docs.aws.amazon.com/finops-agent/latest/userguide/jira-integration.html</a:t>
            </a:r>
          </a:p>
          <a:p>
            <a:r>
              <a:t>AS10 https://docs.aws.amazon.com/devopsagent/latest/userguide/working-with-devops-agent-working-with-directed-actions.html</a:t>
            </a:r>
          </a:p>
          <a:p>
            <a:r>
              <a:t>AS11 https://docs.aws.amazon.com/securityagent/latest/userguide/perform-penetration-test.html</a:t>
            </a:r>
          </a:p>
          <a:p>
            <a:r>
              <a:t>AS12 https://docs.aws.amazon.com/finops-agent/latest/userguide/agent-guardrail-control.html</a:t>
            </a:r>
          </a:p>
          <a:p>
            <a:r>
              <a:t>AS13 https://docs.aws.amazon.com/devopsagent/latest/userguide/custom-agents-executing-custom-agents.html</a:t>
            </a:r>
          </a:p>
          <a:p>
            <a:r>
              <a:t>AS14 https://docs.aws.amazon.com/securityagent/latest/userguide/revalidate-findings.html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lnSpc>
                <a:spcPct val="112000"/>
              </a:lnSpc>
              <a:spcAft>
                <a:spcPts val="0"/>
              </a:spcAft>
              <a:defRPr sz="1100" b="1">
                <a:solidFill>
                  <a:srgbClr val="526579"/>
                </a:solidFill>
                <a:latin typeface="Liberation Sans"/>
              </a:defRPr>
            </a:pPr>
            <a:r>
              <a:t>SHARED ARCHITECTURE</a:t>
            </a:r>
          </a:p>
        </p:txBody>
      </p:sp>
      <p:sp>
        <p:nvSpPr>
          <p:cNvPr id="4" name="TextBox 3"/>
          <p:cNvSpPr txBox="1"/>
          <p:nvPr/>
        </p:nvSpPr>
        <p:spPr>
          <a:xfrm>
            <a:off x="502920" y="658368"/>
            <a:ext cx="11109960" cy="868680"/>
          </a:xfrm>
          <a:prstGeom prst="rect">
            <a:avLst/>
          </a:prstGeom>
          <a:noFill/>
        </p:spPr>
        <p:txBody>
          <a:bodyPr wrap="square" lIns="0" rIns="0" tIns="0" bIns="0">
            <a:spAutoFit/>
          </a:bodyPr>
          <a:lstStyle/>
          <a:p>
            <a:pPr>
              <a:lnSpc>
                <a:spcPct val="112000"/>
              </a:lnSpc>
              <a:spcAft>
                <a:spcPts val="0"/>
              </a:spcAft>
              <a:defRPr sz="3000" b="1">
                <a:solidFill>
                  <a:srgbClr val="172C43"/>
                </a:solidFill>
                <a:latin typeface="Liberation Sans"/>
              </a:defRPr>
            </a:pPr>
            <a:r>
              <a:t>The three services expose different resource models</a:t>
            </a:r>
          </a:p>
        </p:txBody>
      </p:sp>
      <p:sp>
        <p:nvSpPr>
          <p:cNvPr id="5" name="Rectangle 4"/>
          <p:cNvSpPr/>
          <p:nvPr/>
        </p:nvSpPr>
        <p:spPr>
          <a:xfrm>
            <a:off x="502920" y="1755648"/>
            <a:ext cx="1828800" cy="948690"/>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 y="1865376"/>
            <a:ext cx="1572768" cy="756666"/>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Layer</a:t>
            </a:r>
          </a:p>
        </p:txBody>
      </p:sp>
      <p:sp>
        <p:nvSpPr>
          <p:cNvPr id="7" name="Rectangle 6"/>
          <p:cNvSpPr/>
          <p:nvPr/>
        </p:nvSpPr>
        <p:spPr>
          <a:xfrm>
            <a:off x="2331720" y="1755648"/>
            <a:ext cx="3108960" cy="948690"/>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59736" y="1865376"/>
            <a:ext cx="2852928" cy="756666"/>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DevOps</a:t>
            </a:r>
          </a:p>
        </p:txBody>
      </p:sp>
      <p:sp>
        <p:nvSpPr>
          <p:cNvPr id="9" name="Rectangle 8"/>
          <p:cNvSpPr/>
          <p:nvPr/>
        </p:nvSpPr>
        <p:spPr>
          <a:xfrm>
            <a:off x="5440679" y="1755648"/>
            <a:ext cx="3108960" cy="948690"/>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68695" y="1865376"/>
            <a:ext cx="2852928" cy="756666"/>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Security</a:t>
            </a:r>
          </a:p>
        </p:txBody>
      </p:sp>
      <p:sp>
        <p:nvSpPr>
          <p:cNvPr id="11" name="Rectangle 10"/>
          <p:cNvSpPr/>
          <p:nvPr/>
        </p:nvSpPr>
        <p:spPr>
          <a:xfrm>
            <a:off x="8549640" y="1755648"/>
            <a:ext cx="3154680" cy="948690"/>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77656" y="1865376"/>
            <a:ext cx="2898648" cy="756666"/>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FinOps</a:t>
            </a:r>
          </a:p>
        </p:txBody>
      </p:sp>
      <p:sp>
        <p:nvSpPr>
          <p:cNvPr id="13" name="Rectangle 12"/>
          <p:cNvSpPr/>
          <p:nvPr/>
        </p:nvSpPr>
        <p:spPr>
          <a:xfrm>
            <a:off x="502920" y="2704338"/>
            <a:ext cx="182880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 y="2814066"/>
            <a:ext cx="1572768"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Scope</a:t>
            </a:r>
          </a:p>
        </p:txBody>
      </p:sp>
      <p:sp>
        <p:nvSpPr>
          <p:cNvPr id="15" name="Rectangle 14"/>
          <p:cNvSpPr/>
          <p:nvPr/>
        </p:nvSpPr>
        <p:spPr>
          <a:xfrm>
            <a:off x="2331720" y="2704338"/>
            <a:ext cx="310896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59736" y="2814066"/>
            <a:ext cx="2852928"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Agent Space</a:t>
            </a:r>
          </a:p>
        </p:txBody>
      </p:sp>
      <p:sp>
        <p:nvSpPr>
          <p:cNvPr id="17" name="Rectangle 16"/>
          <p:cNvSpPr/>
          <p:nvPr/>
        </p:nvSpPr>
        <p:spPr>
          <a:xfrm>
            <a:off x="5440679" y="2704338"/>
            <a:ext cx="310896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568695" y="2814066"/>
            <a:ext cx="2852928"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Application + shared resources</a:t>
            </a:r>
          </a:p>
        </p:txBody>
      </p:sp>
      <p:sp>
        <p:nvSpPr>
          <p:cNvPr id="19" name="Rectangle 18"/>
          <p:cNvSpPr/>
          <p:nvPr/>
        </p:nvSpPr>
        <p:spPr>
          <a:xfrm>
            <a:off x="8549640" y="2704338"/>
            <a:ext cx="315468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77656" y="2814066"/>
            <a:ext cx="2898648"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Agent instance</a:t>
            </a:r>
          </a:p>
        </p:txBody>
      </p:sp>
      <p:sp>
        <p:nvSpPr>
          <p:cNvPr id="21" name="Rectangle 20"/>
          <p:cNvSpPr/>
          <p:nvPr/>
        </p:nvSpPr>
        <p:spPr>
          <a:xfrm>
            <a:off x="502920" y="3653028"/>
            <a:ext cx="1828800" cy="948690"/>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6" y="3762756"/>
            <a:ext cx="1572768"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Configuration</a:t>
            </a:r>
          </a:p>
        </p:txBody>
      </p:sp>
      <p:sp>
        <p:nvSpPr>
          <p:cNvPr id="23" name="Rectangle 22"/>
          <p:cNvSpPr/>
          <p:nvPr/>
        </p:nvSpPr>
        <p:spPr>
          <a:xfrm>
            <a:off x="2331720" y="3653028"/>
            <a:ext cx="3108960" cy="948690"/>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459736" y="3762756"/>
            <a:ext cx="2852928"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Agents, tools, knowledge</a:t>
            </a:r>
          </a:p>
        </p:txBody>
      </p:sp>
      <p:sp>
        <p:nvSpPr>
          <p:cNvPr id="25" name="Rectangle 24"/>
          <p:cNvSpPr/>
          <p:nvPr/>
        </p:nvSpPr>
        <p:spPr>
          <a:xfrm>
            <a:off x="5440679" y="3653028"/>
            <a:ext cx="3108960" cy="948690"/>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568695" y="3762756"/>
            <a:ext cx="2852928"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Assessment definitions</a:t>
            </a:r>
          </a:p>
        </p:txBody>
      </p:sp>
      <p:sp>
        <p:nvSpPr>
          <p:cNvPr id="27" name="Rectangle 26"/>
          <p:cNvSpPr/>
          <p:nvPr/>
        </p:nvSpPr>
        <p:spPr>
          <a:xfrm>
            <a:off x="8549640" y="3653028"/>
            <a:ext cx="3154680" cy="948690"/>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677656" y="3762756"/>
            <a:ext cx="2898648"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Context, automations, connections</a:t>
            </a:r>
          </a:p>
        </p:txBody>
      </p:sp>
      <p:sp>
        <p:nvSpPr>
          <p:cNvPr id="29" name="Rectangle 28"/>
          <p:cNvSpPr/>
          <p:nvPr/>
        </p:nvSpPr>
        <p:spPr>
          <a:xfrm>
            <a:off x="502920" y="4601718"/>
            <a:ext cx="182880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936" y="4711446"/>
            <a:ext cx="1572768"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Execution</a:t>
            </a:r>
          </a:p>
        </p:txBody>
      </p:sp>
      <p:sp>
        <p:nvSpPr>
          <p:cNvPr id="31" name="Rectangle 30"/>
          <p:cNvSpPr/>
          <p:nvPr/>
        </p:nvSpPr>
        <p:spPr>
          <a:xfrm>
            <a:off x="2331720" y="4601718"/>
            <a:ext cx="310896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459736" y="4711446"/>
            <a:ext cx="2852928"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Investigation / invocation</a:t>
            </a:r>
          </a:p>
        </p:txBody>
      </p:sp>
      <p:sp>
        <p:nvSpPr>
          <p:cNvPr id="33" name="Rectangle 32"/>
          <p:cNvSpPr/>
          <p:nvPr/>
        </p:nvSpPr>
        <p:spPr>
          <a:xfrm>
            <a:off x="5440679" y="4601718"/>
            <a:ext cx="310896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568695" y="4711446"/>
            <a:ext cx="2852928"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Run / revalidation job</a:t>
            </a:r>
          </a:p>
        </p:txBody>
      </p:sp>
      <p:sp>
        <p:nvSpPr>
          <p:cNvPr id="35" name="Rectangle 34"/>
          <p:cNvSpPr/>
          <p:nvPr/>
        </p:nvSpPr>
        <p:spPr>
          <a:xfrm>
            <a:off x="8549640" y="4601718"/>
            <a:ext cx="315468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77656" y="4711446"/>
            <a:ext cx="2898648"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Conversation / task</a:t>
            </a:r>
          </a:p>
        </p:txBody>
      </p:sp>
      <p:sp>
        <p:nvSpPr>
          <p:cNvPr id="37" name="Rectangle 36"/>
          <p:cNvSpPr/>
          <p:nvPr/>
        </p:nvSpPr>
        <p:spPr>
          <a:xfrm>
            <a:off x="502920" y="5705856"/>
            <a:ext cx="11201400" cy="576072"/>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833872"/>
            <a:ext cx="10835640" cy="338328"/>
          </a:xfrm>
          <a:prstGeom prst="rect">
            <a:avLst/>
          </a:prstGeom>
          <a:noFill/>
        </p:spPr>
        <p:txBody>
          <a:bodyPr wrap="square" lIns="0" rIns="0" tIns="0" bIns="0">
            <a:spAutoFit/>
          </a:bodyPr>
          <a:lstStyle/>
          <a:p>
            <a:pPr>
              <a:lnSpc>
                <a:spcPct val="112000"/>
              </a:lnSpc>
              <a:spcAft>
                <a:spcPts val="0"/>
              </a:spcAft>
              <a:defRPr sz="1700" b="0">
                <a:solidFill>
                  <a:srgbClr val="FFFFFF"/>
                </a:solidFill>
                <a:latin typeface="Liberation Sans"/>
              </a:defRPr>
            </a:pPr>
            <a:r>
              <a:t>Use platform-specific identifiers rather than a universal ambiguous agent ID.</a:t>
            </a:r>
          </a:p>
        </p:txBody>
      </p:sp>
      <p:sp>
        <p:nvSpPr>
          <p:cNvPr id="39" name="TextBox 38"/>
          <p:cNvSpPr txBox="1"/>
          <p:nvPr/>
        </p:nvSpPr>
        <p:spPr>
          <a:xfrm>
            <a:off x="502920" y="6446520"/>
            <a:ext cx="640080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A-01</a:t>
            </a:r>
          </a:p>
        </p:txBody>
      </p:sp>
      <p:sp>
        <p:nvSpPr>
          <p:cNvPr id="40" name="TextBox 39"/>
          <p:cNvSpPr txBox="1"/>
          <p:nvPr/>
        </p:nvSpPr>
        <p:spPr>
          <a:xfrm>
            <a:off x="7315200" y="6446520"/>
            <a:ext cx="438912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01 / 09     00:00–02:00  |  2 min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lnSpc>
                <a:spcPct val="112000"/>
              </a:lnSpc>
              <a:spcAft>
                <a:spcPts val="0"/>
              </a:spcAft>
              <a:defRPr sz="1100" b="1">
                <a:solidFill>
                  <a:srgbClr val="526579"/>
                </a:solidFill>
                <a:latin typeface="Liberation Sans"/>
              </a:defRPr>
            </a:pPr>
            <a:r>
              <a:t>SHARED ARCHITECTURE</a:t>
            </a:r>
          </a:p>
        </p:txBody>
      </p:sp>
      <p:sp>
        <p:nvSpPr>
          <p:cNvPr id="4" name="TextBox 3"/>
          <p:cNvSpPr txBox="1"/>
          <p:nvPr/>
        </p:nvSpPr>
        <p:spPr>
          <a:xfrm>
            <a:off x="502920" y="658368"/>
            <a:ext cx="11109960" cy="868680"/>
          </a:xfrm>
          <a:prstGeom prst="rect">
            <a:avLst/>
          </a:prstGeom>
          <a:noFill/>
        </p:spPr>
        <p:txBody>
          <a:bodyPr wrap="square" lIns="0" rIns="0" tIns="0" bIns="0">
            <a:spAutoFit/>
          </a:bodyPr>
          <a:lstStyle/>
          <a:p>
            <a:pPr>
              <a:lnSpc>
                <a:spcPct val="112000"/>
              </a:lnSpc>
              <a:spcAft>
                <a:spcPts val="0"/>
              </a:spcAft>
              <a:defRPr sz="3000" b="1">
                <a:solidFill>
                  <a:srgbClr val="172C43"/>
                </a:solidFill>
                <a:latin typeface="Liberation Sans"/>
              </a:defRPr>
            </a:pPr>
            <a:r>
              <a:t>Retained context has different producers and lifecycles</a:t>
            </a:r>
          </a:p>
        </p:txBody>
      </p:sp>
      <p:sp>
        <p:nvSpPr>
          <p:cNvPr id="5" name="Rectangle 4"/>
          <p:cNvSpPr/>
          <p:nvPr/>
        </p:nvSpPr>
        <p:spPr>
          <a:xfrm>
            <a:off x="502920" y="1755648"/>
            <a:ext cx="2377440" cy="758952"/>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 y="1865376"/>
            <a:ext cx="2121408" cy="566928"/>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Material</a:t>
            </a:r>
          </a:p>
        </p:txBody>
      </p:sp>
      <p:sp>
        <p:nvSpPr>
          <p:cNvPr id="7" name="Rectangle 6"/>
          <p:cNvSpPr/>
          <p:nvPr/>
        </p:nvSpPr>
        <p:spPr>
          <a:xfrm>
            <a:off x="2880360" y="1755648"/>
            <a:ext cx="3931920" cy="758952"/>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08376" y="1865376"/>
            <a:ext cx="3675887" cy="566928"/>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Producer</a:t>
            </a:r>
          </a:p>
        </p:txBody>
      </p:sp>
      <p:sp>
        <p:nvSpPr>
          <p:cNvPr id="9" name="Rectangle 8"/>
          <p:cNvSpPr/>
          <p:nvPr/>
        </p:nvSpPr>
        <p:spPr>
          <a:xfrm>
            <a:off x="6812280" y="1755648"/>
            <a:ext cx="4892040" cy="758952"/>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0296" y="1865376"/>
            <a:ext cx="4636007" cy="566928"/>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Consumer</a:t>
            </a:r>
          </a:p>
        </p:txBody>
      </p:sp>
      <p:sp>
        <p:nvSpPr>
          <p:cNvPr id="11" name="Rectangle 10"/>
          <p:cNvSpPr/>
          <p:nvPr/>
        </p:nvSpPr>
        <p:spPr>
          <a:xfrm>
            <a:off x="502920" y="2514600"/>
            <a:ext cx="237744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 y="2624328"/>
            <a:ext cx="212140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Monitor knowledge</a:t>
            </a:r>
          </a:p>
        </p:txBody>
      </p:sp>
      <p:sp>
        <p:nvSpPr>
          <p:cNvPr id="13" name="Rectangle 12"/>
          <p:cNvSpPr/>
          <p:nvPr/>
        </p:nvSpPr>
        <p:spPr>
          <a:xfrm>
            <a:off x="2880360" y="2514600"/>
            <a:ext cx="393192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08376" y="2624328"/>
            <a:ext cx="3675887"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Managed investigation learning</a:t>
            </a:r>
          </a:p>
        </p:txBody>
      </p:sp>
      <p:sp>
        <p:nvSpPr>
          <p:cNvPr id="15" name="Rectangle 14"/>
          <p:cNvSpPr/>
          <p:nvPr/>
        </p:nvSpPr>
        <p:spPr>
          <a:xfrm>
            <a:off x="6812280" y="2514600"/>
            <a:ext cx="489204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0296" y="2624328"/>
            <a:ext cx="4636007"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Relevant later investigation</a:t>
            </a:r>
          </a:p>
        </p:txBody>
      </p:sp>
      <p:sp>
        <p:nvSpPr>
          <p:cNvPr id="17" name="Rectangle 16"/>
          <p:cNvSpPr/>
          <p:nvPr/>
        </p:nvSpPr>
        <p:spPr>
          <a:xfrm>
            <a:off x="502920" y="3273552"/>
            <a:ext cx="237744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 y="3383280"/>
            <a:ext cx="212140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Login skill</a:t>
            </a:r>
          </a:p>
        </p:txBody>
      </p:sp>
      <p:sp>
        <p:nvSpPr>
          <p:cNvPr id="19" name="Rectangle 18"/>
          <p:cNvSpPr/>
          <p:nvPr/>
        </p:nvSpPr>
        <p:spPr>
          <a:xfrm>
            <a:off x="2880360" y="3273552"/>
            <a:ext cx="393192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08376" y="3383280"/>
            <a:ext cx="3675887" cy="566928"/>
          </a:xfrm>
          <a:prstGeom prst="rect">
            <a:avLst/>
          </a:prstGeom>
          <a:noFill/>
        </p:spPr>
        <p:txBody>
          <a:bodyPr wrap="square" lIns="0" rIns="0" tIns="0" bIns="0">
            <a:spAutoFit/>
          </a:bodyPr>
          <a:lstStyle/>
          <a:p>
            <a:pPr>
              <a:lnSpc>
                <a:spcPct val="112000"/>
              </a:lnSpc>
              <a:spcAft>
                <a:spcPts val="0"/>
              </a:spcAft>
              <a:defRPr sz="1800" b="0">
                <a:solidFill>
                  <a:srgbClr val="172C43"/>
                </a:solidFill>
                <a:latin typeface="Liberation Sans"/>
              </a:defRPr>
            </a:pPr>
            <a:r>
              <a:t>Successful authentication navigation</a:t>
            </a:r>
          </a:p>
        </p:txBody>
      </p:sp>
      <p:sp>
        <p:nvSpPr>
          <p:cNvPr id="21" name="Rectangle 20"/>
          <p:cNvSpPr/>
          <p:nvPr/>
        </p:nvSpPr>
        <p:spPr>
          <a:xfrm>
            <a:off x="6812280" y="3273552"/>
            <a:ext cx="489204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40296" y="3383280"/>
            <a:ext cx="4636007"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Later login</a:t>
            </a:r>
          </a:p>
        </p:txBody>
      </p:sp>
      <p:sp>
        <p:nvSpPr>
          <p:cNvPr id="23" name="Rectangle 22"/>
          <p:cNvSpPr/>
          <p:nvPr/>
        </p:nvSpPr>
        <p:spPr>
          <a:xfrm>
            <a:off x="502920" y="4032504"/>
            <a:ext cx="237744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6" y="4142232"/>
            <a:ext cx="212140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Reference file</a:t>
            </a:r>
          </a:p>
        </p:txBody>
      </p:sp>
      <p:sp>
        <p:nvSpPr>
          <p:cNvPr id="25" name="Rectangle 24"/>
          <p:cNvSpPr/>
          <p:nvPr/>
        </p:nvSpPr>
        <p:spPr>
          <a:xfrm>
            <a:off x="2880360" y="4032504"/>
            <a:ext cx="393192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08376" y="4142232"/>
            <a:ext cx="3675887"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Operator upload</a:t>
            </a:r>
          </a:p>
        </p:txBody>
      </p:sp>
      <p:sp>
        <p:nvSpPr>
          <p:cNvPr id="27" name="Rectangle 26"/>
          <p:cNvSpPr/>
          <p:nvPr/>
        </p:nvSpPr>
        <p:spPr>
          <a:xfrm>
            <a:off x="6812280" y="4032504"/>
            <a:ext cx="489204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40296" y="4142232"/>
            <a:ext cx="4636007"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Agent task or conversation</a:t>
            </a:r>
          </a:p>
        </p:txBody>
      </p:sp>
      <p:sp>
        <p:nvSpPr>
          <p:cNvPr id="29" name="Rectangle 28"/>
          <p:cNvSpPr/>
          <p:nvPr/>
        </p:nvSpPr>
        <p:spPr>
          <a:xfrm>
            <a:off x="502920" y="4791456"/>
            <a:ext cx="237744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936" y="4901184"/>
            <a:ext cx="2121408" cy="566928"/>
          </a:xfrm>
          <a:prstGeom prst="rect">
            <a:avLst/>
          </a:prstGeom>
          <a:noFill/>
        </p:spPr>
        <p:txBody>
          <a:bodyPr wrap="square" lIns="0" rIns="0" tIns="0" bIns="0">
            <a:spAutoFit/>
          </a:bodyPr>
          <a:lstStyle/>
          <a:p>
            <a:pPr>
              <a:lnSpc>
                <a:spcPct val="112000"/>
              </a:lnSpc>
              <a:spcAft>
                <a:spcPts val="0"/>
              </a:spcAft>
              <a:defRPr sz="1800" b="0">
                <a:solidFill>
                  <a:srgbClr val="172C43"/>
                </a:solidFill>
                <a:latin typeface="Liberation Sans"/>
              </a:defRPr>
            </a:pPr>
            <a:r>
              <a:t>Conversational memory</a:t>
            </a:r>
          </a:p>
        </p:txBody>
      </p:sp>
      <p:sp>
        <p:nvSpPr>
          <p:cNvPr id="31" name="Rectangle 30"/>
          <p:cNvSpPr/>
          <p:nvPr/>
        </p:nvSpPr>
        <p:spPr>
          <a:xfrm>
            <a:off x="2880360" y="4791456"/>
            <a:ext cx="393192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08376" y="4901184"/>
            <a:ext cx="3675887"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Preferences/corrections</a:t>
            </a:r>
          </a:p>
        </p:txBody>
      </p:sp>
      <p:sp>
        <p:nvSpPr>
          <p:cNvPr id="33" name="Rectangle 32"/>
          <p:cNvSpPr/>
          <p:nvPr/>
        </p:nvSpPr>
        <p:spPr>
          <a:xfrm>
            <a:off x="6812280" y="4791456"/>
            <a:ext cx="489204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40296" y="4901184"/>
            <a:ext cx="4636007"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Later session</a:t>
            </a:r>
          </a:p>
        </p:txBody>
      </p:sp>
      <p:sp>
        <p:nvSpPr>
          <p:cNvPr id="35" name="Rectangle 34"/>
          <p:cNvSpPr/>
          <p:nvPr/>
        </p:nvSpPr>
        <p:spPr>
          <a:xfrm>
            <a:off x="502920" y="5705856"/>
            <a:ext cx="11201400" cy="576072"/>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800" y="5833872"/>
            <a:ext cx="10835640" cy="338328"/>
          </a:xfrm>
          <a:prstGeom prst="rect">
            <a:avLst/>
          </a:prstGeom>
          <a:noFill/>
        </p:spPr>
        <p:txBody>
          <a:bodyPr wrap="square" lIns="0" rIns="0" tIns="0" bIns="0">
            <a:spAutoFit/>
          </a:bodyPr>
          <a:lstStyle/>
          <a:p>
            <a:pPr>
              <a:lnSpc>
                <a:spcPct val="112000"/>
              </a:lnSpc>
              <a:spcAft>
                <a:spcPts val="0"/>
              </a:spcAft>
              <a:defRPr sz="1700" b="0">
                <a:solidFill>
                  <a:srgbClr val="FFFFFF"/>
                </a:solidFill>
                <a:latin typeface="Liberation Sans"/>
              </a:defRPr>
            </a:pPr>
            <a:r>
              <a:t>Do not reduce these to one “learning enabled” setting.</a:t>
            </a:r>
          </a:p>
        </p:txBody>
      </p:sp>
      <p:sp>
        <p:nvSpPr>
          <p:cNvPr id="37" name="TextBox 36"/>
          <p:cNvSpPr txBox="1"/>
          <p:nvPr/>
        </p:nvSpPr>
        <p:spPr>
          <a:xfrm>
            <a:off x="502920" y="6446520"/>
            <a:ext cx="640080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A-02</a:t>
            </a:r>
          </a:p>
        </p:txBody>
      </p:sp>
      <p:sp>
        <p:nvSpPr>
          <p:cNvPr id="38" name="TextBox 37"/>
          <p:cNvSpPr txBox="1"/>
          <p:nvPr/>
        </p:nvSpPr>
        <p:spPr>
          <a:xfrm>
            <a:off x="7315200" y="6446520"/>
            <a:ext cx="438912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02 / 09     02:00–04:00  |  2 min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lnSpc>
                <a:spcPct val="112000"/>
              </a:lnSpc>
              <a:spcAft>
                <a:spcPts val="0"/>
              </a:spcAft>
              <a:defRPr sz="1100" b="1">
                <a:solidFill>
                  <a:srgbClr val="526579"/>
                </a:solidFill>
                <a:latin typeface="Liberation Sans"/>
              </a:defRPr>
            </a:pPr>
            <a:r>
              <a:t>SHARED ARCHITECTURE</a:t>
            </a:r>
          </a:p>
        </p:txBody>
      </p:sp>
      <p:sp>
        <p:nvSpPr>
          <p:cNvPr id="4" name="TextBox 3"/>
          <p:cNvSpPr txBox="1"/>
          <p:nvPr/>
        </p:nvSpPr>
        <p:spPr>
          <a:xfrm>
            <a:off x="502920" y="658368"/>
            <a:ext cx="11109960" cy="868680"/>
          </a:xfrm>
          <a:prstGeom prst="rect">
            <a:avLst/>
          </a:prstGeom>
          <a:noFill/>
        </p:spPr>
        <p:txBody>
          <a:bodyPr wrap="square" lIns="0" rIns="0" tIns="0" bIns="0">
            <a:spAutoFit/>
          </a:bodyPr>
          <a:lstStyle/>
          <a:p>
            <a:pPr>
              <a:lnSpc>
                <a:spcPct val="112000"/>
              </a:lnSpc>
              <a:spcAft>
                <a:spcPts val="0"/>
              </a:spcAft>
              <a:defRPr sz="3000" b="1">
                <a:solidFill>
                  <a:srgbClr val="172C43"/>
                </a:solidFill>
                <a:latin typeface="Liberation Sans"/>
              </a:defRPr>
            </a:pPr>
            <a:r>
              <a:t>Connectivity is not authorization</a:t>
            </a:r>
          </a:p>
        </p:txBody>
      </p:sp>
      <p:sp>
        <p:nvSpPr>
          <p:cNvPr id="5" name="Rectangle 4"/>
          <p:cNvSpPr/>
          <p:nvPr/>
        </p:nvSpPr>
        <p:spPr>
          <a:xfrm>
            <a:off x="502920"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Route</a:t>
            </a:r>
          </a:p>
        </p:txBody>
      </p:sp>
      <p:sp>
        <p:nvSpPr>
          <p:cNvPr id="8" name="TextBox 7"/>
          <p:cNvSpPr txBox="1"/>
          <p:nvPr/>
        </p:nvSpPr>
        <p:spPr>
          <a:xfrm>
            <a:off x="667512"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Can the endpoint be reached?</a:t>
            </a:r>
          </a:p>
        </p:txBody>
      </p:sp>
      <p:sp>
        <p:nvSpPr>
          <p:cNvPr id="9" name="TextBox 8"/>
          <p:cNvSpPr txBox="1"/>
          <p:nvPr/>
        </p:nvSpPr>
        <p:spPr>
          <a:xfrm>
            <a:off x="3124962" y="3337560"/>
            <a:ext cx="228600" cy="365760"/>
          </a:xfrm>
          <a:prstGeom prst="rect">
            <a:avLst/>
          </a:prstGeom>
          <a:noFill/>
        </p:spPr>
        <p:txBody>
          <a:bodyPr wrap="square" lIns="0" rIns="0" tIns="0" bIns="0">
            <a:spAutoFit/>
          </a:bodyPr>
          <a:lstStyle/>
          <a:p>
            <a:pPr>
              <a:lnSpc>
                <a:spcPct val="112000"/>
              </a:lnSpc>
              <a:spcAft>
                <a:spcPts val="0"/>
              </a:spcAft>
              <a:defRPr sz="1900" b="1">
                <a:solidFill>
                  <a:srgbClr val="096B68"/>
                </a:solidFill>
                <a:latin typeface="Liberation Sans"/>
              </a:defRPr>
            </a:pPr>
            <a:r>
              <a:t>→</a:t>
            </a:r>
          </a:p>
        </p:txBody>
      </p:sp>
      <p:sp>
        <p:nvSpPr>
          <p:cNvPr id="10" name="Rectangle 9"/>
          <p:cNvSpPr/>
          <p:nvPr/>
        </p:nvSpPr>
        <p:spPr>
          <a:xfrm>
            <a:off x="3367278"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67278"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31870"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Identity</a:t>
            </a:r>
          </a:p>
        </p:txBody>
      </p:sp>
      <p:sp>
        <p:nvSpPr>
          <p:cNvPr id="13" name="TextBox 12"/>
          <p:cNvSpPr txBox="1"/>
          <p:nvPr/>
        </p:nvSpPr>
        <p:spPr>
          <a:xfrm>
            <a:off x="3531870"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Who authenticated?</a:t>
            </a:r>
          </a:p>
        </p:txBody>
      </p:sp>
      <p:sp>
        <p:nvSpPr>
          <p:cNvPr id="14" name="TextBox 13"/>
          <p:cNvSpPr txBox="1"/>
          <p:nvPr/>
        </p:nvSpPr>
        <p:spPr>
          <a:xfrm>
            <a:off x="5989320" y="3337560"/>
            <a:ext cx="228600" cy="365760"/>
          </a:xfrm>
          <a:prstGeom prst="rect">
            <a:avLst/>
          </a:prstGeom>
          <a:noFill/>
        </p:spPr>
        <p:txBody>
          <a:bodyPr wrap="square" lIns="0" rIns="0" tIns="0" bIns="0">
            <a:spAutoFit/>
          </a:bodyPr>
          <a:lstStyle/>
          <a:p>
            <a:pPr>
              <a:lnSpc>
                <a:spcPct val="112000"/>
              </a:lnSpc>
              <a:spcAft>
                <a:spcPts val="0"/>
              </a:spcAft>
              <a:defRPr sz="1900" b="1">
                <a:solidFill>
                  <a:srgbClr val="096B68"/>
                </a:solidFill>
                <a:latin typeface="Liberation Sans"/>
              </a:defRPr>
            </a:pPr>
            <a:r>
              <a:t>→</a:t>
            </a:r>
          </a:p>
        </p:txBody>
      </p:sp>
      <p:sp>
        <p:nvSpPr>
          <p:cNvPr id="15" name="Rectangle 14"/>
          <p:cNvSpPr/>
          <p:nvPr/>
        </p:nvSpPr>
        <p:spPr>
          <a:xfrm>
            <a:off x="6231636"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96228"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Permission</a:t>
            </a:r>
          </a:p>
        </p:txBody>
      </p:sp>
      <p:sp>
        <p:nvSpPr>
          <p:cNvPr id="18" name="TextBox 17"/>
          <p:cNvSpPr txBox="1"/>
          <p:nvPr/>
        </p:nvSpPr>
        <p:spPr>
          <a:xfrm>
            <a:off x="6396228"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Which operation is allowed?</a:t>
            </a:r>
          </a:p>
        </p:txBody>
      </p:sp>
      <p:sp>
        <p:nvSpPr>
          <p:cNvPr id="19" name="TextBox 18"/>
          <p:cNvSpPr txBox="1"/>
          <p:nvPr/>
        </p:nvSpPr>
        <p:spPr>
          <a:xfrm>
            <a:off x="8853678" y="3337560"/>
            <a:ext cx="228600" cy="365760"/>
          </a:xfrm>
          <a:prstGeom prst="rect">
            <a:avLst/>
          </a:prstGeom>
          <a:noFill/>
        </p:spPr>
        <p:txBody>
          <a:bodyPr wrap="square" lIns="0" rIns="0" tIns="0" bIns="0">
            <a:spAutoFit/>
          </a:bodyPr>
          <a:lstStyle/>
          <a:p>
            <a:pPr>
              <a:lnSpc>
                <a:spcPct val="112000"/>
              </a:lnSpc>
              <a:spcAft>
                <a:spcPts val="0"/>
              </a:spcAft>
              <a:defRPr sz="1900" b="1">
                <a:solidFill>
                  <a:srgbClr val="096B68"/>
                </a:solidFill>
                <a:latin typeface="Liberation Sans"/>
              </a:defRPr>
            </a:pPr>
            <a:r>
              <a:t>→</a:t>
            </a:r>
          </a:p>
        </p:txBody>
      </p:sp>
      <p:sp>
        <p:nvSpPr>
          <p:cNvPr id="20" name="Rectangle 19"/>
          <p:cNvSpPr/>
          <p:nvPr/>
        </p:nvSpPr>
        <p:spPr>
          <a:xfrm>
            <a:off x="9095994"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95994"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60586"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Behavior</a:t>
            </a:r>
          </a:p>
        </p:txBody>
      </p:sp>
      <p:sp>
        <p:nvSpPr>
          <p:cNvPr id="23" name="TextBox 22"/>
          <p:cNvSpPr txBox="1"/>
          <p:nvPr/>
        </p:nvSpPr>
        <p:spPr>
          <a:xfrm>
            <a:off x="9260586"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What does prompt guidance request?</a:t>
            </a:r>
          </a:p>
        </p:txBody>
      </p:sp>
      <p:sp>
        <p:nvSpPr>
          <p:cNvPr id="24" name="Rectangle 23"/>
          <p:cNvSpPr/>
          <p:nvPr/>
        </p:nvSpPr>
        <p:spPr>
          <a:xfrm>
            <a:off x="502920" y="5705856"/>
            <a:ext cx="11201400" cy="576072"/>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5833872"/>
            <a:ext cx="10835640" cy="338328"/>
          </a:xfrm>
          <a:prstGeom prst="rect">
            <a:avLst/>
          </a:prstGeom>
          <a:noFill/>
        </p:spPr>
        <p:txBody>
          <a:bodyPr wrap="square" lIns="0" rIns="0" tIns="0" bIns="0">
            <a:spAutoFit/>
          </a:bodyPr>
          <a:lstStyle/>
          <a:p>
            <a:pPr>
              <a:lnSpc>
                <a:spcPct val="112000"/>
              </a:lnSpc>
              <a:spcAft>
                <a:spcPts val="0"/>
              </a:spcAft>
              <a:defRPr sz="1700" b="0">
                <a:solidFill>
                  <a:srgbClr val="FFFFFF"/>
                </a:solidFill>
                <a:latin typeface="Liberation Sans"/>
              </a:defRPr>
            </a:pPr>
            <a:r>
              <a:t>Test each layer with observed results and an expected denial.</a:t>
            </a:r>
          </a:p>
        </p:txBody>
      </p:sp>
      <p:sp>
        <p:nvSpPr>
          <p:cNvPr id="26" name="TextBox 25"/>
          <p:cNvSpPr txBox="1"/>
          <p:nvPr/>
        </p:nvSpPr>
        <p:spPr>
          <a:xfrm>
            <a:off x="502920" y="6446520"/>
            <a:ext cx="640080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A-03</a:t>
            </a:r>
          </a:p>
        </p:txBody>
      </p:sp>
      <p:sp>
        <p:nvSpPr>
          <p:cNvPr id="27" name="TextBox 26"/>
          <p:cNvSpPr txBox="1"/>
          <p:nvPr/>
        </p:nvSpPr>
        <p:spPr>
          <a:xfrm>
            <a:off x="7315200" y="6446520"/>
            <a:ext cx="438912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03 / 09     04:00–06:00  |  2 min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lnSpc>
                <a:spcPct val="112000"/>
              </a:lnSpc>
              <a:spcAft>
                <a:spcPts val="0"/>
              </a:spcAft>
              <a:defRPr sz="1100" b="1">
                <a:solidFill>
                  <a:srgbClr val="526579"/>
                </a:solidFill>
                <a:latin typeface="Liberation Sans"/>
              </a:defRPr>
            </a:pPr>
            <a:r>
              <a:t>SHARED ARCHITECTURE</a:t>
            </a:r>
          </a:p>
        </p:txBody>
      </p:sp>
      <p:sp>
        <p:nvSpPr>
          <p:cNvPr id="4" name="TextBox 3"/>
          <p:cNvSpPr txBox="1"/>
          <p:nvPr/>
        </p:nvSpPr>
        <p:spPr>
          <a:xfrm>
            <a:off x="502920" y="658368"/>
            <a:ext cx="11109960" cy="868680"/>
          </a:xfrm>
          <a:prstGeom prst="rect">
            <a:avLst/>
          </a:prstGeom>
          <a:noFill/>
        </p:spPr>
        <p:txBody>
          <a:bodyPr wrap="square" lIns="0" rIns="0" tIns="0" bIns="0">
            <a:spAutoFit/>
          </a:bodyPr>
          <a:lstStyle/>
          <a:p>
            <a:pPr>
              <a:lnSpc>
                <a:spcPct val="112000"/>
              </a:lnSpc>
              <a:spcAft>
                <a:spcPts val="0"/>
              </a:spcAft>
              <a:defRPr sz="3000" b="1">
                <a:solidFill>
                  <a:srgbClr val="172C43"/>
                </a:solidFill>
                <a:latin typeface="Liberation Sans"/>
              </a:defRPr>
            </a:pPr>
            <a:r>
              <a:t>The effect determines the relevant approval boundary</a:t>
            </a:r>
          </a:p>
        </p:txBody>
      </p:sp>
      <p:sp>
        <p:nvSpPr>
          <p:cNvPr id="5" name="Rectangle 4"/>
          <p:cNvSpPr/>
          <p:nvPr/>
        </p:nvSpPr>
        <p:spPr>
          <a:xfrm>
            <a:off x="502920" y="1755648"/>
            <a:ext cx="2743200" cy="758952"/>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 y="1865376"/>
            <a:ext cx="2487168" cy="566928"/>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Effect</a:t>
            </a:r>
          </a:p>
        </p:txBody>
      </p:sp>
      <p:sp>
        <p:nvSpPr>
          <p:cNvPr id="7" name="Rectangle 6"/>
          <p:cNvSpPr/>
          <p:nvPr/>
        </p:nvSpPr>
        <p:spPr>
          <a:xfrm>
            <a:off x="3246120" y="1755648"/>
            <a:ext cx="8458200" cy="758952"/>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74136" y="1865376"/>
            <a:ext cx="8202168" cy="566928"/>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Control to inspect</a:t>
            </a:r>
          </a:p>
        </p:txBody>
      </p:sp>
      <p:sp>
        <p:nvSpPr>
          <p:cNvPr id="9" name="Rectangle 8"/>
          <p:cNvSpPr/>
          <p:nvPr/>
        </p:nvSpPr>
        <p:spPr>
          <a:xfrm>
            <a:off x="502920" y="2514600"/>
            <a:ext cx="274320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 y="2624328"/>
            <a:ext cx="248716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Resource mutation</a:t>
            </a:r>
          </a:p>
        </p:txBody>
      </p:sp>
      <p:sp>
        <p:nvSpPr>
          <p:cNvPr id="11" name="Rectangle 10"/>
          <p:cNvSpPr/>
          <p:nvPr/>
        </p:nvSpPr>
        <p:spPr>
          <a:xfrm>
            <a:off x="3246120" y="2514600"/>
            <a:ext cx="845820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74136" y="2624328"/>
            <a:ext cx="820216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Specific directed-action authorization</a:t>
            </a:r>
          </a:p>
        </p:txBody>
      </p:sp>
      <p:sp>
        <p:nvSpPr>
          <p:cNvPr id="13" name="Rectangle 12"/>
          <p:cNvSpPr/>
          <p:nvPr/>
        </p:nvSpPr>
        <p:spPr>
          <a:xfrm>
            <a:off x="502920" y="3273552"/>
            <a:ext cx="274320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 y="3383280"/>
            <a:ext cx="248716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Application testing</a:t>
            </a:r>
          </a:p>
        </p:txBody>
      </p:sp>
      <p:sp>
        <p:nvSpPr>
          <p:cNvPr id="15" name="Rectangle 14"/>
          <p:cNvSpPr/>
          <p:nvPr/>
        </p:nvSpPr>
        <p:spPr>
          <a:xfrm>
            <a:off x="3246120" y="3273552"/>
            <a:ext cx="845820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74136" y="3383280"/>
            <a:ext cx="820216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Targets, credentials, exclusions and permitted effects</a:t>
            </a:r>
          </a:p>
        </p:txBody>
      </p:sp>
      <p:sp>
        <p:nvSpPr>
          <p:cNvPr id="17" name="Rectangle 16"/>
          <p:cNvSpPr/>
          <p:nvPr/>
        </p:nvSpPr>
        <p:spPr>
          <a:xfrm>
            <a:off x="502920" y="4032504"/>
            <a:ext cx="274320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 y="4142232"/>
            <a:ext cx="248716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Source change</a:t>
            </a:r>
          </a:p>
        </p:txBody>
      </p:sp>
      <p:sp>
        <p:nvSpPr>
          <p:cNvPr id="19" name="Rectangle 18"/>
          <p:cNvSpPr/>
          <p:nvPr/>
        </p:nvSpPr>
        <p:spPr>
          <a:xfrm>
            <a:off x="3246120" y="4032504"/>
            <a:ext cx="845820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74136" y="4142232"/>
            <a:ext cx="820216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Repository review and deployment controls</a:t>
            </a:r>
          </a:p>
        </p:txBody>
      </p:sp>
      <p:sp>
        <p:nvSpPr>
          <p:cNvPr id="21" name="Rectangle 20"/>
          <p:cNvSpPr/>
          <p:nvPr/>
        </p:nvSpPr>
        <p:spPr>
          <a:xfrm>
            <a:off x="502920" y="4791456"/>
            <a:ext cx="274320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6" y="4901184"/>
            <a:ext cx="248716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External publication</a:t>
            </a:r>
          </a:p>
        </p:txBody>
      </p:sp>
      <p:sp>
        <p:nvSpPr>
          <p:cNvPr id="23" name="Rectangle 22"/>
          <p:cNvSpPr/>
          <p:nvPr/>
        </p:nvSpPr>
        <p:spPr>
          <a:xfrm>
            <a:off x="3246120" y="4791456"/>
            <a:ext cx="845820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374136" y="4901184"/>
            <a:ext cx="820216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Destination and invocation-specific approval</a:t>
            </a:r>
          </a:p>
        </p:txBody>
      </p:sp>
      <p:sp>
        <p:nvSpPr>
          <p:cNvPr id="25" name="Rectangle 24"/>
          <p:cNvSpPr/>
          <p:nvPr/>
        </p:nvSpPr>
        <p:spPr>
          <a:xfrm>
            <a:off x="502920" y="5705856"/>
            <a:ext cx="11201400" cy="576072"/>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5833872"/>
            <a:ext cx="10835640" cy="338328"/>
          </a:xfrm>
          <a:prstGeom prst="rect">
            <a:avLst/>
          </a:prstGeom>
          <a:noFill/>
        </p:spPr>
        <p:txBody>
          <a:bodyPr wrap="square" lIns="0" rIns="0" tIns="0" bIns="0">
            <a:spAutoFit/>
          </a:bodyPr>
          <a:lstStyle/>
          <a:p>
            <a:pPr>
              <a:lnSpc>
                <a:spcPct val="112000"/>
              </a:lnSpc>
              <a:spcAft>
                <a:spcPts val="0"/>
              </a:spcAft>
              <a:defRPr sz="1700" b="0">
                <a:solidFill>
                  <a:srgbClr val="FFFFFF"/>
                </a:solidFill>
                <a:latin typeface="Liberation Sans"/>
              </a:defRPr>
            </a:pPr>
            <a:r>
              <a:t>No universal “read-only” or “human-approved” label is sufficient.</a:t>
            </a:r>
          </a:p>
        </p:txBody>
      </p:sp>
      <p:sp>
        <p:nvSpPr>
          <p:cNvPr id="27" name="TextBox 26"/>
          <p:cNvSpPr txBox="1"/>
          <p:nvPr/>
        </p:nvSpPr>
        <p:spPr>
          <a:xfrm>
            <a:off x="502920" y="6446520"/>
            <a:ext cx="640080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A-04</a:t>
            </a:r>
          </a:p>
        </p:txBody>
      </p:sp>
      <p:sp>
        <p:nvSpPr>
          <p:cNvPr id="28" name="TextBox 27"/>
          <p:cNvSpPr txBox="1"/>
          <p:nvPr/>
        </p:nvSpPr>
        <p:spPr>
          <a:xfrm>
            <a:off x="7315200" y="6446520"/>
            <a:ext cx="438912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04 / 09     06:00–08:00  |  2 min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lnSpc>
                <a:spcPct val="112000"/>
              </a:lnSpc>
              <a:spcAft>
                <a:spcPts val="0"/>
              </a:spcAft>
              <a:defRPr sz="1100" b="1">
                <a:solidFill>
                  <a:srgbClr val="526579"/>
                </a:solidFill>
                <a:latin typeface="Liberation Sans"/>
              </a:defRPr>
            </a:pPr>
            <a:r>
              <a:t>SHARED ARCHITECTURE</a:t>
            </a:r>
          </a:p>
        </p:txBody>
      </p:sp>
      <p:sp>
        <p:nvSpPr>
          <p:cNvPr id="4" name="TextBox 3"/>
          <p:cNvSpPr txBox="1"/>
          <p:nvPr/>
        </p:nvSpPr>
        <p:spPr>
          <a:xfrm>
            <a:off x="502920" y="658368"/>
            <a:ext cx="11109960" cy="868680"/>
          </a:xfrm>
          <a:prstGeom prst="rect">
            <a:avLst/>
          </a:prstGeom>
          <a:noFill/>
        </p:spPr>
        <p:txBody>
          <a:bodyPr wrap="square" lIns="0" rIns="0" tIns="0" bIns="0">
            <a:spAutoFit/>
          </a:bodyPr>
          <a:lstStyle/>
          <a:p>
            <a:pPr>
              <a:lnSpc>
                <a:spcPct val="112000"/>
              </a:lnSpc>
              <a:spcAft>
                <a:spcPts val="0"/>
              </a:spcAft>
              <a:defRPr sz="3000" b="1">
                <a:solidFill>
                  <a:srgbClr val="172C43"/>
                </a:solidFill>
                <a:latin typeface="Liberation Sans"/>
              </a:defRPr>
            </a:pPr>
            <a:r>
              <a:t>Configuration, runs and artifacts have separate lifecycles</a:t>
            </a:r>
          </a:p>
        </p:txBody>
      </p:sp>
      <p:sp>
        <p:nvSpPr>
          <p:cNvPr id="5" name="Rectangle 4"/>
          <p:cNvSpPr/>
          <p:nvPr/>
        </p:nvSpPr>
        <p:spPr>
          <a:xfrm>
            <a:off x="502920" y="1828800"/>
            <a:ext cx="3563112"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828800"/>
            <a:ext cx="3563112"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2057400"/>
            <a:ext cx="3233928"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Future work</a:t>
            </a:r>
          </a:p>
        </p:txBody>
      </p:sp>
      <p:sp>
        <p:nvSpPr>
          <p:cNvPr id="8" name="TextBox 7"/>
          <p:cNvSpPr txBox="1"/>
          <p:nvPr/>
        </p:nvSpPr>
        <p:spPr>
          <a:xfrm>
            <a:off x="667512" y="3063240"/>
            <a:ext cx="3233928"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Pause a schedule or disable an automation.</a:t>
            </a:r>
          </a:p>
        </p:txBody>
      </p:sp>
      <p:sp>
        <p:nvSpPr>
          <p:cNvPr id="9" name="Rectangle 8"/>
          <p:cNvSpPr/>
          <p:nvPr/>
        </p:nvSpPr>
        <p:spPr>
          <a:xfrm>
            <a:off x="4322064" y="1828800"/>
            <a:ext cx="3563112"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22064" y="1828800"/>
            <a:ext cx="3563112"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6656" y="2057400"/>
            <a:ext cx="3233928"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Current work</a:t>
            </a:r>
          </a:p>
        </p:txBody>
      </p:sp>
      <p:sp>
        <p:nvSpPr>
          <p:cNvPr id="12" name="TextBox 11"/>
          <p:cNvSpPr txBox="1"/>
          <p:nvPr/>
        </p:nvSpPr>
        <p:spPr>
          <a:xfrm>
            <a:off x="4486656" y="3063240"/>
            <a:ext cx="3233928"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Cancel the invocation/task using its supported control.</a:t>
            </a:r>
          </a:p>
        </p:txBody>
      </p:sp>
      <p:sp>
        <p:nvSpPr>
          <p:cNvPr id="13" name="Rectangle 12"/>
          <p:cNvSpPr/>
          <p:nvPr/>
        </p:nvSpPr>
        <p:spPr>
          <a:xfrm>
            <a:off x="8141208" y="1828800"/>
            <a:ext cx="3563112"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41208" y="1828800"/>
            <a:ext cx="3563112"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5800" y="2057400"/>
            <a:ext cx="3233928"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Retained evidence</a:t>
            </a:r>
          </a:p>
        </p:txBody>
      </p:sp>
      <p:sp>
        <p:nvSpPr>
          <p:cNvPr id="16" name="TextBox 15"/>
          <p:cNvSpPr txBox="1"/>
          <p:nvPr/>
        </p:nvSpPr>
        <p:spPr>
          <a:xfrm>
            <a:off x="8305800" y="3063240"/>
            <a:ext cx="3233928"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Manage versions, findings, files and artifacts according to their own semantics.</a:t>
            </a:r>
          </a:p>
        </p:txBody>
      </p:sp>
      <p:sp>
        <p:nvSpPr>
          <p:cNvPr id="17" name="Rectangle 16"/>
          <p:cNvSpPr/>
          <p:nvPr/>
        </p:nvSpPr>
        <p:spPr>
          <a:xfrm>
            <a:off x="502920" y="5705856"/>
            <a:ext cx="11201400" cy="576072"/>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5833872"/>
            <a:ext cx="10835640" cy="338328"/>
          </a:xfrm>
          <a:prstGeom prst="rect">
            <a:avLst/>
          </a:prstGeom>
          <a:noFill/>
        </p:spPr>
        <p:txBody>
          <a:bodyPr wrap="square" lIns="0" rIns="0" tIns="0" bIns="0">
            <a:spAutoFit/>
          </a:bodyPr>
          <a:lstStyle/>
          <a:p>
            <a:pPr>
              <a:lnSpc>
                <a:spcPct val="112000"/>
              </a:lnSpc>
              <a:spcAft>
                <a:spcPts val="0"/>
              </a:spcAft>
              <a:defRPr sz="1700" b="0">
                <a:solidFill>
                  <a:srgbClr val="FFFFFF"/>
                </a:solidFill>
                <a:latin typeface="Liberation Sans"/>
              </a:defRPr>
            </a:pPr>
            <a:r>
              <a:t>Stopping future starts does not reverse completed effects.</a:t>
            </a:r>
          </a:p>
        </p:txBody>
      </p:sp>
      <p:sp>
        <p:nvSpPr>
          <p:cNvPr id="19" name="TextBox 18"/>
          <p:cNvSpPr txBox="1"/>
          <p:nvPr/>
        </p:nvSpPr>
        <p:spPr>
          <a:xfrm>
            <a:off x="502920" y="6446520"/>
            <a:ext cx="640080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A-05</a:t>
            </a:r>
          </a:p>
        </p:txBody>
      </p:sp>
      <p:sp>
        <p:nvSpPr>
          <p:cNvPr id="20" name="TextBox 19"/>
          <p:cNvSpPr txBox="1"/>
          <p:nvPr/>
        </p:nvSpPr>
        <p:spPr>
          <a:xfrm>
            <a:off x="7315200" y="6446520"/>
            <a:ext cx="438912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05 / 09     08:00–10:00  |  2 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lnSpc>
                <a:spcPct val="112000"/>
              </a:lnSpc>
              <a:spcAft>
                <a:spcPts val="0"/>
              </a:spcAft>
              <a:defRPr sz="1100" b="1">
                <a:solidFill>
                  <a:srgbClr val="526579"/>
                </a:solidFill>
                <a:latin typeface="Liberation Sans"/>
              </a:defRPr>
            </a:pPr>
            <a:r>
              <a:t>SHARED ARCHITECTURE</a:t>
            </a:r>
          </a:p>
        </p:txBody>
      </p:sp>
      <p:sp>
        <p:nvSpPr>
          <p:cNvPr id="4" name="TextBox 3"/>
          <p:cNvSpPr txBox="1"/>
          <p:nvPr/>
        </p:nvSpPr>
        <p:spPr>
          <a:xfrm>
            <a:off x="502920" y="658368"/>
            <a:ext cx="11109960" cy="868680"/>
          </a:xfrm>
          <a:prstGeom prst="rect">
            <a:avLst/>
          </a:prstGeom>
          <a:noFill/>
        </p:spPr>
        <p:txBody>
          <a:bodyPr wrap="square" lIns="0" rIns="0" tIns="0" bIns="0">
            <a:spAutoFit/>
          </a:bodyPr>
          <a:lstStyle/>
          <a:p>
            <a:pPr>
              <a:lnSpc>
                <a:spcPct val="112000"/>
              </a:lnSpc>
              <a:spcAft>
                <a:spcPts val="0"/>
              </a:spcAft>
              <a:defRPr sz="3000" b="1">
                <a:solidFill>
                  <a:srgbClr val="172C43"/>
                </a:solidFill>
                <a:latin typeface="Liberation Sans"/>
              </a:defRPr>
            </a:pPr>
            <a:r>
              <a:t>A handoff transfers evidence—not credentials or authority</a:t>
            </a:r>
          </a:p>
        </p:txBody>
      </p:sp>
      <p:sp>
        <p:nvSpPr>
          <p:cNvPr id="5" name="Rectangle 4"/>
          <p:cNvSpPr/>
          <p:nvPr/>
        </p:nvSpPr>
        <p:spPr>
          <a:xfrm>
            <a:off x="502920"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Origin</a:t>
            </a:r>
          </a:p>
        </p:txBody>
      </p:sp>
      <p:sp>
        <p:nvSpPr>
          <p:cNvPr id="8" name="TextBox 7"/>
          <p:cNvSpPr txBox="1"/>
          <p:nvPr/>
        </p:nvSpPr>
        <p:spPr>
          <a:xfrm>
            <a:off x="667512"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Platform, configuration and execution IDs</a:t>
            </a:r>
          </a:p>
        </p:txBody>
      </p:sp>
      <p:sp>
        <p:nvSpPr>
          <p:cNvPr id="9" name="TextBox 8"/>
          <p:cNvSpPr txBox="1"/>
          <p:nvPr/>
        </p:nvSpPr>
        <p:spPr>
          <a:xfrm>
            <a:off x="3124962" y="3337560"/>
            <a:ext cx="228600" cy="365760"/>
          </a:xfrm>
          <a:prstGeom prst="rect">
            <a:avLst/>
          </a:prstGeom>
          <a:noFill/>
        </p:spPr>
        <p:txBody>
          <a:bodyPr wrap="square" lIns="0" rIns="0" tIns="0" bIns="0">
            <a:spAutoFit/>
          </a:bodyPr>
          <a:lstStyle/>
          <a:p>
            <a:pPr>
              <a:lnSpc>
                <a:spcPct val="112000"/>
              </a:lnSpc>
              <a:spcAft>
                <a:spcPts val="0"/>
              </a:spcAft>
              <a:defRPr sz="1900" b="1">
                <a:solidFill>
                  <a:srgbClr val="096B68"/>
                </a:solidFill>
                <a:latin typeface="Liberation Sans"/>
              </a:defRPr>
            </a:pPr>
            <a:r>
              <a:t>→</a:t>
            </a:r>
          </a:p>
        </p:txBody>
      </p:sp>
      <p:sp>
        <p:nvSpPr>
          <p:cNvPr id="10" name="Rectangle 9"/>
          <p:cNvSpPr/>
          <p:nvPr/>
        </p:nvSpPr>
        <p:spPr>
          <a:xfrm>
            <a:off x="3367278"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67278"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31870"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Subject</a:t>
            </a:r>
          </a:p>
        </p:txBody>
      </p:sp>
      <p:sp>
        <p:nvSpPr>
          <p:cNvPr id="13" name="TextBox 12"/>
          <p:cNvSpPr txBox="1"/>
          <p:nvPr/>
        </p:nvSpPr>
        <p:spPr>
          <a:xfrm>
            <a:off x="3531870"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Service, revision and UTC observation window</a:t>
            </a:r>
          </a:p>
        </p:txBody>
      </p:sp>
      <p:sp>
        <p:nvSpPr>
          <p:cNvPr id="14" name="TextBox 13"/>
          <p:cNvSpPr txBox="1"/>
          <p:nvPr/>
        </p:nvSpPr>
        <p:spPr>
          <a:xfrm>
            <a:off x="5989320" y="3337560"/>
            <a:ext cx="228600" cy="365760"/>
          </a:xfrm>
          <a:prstGeom prst="rect">
            <a:avLst/>
          </a:prstGeom>
          <a:noFill/>
        </p:spPr>
        <p:txBody>
          <a:bodyPr wrap="square" lIns="0" rIns="0" tIns="0" bIns="0">
            <a:spAutoFit/>
          </a:bodyPr>
          <a:lstStyle/>
          <a:p>
            <a:pPr>
              <a:lnSpc>
                <a:spcPct val="112000"/>
              </a:lnSpc>
              <a:spcAft>
                <a:spcPts val="0"/>
              </a:spcAft>
              <a:defRPr sz="1900" b="1">
                <a:solidFill>
                  <a:srgbClr val="096B68"/>
                </a:solidFill>
                <a:latin typeface="Liberation Sans"/>
              </a:defRPr>
            </a:pPr>
            <a:r>
              <a:t>→</a:t>
            </a:r>
          </a:p>
        </p:txBody>
      </p:sp>
      <p:sp>
        <p:nvSpPr>
          <p:cNvPr id="15" name="Rectangle 14"/>
          <p:cNvSpPr/>
          <p:nvPr/>
        </p:nvSpPr>
        <p:spPr>
          <a:xfrm>
            <a:off x="6231636"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96228"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Request</a:t>
            </a:r>
          </a:p>
        </p:txBody>
      </p:sp>
      <p:sp>
        <p:nvSpPr>
          <p:cNvPr id="18" name="TextBox 17"/>
          <p:cNvSpPr txBox="1"/>
          <p:nvPr/>
        </p:nvSpPr>
        <p:spPr>
          <a:xfrm>
            <a:off x="6396228"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Owner, question and permitted effect</a:t>
            </a:r>
          </a:p>
        </p:txBody>
      </p:sp>
      <p:sp>
        <p:nvSpPr>
          <p:cNvPr id="19" name="TextBox 18"/>
          <p:cNvSpPr txBox="1"/>
          <p:nvPr/>
        </p:nvSpPr>
        <p:spPr>
          <a:xfrm>
            <a:off x="8853678" y="3337560"/>
            <a:ext cx="228600" cy="365760"/>
          </a:xfrm>
          <a:prstGeom prst="rect">
            <a:avLst/>
          </a:prstGeom>
          <a:noFill/>
        </p:spPr>
        <p:txBody>
          <a:bodyPr wrap="square" lIns="0" rIns="0" tIns="0" bIns="0">
            <a:spAutoFit/>
          </a:bodyPr>
          <a:lstStyle/>
          <a:p>
            <a:pPr>
              <a:lnSpc>
                <a:spcPct val="112000"/>
              </a:lnSpc>
              <a:spcAft>
                <a:spcPts val="0"/>
              </a:spcAft>
              <a:defRPr sz="1900" b="1">
                <a:solidFill>
                  <a:srgbClr val="096B68"/>
                </a:solidFill>
                <a:latin typeface="Liberation Sans"/>
              </a:defRPr>
            </a:pPr>
            <a:r>
              <a:t>→</a:t>
            </a:r>
          </a:p>
        </p:txBody>
      </p:sp>
      <p:sp>
        <p:nvSpPr>
          <p:cNvPr id="20" name="Rectangle 19"/>
          <p:cNvSpPr/>
          <p:nvPr/>
        </p:nvSpPr>
        <p:spPr>
          <a:xfrm>
            <a:off x="9095994"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95994"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60586"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Acceptance</a:t>
            </a:r>
          </a:p>
        </p:txBody>
      </p:sp>
      <p:sp>
        <p:nvSpPr>
          <p:cNvPr id="23" name="TextBox 22"/>
          <p:cNvSpPr txBox="1"/>
          <p:nvPr/>
        </p:nvSpPr>
        <p:spPr>
          <a:xfrm>
            <a:off x="9260586"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Required evidence and unresolved questions</a:t>
            </a:r>
          </a:p>
        </p:txBody>
      </p:sp>
      <p:sp>
        <p:nvSpPr>
          <p:cNvPr id="24" name="Rectangle 23"/>
          <p:cNvSpPr/>
          <p:nvPr/>
        </p:nvSpPr>
        <p:spPr>
          <a:xfrm>
            <a:off x="502920" y="5705856"/>
            <a:ext cx="11201400" cy="576072"/>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5833872"/>
            <a:ext cx="10835640" cy="338328"/>
          </a:xfrm>
          <a:prstGeom prst="rect">
            <a:avLst/>
          </a:prstGeom>
          <a:noFill/>
        </p:spPr>
        <p:txBody>
          <a:bodyPr wrap="square" lIns="0" rIns="0" tIns="0" bIns="0">
            <a:spAutoFit/>
          </a:bodyPr>
          <a:lstStyle/>
          <a:p>
            <a:pPr>
              <a:lnSpc>
                <a:spcPct val="112000"/>
              </a:lnSpc>
              <a:spcAft>
                <a:spcPts val="0"/>
              </a:spcAft>
              <a:defRPr sz="1700" b="0">
                <a:solidFill>
                  <a:srgbClr val="FFFFFF"/>
                </a:solidFill>
                <a:latin typeface="Liberation Sans"/>
              </a:defRPr>
            </a:pPr>
            <a:r>
              <a:t>The receiving team obtains its own access and makes its own authorization decision.</a:t>
            </a:r>
          </a:p>
        </p:txBody>
      </p:sp>
      <p:sp>
        <p:nvSpPr>
          <p:cNvPr id="26" name="TextBox 25"/>
          <p:cNvSpPr txBox="1"/>
          <p:nvPr/>
        </p:nvSpPr>
        <p:spPr>
          <a:xfrm>
            <a:off x="502920" y="6446520"/>
            <a:ext cx="640080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A-06</a:t>
            </a:r>
          </a:p>
        </p:txBody>
      </p:sp>
      <p:sp>
        <p:nvSpPr>
          <p:cNvPr id="27" name="TextBox 26"/>
          <p:cNvSpPr txBox="1"/>
          <p:nvPr/>
        </p:nvSpPr>
        <p:spPr>
          <a:xfrm>
            <a:off x="7315200" y="6446520"/>
            <a:ext cx="438912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06 / 09     10:00–12:00  |  2 min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lnSpc>
                <a:spcPct val="112000"/>
              </a:lnSpc>
              <a:spcAft>
                <a:spcPts val="0"/>
              </a:spcAft>
              <a:defRPr sz="1100" b="1">
                <a:solidFill>
                  <a:srgbClr val="526579"/>
                </a:solidFill>
                <a:latin typeface="Liberation Sans"/>
              </a:defRPr>
            </a:pPr>
            <a:r>
              <a:t>SHARED ARCHITECTURE</a:t>
            </a:r>
          </a:p>
        </p:txBody>
      </p:sp>
      <p:sp>
        <p:nvSpPr>
          <p:cNvPr id="4" name="TextBox 3"/>
          <p:cNvSpPr txBox="1"/>
          <p:nvPr/>
        </p:nvSpPr>
        <p:spPr>
          <a:xfrm>
            <a:off x="502920" y="658368"/>
            <a:ext cx="11109960" cy="868680"/>
          </a:xfrm>
          <a:prstGeom prst="rect">
            <a:avLst/>
          </a:prstGeom>
          <a:noFill/>
        </p:spPr>
        <p:txBody>
          <a:bodyPr wrap="square" lIns="0" rIns="0" tIns="0" bIns="0">
            <a:spAutoFit/>
          </a:bodyPr>
          <a:lstStyle/>
          <a:p>
            <a:pPr>
              <a:lnSpc>
                <a:spcPct val="112000"/>
              </a:lnSpc>
              <a:spcAft>
                <a:spcPts val="0"/>
              </a:spcAft>
              <a:defRPr sz="3000" b="1">
                <a:solidFill>
                  <a:srgbClr val="172C43"/>
                </a:solidFill>
                <a:latin typeface="Liberation Sans"/>
              </a:defRPr>
            </a:pPr>
            <a:r>
              <a:t>Keep implementation unknowns visible</a:t>
            </a:r>
          </a:p>
        </p:txBody>
      </p:sp>
      <p:sp>
        <p:nvSpPr>
          <p:cNvPr id="5" name="Rectangle 4"/>
          <p:cNvSpPr/>
          <p:nvPr/>
        </p:nvSpPr>
        <p:spPr>
          <a:xfrm>
            <a:off x="502920" y="1828800"/>
            <a:ext cx="5472684"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828800"/>
            <a:ext cx="5472684"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2057400"/>
            <a:ext cx="5143500"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Documented</a:t>
            </a:r>
          </a:p>
        </p:txBody>
      </p:sp>
      <p:sp>
        <p:nvSpPr>
          <p:cNvPr id="8" name="TextBox 7"/>
          <p:cNvSpPr txBox="1"/>
          <p:nvPr/>
        </p:nvSpPr>
        <p:spPr>
          <a:xfrm>
            <a:off x="667512" y="3063240"/>
            <a:ext cx="5143500"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Resource relationships, selected controls, retention and execution behavior.</a:t>
            </a:r>
          </a:p>
        </p:txBody>
      </p:sp>
      <p:sp>
        <p:nvSpPr>
          <p:cNvPr id="9" name="Rectangle 8"/>
          <p:cNvSpPr/>
          <p:nvPr/>
        </p:nvSpPr>
        <p:spPr>
          <a:xfrm>
            <a:off x="6231636" y="1828800"/>
            <a:ext cx="5472684"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31636" y="1828800"/>
            <a:ext cx="5472684"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96228" y="2057400"/>
            <a:ext cx="5143500"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Not established</a:t>
            </a:r>
          </a:p>
        </p:txBody>
      </p:sp>
      <p:sp>
        <p:nvSpPr>
          <p:cNvPr id="12" name="TextBox 11"/>
          <p:cNvSpPr txBox="1"/>
          <p:nvPr/>
        </p:nvSpPr>
        <p:spPr>
          <a:xfrm>
            <a:off x="6396228" y="3063240"/>
            <a:ext cx="5143500"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Shared vector database, retrieval-ranking algorithm, cross-agent runtime or model-training pipeline.</a:t>
            </a:r>
          </a:p>
        </p:txBody>
      </p:sp>
      <p:sp>
        <p:nvSpPr>
          <p:cNvPr id="13" name="Rectangle 12"/>
          <p:cNvSpPr/>
          <p:nvPr/>
        </p:nvSpPr>
        <p:spPr>
          <a:xfrm>
            <a:off x="502920" y="5705856"/>
            <a:ext cx="11201400" cy="576072"/>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5833872"/>
            <a:ext cx="10835640" cy="338328"/>
          </a:xfrm>
          <a:prstGeom prst="rect">
            <a:avLst/>
          </a:prstGeom>
          <a:noFill/>
        </p:spPr>
        <p:txBody>
          <a:bodyPr wrap="square" lIns="0" rIns="0" tIns="0" bIns="0">
            <a:spAutoFit/>
          </a:bodyPr>
          <a:lstStyle/>
          <a:p>
            <a:pPr>
              <a:lnSpc>
                <a:spcPct val="112000"/>
              </a:lnSpc>
              <a:spcAft>
                <a:spcPts val="0"/>
              </a:spcAft>
              <a:defRPr sz="1700" b="0">
                <a:solidFill>
                  <a:srgbClr val="FFFFFF"/>
                </a:solidFill>
                <a:latin typeface="Liberation Sans"/>
              </a:defRPr>
            </a:pPr>
            <a:r>
              <a:t>An attractive diagram is not evidence of undocumented internals.</a:t>
            </a:r>
          </a:p>
        </p:txBody>
      </p:sp>
      <p:sp>
        <p:nvSpPr>
          <p:cNvPr id="15" name="TextBox 14"/>
          <p:cNvSpPr txBox="1"/>
          <p:nvPr/>
        </p:nvSpPr>
        <p:spPr>
          <a:xfrm>
            <a:off x="502920" y="6446520"/>
            <a:ext cx="640080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A-07</a:t>
            </a:r>
          </a:p>
        </p:txBody>
      </p:sp>
      <p:sp>
        <p:nvSpPr>
          <p:cNvPr id="16" name="TextBox 15"/>
          <p:cNvSpPr txBox="1"/>
          <p:nvPr/>
        </p:nvSpPr>
        <p:spPr>
          <a:xfrm>
            <a:off x="7315200" y="6446520"/>
            <a:ext cx="438912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07 / 09     12:00–14:00  |  2 min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lnSpc>
                <a:spcPct val="112000"/>
              </a:lnSpc>
              <a:spcAft>
                <a:spcPts val="0"/>
              </a:spcAft>
              <a:defRPr sz="1100" b="1">
                <a:solidFill>
                  <a:srgbClr val="526579"/>
                </a:solidFill>
                <a:latin typeface="Liberation Sans"/>
              </a:defRPr>
            </a:pPr>
            <a:r>
              <a:t>SHARED ARCHITECTURE</a:t>
            </a:r>
          </a:p>
        </p:txBody>
      </p:sp>
      <p:sp>
        <p:nvSpPr>
          <p:cNvPr id="4" name="TextBox 3"/>
          <p:cNvSpPr txBox="1"/>
          <p:nvPr/>
        </p:nvSpPr>
        <p:spPr>
          <a:xfrm>
            <a:off x="502920" y="658368"/>
            <a:ext cx="11109960" cy="868680"/>
          </a:xfrm>
          <a:prstGeom prst="rect">
            <a:avLst/>
          </a:prstGeom>
          <a:noFill/>
        </p:spPr>
        <p:txBody>
          <a:bodyPr wrap="square" lIns="0" rIns="0" tIns="0" bIns="0">
            <a:spAutoFit/>
          </a:bodyPr>
          <a:lstStyle/>
          <a:p>
            <a:pPr>
              <a:lnSpc>
                <a:spcPct val="112000"/>
              </a:lnSpc>
              <a:spcAft>
                <a:spcPts val="0"/>
              </a:spcAft>
              <a:defRPr sz="3000" b="1">
                <a:solidFill>
                  <a:srgbClr val="172C43"/>
                </a:solidFill>
                <a:latin typeface="Liberation Sans"/>
              </a:defRPr>
            </a:pPr>
            <a:r>
              <a:t>Tabletop: three observations, three evidence obligations</a:t>
            </a:r>
          </a:p>
        </p:txBody>
      </p:sp>
      <p:sp>
        <p:nvSpPr>
          <p:cNvPr id="5" name="Rectangle 4"/>
          <p:cNvSpPr/>
          <p:nvPr/>
        </p:nvSpPr>
        <p:spPr>
          <a:xfrm>
            <a:off x="502920" y="1755648"/>
            <a:ext cx="1097280" cy="948690"/>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 y="1865376"/>
            <a:ext cx="841247" cy="756666"/>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Time</a:t>
            </a:r>
          </a:p>
        </p:txBody>
      </p:sp>
      <p:sp>
        <p:nvSpPr>
          <p:cNvPr id="7" name="Rectangle 6"/>
          <p:cNvSpPr/>
          <p:nvPr/>
        </p:nvSpPr>
        <p:spPr>
          <a:xfrm>
            <a:off x="1600200" y="1755648"/>
            <a:ext cx="2834640" cy="948690"/>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728216" y="1865376"/>
            <a:ext cx="2578608" cy="756666"/>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Action</a:t>
            </a:r>
          </a:p>
        </p:txBody>
      </p:sp>
      <p:sp>
        <p:nvSpPr>
          <p:cNvPr id="9" name="Rectangle 8"/>
          <p:cNvSpPr/>
          <p:nvPr/>
        </p:nvSpPr>
        <p:spPr>
          <a:xfrm>
            <a:off x="4434840" y="1755648"/>
            <a:ext cx="7269480" cy="948690"/>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62855" y="1865376"/>
            <a:ext cx="7013448" cy="756666"/>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Prepared evidence</a:t>
            </a:r>
          </a:p>
        </p:txBody>
      </p:sp>
      <p:sp>
        <p:nvSpPr>
          <p:cNvPr id="11" name="Rectangle 10"/>
          <p:cNvSpPr/>
          <p:nvPr/>
        </p:nvSpPr>
        <p:spPr>
          <a:xfrm>
            <a:off x="502920" y="2704338"/>
            <a:ext cx="109728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 y="2814066"/>
            <a:ext cx="841247"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0–1 min</a:t>
            </a:r>
          </a:p>
        </p:txBody>
      </p:sp>
      <p:sp>
        <p:nvSpPr>
          <p:cNvPr id="13" name="Rectangle 12"/>
          <p:cNvSpPr/>
          <p:nvPr/>
        </p:nvSpPr>
        <p:spPr>
          <a:xfrm>
            <a:off x="1600200" y="2704338"/>
            <a:ext cx="283464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728216" y="2814066"/>
            <a:ext cx="2578608"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Identify the required inputs</a:t>
            </a:r>
          </a:p>
        </p:txBody>
      </p:sp>
      <p:sp>
        <p:nvSpPr>
          <p:cNvPr id="15" name="Rectangle 14"/>
          <p:cNvSpPr/>
          <p:nvPr/>
        </p:nvSpPr>
        <p:spPr>
          <a:xfrm>
            <a:off x="4434840" y="2704338"/>
            <a:ext cx="726948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62855" y="2814066"/>
            <a:ext cx="7013448"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Latency evidence, authorization identity and cost basis</a:t>
            </a:r>
          </a:p>
        </p:txBody>
      </p:sp>
      <p:sp>
        <p:nvSpPr>
          <p:cNvPr id="17" name="Rectangle 16"/>
          <p:cNvSpPr/>
          <p:nvPr/>
        </p:nvSpPr>
        <p:spPr>
          <a:xfrm>
            <a:off x="502920" y="3653028"/>
            <a:ext cx="1097280" cy="948690"/>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 y="3762756"/>
            <a:ext cx="841247"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1–3 min</a:t>
            </a:r>
          </a:p>
        </p:txBody>
      </p:sp>
      <p:sp>
        <p:nvSpPr>
          <p:cNvPr id="19" name="Rectangle 18"/>
          <p:cNvSpPr/>
          <p:nvPr/>
        </p:nvSpPr>
        <p:spPr>
          <a:xfrm>
            <a:off x="1600200" y="3653028"/>
            <a:ext cx="2834640" cy="948690"/>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728216" y="3762756"/>
            <a:ext cx="2578608"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Check consistency</a:t>
            </a:r>
          </a:p>
        </p:txBody>
      </p:sp>
      <p:sp>
        <p:nvSpPr>
          <p:cNvPr id="21" name="Rectangle 20"/>
          <p:cNvSpPr/>
          <p:nvPr/>
        </p:nvSpPr>
        <p:spPr>
          <a:xfrm>
            <a:off x="4434840" y="3653028"/>
            <a:ext cx="7269480" cy="948690"/>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62855" y="3762756"/>
            <a:ext cx="7013448"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Same intended revision, target and comparable windows</a:t>
            </a:r>
          </a:p>
        </p:txBody>
      </p:sp>
      <p:sp>
        <p:nvSpPr>
          <p:cNvPr id="23" name="Rectangle 22"/>
          <p:cNvSpPr/>
          <p:nvPr/>
        </p:nvSpPr>
        <p:spPr>
          <a:xfrm>
            <a:off x="502920" y="4601718"/>
            <a:ext cx="109728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6" y="4711446"/>
            <a:ext cx="841247"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3–4 min</a:t>
            </a:r>
          </a:p>
        </p:txBody>
      </p:sp>
      <p:sp>
        <p:nvSpPr>
          <p:cNvPr id="25" name="Rectangle 24"/>
          <p:cNvSpPr/>
          <p:nvPr/>
        </p:nvSpPr>
        <p:spPr>
          <a:xfrm>
            <a:off x="1600200" y="4601718"/>
            <a:ext cx="283464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728216" y="4711446"/>
            <a:ext cx="2578608"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Assign unresolved questions</a:t>
            </a:r>
          </a:p>
        </p:txBody>
      </p:sp>
      <p:sp>
        <p:nvSpPr>
          <p:cNvPr id="27" name="Rectangle 26"/>
          <p:cNvSpPr/>
          <p:nvPr/>
        </p:nvSpPr>
        <p:spPr>
          <a:xfrm>
            <a:off x="4434840" y="4601718"/>
            <a:ext cx="726948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62855" y="4711446"/>
            <a:ext cx="7013448"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Do not invent a single shared root cause</a:t>
            </a:r>
          </a:p>
        </p:txBody>
      </p:sp>
      <p:sp>
        <p:nvSpPr>
          <p:cNvPr id="29" name="Rectangle 28"/>
          <p:cNvSpPr/>
          <p:nvPr/>
        </p:nvSpPr>
        <p:spPr>
          <a:xfrm>
            <a:off x="502920" y="5705856"/>
            <a:ext cx="11201400" cy="576072"/>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5833872"/>
            <a:ext cx="10835640" cy="338328"/>
          </a:xfrm>
          <a:prstGeom prst="rect">
            <a:avLst/>
          </a:prstGeom>
          <a:noFill/>
        </p:spPr>
        <p:txBody>
          <a:bodyPr wrap="square" lIns="0" rIns="0" tIns="0" bIns="0">
            <a:spAutoFit/>
          </a:bodyPr>
          <a:lstStyle/>
          <a:p>
            <a:pPr>
              <a:lnSpc>
                <a:spcPct val="112000"/>
              </a:lnSpc>
              <a:spcAft>
                <a:spcPts val="0"/>
              </a:spcAft>
              <a:defRPr sz="1700" b="0">
                <a:solidFill>
                  <a:srgbClr val="FFFFFF"/>
                </a:solidFill>
                <a:latin typeface="Liberation Sans"/>
              </a:defRPr>
            </a:pPr>
            <a:r>
              <a:t>Synthetic comparison; no shared runtime or live execution assumed.</a:t>
            </a:r>
          </a:p>
        </p:txBody>
      </p:sp>
      <p:sp>
        <p:nvSpPr>
          <p:cNvPr id="31" name="TextBox 30"/>
          <p:cNvSpPr txBox="1"/>
          <p:nvPr/>
        </p:nvSpPr>
        <p:spPr>
          <a:xfrm>
            <a:off x="502920" y="6446520"/>
            <a:ext cx="640080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A-U01</a:t>
            </a:r>
          </a:p>
        </p:txBody>
      </p:sp>
      <p:sp>
        <p:nvSpPr>
          <p:cNvPr id="32" name="TextBox 31"/>
          <p:cNvSpPr txBox="1"/>
          <p:nvPr/>
        </p:nvSpPr>
        <p:spPr>
          <a:xfrm>
            <a:off x="7315200" y="6446520"/>
            <a:ext cx="438912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08 / 09     14:00–18:00  |  4 min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lnSpc>
                <a:spcPct val="112000"/>
              </a:lnSpc>
              <a:spcAft>
                <a:spcPts val="0"/>
              </a:spcAft>
              <a:defRPr sz="1100" b="1">
                <a:solidFill>
                  <a:srgbClr val="526579"/>
                </a:solidFill>
                <a:latin typeface="Liberation Sans"/>
              </a:defRPr>
            </a:pPr>
            <a:r>
              <a:t>SHARED ARCHITECTURE</a:t>
            </a:r>
          </a:p>
        </p:txBody>
      </p:sp>
      <p:sp>
        <p:nvSpPr>
          <p:cNvPr id="4" name="TextBox 3"/>
          <p:cNvSpPr txBox="1"/>
          <p:nvPr/>
        </p:nvSpPr>
        <p:spPr>
          <a:xfrm>
            <a:off x="502920" y="658368"/>
            <a:ext cx="11109960" cy="868680"/>
          </a:xfrm>
          <a:prstGeom prst="rect">
            <a:avLst/>
          </a:prstGeom>
          <a:noFill/>
        </p:spPr>
        <p:txBody>
          <a:bodyPr wrap="square" lIns="0" rIns="0" tIns="0" bIns="0">
            <a:spAutoFit/>
          </a:bodyPr>
          <a:lstStyle/>
          <a:p>
            <a:pPr>
              <a:lnSpc>
                <a:spcPct val="112000"/>
              </a:lnSpc>
              <a:spcAft>
                <a:spcPts val="0"/>
              </a:spcAft>
              <a:defRPr sz="3000" b="1">
                <a:solidFill>
                  <a:srgbClr val="172C43"/>
                </a:solidFill>
                <a:latin typeface="Liberation Sans"/>
              </a:defRPr>
            </a:pPr>
            <a:r>
              <a:t>Accept documents on operating usefulness</a:t>
            </a:r>
          </a:p>
        </p:txBody>
      </p:sp>
      <p:sp>
        <p:nvSpPr>
          <p:cNvPr id="5" name="Rectangle 4"/>
          <p:cNvSpPr/>
          <p:nvPr/>
        </p:nvSpPr>
        <p:spPr>
          <a:xfrm>
            <a:off x="502920" y="1828800"/>
            <a:ext cx="3563112"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828800"/>
            <a:ext cx="3563112"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2057400"/>
            <a:ext cx="3233928"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Model</a:t>
            </a:r>
          </a:p>
        </p:txBody>
      </p:sp>
      <p:sp>
        <p:nvSpPr>
          <p:cNvPr id="8" name="TextBox 7"/>
          <p:cNvSpPr txBox="1"/>
          <p:nvPr/>
        </p:nvSpPr>
        <p:spPr>
          <a:xfrm>
            <a:off x="667512" y="3063240"/>
            <a:ext cx="3233928"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Resources and scope are clear before a scenario begins.</a:t>
            </a:r>
          </a:p>
        </p:txBody>
      </p:sp>
      <p:sp>
        <p:nvSpPr>
          <p:cNvPr id="9" name="Rectangle 8"/>
          <p:cNvSpPr/>
          <p:nvPr/>
        </p:nvSpPr>
        <p:spPr>
          <a:xfrm>
            <a:off x="4322064" y="1828800"/>
            <a:ext cx="3563112"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22064" y="1828800"/>
            <a:ext cx="3563112"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6656" y="2057400"/>
            <a:ext cx="3233928"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Procedure</a:t>
            </a:r>
          </a:p>
        </p:txBody>
      </p:sp>
      <p:sp>
        <p:nvSpPr>
          <p:cNvPr id="12" name="TextBox 11"/>
          <p:cNvSpPr txBox="1"/>
          <p:nvPr/>
        </p:nvSpPr>
        <p:spPr>
          <a:xfrm>
            <a:off x="4486656" y="3063240"/>
            <a:ext cx="3233928"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Inputs, choices, confirmation and failure paths are described.</a:t>
            </a:r>
          </a:p>
        </p:txBody>
      </p:sp>
      <p:sp>
        <p:nvSpPr>
          <p:cNvPr id="13" name="Rectangle 12"/>
          <p:cNvSpPr/>
          <p:nvPr/>
        </p:nvSpPr>
        <p:spPr>
          <a:xfrm>
            <a:off x="8141208" y="1828800"/>
            <a:ext cx="3563112"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41208" y="1828800"/>
            <a:ext cx="3563112"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5800" y="2057400"/>
            <a:ext cx="3233928"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Evidence</a:t>
            </a:r>
          </a:p>
        </p:txBody>
      </p:sp>
      <p:sp>
        <p:nvSpPr>
          <p:cNvPr id="16" name="TextBox 15"/>
          <p:cNvSpPr txBox="1"/>
          <p:nvPr/>
        </p:nvSpPr>
        <p:spPr>
          <a:xfrm>
            <a:off x="8305800" y="3063240"/>
            <a:ext cx="3233928"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Claims have sources; examples and live outcomes are not conflated.</a:t>
            </a:r>
          </a:p>
        </p:txBody>
      </p:sp>
      <p:sp>
        <p:nvSpPr>
          <p:cNvPr id="17" name="Rectangle 16"/>
          <p:cNvSpPr/>
          <p:nvPr/>
        </p:nvSpPr>
        <p:spPr>
          <a:xfrm>
            <a:off x="502920" y="5705856"/>
            <a:ext cx="11201400" cy="576072"/>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5833872"/>
            <a:ext cx="10835640" cy="338328"/>
          </a:xfrm>
          <a:prstGeom prst="rect">
            <a:avLst/>
          </a:prstGeom>
          <a:noFill/>
        </p:spPr>
        <p:txBody>
          <a:bodyPr wrap="square" lIns="0" rIns="0" tIns="0" bIns="0">
            <a:spAutoFit/>
          </a:bodyPr>
          <a:lstStyle/>
          <a:p>
            <a:pPr>
              <a:lnSpc>
                <a:spcPct val="112000"/>
              </a:lnSpc>
              <a:spcAft>
                <a:spcPts val="0"/>
              </a:spcAft>
              <a:defRPr sz="1700" b="0">
                <a:solidFill>
                  <a:srgbClr val="FFFFFF"/>
                </a:solidFill>
                <a:latin typeface="Liberation Sans"/>
              </a:defRPr>
            </a:pPr>
            <a:r>
              <a:t>Link and layout checks are necessary but do not prove technical completeness.</a:t>
            </a:r>
          </a:p>
        </p:txBody>
      </p:sp>
      <p:sp>
        <p:nvSpPr>
          <p:cNvPr id="19" name="TextBox 18"/>
          <p:cNvSpPr txBox="1"/>
          <p:nvPr/>
        </p:nvSpPr>
        <p:spPr>
          <a:xfrm>
            <a:off x="502920" y="6446520"/>
            <a:ext cx="640080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A-07</a:t>
            </a:r>
          </a:p>
        </p:txBody>
      </p:sp>
      <p:sp>
        <p:nvSpPr>
          <p:cNvPr id="20" name="TextBox 19"/>
          <p:cNvSpPr txBox="1"/>
          <p:nvPr/>
        </p:nvSpPr>
        <p:spPr>
          <a:xfrm>
            <a:off x="7315200" y="6446520"/>
            <a:ext cx="438912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09 / 09     18:00–20:00  |  2 min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0080"/>
            <a:ext cx="10972800" cy="914400"/>
          </a:xfrm>
          <a:prstGeom prst="rect">
            <a:avLst/>
          </a:prstGeom>
          <a:noFill/>
        </p:spPr>
        <p:txBody>
          <a:bodyPr wrap="square" lIns="0" rIns="0" tIns="0" bIns="0">
            <a:spAutoFit/>
          </a:bodyPr>
          <a:lstStyle/>
          <a:p>
            <a:pPr>
              <a:lnSpc>
                <a:spcPct val="112000"/>
              </a:lnSpc>
              <a:spcAft>
                <a:spcPts val="0"/>
              </a:spcAft>
              <a:defRPr sz="3200" b="1">
                <a:solidFill>
                  <a:srgbClr val="172C43"/>
                </a:solidFill>
                <a:latin typeface="Liberation Sans"/>
              </a:defRPr>
            </a:pPr>
            <a:r>
              <a:t>Evidence and use of this presentation</a:t>
            </a:r>
          </a:p>
        </p:txBody>
      </p:sp>
      <p:sp>
        <p:nvSpPr>
          <p:cNvPr id="4" name="TextBox 3"/>
          <p:cNvSpPr txBox="1"/>
          <p:nvPr/>
        </p:nvSpPr>
        <p:spPr>
          <a:xfrm>
            <a:off x="548640" y="1828800"/>
            <a:ext cx="2103120" cy="594360"/>
          </a:xfrm>
          <a:prstGeom prst="rect">
            <a:avLst/>
          </a:prstGeom>
          <a:noFill/>
        </p:spPr>
        <p:txBody>
          <a:bodyPr wrap="square" lIns="0" rIns="0" tIns="0" bIns="0">
            <a:spAutoFit/>
          </a:bodyPr>
          <a:lstStyle/>
          <a:p>
            <a:pPr>
              <a:lnSpc>
                <a:spcPct val="112000"/>
              </a:lnSpc>
              <a:spcAft>
                <a:spcPts val="0"/>
              </a:spcAft>
              <a:defRPr sz="1800" b="1">
                <a:solidFill>
                  <a:srgbClr val="172C43"/>
                </a:solidFill>
                <a:latin typeface="Liberation Sans"/>
              </a:defRPr>
            </a:pPr>
            <a:r>
              <a:t>Canonical guide</a:t>
            </a:r>
          </a:p>
        </p:txBody>
      </p:sp>
      <p:sp>
        <p:nvSpPr>
          <p:cNvPr id="5" name="TextBox 4"/>
          <p:cNvSpPr txBox="1"/>
          <p:nvPr/>
        </p:nvSpPr>
        <p:spPr>
          <a:xfrm>
            <a:off x="2880360" y="1828800"/>
            <a:ext cx="8641080" cy="658368"/>
          </a:xfrm>
          <a:prstGeom prst="rect">
            <a:avLst/>
          </a:prstGeom>
          <a:noFill/>
        </p:spPr>
        <p:txBody>
          <a:bodyPr wrap="square" lIns="0" rIns="0" tIns="0" bIns="0">
            <a:spAutoFit/>
          </a:bodyPr>
          <a:lstStyle/>
          <a:p>
            <a:pPr>
              <a:lnSpc>
                <a:spcPct val="112000"/>
              </a:lnSpc>
              <a:spcAft>
                <a:spcPts val="0"/>
              </a:spcAft>
              <a:defRPr sz="2000" b="0">
                <a:solidFill>
                  <a:srgbClr val="172C43"/>
                </a:solidFill>
                <a:latin typeface="Liberation Sans"/>
              </a:defRPr>
            </a:pPr>
            <a:r>
              <a:t>guides/architecture.md — resource model, procedures, mechanisms, troubleshooting and worked example.</a:t>
            </a:r>
          </a:p>
        </p:txBody>
      </p:sp>
      <p:sp>
        <p:nvSpPr>
          <p:cNvPr id="6" name="TextBox 5"/>
          <p:cNvSpPr txBox="1"/>
          <p:nvPr/>
        </p:nvSpPr>
        <p:spPr>
          <a:xfrm>
            <a:off x="548640" y="2724912"/>
            <a:ext cx="2103120" cy="594360"/>
          </a:xfrm>
          <a:prstGeom prst="rect">
            <a:avLst/>
          </a:prstGeom>
          <a:noFill/>
        </p:spPr>
        <p:txBody>
          <a:bodyPr wrap="square" lIns="0" rIns="0" tIns="0" bIns="0">
            <a:spAutoFit/>
          </a:bodyPr>
          <a:lstStyle/>
          <a:p>
            <a:pPr>
              <a:lnSpc>
                <a:spcPct val="112000"/>
              </a:lnSpc>
              <a:spcAft>
                <a:spcPts val="0"/>
              </a:spcAft>
              <a:defRPr sz="1800" b="1">
                <a:solidFill>
                  <a:srgbClr val="172C43"/>
                </a:solidFill>
                <a:latin typeface="Liberation Sans"/>
              </a:defRPr>
            </a:pPr>
            <a:r>
              <a:t>Source traceability</a:t>
            </a:r>
          </a:p>
        </p:txBody>
      </p:sp>
      <p:sp>
        <p:nvSpPr>
          <p:cNvPr id="7" name="TextBox 6"/>
          <p:cNvSpPr txBox="1"/>
          <p:nvPr/>
        </p:nvSpPr>
        <p:spPr>
          <a:xfrm>
            <a:off x="2880360" y="2724912"/>
            <a:ext cx="8641080" cy="658368"/>
          </a:xfrm>
          <a:prstGeom prst="rect">
            <a:avLst/>
          </a:prstGeom>
          <a:noFill/>
        </p:spPr>
        <p:txBody>
          <a:bodyPr wrap="square" lIns="0" rIns="0" tIns="0" bIns="0">
            <a:spAutoFit/>
          </a:bodyPr>
          <a:lstStyle/>
          <a:p>
            <a:pPr>
              <a:lnSpc>
                <a:spcPct val="112000"/>
              </a:lnSpc>
              <a:spcAft>
                <a:spcPts val="0"/>
              </a:spcAft>
              <a:defRPr sz="2000" b="0">
                <a:solidFill>
                  <a:srgbClr val="172C43"/>
                </a:solidFill>
                <a:latin typeface="Liberation Sans"/>
              </a:defRPr>
            </a:pPr>
            <a:r>
              <a:t>Every content slide names guide sections. Speaker notes include the related guide text and official AWS source URLs.</a:t>
            </a:r>
          </a:p>
        </p:txBody>
      </p:sp>
      <p:sp>
        <p:nvSpPr>
          <p:cNvPr id="8" name="TextBox 7"/>
          <p:cNvSpPr txBox="1"/>
          <p:nvPr/>
        </p:nvSpPr>
        <p:spPr>
          <a:xfrm>
            <a:off x="548640" y="3621024"/>
            <a:ext cx="2103120" cy="594360"/>
          </a:xfrm>
          <a:prstGeom prst="rect">
            <a:avLst/>
          </a:prstGeom>
          <a:noFill/>
        </p:spPr>
        <p:txBody>
          <a:bodyPr wrap="square" lIns="0" rIns="0" tIns="0" bIns="0">
            <a:spAutoFit/>
          </a:bodyPr>
          <a:lstStyle/>
          <a:p>
            <a:pPr>
              <a:lnSpc>
                <a:spcPct val="112000"/>
              </a:lnSpc>
              <a:spcAft>
                <a:spcPts val="0"/>
              </a:spcAft>
              <a:defRPr sz="1800" b="1">
                <a:solidFill>
                  <a:srgbClr val="172C43"/>
                </a:solidFill>
                <a:latin typeface="Liberation Sans"/>
              </a:defRPr>
            </a:pPr>
            <a:r>
              <a:t>Delivery boundary</a:t>
            </a:r>
          </a:p>
        </p:txBody>
      </p:sp>
      <p:sp>
        <p:nvSpPr>
          <p:cNvPr id="9" name="TextBox 8"/>
          <p:cNvSpPr txBox="1"/>
          <p:nvPr/>
        </p:nvSpPr>
        <p:spPr>
          <a:xfrm>
            <a:off x="2880360" y="3621024"/>
            <a:ext cx="8641080" cy="658368"/>
          </a:xfrm>
          <a:prstGeom prst="rect">
            <a:avLst/>
          </a:prstGeom>
          <a:noFill/>
        </p:spPr>
        <p:txBody>
          <a:bodyPr wrap="square" lIns="0" rIns="0" tIns="0" bIns="0">
            <a:spAutoFit/>
          </a:bodyPr>
          <a:lstStyle/>
          <a:p>
            <a:pPr>
              <a:lnSpc>
                <a:spcPct val="112000"/>
              </a:lnSpc>
              <a:spcAft>
                <a:spcPts val="0"/>
              </a:spcAft>
              <a:defRPr sz="2000" b="0">
                <a:solidFill>
                  <a:srgbClr val="172C43"/>
                </a:solidFill>
                <a:latin typeface="Liberation Sans"/>
              </a:defRPr>
            </a:pPr>
            <a:r>
              <a:t>Presentation time includes the prepared-result exercise. No live AWS execution, measured benefit or exhaustive product coverage is asserted.</a:t>
            </a:r>
          </a:p>
        </p:txBody>
      </p:sp>
      <p:sp>
        <p:nvSpPr>
          <p:cNvPr id="10" name="TextBox 9"/>
          <p:cNvSpPr txBox="1"/>
          <p:nvPr/>
        </p:nvSpPr>
        <p:spPr>
          <a:xfrm>
            <a:off x="548640" y="4517136"/>
            <a:ext cx="2103120" cy="594360"/>
          </a:xfrm>
          <a:prstGeom prst="rect">
            <a:avLst/>
          </a:prstGeom>
          <a:noFill/>
        </p:spPr>
        <p:txBody>
          <a:bodyPr wrap="square" lIns="0" rIns="0" tIns="0" bIns="0">
            <a:spAutoFit/>
          </a:bodyPr>
          <a:lstStyle/>
          <a:p>
            <a:pPr>
              <a:lnSpc>
                <a:spcPct val="112000"/>
              </a:lnSpc>
              <a:spcAft>
                <a:spcPts val="0"/>
              </a:spcAft>
              <a:defRPr sz="1800" b="1">
                <a:solidFill>
                  <a:srgbClr val="172C43"/>
                </a:solidFill>
                <a:latin typeface="Liberation Sans"/>
              </a:defRPr>
            </a:pPr>
            <a:r>
              <a:t>Scope decisions</a:t>
            </a:r>
          </a:p>
        </p:txBody>
      </p:sp>
      <p:sp>
        <p:nvSpPr>
          <p:cNvPr id="11" name="TextBox 10"/>
          <p:cNvSpPr txBox="1"/>
          <p:nvPr/>
        </p:nvSpPr>
        <p:spPr>
          <a:xfrm>
            <a:off x="2880360" y="4517136"/>
            <a:ext cx="8641080" cy="658368"/>
          </a:xfrm>
          <a:prstGeom prst="rect">
            <a:avLst/>
          </a:prstGeom>
          <a:noFill/>
        </p:spPr>
        <p:txBody>
          <a:bodyPr wrap="square" lIns="0" rIns="0" tIns="0" bIns="0">
            <a:spAutoFit/>
          </a:bodyPr>
          <a:lstStyle/>
          <a:p>
            <a:pPr>
              <a:lnSpc>
                <a:spcPct val="112000"/>
              </a:lnSpc>
              <a:spcAft>
                <a:spcPts val="0"/>
              </a:spcAft>
              <a:defRPr sz="2000" b="0">
                <a:solidFill>
                  <a:srgbClr val="172C43"/>
                </a:solidFill>
                <a:latin typeface="Liberation Sans"/>
              </a:defRPr>
            </a:pPr>
            <a:r>
              <a:t>Read the coverage and source-version notes before extending this material to another feature, Region or provider.</a:t>
            </a:r>
          </a:p>
        </p:txBody>
      </p:sp>
      <p:sp>
        <p:nvSpPr>
          <p:cNvPr id="12" name="TextBox 11"/>
          <p:cNvSpPr txBox="1"/>
          <p:nvPr/>
        </p:nvSpPr>
        <p:spPr>
          <a:xfrm>
            <a:off x="502920" y="6446520"/>
            <a:ext cx="10972800" cy="201168"/>
          </a:xfrm>
          <a:prstGeom prst="rect">
            <a:avLst/>
          </a:prstGeom>
          <a:noFill/>
        </p:spPr>
        <p:txBody>
          <a:bodyPr wrap="square" lIns="0" rIns="0" tIns="0" bIns="0">
            <a:spAutoFit/>
          </a:bodyPr>
          <a:lstStyle/>
          <a:p>
            <a:pPr>
              <a:lnSpc>
                <a:spcPct val="112000"/>
              </a:lnSpc>
              <a:spcAft>
                <a:spcPts val="0"/>
              </a:spcAft>
              <a:defRPr sz="1100" b="0">
                <a:solidFill>
                  <a:srgbClr val="526579"/>
                </a:solidFill>
                <a:latin typeface="Liberation Sans"/>
              </a:defRPr>
            </a:pPr>
            <a:r>
              <a:t>UNTIMED APPENDIX · 2026-10-22-canonical-guides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Shared architecture — engineering presentation</dc:title>
  <dc:subject>Canonical guide 2026-10-22-canonical-guides</dc:subject>
  <dc:creator>Engineering documentation</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